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  <p:sldId id="269" r:id="rId5"/>
    <p:sldId id="270" r:id="rId4"/>
    <p:sldId id="271" r:id="rId3"/>
    <p:sldId id="272" r:id="rId2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/>
    <p:restoredTop sz="87603"/>
  </p:normalViewPr>
  <p:slideViewPr>
    <p:cSldViewPr snapToGrid="0">
      <p:cViewPr varScale="1">
        <p:scale>
          <a:sx n="110" d="100"/>
          <a:sy n="110" d="100"/>
        </p:scale>
        <p:origin x="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84660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47FDD-D38F-E8F5-8586-E9662854F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190AE4-F9E4-5FD9-42AF-9099DFB80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44CE86-5C68-32E7-D4E0-B2761B6C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B1EA70-862F-65FC-F764-9F45D4A9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FC33ED-5EBC-FA7B-0C38-EA39C46D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284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37B1B-511C-D4F8-7DF7-64EC8B6C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EBE62D-2664-56CB-82C4-04C33D46D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467FE-6C09-037E-14DD-381C54D5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96919-FD4A-9072-7E35-742516F9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7BDBD7-22AF-728F-B452-8AA3C2EF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900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A9FEF-46D9-58A0-4123-77A3F86E5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B04C57-B239-E772-614E-004D45A92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51A5B-944A-D7C3-E6C5-B7BA6FC4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9A231-E1D6-02E5-049E-13B6C93B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85DA2-F919-AB2D-F4AB-97443082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4538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9ECDE-D311-74B1-0F20-F87A6A7A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3C9B88-FA6C-8ECF-D8A5-00CA3EDE00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C993D3-8E45-B3B9-AB74-754EF2E7E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EEAE69-5CB6-4FFB-A05B-FAFE465F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47215C-0B7F-E4B7-5E41-E225FE47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F1607B-F95D-FA9A-48D0-AB90D6ED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959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9B30D-EF98-9776-0E67-87371B21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E8FDD7-C50E-7D11-4708-BD3BD0488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F05520-BEDD-DC89-EDB8-29A55A688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A41E8D-4EDE-E951-9249-16343C408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A15438-E2BC-3C49-A770-61F2058F0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69E29F-2CA3-451B-1588-22B05F1C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3E0C48-D0FC-01D7-EFB2-E342FFD1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2CF963-EAD2-D222-FE32-733BFF92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517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A2317-4DD0-7705-8F0E-9C1AE468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0B3C6B-F1F3-8087-82E4-22E777BF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E57A2B-3769-94B4-A8DA-143705D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269BBB-3D3E-D5C1-373C-4AEBE84F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348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53ED18-81E5-087C-CE7B-D43178BA1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BD668C-C643-0734-3F58-28ECB6961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FAAAAD-C5EF-CB82-DA12-5DCCE44F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456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5AE71-64EC-7CAF-DCC1-AC7B7F25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341FA-757E-CC97-7EBF-8640D3A5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D92CD0-2012-EC24-D6A6-D8F0D6235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589081-6ADA-73DD-0406-D9080177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305348-185C-AEBE-DDBC-FA8F5835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34C1BA-03A9-E84F-1095-593ADDB3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374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198B2-5754-13F5-8B12-C9C8CBC4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5E2333-142C-3E91-91F4-A347E32A4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E17102-E033-CDC0-B618-299CC91D4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05AFF9-9891-A28B-4FBF-DFF53204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2270D-2426-270F-0336-B3337C39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A358EA-4E08-6B21-F095-EE06B953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961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A809F-C91F-7B47-8C12-D25BA362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4A7382-0CA7-7D8B-83FF-08EF76126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9417F5-F88C-8CA1-E9BC-7CAC37C4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4339F-FA6A-38A9-D527-0FDC93D8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AB572A-7476-7FB5-9791-802D508D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728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F63993-AF72-23D1-D01C-F973643BA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A46C64-EFAA-9A05-E2F3-ABC719457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2B8B04-FC76-CEC2-9550-07C425ADE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66A49-4F49-DA65-9C97-50D34FC9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331544-F576-56EF-205E-90A98A61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4027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96E172E-41BA-F174-FF99-50C83FEBC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600" y="6136968"/>
            <a:ext cx="12193200" cy="721032"/>
          </a:xfrm>
          <a:prstGeom prst="rect">
            <a:avLst/>
          </a:prstGeom>
        </p:spPr>
      </p:pic>
      <p:grpSp>
        <p:nvGrpSpPr>
          <p:cNvPr id="7" name="图形 12">
            <a:extLst>
              <a:ext uri="{FF2B5EF4-FFF2-40B4-BE49-F238E27FC236}">
                <a16:creationId xmlns:a16="http://schemas.microsoft.com/office/drawing/2014/main" id="{1E6E911F-38F1-42B3-AAB8-57311022C81E}"/>
              </a:ext>
            </a:extLst>
          </p:cNvPr>
          <p:cNvGrpSpPr/>
          <p:nvPr userDrawn="1"/>
        </p:nvGrpSpPr>
        <p:grpSpPr>
          <a:xfrm>
            <a:off x="10477059" y="327570"/>
            <a:ext cx="1306953" cy="520464"/>
            <a:chOff x="1739537" y="98099"/>
            <a:chExt cx="4612704" cy="1836902"/>
          </a:xfrm>
        </p:grpSpPr>
        <p:sp>
          <p:nvSpPr>
            <p:cNvPr id="8" name="任意形状 7">
              <a:extLst>
                <a:ext uri="{FF2B5EF4-FFF2-40B4-BE49-F238E27FC236}">
                  <a16:creationId xmlns:a16="http://schemas.microsoft.com/office/drawing/2014/main" id="{1FF87494-65BD-1CE3-B49E-C51C092D8D37}"/>
                </a:ext>
              </a:extLst>
            </p:cNvPr>
            <p:cNvSpPr/>
            <p:nvPr/>
          </p:nvSpPr>
          <p:spPr>
            <a:xfrm>
              <a:off x="1739537" y="771564"/>
              <a:ext cx="650741" cy="894889"/>
            </a:xfrm>
            <a:custGeom>
              <a:avLst/>
              <a:gdLst>
                <a:gd name="connsiteX0" fmla="*/ 495249 w 650741"/>
                <a:gd name="connsiteY0" fmla="*/ 368834 h 894889"/>
                <a:gd name="connsiteX1" fmla="*/ 155316 w 650741"/>
                <a:gd name="connsiteY1" fmla="*/ 368834 h 894889"/>
                <a:gd name="connsiteX2" fmla="*/ 155316 w 650741"/>
                <a:gd name="connsiteY2" fmla="*/ 0 h 894889"/>
                <a:gd name="connsiteX3" fmla="*/ 0 w 650741"/>
                <a:gd name="connsiteY3" fmla="*/ 0 h 894889"/>
                <a:gd name="connsiteX4" fmla="*/ 0 w 650741"/>
                <a:gd name="connsiteY4" fmla="*/ 894890 h 894889"/>
                <a:gd name="connsiteX5" fmla="*/ 155316 w 650741"/>
                <a:gd name="connsiteY5" fmla="*/ 894890 h 894889"/>
                <a:gd name="connsiteX6" fmla="*/ 155316 w 650741"/>
                <a:gd name="connsiteY6" fmla="*/ 488856 h 894889"/>
                <a:gd name="connsiteX7" fmla="*/ 495249 w 650741"/>
                <a:gd name="connsiteY7" fmla="*/ 488856 h 894889"/>
                <a:gd name="connsiteX8" fmla="*/ 495249 w 650741"/>
                <a:gd name="connsiteY8" fmla="*/ 894890 h 894889"/>
                <a:gd name="connsiteX9" fmla="*/ 510839 w 650741"/>
                <a:gd name="connsiteY9" fmla="*/ 894890 h 894889"/>
                <a:gd name="connsiteX10" fmla="*/ 650742 w 650741"/>
                <a:gd name="connsiteY10" fmla="*/ 894890 h 894889"/>
                <a:gd name="connsiteX11" fmla="*/ 650742 w 650741"/>
                <a:gd name="connsiteY11" fmla="*/ 0 h 894889"/>
                <a:gd name="connsiteX12" fmla="*/ 495249 w 650741"/>
                <a:gd name="connsiteY12" fmla="*/ 0 h 89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741" h="894889">
                  <a:moveTo>
                    <a:pt x="495249" y="368834"/>
                  </a:moveTo>
                  <a:lnTo>
                    <a:pt x="155316" y="368834"/>
                  </a:lnTo>
                  <a:lnTo>
                    <a:pt x="155316" y="0"/>
                  </a:lnTo>
                  <a:lnTo>
                    <a:pt x="0" y="0"/>
                  </a:lnTo>
                  <a:lnTo>
                    <a:pt x="0" y="894890"/>
                  </a:lnTo>
                  <a:lnTo>
                    <a:pt x="155316" y="894890"/>
                  </a:lnTo>
                  <a:lnTo>
                    <a:pt x="155316" y="488856"/>
                  </a:lnTo>
                  <a:lnTo>
                    <a:pt x="495249" y="488856"/>
                  </a:lnTo>
                  <a:lnTo>
                    <a:pt x="495249" y="894890"/>
                  </a:lnTo>
                  <a:lnTo>
                    <a:pt x="510839" y="894890"/>
                  </a:lnTo>
                  <a:lnTo>
                    <a:pt x="650742" y="894890"/>
                  </a:lnTo>
                  <a:lnTo>
                    <a:pt x="650742" y="0"/>
                  </a:lnTo>
                  <a:lnTo>
                    <a:pt x="495249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4F5D7A08-87FA-A7AA-66DC-CC3FFCCD16AF}"/>
                </a:ext>
              </a:extLst>
            </p:cNvPr>
            <p:cNvSpPr/>
            <p:nvPr/>
          </p:nvSpPr>
          <p:spPr>
            <a:xfrm>
              <a:off x="2459620" y="1005434"/>
              <a:ext cx="592694" cy="929567"/>
            </a:xfrm>
            <a:custGeom>
              <a:avLst/>
              <a:gdLst>
                <a:gd name="connsiteX0" fmla="*/ 436748 w 592694"/>
                <a:gd name="connsiteY0" fmla="*/ 12476 h 929567"/>
                <a:gd name="connsiteX1" fmla="*/ 310454 w 592694"/>
                <a:gd name="connsiteY1" fmla="*/ 485449 h 929567"/>
                <a:gd name="connsiteX2" fmla="*/ 161943 w 592694"/>
                <a:gd name="connsiteY2" fmla="*/ 11764 h 929567"/>
                <a:gd name="connsiteX3" fmla="*/ 158997 w 592694"/>
                <a:gd name="connsiteY3" fmla="*/ 0 h 929567"/>
                <a:gd name="connsiteX4" fmla="*/ 0 w 592694"/>
                <a:gd name="connsiteY4" fmla="*/ 0 h 929567"/>
                <a:gd name="connsiteX5" fmla="*/ 5002 w 592694"/>
                <a:gd name="connsiteY5" fmla="*/ 19361 h 929567"/>
                <a:gd name="connsiteX6" fmla="*/ 223669 w 592694"/>
                <a:gd name="connsiteY6" fmla="*/ 647854 h 929567"/>
                <a:gd name="connsiteX7" fmla="*/ 147979 w 592694"/>
                <a:gd name="connsiteY7" fmla="*/ 785362 h 929567"/>
                <a:gd name="connsiteX8" fmla="*/ 93871 w 592694"/>
                <a:gd name="connsiteY8" fmla="*/ 815643 h 929567"/>
                <a:gd name="connsiteX9" fmla="*/ 12975 w 592694"/>
                <a:gd name="connsiteY9" fmla="*/ 815643 h 929567"/>
                <a:gd name="connsiteX10" fmla="*/ 6806 w 592694"/>
                <a:gd name="connsiteY10" fmla="*/ 916128 h 929567"/>
                <a:gd name="connsiteX11" fmla="*/ 19348 w 592694"/>
                <a:gd name="connsiteY11" fmla="*/ 919258 h 929567"/>
                <a:gd name="connsiteX12" fmla="*/ 103087 w 592694"/>
                <a:gd name="connsiteY12" fmla="*/ 929567 h 929567"/>
                <a:gd name="connsiteX13" fmla="*/ 104889 w 592694"/>
                <a:gd name="connsiteY13" fmla="*/ 929567 h 929567"/>
                <a:gd name="connsiteX14" fmla="*/ 243016 w 592694"/>
                <a:gd name="connsiteY14" fmla="*/ 871489 h 929567"/>
                <a:gd name="connsiteX15" fmla="*/ 378346 w 592694"/>
                <a:gd name="connsiteY15" fmla="*/ 652078 h 929567"/>
                <a:gd name="connsiteX16" fmla="*/ 587872 w 592694"/>
                <a:gd name="connsiteY16" fmla="*/ 19287 h 929567"/>
                <a:gd name="connsiteX17" fmla="*/ 592695 w 592694"/>
                <a:gd name="connsiteY17" fmla="*/ 2 h 929567"/>
                <a:gd name="connsiteX18" fmla="*/ 439078 w 592694"/>
                <a:gd name="connsiteY18" fmla="*/ 2 h 929567"/>
                <a:gd name="connsiteX19" fmla="*/ 436748 w 592694"/>
                <a:gd name="connsiteY19" fmla="*/ 12478 h 929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92694" h="929567">
                  <a:moveTo>
                    <a:pt x="436748" y="12476"/>
                  </a:moveTo>
                  <a:cubicBezTo>
                    <a:pt x="404955" y="174421"/>
                    <a:pt x="360448" y="339438"/>
                    <a:pt x="310454" y="485449"/>
                  </a:cubicBezTo>
                  <a:cubicBezTo>
                    <a:pt x="255533" y="333879"/>
                    <a:pt x="204855" y="182322"/>
                    <a:pt x="161943" y="11764"/>
                  </a:cubicBezTo>
                  <a:lnTo>
                    <a:pt x="158997" y="0"/>
                  </a:lnTo>
                  <a:lnTo>
                    <a:pt x="0" y="0"/>
                  </a:lnTo>
                  <a:lnTo>
                    <a:pt x="5002" y="19361"/>
                  </a:lnTo>
                  <a:cubicBezTo>
                    <a:pt x="62158" y="239336"/>
                    <a:pt x="146988" y="470850"/>
                    <a:pt x="223669" y="647854"/>
                  </a:cubicBezTo>
                  <a:cubicBezTo>
                    <a:pt x="192133" y="717948"/>
                    <a:pt x="168114" y="761067"/>
                    <a:pt x="147979" y="785362"/>
                  </a:cubicBezTo>
                  <a:cubicBezTo>
                    <a:pt x="126752" y="810281"/>
                    <a:pt x="113296" y="815216"/>
                    <a:pt x="93871" y="815643"/>
                  </a:cubicBezTo>
                  <a:lnTo>
                    <a:pt x="12975" y="815643"/>
                  </a:lnTo>
                  <a:lnTo>
                    <a:pt x="6806" y="916128"/>
                  </a:lnTo>
                  <a:lnTo>
                    <a:pt x="19348" y="919258"/>
                  </a:lnTo>
                  <a:cubicBezTo>
                    <a:pt x="40043" y="924358"/>
                    <a:pt x="69597" y="929567"/>
                    <a:pt x="103087" y="929567"/>
                  </a:cubicBezTo>
                  <a:lnTo>
                    <a:pt x="104889" y="929567"/>
                  </a:lnTo>
                  <a:cubicBezTo>
                    <a:pt x="155951" y="929567"/>
                    <a:pt x="201171" y="913896"/>
                    <a:pt x="243016" y="871489"/>
                  </a:cubicBezTo>
                  <a:cubicBezTo>
                    <a:pt x="285545" y="828732"/>
                    <a:pt x="326678" y="760432"/>
                    <a:pt x="378346" y="652078"/>
                  </a:cubicBezTo>
                  <a:cubicBezTo>
                    <a:pt x="447061" y="509460"/>
                    <a:pt x="516553" y="303411"/>
                    <a:pt x="587872" y="19287"/>
                  </a:cubicBezTo>
                  <a:lnTo>
                    <a:pt x="592695" y="2"/>
                  </a:lnTo>
                  <a:lnTo>
                    <a:pt x="439078" y="2"/>
                  </a:lnTo>
                  <a:lnTo>
                    <a:pt x="436748" y="1247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50E9FEE1-E93A-F1E5-E543-3E55DCA60665}"/>
                </a:ext>
              </a:extLst>
            </p:cNvPr>
            <p:cNvSpPr/>
            <p:nvPr/>
          </p:nvSpPr>
          <p:spPr>
            <a:xfrm>
              <a:off x="3117596" y="822326"/>
              <a:ext cx="394925" cy="853987"/>
            </a:xfrm>
            <a:custGeom>
              <a:avLst/>
              <a:gdLst>
                <a:gd name="connsiteX0" fmla="*/ 263816 w 394925"/>
                <a:gd name="connsiteY0" fmla="*/ 726822 h 853987"/>
                <a:gd name="connsiteX1" fmla="*/ 245453 w 394925"/>
                <a:gd name="connsiteY1" fmla="*/ 649176 h 853987"/>
                <a:gd name="connsiteX2" fmla="*/ 245453 w 394925"/>
                <a:gd name="connsiteY2" fmla="*/ 292104 h 853987"/>
                <a:gd name="connsiteX3" fmla="*/ 394859 w 394925"/>
                <a:gd name="connsiteY3" fmla="*/ 292104 h 853987"/>
                <a:gd name="connsiteX4" fmla="*/ 394859 w 394925"/>
                <a:gd name="connsiteY4" fmla="*/ 183108 h 853987"/>
                <a:gd name="connsiteX5" fmla="*/ 245453 w 394925"/>
                <a:gd name="connsiteY5" fmla="*/ 183108 h 853987"/>
                <a:gd name="connsiteX6" fmla="*/ 245453 w 394925"/>
                <a:gd name="connsiteY6" fmla="*/ 0 h 853987"/>
                <a:gd name="connsiteX7" fmla="*/ 122994 w 394925"/>
                <a:gd name="connsiteY7" fmla="*/ 0 h 853987"/>
                <a:gd name="connsiteX8" fmla="*/ 94329 w 394925"/>
                <a:gd name="connsiteY8" fmla="*/ 183108 h 853987"/>
                <a:gd name="connsiteX9" fmla="*/ 0 w 394925"/>
                <a:gd name="connsiteY9" fmla="*/ 183108 h 853987"/>
                <a:gd name="connsiteX10" fmla="*/ 0 w 394925"/>
                <a:gd name="connsiteY10" fmla="*/ 292104 h 853987"/>
                <a:gd name="connsiteX11" fmla="*/ 93695 w 394925"/>
                <a:gd name="connsiteY11" fmla="*/ 292104 h 853987"/>
                <a:gd name="connsiteX12" fmla="*/ 93695 w 394925"/>
                <a:gd name="connsiteY12" fmla="*/ 678954 h 853987"/>
                <a:gd name="connsiteX13" fmla="*/ 144573 w 394925"/>
                <a:gd name="connsiteY13" fmla="*/ 818311 h 853987"/>
                <a:gd name="connsiteX14" fmla="*/ 272215 w 394925"/>
                <a:gd name="connsiteY14" fmla="*/ 853988 h 853987"/>
                <a:gd name="connsiteX15" fmla="*/ 382840 w 394925"/>
                <a:gd name="connsiteY15" fmla="*/ 842420 h 853987"/>
                <a:gd name="connsiteX16" fmla="*/ 394925 w 394925"/>
                <a:gd name="connsiteY16" fmla="*/ 839750 h 853987"/>
                <a:gd name="connsiteX17" fmla="*/ 394925 w 394925"/>
                <a:gd name="connsiteY17" fmla="*/ 740162 h 853987"/>
                <a:gd name="connsiteX18" fmla="*/ 324985 w 394925"/>
                <a:gd name="connsiteY18" fmla="*/ 740162 h 853987"/>
                <a:gd name="connsiteX19" fmla="*/ 263816 w 394925"/>
                <a:gd name="connsiteY19" fmla="*/ 726822 h 853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925" h="853987">
                  <a:moveTo>
                    <a:pt x="263816" y="726822"/>
                  </a:moveTo>
                  <a:cubicBezTo>
                    <a:pt x="253426" y="717574"/>
                    <a:pt x="245354" y="695621"/>
                    <a:pt x="245453" y="649176"/>
                  </a:cubicBezTo>
                  <a:lnTo>
                    <a:pt x="245453" y="292104"/>
                  </a:lnTo>
                  <a:lnTo>
                    <a:pt x="394859" y="292104"/>
                  </a:lnTo>
                  <a:lnTo>
                    <a:pt x="394859" y="183108"/>
                  </a:lnTo>
                  <a:lnTo>
                    <a:pt x="245453" y="183108"/>
                  </a:lnTo>
                  <a:lnTo>
                    <a:pt x="245453" y="0"/>
                  </a:lnTo>
                  <a:lnTo>
                    <a:pt x="122994" y="0"/>
                  </a:lnTo>
                  <a:lnTo>
                    <a:pt x="94329" y="183108"/>
                  </a:lnTo>
                  <a:lnTo>
                    <a:pt x="0" y="183108"/>
                  </a:lnTo>
                  <a:lnTo>
                    <a:pt x="0" y="292104"/>
                  </a:lnTo>
                  <a:lnTo>
                    <a:pt x="93695" y="292104"/>
                  </a:lnTo>
                  <a:lnTo>
                    <a:pt x="93695" y="678954"/>
                  </a:lnTo>
                  <a:cubicBezTo>
                    <a:pt x="93618" y="745010"/>
                    <a:pt x="111270" y="790722"/>
                    <a:pt x="144573" y="818311"/>
                  </a:cubicBezTo>
                  <a:cubicBezTo>
                    <a:pt x="177820" y="845922"/>
                    <a:pt x="222322" y="853911"/>
                    <a:pt x="272215" y="853988"/>
                  </a:cubicBezTo>
                  <a:cubicBezTo>
                    <a:pt x="312790" y="853911"/>
                    <a:pt x="354175" y="848975"/>
                    <a:pt x="382840" y="842420"/>
                  </a:cubicBezTo>
                  <a:lnTo>
                    <a:pt x="394925" y="839750"/>
                  </a:lnTo>
                  <a:lnTo>
                    <a:pt x="394925" y="740162"/>
                  </a:lnTo>
                  <a:lnTo>
                    <a:pt x="324985" y="740162"/>
                  </a:lnTo>
                  <a:cubicBezTo>
                    <a:pt x="293093" y="740337"/>
                    <a:pt x="273670" y="736572"/>
                    <a:pt x="263816" y="726822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C63A48D9-4FC7-12B4-7763-ECF778419844}"/>
                </a:ext>
              </a:extLst>
            </p:cNvPr>
            <p:cNvSpPr/>
            <p:nvPr/>
          </p:nvSpPr>
          <p:spPr>
            <a:xfrm>
              <a:off x="3556629" y="991891"/>
              <a:ext cx="579088" cy="688176"/>
            </a:xfrm>
            <a:custGeom>
              <a:avLst/>
              <a:gdLst>
                <a:gd name="connsiteX0" fmla="*/ 302411 w 579088"/>
                <a:gd name="connsiteY0" fmla="*/ 106382 h 688176"/>
                <a:gd name="connsiteX1" fmla="*/ 392519 w 579088"/>
                <a:gd name="connsiteY1" fmla="*/ 147363 h 688176"/>
                <a:gd name="connsiteX2" fmla="*/ 424586 w 579088"/>
                <a:gd name="connsiteY2" fmla="*/ 266121 h 688176"/>
                <a:gd name="connsiteX3" fmla="*/ 157379 w 579088"/>
                <a:gd name="connsiteY3" fmla="*/ 266121 h 688176"/>
                <a:gd name="connsiteX4" fmla="*/ 192847 w 579088"/>
                <a:gd name="connsiteY4" fmla="*/ 160347 h 688176"/>
                <a:gd name="connsiteX5" fmla="*/ 302411 w 579088"/>
                <a:gd name="connsiteY5" fmla="*/ 106384 h 688176"/>
                <a:gd name="connsiteX6" fmla="*/ 309925 w 579088"/>
                <a:gd name="connsiteY6" fmla="*/ 2 h 688176"/>
                <a:gd name="connsiteX7" fmla="*/ 77924 w 579088"/>
                <a:gd name="connsiteY7" fmla="*/ 94567 h 688176"/>
                <a:gd name="connsiteX8" fmla="*/ 0 w 579088"/>
                <a:gd name="connsiteY8" fmla="*/ 345967 h 688176"/>
                <a:gd name="connsiteX9" fmla="*/ 76043 w 579088"/>
                <a:gd name="connsiteY9" fmla="*/ 600802 h 688176"/>
                <a:gd name="connsiteX10" fmla="*/ 310909 w 579088"/>
                <a:gd name="connsiteY10" fmla="*/ 688177 h 688176"/>
                <a:gd name="connsiteX11" fmla="*/ 311445 w 579088"/>
                <a:gd name="connsiteY11" fmla="*/ 688177 h 688176"/>
                <a:gd name="connsiteX12" fmla="*/ 549713 w 579088"/>
                <a:gd name="connsiteY12" fmla="*/ 654131 h 688176"/>
                <a:gd name="connsiteX13" fmla="*/ 563504 w 579088"/>
                <a:gd name="connsiteY13" fmla="*/ 650093 h 688176"/>
                <a:gd name="connsiteX14" fmla="*/ 540570 w 579088"/>
                <a:gd name="connsiteY14" fmla="*/ 540743 h 688176"/>
                <a:gd name="connsiteX15" fmla="*/ 524733 w 579088"/>
                <a:gd name="connsiteY15" fmla="*/ 545131 h 688176"/>
                <a:gd name="connsiteX16" fmla="*/ 329633 w 579088"/>
                <a:gd name="connsiteY16" fmla="*/ 574253 h 688176"/>
                <a:gd name="connsiteX17" fmla="*/ 193941 w 579088"/>
                <a:gd name="connsiteY17" fmla="*/ 518330 h 688176"/>
                <a:gd name="connsiteX18" fmla="*/ 156417 w 579088"/>
                <a:gd name="connsiteY18" fmla="*/ 370076 h 688176"/>
                <a:gd name="connsiteX19" fmla="*/ 577568 w 579088"/>
                <a:gd name="connsiteY19" fmla="*/ 370076 h 688176"/>
                <a:gd name="connsiteX20" fmla="*/ 577568 w 579088"/>
                <a:gd name="connsiteY20" fmla="*/ 354481 h 688176"/>
                <a:gd name="connsiteX21" fmla="*/ 579089 w 579088"/>
                <a:gd name="connsiteY21" fmla="*/ 295232 h 688176"/>
                <a:gd name="connsiteX22" fmla="*/ 517110 w 579088"/>
                <a:gd name="connsiteY22" fmla="*/ 82269 h 688176"/>
                <a:gd name="connsiteX23" fmla="*/ 309925 w 579088"/>
                <a:gd name="connsiteY23" fmla="*/ 1 h 6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9088" h="688176">
                  <a:moveTo>
                    <a:pt x="302411" y="106382"/>
                  </a:moveTo>
                  <a:cubicBezTo>
                    <a:pt x="343260" y="106763"/>
                    <a:pt x="371903" y="120991"/>
                    <a:pt x="392519" y="147363"/>
                  </a:cubicBezTo>
                  <a:cubicBezTo>
                    <a:pt x="412861" y="173787"/>
                    <a:pt x="424586" y="214128"/>
                    <a:pt x="424586" y="266121"/>
                  </a:cubicBezTo>
                  <a:lnTo>
                    <a:pt x="157379" y="266121"/>
                  </a:lnTo>
                  <a:cubicBezTo>
                    <a:pt x="161229" y="227118"/>
                    <a:pt x="172538" y="189033"/>
                    <a:pt x="192847" y="160347"/>
                  </a:cubicBezTo>
                  <a:cubicBezTo>
                    <a:pt x="216153" y="128004"/>
                    <a:pt x="249467" y="106764"/>
                    <a:pt x="302411" y="106384"/>
                  </a:cubicBezTo>
                  <a:close/>
                  <a:moveTo>
                    <a:pt x="309925" y="2"/>
                  </a:moveTo>
                  <a:cubicBezTo>
                    <a:pt x="209351" y="-175"/>
                    <a:pt x="130431" y="33437"/>
                    <a:pt x="77924" y="94567"/>
                  </a:cubicBezTo>
                  <a:cubicBezTo>
                    <a:pt x="25439" y="155519"/>
                    <a:pt x="0" y="242001"/>
                    <a:pt x="0" y="345967"/>
                  </a:cubicBezTo>
                  <a:cubicBezTo>
                    <a:pt x="0" y="456312"/>
                    <a:pt x="23744" y="542089"/>
                    <a:pt x="76043" y="600802"/>
                  </a:cubicBezTo>
                  <a:cubicBezTo>
                    <a:pt x="128178" y="659493"/>
                    <a:pt x="207546" y="688177"/>
                    <a:pt x="310909" y="688177"/>
                  </a:cubicBezTo>
                  <a:lnTo>
                    <a:pt x="311445" y="688177"/>
                  </a:lnTo>
                  <a:cubicBezTo>
                    <a:pt x="400667" y="688177"/>
                    <a:pt x="480647" y="674278"/>
                    <a:pt x="549713" y="654131"/>
                  </a:cubicBezTo>
                  <a:lnTo>
                    <a:pt x="563504" y="650093"/>
                  </a:lnTo>
                  <a:lnTo>
                    <a:pt x="540570" y="540743"/>
                  </a:lnTo>
                  <a:lnTo>
                    <a:pt x="524733" y="545131"/>
                  </a:lnTo>
                  <a:cubicBezTo>
                    <a:pt x="463280" y="562160"/>
                    <a:pt x="406409" y="574176"/>
                    <a:pt x="329633" y="574253"/>
                  </a:cubicBezTo>
                  <a:cubicBezTo>
                    <a:pt x="260666" y="573892"/>
                    <a:pt x="220091" y="553821"/>
                    <a:pt x="193941" y="518330"/>
                  </a:cubicBezTo>
                  <a:cubicBezTo>
                    <a:pt x="169661" y="484996"/>
                    <a:pt x="157937" y="434720"/>
                    <a:pt x="156417" y="370076"/>
                  </a:cubicBezTo>
                  <a:lnTo>
                    <a:pt x="577568" y="370076"/>
                  </a:lnTo>
                  <a:lnTo>
                    <a:pt x="577568" y="354481"/>
                  </a:lnTo>
                  <a:cubicBezTo>
                    <a:pt x="577568" y="336566"/>
                    <a:pt x="579089" y="308419"/>
                    <a:pt x="579089" y="295232"/>
                  </a:cubicBezTo>
                  <a:cubicBezTo>
                    <a:pt x="579012" y="209028"/>
                    <a:pt x="561010" y="135241"/>
                    <a:pt x="517110" y="82269"/>
                  </a:cubicBezTo>
                  <a:cubicBezTo>
                    <a:pt x="473309" y="29321"/>
                    <a:pt x="404254" y="-177"/>
                    <a:pt x="309925" y="1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341E5E21-2A07-AD8F-3B28-E1CBFDE6C95C}"/>
                </a:ext>
              </a:extLst>
            </p:cNvPr>
            <p:cNvSpPr/>
            <p:nvPr/>
          </p:nvSpPr>
          <p:spPr>
            <a:xfrm>
              <a:off x="4227181" y="991914"/>
              <a:ext cx="380685" cy="674561"/>
            </a:xfrm>
            <a:custGeom>
              <a:avLst/>
              <a:gdLst>
                <a:gd name="connsiteX0" fmla="*/ 288773 w 380685"/>
                <a:gd name="connsiteY0" fmla="*/ 5 h 674561"/>
                <a:gd name="connsiteX1" fmla="*/ 198403 w 380685"/>
                <a:gd name="connsiteY1" fmla="*/ 32906 h 674561"/>
                <a:gd name="connsiteX2" fmla="*/ 133811 w 380685"/>
                <a:gd name="connsiteY2" fmla="*/ 102802 h 674561"/>
                <a:gd name="connsiteX3" fmla="*/ 124493 w 380685"/>
                <a:gd name="connsiteY3" fmla="*/ 13546 h 674561"/>
                <a:gd name="connsiteX4" fmla="*/ 0 w 380685"/>
                <a:gd name="connsiteY4" fmla="*/ 13546 h 674561"/>
                <a:gd name="connsiteX5" fmla="*/ 0 w 380685"/>
                <a:gd name="connsiteY5" fmla="*/ 674562 h 674561"/>
                <a:gd name="connsiteX6" fmla="*/ 151627 w 380685"/>
                <a:gd name="connsiteY6" fmla="*/ 674562 h 674561"/>
                <a:gd name="connsiteX7" fmla="*/ 151627 w 380685"/>
                <a:gd name="connsiteY7" fmla="*/ 244704 h 674561"/>
                <a:gd name="connsiteX8" fmla="*/ 233160 w 380685"/>
                <a:gd name="connsiteY8" fmla="*/ 148356 h 674561"/>
                <a:gd name="connsiteX9" fmla="*/ 284191 w 380685"/>
                <a:gd name="connsiteY9" fmla="*/ 122542 h 674561"/>
                <a:gd name="connsiteX10" fmla="*/ 340460 w 380685"/>
                <a:gd name="connsiteY10" fmla="*/ 131943 h 674561"/>
                <a:gd name="connsiteX11" fmla="*/ 356482 w 380685"/>
                <a:gd name="connsiteY11" fmla="*/ 136338 h 674561"/>
                <a:gd name="connsiteX12" fmla="*/ 359807 w 380685"/>
                <a:gd name="connsiteY12" fmla="*/ 120027 h 674561"/>
                <a:gd name="connsiteX13" fmla="*/ 380685 w 380685"/>
                <a:gd name="connsiteY13" fmla="*/ 15681 h 674561"/>
                <a:gd name="connsiteX14" fmla="*/ 366971 w 380685"/>
                <a:gd name="connsiteY14" fmla="*/ 11844 h 674561"/>
                <a:gd name="connsiteX15" fmla="*/ 288773 w 380685"/>
                <a:gd name="connsiteY15" fmla="*/ 5 h 67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0685" h="674561">
                  <a:moveTo>
                    <a:pt x="288773" y="5"/>
                  </a:moveTo>
                  <a:cubicBezTo>
                    <a:pt x="255525" y="-275"/>
                    <a:pt x="225898" y="10574"/>
                    <a:pt x="198403" y="32906"/>
                  </a:cubicBezTo>
                  <a:cubicBezTo>
                    <a:pt x="177426" y="49650"/>
                    <a:pt x="157095" y="72618"/>
                    <a:pt x="133811" y="102802"/>
                  </a:cubicBezTo>
                  <a:lnTo>
                    <a:pt x="124493" y="13546"/>
                  </a:lnTo>
                  <a:lnTo>
                    <a:pt x="0" y="13546"/>
                  </a:lnTo>
                  <a:lnTo>
                    <a:pt x="0" y="674562"/>
                  </a:lnTo>
                  <a:lnTo>
                    <a:pt x="151627" y="674562"/>
                  </a:lnTo>
                  <a:lnTo>
                    <a:pt x="151627" y="244704"/>
                  </a:lnTo>
                  <a:cubicBezTo>
                    <a:pt x="186919" y="198815"/>
                    <a:pt x="212643" y="167437"/>
                    <a:pt x="233160" y="148356"/>
                  </a:cubicBezTo>
                  <a:cubicBezTo>
                    <a:pt x="254815" y="128539"/>
                    <a:pt x="268814" y="122619"/>
                    <a:pt x="284191" y="122542"/>
                  </a:cubicBezTo>
                  <a:cubicBezTo>
                    <a:pt x="300246" y="122542"/>
                    <a:pt x="318598" y="125845"/>
                    <a:pt x="340460" y="131943"/>
                  </a:cubicBezTo>
                  <a:lnTo>
                    <a:pt x="356482" y="136338"/>
                  </a:lnTo>
                  <a:lnTo>
                    <a:pt x="359807" y="120027"/>
                  </a:lnTo>
                  <a:lnTo>
                    <a:pt x="380685" y="15681"/>
                  </a:lnTo>
                  <a:lnTo>
                    <a:pt x="366971" y="11844"/>
                  </a:lnTo>
                  <a:cubicBezTo>
                    <a:pt x="340285" y="3943"/>
                    <a:pt x="314485" y="5"/>
                    <a:pt x="288773" y="5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797F1EB2-7BFE-7EFE-A850-707DBB310097}"/>
                </a:ext>
              </a:extLst>
            </p:cNvPr>
            <p:cNvSpPr/>
            <p:nvPr/>
          </p:nvSpPr>
          <p:spPr>
            <a:xfrm>
              <a:off x="4620026" y="991866"/>
              <a:ext cx="539861" cy="688201"/>
            </a:xfrm>
            <a:custGeom>
              <a:avLst/>
              <a:gdLst>
                <a:gd name="connsiteX0" fmla="*/ 187108 w 539861"/>
                <a:gd name="connsiteY0" fmla="*/ 410329 h 688201"/>
                <a:gd name="connsiteX1" fmla="*/ 296136 w 539861"/>
                <a:gd name="connsiteY1" fmla="*/ 381208 h 688201"/>
                <a:gd name="connsiteX2" fmla="*/ 296311 w 539861"/>
                <a:gd name="connsiteY2" fmla="*/ 381208 h 688201"/>
                <a:gd name="connsiteX3" fmla="*/ 389547 w 539861"/>
                <a:gd name="connsiteY3" fmla="*/ 381208 h 688201"/>
                <a:gd name="connsiteX4" fmla="*/ 389547 w 539861"/>
                <a:gd name="connsiteY4" fmla="*/ 501589 h 688201"/>
                <a:gd name="connsiteX5" fmla="*/ 248015 w 539861"/>
                <a:gd name="connsiteY5" fmla="*/ 579202 h 688201"/>
                <a:gd name="connsiteX6" fmla="*/ 176084 w 539861"/>
                <a:gd name="connsiteY6" fmla="*/ 554743 h 688201"/>
                <a:gd name="connsiteX7" fmla="*/ 153336 w 539861"/>
                <a:gd name="connsiteY7" fmla="*/ 488325 h 688201"/>
                <a:gd name="connsiteX8" fmla="*/ 187108 w 539861"/>
                <a:gd name="connsiteY8" fmla="*/ 410329 h 688201"/>
                <a:gd name="connsiteX9" fmla="*/ 481634 w 539861"/>
                <a:gd name="connsiteY9" fmla="*/ 63926 h 688201"/>
                <a:gd name="connsiteX10" fmla="*/ 282772 w 539861"/>
                <a:gd name="connsiteY10" fmla="*/ 0 h 688201"/>
                <a:gd name="connsiteX11" fmla="*/ 53932 w 539861"/>
                <a:gd name="connsiteY11" fmla="*/ 41872 h 688201"/>
                <a:gd name="connsiteX12" fmla="*/ 40042 w 539861"/>
                <a:gd name="connsiteY12" fmla="*/ 46877 h 688201"/>
                <a:gd name="connsiteX13" fmla="*/ 73880 w 539861"/>
                <a:gd name="connsiteY13" fmla="*/ 152291 h 688201"/>
                <a:gd name="connsiteX14" fmla="*/ 89225 w 539861"/>
                <a:gd name="connsiteY14" fmla="*/ 146194 h 688201"/>
                <a:gd name="connsiteX15" fmla="*/ 264595 w 539861"/>
                <a:gd name="connsiteY15" fmla="*/ 110242 h 688201"/>
                <a:gd name="connsiteX16" fmla="*/ 363113 w 539861"/>
                <a:gd name="connsiteY16" fmla="*/ 140198 h 688201"/>
                <a:gd name="connsiteX17" fmla="*/ 389547 w 539861"/>
                <a:gd name="connsiteY17" fmla="*/ 237003 h 688201"/>
                <a:gd name="connsiteX18" fmla="*/ 389547 w 539861"/>
                <a:gd name="connsiteY18" fmla="*/ 279727 h 688201"/>
                <a:gd name="connsiteX19" fmla="*/ 309993 w 539861"/>
                <a:gd name="connsiteY19" fmla="*/ 279727 h 688201"/>
                <a:gd name="connsiteX20" fmla="*/ 88765 w 539861"/>
                <a:gd name="connsiteY20" fmla="*/ 330571 h 688201"/>
                <a:gd name="connsiteX21" fmla="*/ 3 w 539861"/>
                <a:gd name="connsiteY21" fmla="*/ 493250 h 688201"/>
                <a:gd name="connsiteX22" fmla="*/ 61084 w 539861"/>
                <a:gd name="connsiteY22" fmla="*/ 636930 h 688201"/>
                <a:gd name="connsiteX23" fmla="*/ 220870 w 539861"/>
                <a:gd name="connsiteY23" fmla="*/ 688201 h 688201"/>
                <a:gd name="connsiteX24" fmla="*/ 221056 w 539861"/>
                <a:gd name="connsiteY24" fmla="*/ 688201 h 688201"/>
                <a:gd name="connsiteX25" fmla="*/ 407899 w 539861"/>
                <a:gd name="connsiteY25" fmla="*/ 618183 h 688201"/>
                <a:gd name="connsiteX26" fmla="*/ 413641 w 539861"/>
                <a:gd name="connsiteY26" fmla="*/ 674664 h 688201"/>
                <a:gd name="connsiteX27" fmla="*/ 427607 w 539861"/>
                <a:gd name="connsiteY27" fmla="*/ 674664 h 688201"/>
                <a:gd name="connsiteX28" fmla="*/ 539861 w 539861"/>
                <a:gd name="connsiteY28" fmla="*/ 674664 h 688201"/>
                <a:gd name="connsiteX29" fmla="*/ 539861 w 539861"/>
                <a:gd name="connsiteY29" fmla="*/ 217282 h 688201"/>
                <a:gd name="connsiteX30" fmla="*/ 481634 w 539861"/>
                <a:gd name="connsiteY30" fmla="*/ 63924 h 6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39861" h="688201">
                  <a:moveTo>
                    <a:pt x="187108" y="410329"/>
                  </a:moveTo>
                  <a:cubicBezTo>
                    <a:pt x="209594" y="392316"/>
                    <a:pt x="245423" y="381208"/>
                    <a:pt x="296136" y="381208"/>
                  </a:cubicBezTo>
                  <a:lnTo>
                    <a:pt x="296311" y="381208"/>
                  </a:lnTo>
                  <a:lnTo>
                    <a:pt x="389547" y="381208"/>
                  </a:lnTo>
                  <a:lnTo>
                    <a:pt x="389547" y="501589"/>
                  </a:lnTo>
                  <a:cubicBezTo>
                    <a:pt x="343339" y="547301"/>
                    <a:pt x="301134" y="579278"/>
                    <a:pt x="248015" y="579202"/>
                  </a:cubicBezTo>
                  <a:cubicBezTo>
                    <a:pt x="213816" y="579103"/>
                    <a:pt x="191067" y="569703"/>
                    <a:pt x="176084" y="554743"/>
                  </a:cubicBezTo>
                  <a:cubicBezTo>
                    <a:pt x="161407" y="539772"/>
                    <a:pt x="153336" y="517720"/>
                    <a:pt x="153336" y="488325"/>
                  </a:cubicBezTo>
                  <a:cubicBezTo>
                    <a:pt x="153434" y="453371"/>
                    <a:pt x="164710" y="428364"/>
                    <a:pt x="187108" y="410329"/>
                  </a:cubicBezTo>
                  <a:close/>
                  <a:moveTo>
                    <a:pt x="481634" y="63926"/>
                  </a:moveTo>
                  <a:cubicBezTo>
                    <a:pt x="439976" y="23578"/>
                    <a:pt x="375045" y="0"/>
                    <a:pt x="282772" y="0"/>
                  </a:cubicBezTo>
                  <a:cubicBezTo>
                    <a:pt x="208074" y="0"/>
                    <a:pt x="126650" y="15144"/>
                    <a:pt x="53932" y="41872"/>
                  </a:cubicBezTo>
                  <a:lnTo>
                    <a:pt x="40042" y="46877"/>
                  </a:lnTo>
                  <a:lnTo>
                    <a:pt x="73880" y="152291"/>
                  </a:lnTo>
                  <a:lnTo>
                    <a:pt x="89225" y="146194"/>
                  </a:lnTo>
                  <a:cubicBezTo>
                    <a:pt x="149322" y="122183"/>
                    <a:pt x="211027" y="110242"/>
                    <a:pt x="264595" y="110242"/>
                  </a:cubicBezTo>
                  <a:cubicBezTo>
                    <a:pt x="315484" y="110242"/>
                    <a:pt x="345472" y="121193"/>
                    <a:pt x="363113" y="140198"/>
                  </a:cubicBezTo>
                  <a:cubicBezTo>
                    <a:pt x="380940" y="159101"/>
                    <a:pt x="389645" y="190377"/>
                    <a:pt x="389547" y="237003"/>
                  </a:cubicBezTo>
                  <a:lnTo>
                    <a:pt x="389547" y="279727"/>
                  </a:lnTo>
                  <a:lnTo>
                    <a:pt x="309993" y="279727"/>
                  </a:lnTo>
                  <a:cubicBezTo>
                    <a:pt x="220443" y="279727"/>
                    <a:pt x="144302" y="295683"/>
                    <a:pt x="88765" y="330571"/>
                  </a:cubicBezTo>
                  <a:cubicBezTo>
                    <a:pt x="33239" y="365252"/>
                    <a:pt x="-358" y="421174"/>
                    <a:pt x="3" y="493250"/>
                  </a:cubicBezTo>
                  <a:cubicBezTo>
                    <a:pt x="-106" y="553210"/>
                    <a:pt x="21679" y="603136"/>
                    <a:pt x="61084" y="636930"/>
                  </a:cubicBezTo>
                  <a:cubicBezTo>
                    <a:pt x="100314" y="670724"/>
                    <a:pt x="155490" y="688201"/>
                    <a:pt x="220870" y="688201"/>
                  </a:cubicBezTo>
                  <a:lnTo>
                    <a:pt x="221056" y="688201"/>
                  </a:lnTo>
                  <a:cubicBezTo>
                    <a:pt x="301845" y="688201"/>
                    <a:pt x="362763" y="656005"/>
                    <a:pt x="407899" y="618183"/>
                  </a:cubicBezTo>
                  <a:lnTo>
                    <a:pt x="413641" y="674664"/>
                  </a:lnTo>
                  <a:lnTo>
                    <a:pt x="427607" y="674664"/>
                  </a:lnTo>
                  <a:lnTo>
                    <a:pt x="539861" y="674664"/>
                  </a:lnTo>
                  <a:lnTo>
                    <a:pt x="539861" y="217282"/>
                  </a:lnTo>
                  <a:cubicBezTo>
                    <a:pt x="539861" y="159454"/>
                    <a:pt x="523456" y="104244"/>
                    <a:pt x="481634" y="63924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19BC152C-2577-764E-802F-9B05F4CFABCE}"/>
                </a:ext>
              </a:extLst>
            </p:cNvPr>
            <p:cNvSpPr/>
            <p:nvPr/>
          </p:nvSpPr>
          <p:spPr>
            <a:xfrm>
              <a:off x="5059160" y="682028"/>
              <a:ext cx="1293081" cy="539038"/>
            </a:xfrm>
            <a:custGeom>
              <a:avLst/>
              <a:gdLst>
                <a:gd name="connsiteX0" fmla="*/ 0 w 1293081"/>
                <a:gd name="connsiteY0" fmla="*/ 167611 h 539038"/>
                <a:gd name="connsiteX1" fmla="*/ 1128189 w 1293081"/>
                <a:gd name="connsiteY1" fmla="*/ 172185 h 539038"/>
                <a:gd name="connsiteX2" fmla="*/ 1128189 w 1293081"/>
                <a:gd name="connsiteY2" fmla="*/ 172185 h 539038"/>
                <a:gd name="connsiteX3" fmla="*/ 1128189 w 1293081"/>
                <a:gd name="connsiteY3" fmla="*/ 172082 h 539038"/>
                <a:gd name="connsiteX4" fmla="*/ 1293082 w 1293081"/>
                <a:gd name="connsiteY4" fmla="*/ 0 h 539038"/>
                <a:gd name="connsiteX5" fmla="*/ 0 w 1293081"/>
                <a:gd name="connsiteY5" fmla="*/ 167611 h 539038"/>
                <a:gd name="connsiteX6" fmla="*/ 952085 w 1293081"/>
                <a:gd name="connsiteY6" fmla="*/ 329836 h 539038"/>
                <a:gd name="connsiteX7" fmla="*/ 1066188 w 1293081"/>
                <a:gd name="connsiteY7" fmla="*/ 230546 h 539038"/>
                <a:gd name="connsiteX8" fmla="*/ 1066188 w 1293081"/>
                <a:gd name="connsiteY8" fmla="*/ 230546 h 539038"/>
                <a:gd name="connsiteX9" fmla="*/ 48723 w 1293081"/>
                <a:gd name="connsiteY9" fmla="*/ 206054 h 539038"/>
                <a:gd name="connsiteX10" fmla="*/ 48723 w 1293081"/>
                <a:gd name="connsiteY10" fmla="*/ 206054 h 539038"/>
                <a:gd name="connsiteX11" fmla="*/ 952085 w 1293081"/>
                <a:gd name="connsiteY11" fmla="*/ 329837 h 539038"/>
                <a:gd name="connsiteX12" fmla="*/ 800776 w 1293081"/>
                <a:gd name="connsiteY12" fmla="*/ 445820 h 539038"/>
                <a:gd name="connsiteX13" fmla="*/ 889287 w 1293081"/>
                <a:gd name="connsiteY13" fmla="*/ 380039 h 539038"/>
                <a:gd name="connsiteX14" fmla="*/ 889287 w 1293081"/>
                <a:gd name="connsiteY14" fmla="*/ 380039 h 539038"/>
                <a:gd name="connsiteX15" fmla="*/ 94045 w 1293081"/>
                <a:gd name="connsiteY15" fmla="*/ 251963 h 539038"/>
                <a:gd name="connsiteX16" fmla="*/ 94045 w 1293081"/>
                <a:gd name="connsiteY16" fmla="*/ 251963 h 539038"/>
                <a:gd name="connsiteX17" fmla="*/ 800776 w 1293081"/>
                <a:gd name="connsiteY17" fmla="*/ 445820 h 539038"/>
                <a:gd name="connsiteX18" fmla="*/ 657822 w 1293081"/>
                <a:gd name="connsiteY18" fmla="*/ 539038 h 539038"/>
                <a:gd name="connsiteX19" fmla="*/ 745349 w 1293081"/>
                <a:gd name="connsiteY19" fmla="*/ 484006 h 539038"/>
                <a:gd name="connsiteX20" fmla="*/ 745349 w 1293081"/>
                <a:gd name="connsiteY20" fmla="*/ 484006 h 539038"/>
                <a:gd name="connsiteX21" fmla="*/ 202625 w 1293081"/>
                <a:gd name="connsiteY21" fmla="*/ 337457 h 539038"/>
                <a:gd name="connsiteX22" fmla="*/ 202625 w 1293081"/>
                <a:gd name="connsiteY22" fmla="*/ 337457 h 539038"/>
                <a:gd name="connsiteX23" fmla="*/ 657822 w 1293081"/>
                <a:gd name="connsiteY23" fmla="*/ 539038 h 5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3081" h="539038">
                  <a:moveTo>
                    <a:pt x="0" y="167611"/>
                  </a:moveTo>
                  <a:cubicBezTo>
                    <a:pt x="536741" y="245762"/>
                    <a:pt x="1127915" y="172185"/>
                    <a:pt x="1128189" y="172185"/>
                  </a:cubicBezTo>
                  <a:lnTo>
                    <a:pt x="1128189" y="172185"/>
                  </a:lnTo>
                  <a:lnTo>
                    <a:pt x="1128189" y="172082"/>
                  </a:lnTo>
                  <a:lnTo>
                    <a:pt x="1293082" y="0"/>
                  </a:lnTo>
                  <a:cubicBezTo>
                    <a:pt x="504489" y="190197"/>
                    <a:pt x="0" y="167611"/>
                    <a:pt x="0" y="167611"/>
                  </a:cubicBezTo>
                  <a:close/>
                  <a:moveTo>
                    <a:pt x="952085" y="329836"/>
                  </a:moveTo>
                  <a:cubicBezTo>
                    <a:pt x="992836" y="296221"/>
                    <a:pt x="1031071" y="262812"/>
                    <a:pt x="1066188" y="230546"/>
                  </a:cubicBezTo>
                  <a:lnTo>
                    <a:pt x="1066188" y="230546"/>
                  </a:lnTo>
                  <a:cubicBezTo>
                    <a:pt x="551331" y="289058"/>
                    <a:pt x="48723" y="206054"/>
                    <a:pt x="48723" y="206054"/>
                  </a:cubicBezTo>
                  <a:lnTo>
                    <a:pt x="48723" y="206054"/>
                  </a:lnTo>
                  <a:cubicBezTo>
                    <a:pt x="381856" y="318201"/>
                    <a:pt x="859812" y="328946"/>
                    <a:pt x="952085" y="329837"/>
                  </a:cubicBezTo>
                  <a:close/>
                  <a:moveTo>
                    <a:pt x="800776" y="445820"/>
                  </a:moveTo>
                  <a:cubicBezTo>
                    <a:pt x="831147" y="424223"/>
                    <a:pt x="860796" y="402271"/>
                    <a:pt x="889287" y="380039"/>
                  </a:cubicBezTo>
                  <a:lnTo>
                    <a:pt x="889287" y="380039"/>
                  </a:lnTo>
                  <a:cubicBezTo>
                    <a:pt x="790135" y="376178"/>
                    <a:pt x="372712" y="358443"/>
                    <a:pt x="94045" y="251963"/>
                  </a:cubicBezTo>
                  <a:lnTo>
                    <a:pt x="94045" y="251963"/>
                  </a:lnTo>
                  <a:cubicBezTo>
                    <a:pt x="94045" y="251963"/>
                    <a:pt x="346300" y="401738"/>
                    <a:pt x="800776" y="445820"/>
                  </a:cubicBezTo>
                  <a:close/>
                  <a:moveTo>
                    <a:pt x="657822" y="539038"/>
                  </a:moveTo>
                  <a:cubicBezTo>
                    <a:pt x="687658" y="521299"/>
                    <a:pt x="716935" y="502832"/>
                    <a:pt x="745349" y="484006"/>
                  </a:cubicBezTo>
                  <a:lnTo>
                    <a:pt x="745349" y="484006"/>
                  </a:lnTo>
                  <a:cubicBezTo>
                    <a:pt x="682375" y="478263"/>
                    <a:pt x="476611" y="442870"/>
                    <a:pt x="202625" y="337457"/>
                  </a:cubicBezTo>
                  <a:lnTo>
                    <a:pt x="202625" y="337457"/>
                  </a:lnTo>
                  <a:cubicBezTo>
                    <a:pt x="202625" y="337457"/>
                    <a:pt x="440881" y="503824"/>
                    <a:pt x="657822" y="539038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4550A4"/>
                </a:gs>
                <a:gs pos="100000">
                  <a:srgbClr val="0B308E"/>
                </a:gs>
              </a:gsLst>
              <a:lin ang="380415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9581C1DF-FC14-054E-3982-7B96D62B6852}"/>
                </a:ext>
              </a:extLst>
            </p:cNvPr>
            <p:cNvSpPr/>
            <p:nvPr/>
          </p:nvSpPr>
          <p:spPr>
            <a:xfrm>
              <a:off x="4797706" y="98099"/>
              <a:ext cx="809109" cy="689987"/>
            </a:xfrm>
            <a:custGeom>
              <a:avLst/>
              <a:gdLst>
                <a:gd name="connsiteX0" fmla="*/ 0 w 809109"/>
                <a:gd name="connsiteY0" fmla="*/ 0 h 689987"/>
                <a:gd name="connsiteX1" fmla="*/ 0 w 809109"/>
                <a:gd name="connsiteY1" fmla="*/ 2540 h 689987"/>
                <a:gd name="connsiteX2" fmla="*/ 13507 w 809109"/>
                <a:gd name="connsiteY2" fmla="*/ 192331 h 689987"/>
                <a:gd name="connsiteX3" fmla="*/ 14043 w 809109"/>
                <a:gd name="connsiteY3" fmla="*/ 193043 h 689987"/>
                <a:gd name="connsiteX4" fmla="*/ 809110 w 809109"/>
                <a:gd name="connsiteY4" fmla="*/ 646128 h 689987"/>
                <a:gd name="connsiteX5" fmla="*/ 809110 w 809109"/>
                <a:gd name="connsiteY5" fmla="*/ 646128 h 689987"/>
                <a:gd name="connsiteX6" fmla="*/ 0 w 809109"/>
                <a:gd name="connsiteY6" fmla="*/ 1 h 689987"/>
                <a:gd name="connsiteX7" fmla="*/ 53196 w 809109"/>
                <a:gd name="connsiteY7" fmla="*/ 378134 h 689987"/>
                <a:gd name="connsiteX8" fmla="*/ 747383 w 809109"/>
                <a:gd name="connsiteY8" fmla="*/ 658857 h 689987"/>
                <a:gd name="connsiteX9" fmla="*/ 747383 w 809109"/>
                <a:gd name="connsiteY9" fmla="*/ 658857 h 689987"/>
                <a:gd name="connsiteX10" fmla="*/ 23645 w 809109"/>
                <a:gd name="connsiteY10" fmla="*/ 253995 h 689987"/>
                <a:gd name="connsiteX11" fmla="*/ 23645 w 809109"/>
                <a:gd name="connsiteY11" fmla="*/ 253995 h 689987"/>
                <a:gd name="connsiteX12" fmla="*/ 53196 w 809109"/>
                <a:gd name="connsiteY12" fmla="*/ 378134 h 689987"/>
                <a:gd name="connsiteX13" fmla="*/ 109083 w 809109"/>
                <a:gd name="connsiteY13" fmla="*/ 527553 h 689987"/>
                <a:gd name="connsiteX14" fmla="*/ 660775 w 809109"/>
                <a:gd name="connsiteY14" fmla="*/ 668002 h 689987"/>
                <a:gd name="connsiteX15" fmla="*/ 660775 w 809109"/>
                <a:gd name="connsiteY15" fmla="*/ 668002 h 689987"/>
                <a:gd name="connsiteX16" fmla="*/ 68158 w 809109"/>
                <a:gd name="connsiteY16" fmla="*/ 425009 h 689987"/>
                <a:gd name="connsiteX17" fmla="*/ 68158 w 809109"/>
                <a:gd name="connsiteY17" fmla="*/ 425009 h 689987"/>
                <a:gd name="connsiteX18" fmla="*/ 109083 w 809109"/>
                <a:gd name="connsiteY18" fmla="*/ 527553 h 689987"/>
                <a:gd name="connsiteX19" fmla="*/ 129425 w 809109"/>
                <a:gd name="connsiteY19" fmla="*/ 569424 h 689987"/>
                <a:gd name="connsiteX20" fmla="*/ 186930 w 809109"/>
                <a:gd name="connsiteY20" fmla="*/ 665588 h 689987"/>
                <a:gd name="connsiteX21" fmla="*/ 186930 w 809109"/>
                <a:gd name="connsiteY21" fmla="*/ 665588 h 689987"/>
                <a:gd name="connsiteX22" fmla="*/ 186930 w 809109"/>
                <a:gd name="connsiteY22" fmla="*/ 665665 h 689987"/>
                <a:gd name="connsiteX23" fmla="*/ 587138 w 809109"/>
                <a:gd name="connsiteY23" fmla="*/ 686550 h 689987"/>
                <a:gd name="connsiteX24" fmla="*/ 587138 w 809109"/>
                <a:gd name="connsiteY24" fmla="*/ 686550 h 689987"/>
                <a:gd name="connsiteX25" fmla="*/ 129775 w 809109"/>
                <a:gd name="connsiteY25" fmla="*/ 569424 h 689987"/>
                <a:gd name="connsiteX26" fmla="*/ 129775 w 809109"/>
                <a:gd name="connsiteY26" fmla="*/ 569424 h 689987"/>
                <a:gd name="connsiteX27" fmla="*/ 129425 w 809109"/>
                <a:gd name="connsiteY27" fmla="*/ 569424 h 689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09109" h="689987">
                  <a:moveTo>
                    <a:pt x="0" y="0"/>
                  </a:moveTo>
                  <a:lnTo>
                    <a:pt x="0" y="2540"/>
                  </a:lnTo>
                  <a:cubicBezTo>
                    <a:pt x="284" y="55818"/>
                    <a:pt x="3631" y="120886"/>
                    <a:pt x="13507" y="192331"/>
                  </a:cubicBezTo>
                  <a:lnTo>
                    <a:pt x="14043" y="193043"/>
                  </a:lnTo>
                  <a:cubicBezTo>
                    <a:pt x="393591" y="495286"/>
                    <a:pt x="809110" y="646128"/>
                    <a:pt x="809110" y="646128"/>
                  </a:cubicBezTo>
                  <a:lnTo>
                    <a:pt x="809110" y="646128"/>
                  </a:lnTo>
                  <a:cubicBezTo>
                    <a:pt x="275693" y="342819"/>
                    <a:pt x="0" y="1"/>
                    <a:pt x="0" y="1"/>
                  </a:cubicBezTo>
                  <a:close/>
                  <a:moveTo>
                    <a:pt x="53196" y="378134"/>
                  </a:moveTo>
                  <a:cubicBezTo>
                    <a:pt x="476436" y="613250"/>
                    <a:pt x="747383" y="658857"/>
                    <a:pt x="747383" y="658857"/>
                  </a:cubicBezTo>
                  <a:lnTo>
                    <a:pt x="747383" y="658857"/>
                  </a:lnTo>
                  <a:cubicBezTo>
                    <a:pt x="287964" y="461849"/>
                    <a:pt x="23897" y="254273"/>
                    <a:pt x="23645" y="253995"/>
                  </a:cubicBezTo>
                  <a:lnTo>
                    <a:pt x="23645" y="253995"/>
                  </a:lnTo>
                  <a:cubicBezTo>
                    <a:pt x="31082" y="294341"/>
                    <a:pt x="40761" y="335932"/>
                    <a:pt x="53196" y="378134"/>
                  </a:cubicBezTo>
                  <a:close/>
                  <a:moveTo>
                    <a:pt x="109083" y="527553"/>
                  </a:moveTo>
                  <a:cubicBezTo>
                    <a:pt x="428326" y="649811"/>
                    <a:pt x="660775" y="668002"/>
                    <a:pt x="660775" y="668002"/>
                  </a:cubicBezTo>
                  <a:lnTo>
                    <a:pt x="660775" y="668002"/>
                  </a:lnTo>
                  <a:cubicBezTo>
                    <a:pt x="286433" y="551485"/>
                    <a:pt x="68508" y="425287"/>
                    <a:pt x="68158" y="425009"/>
                  </a:cubicBezTo>
                  <a:lnTo>
                    <a:pt x="68158" y="425009"/>
                  </a:lnTo>
                  <a:cubicBezTo>
                    <a:pt x="79707" y="459156"/>
                    <a:pt x="93236" y="493581"/>
                    <a:pt x="109083" y="527553"/>
                  </a:cubicBezTo>
                  <a:close/>
                  <a:moveTo>
                    <a:pt x="129425" y="569424"/>
                  </a:moveTo>
                  <a:cubicBezTo>
                    <a:pt x="146355" y="601868"/>
                    <a:pt x="165429" y="634211"/>
                    <a:pt x="186930" y="665588"/>
                  </a:cubicBezTo>
                  <a:lnTo>
                    <a:pt x="186930" y="665588"/>
                  </a:lnTo>
                  <a:lnTo>
                    <a:pt x="186930" y="665665"/>
                  </a:lnTo>
                  <a:cubicBezTo>
                    <a:pt x="397878" y="702506"/>
                    <a:pt x="587138" y="686550"/>
                    <a:pt x="587138" y="686550"/>
                  </a:cubicBezTo>
                  <a:lnTo>
                    <a:pt x="587138" y="686550"/>
                  </a:lnTo>
                  <a:cubicBezTo>
                    <a:pt x="316629" y="642290"/>
                    <a:pt x="166238" y="583219"/>
                    <a:pt x="129775" y="569424"/>
                  </a:cubicBezTo>
                  <a:lnTo>
                    <a:pt x="129775" y="569424"/>
                  </a:lnTo>
                  <a:lnTo>
                    <a:pt x="129425" y="569424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BFCD7F"/>
                </a:gs>
                <a:gs pos="100000">
                  <a:srgbClr val="809B00"/>
                </a:gs>
              </a:gsLst>
              <a:lin ang="12509132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F36AEA8-3AEE-2BD2-6A1A-683B2C33F84A}"/>
              </a:ext>
            </a:extLst>
          </p:cNvPr>
          <p:cNvGrpSpPr/>
          <p:nvPr userDrawn="1"/>
        </p:nvGrpSpPr>
        <p:grpSpPr>
          <a:xfrm>
            <a:off x="407988" y="416022"/>
            <a:ext cx="446425" cy="432024"/>
            <a:chOff x="3157789" y="1162600"/>
            <a:chExt cx="2232000" cy="2160000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6314E6E3-A28B-A97E-0AE5-88C0DE0B41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93787" y="1162600"/>
              <a:ext cx="2159999" cy="2160000"/>
            </a:xfrm>
            <a:prstGeom prst="ellipse">
              <a:avLst/>
            </a:prstGeom>
            <a:solidFill>
              <a:srgbClr val="0B30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30" name="图形 29">
              <a:extLst>
                <a:ext uri="{FF2B5EF4-FFF2-40B4-BE49-F238E27FC236}">
                  <a16:creationId xmlns:a16="http://schemas.microsoft.com/office/drawing/2014/main" id="{46565262-88D8-725C-5ACD-4D69907B9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57789" y="1461401"/>
              <a:ext cx="2232000" cy="1562399"/>
            </a:xfrm>
            <a:prstGeom prst="rect">
              <a:avLst/>
            </a:prstGeom>
          </p:spPr>
        </p:pic>
      </p:grpSp>
      <p:sp>
        <p:nvSpPr>
          <p:cNvPr id="32" name="任意形状 31">
            <a:extLst>
              <a:ext uri="{FF2B5EF4-FFF2-40B4-BE49-F238E27FC236}">
                <a16:creationId xmlns:a16="http://schemas.microsoft.com/office/drawing/2014/main" id="{B149AD21-405B-D537-EB6C-FEB360C5FB03}"/>
              </a:ext>
            </a:extLst>
          </p:cNvPr>
          <p:cNvSpPr/>
          <p:nvPr userDrawn="1"/>
        </p:nvSpPr>
        <p:spPr>
          <a:xfrm>
            <a:off x="777665" y="416034"/>
            <a:ext cx="8213621" cy="432000"/>
          </a:xfrm>
          <a:custGeom>
            <a:avLst/>
            <a:gdLst>
              <a:gd name="connsiteX0" fmla="*/ 0 w 8213621"/>
              <a:gd name="connsiteY0" fmla="*/ 0 h 432000"/>
              <a:gd name="connsiteX1" fmla="*/ 7997621 w 8213621"/>
              <a:gd name="connsiteY1" fmla="*/ 0 h 432000"/>
              <a:gd name="connsiteX2" fmla="*/ 8213621 w 8213621"/>
              <a:gd name="connsiteY2" fmla="*/ 216000 h 432000"/>
              <a:gd name="connsiteX3" fmla="*/ 7997621 w 8213621"/>
              <a:gd name="connsiteY3" fmla="*/ 432000 h 432000"/>
              <a:gd name="connsiteX4" fmla="*/ 0 w 8213621"/>
              <a:gd name="connsiteY4" fmla="*/ 432000 h 432000"/>
              <a:gd name="connsiteX5" fmla="*/ 38100 w 8213621"/>
              <a:gd name="connsiteY5" fmla="*/ 400565 h 432000"/>
              <a:gd name="connsiteX6" fmla="*/ 114549 w 8213621"/>
              <a:gd name="connsiteY6" fmla="*/ 216000 h 432000"/>
              <a:gd name="connsiteX7" fmla="*/ 38100 w 8213621"/>
              <a:gd name="connsiteY7" fmla="*/ 31435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13621" h="432000">
                <a:moveTo>
                  <a:pt x="0" y="0"/>
                </a:moveTo>
                <a:lnTo>
                  <a:pt x="7997621" y="0"/>
                </a:lnTo>
                <a:cubicBezTo>
                  <a:pt x="8116915" y="0"/>
                  <a:pt x="8213621" y="96706"/>
                  <a:pt x="8213621" y="216000"/>
                </a:cubicBezTo>
                <a:cubicBezTo>
                  <a:pt x="8213621" y="335294"/>
                  <a:pt x="8116915" y="432000"/>
                  <a:pt x="7997621" y="432000"/>
                </a:cubicBezTo>
                <a:lnTo>
                  <a:pt x="0" y="432000"/>
                </a:lnTo>
                <a:lnTo>
                  <a:pt x="38100" y="400565"/>
                </a:lnTo>
                <a:cubicBezTo>
                  <a:pt x="85334" y="353331"/>
                  <a:pt x="114549" y="288077"/>
                  <a:pt x="114549" y="216000"/>
                </a:cubicBezTo>
                <a:cubicBezTo>
                  <a:pt x="114549" y="143923"/>
                  <a:pt x="85334" y="78670"/>
                  <a:pt x="38100" y="31435"/>
                </a:cubicBezTo>
                <a:close/>
              </a:path>
            </a:pathLst>
          </a:custGeom>
          <a:gradFill flip="none" rotWithShape="1">
            <a:gsLst>
              <a:gs pos="0">
                <a:srgbClr val="6492D4">
                  <a:alpha val="2000"/>
                </a:srgbClr>
              </a:gs>
              <a:gs pos="50000">
                <a:srgbClr val="6492D4">
                  <a:alpha val="10000"/>
                </a:srgbClr>
              </a:gs>
              <a:gs pos="98000">
                <a:srgbClr val="6492D4">
                  <a:alpha val="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AAD96DA-A547-44C3-527A-3BB8CA701C3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65112" y="6498448"/>
            <a:ext cx="1555083" cy="10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7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4FF59C-D32E-291D-F4BC-2EBEDD3F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CCB62A-A28B-9E82-A3F3-AF5202CE4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0780B2-EC77-5362-71CA-6DDF89EE9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DEC29-7515-0103-604F-66D4083E1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9263E4-CC43-E1F8-6671-5541F77EC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36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1.png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20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16.png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2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37.png"/><Relationship Id="rId4" Type="http://schemas.openxmlformats.org/officeDocument/2006/relationships/image" Target="../media/image45.png"/><Relationship Id="rId5" Type="http://schemas.openxmlformats.org/officeDocument/2006/relationships/image" Target="../media/image49.png"/><Relationship Id="rId6" Type="http://schemas.openxmlformats.org/officeDocument/2006/relationships/image" Target="../media/image43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38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39.png"/><Relationship Id="rId4" Type="http://schemas.openxmlformats.org/officeDocument/2006/relationships/image" Target="../media/image53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55.png"/><Relationship Id="rId6" Type="http://schemas.openxmlformats.org/officeDocument/2006/relationships/image" Target="../media/image58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8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16.png"/><Relationship Id="rId11" Type="http://schemas.openxmlformats.org/officeDocument/2006/relationships/image" Target="../media/image46.png"/><Relationship Id="rId1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68.png"/><Relationship Id="rId6" Type="http://schemas.openxmlformats.org/officeDocument/2006/relationships/image" Target="../media/image66.png"/><Relationship Id="rId7" Type="http://schemas.openxmlformats.org/officeDocument/2006/relationships/image" Target="../media/image69.png"/><Relationship Id="rId8" Type="http://schemas.openxmlformats.org/officeDocument/2006/relationships/image" Target="../media/image16.png"/><Relationship Id="rId9" Type="http://schemas.openxmlformats.org/officeDocument/2006/relationships/image" Target="../media/image56.png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9.png"/><Relationship Id="rId7" Type="http://schemas.openxmlformats.org/officeDocument/2006/relationships/image" Target="../media/image71.png"/><Relationship Id="rId8" Type="http://schemas.openxmlformats.org/officeDocument/2006/relationships/image" Target="../media/image18.png"/><Relationship Id="rId9" Type="http://schemas.openxmlformats.org/officeDocument/2006/relationships/image" Target="../media/image32.png"/><Relationship Id="rId1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16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jpg"/><Relationship Id="rId9" Type="http://schemas.openxmlformats.org/officeDocument/2006/relationships/image" Target="../media/image78.jpg"/><Relationship Id="rId10" Type="http://schemas.openxmlformats.org/officeDocument/2006/relationships/image" Target="../media/image79.jpg"/><Relationship Id="rId11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63.png"/><Relationship Id="rId4" Type="http://schemas.openxmlformats.org/officeDocument/2006/relationships/image" Target="../media/image8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66.png"/><Relationship Id="rId9" Type="http://schemas.openxmlformats.org/officeDocument/2006/relationships/image" Target="../media/image18.png"/><Relationship Id="rId10" Type="http://schemas.openxmlformats.org/officeDocument/2006/relationships/image" Target="../media/image84.png"/><Relationship Id="rId11" Type="http://schemas.openxmlformats.org/officeDocument/2006/relationships/image" Target="../media/image38.png"/><Relationship Id="rId12" Type="http://schemas.openxmlformats.org/officeDocument/2006/relationships/image" Target="../media/image21.png"/><Relationship Id="rId1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85.png"/><Relationship Id="rId8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a_2b6cd945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244" y="431800"/>
            <a:ext cx="1284111" cy="508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959600" y="1626615"/>
            <a:ext cx="4470400" cy="4112768"/>
          </a:xfrm>
          <a:prstGeom prst="ellipse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18400" y="2140712"/>
            <a:ext cx="3352800" cy="3084576"/>
          </a:xfrm>
          <a:prstGeom prst="ellipse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77200" y="2654808"/>
            <a:ext cx="2235200" cy="2056384"/>
          </a:xfrm>
          <a:prstGeom prst="ellipse">
            <a:avLst/>
          </a:prstGeom>
          <a:solidFill>
            <a:srgbClr val="DF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_64ddced7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2022122"/>
            <a:ext cx="2159000" cy="3118555"/>
          </a:xfrm>
          <a:prstGeom prst="rect">
            <a:avLst/>
          </a:prstGeom>
        </p:spPr>
      </p:pic>
      <p:pic>
        <p:nvPicPr>
          <p:cNvPr id="11" name="Picture 10" descr="a_7405c6de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2501900"/>
            <a:ext cx="2159000" cy="30226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609600" y="5969000"/>
            <a:ext cx="109728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3600" y="1600200"/>
            <a:ext cx="558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HYTERA  ×  GLOBE TELECOM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1905000"/>
            <a:ext cx="5969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Exploring Application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Scenarios for a 450 MHz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Mission-Critical Network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00" y="37084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600" y="39624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5607A"/>
                </a:solidFill>
                <a:latin typeface="Segoe UI"/>
              </a:rPr>
              <a:t>Coverage and resilience for utilities,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5607A"/>
                </a:solidFill>
                <a:latin typeface="Segoe UI"/>
              </a:rPr>
              <a:t>public safety and transport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0706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Initial technical exchange  ·  October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400" y="60706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3A0B4"/>
                </a:solidFill>
                <a:latin typeface="Segoe UI"/>
              </a:rPr>
              <a:t>Hytera Communications Corporation Limited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Four questions for today’s discussion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74800"/>
            <a:ext cx="2514600" cy="381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574800"/>
            <a:ext cx="2514600" cy="50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2800" y="1879600"/>
            <a:ext cx="711200" cy="711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radio-tow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88" y="2050288"/>
            <a:ext cx="369824" cy="369824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1299972" y="1819859"/>
            <a:ext cx="298704" cy="298704"/>
          </a:xfrm>
          <a:prstGeom prst="ellipse">
            <a:avLst/>
          </a:prstGeom>
          <a:solidFill>
            <a:srgbClr val="8CC63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9972" y="1819859"/>
            <a:ext cx="298704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76" b="0">
                <a:solidFill>
                  <a:srgbClr val="0B308E"/>
                </a:solidFill>
                <a:latin typeface="Segoe UI Semibol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28194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048000"/>
            <a:ext cx="2133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450 MHz advantages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2800" y="3810000"/>
            <a:ext cx="2108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2800" y="3937000"/>
            <a:ext cx="21336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5607A"/>
                </a:solidFill>
                <a:latin typeface="Segoe UI"/>
              </a:rPr>
              <a:t>What can this band do that mid-band cannot?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50292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spc="120">
                <a:solidFill>
                  <a:srgbClr val="93A0B4"/>
                </a:solidFill>
                <a:latin typeface="Segoe UI Semibold"/>
              </a:rPr>
              <a:t>PAGES 3 – 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1574800"/>
            <a:ext cx="2514600" cy="381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1574800"/>
            <a:ext cx="2514600" cy="50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32200" y="1879600"/>
            <a:ext cx="711200" cy="711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888" y="2050288"/>
            <a:ext cx="369824" cy="369824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4119372" y="1819859"/>
            <a:ext cx="298704" cy="298704"/>
          </a:xfrm>
          <a:prstGeom prst="ellipse">
            <a:avLst/>
          </a:prstGeom>
          <a:solidFill>
            <a:srgbClr val="8CC63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9372" y="1819859"/>
            <a:ext cx="298704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76" b="0">
                <a:solidFill>
                  <a:srgbClr val="0B308E"/>
                </a:solidFill>
                <a:latin typeface="Segoe UI Semibold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2200" y="28194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2200" y="3048000"/>
            <a:ext cx="2133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Target industries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32200" y="3810000"/>
            <a:ext cx="2108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32200" y="3937000"/>
            <a:ext cx="21336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5607A"/>
                </a:solidFill>
                <a:latin typeface="Segoe UI"/>
              </a:rPr>
              <a:t>Who needs it, and who would pay first?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2200" y="50292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spc="120">
                <a:solidFill>
                  <a:srgbClr val="93A0B4"/>
                </a:solidFill>
                <a:latin typeface="Segoe UI Semibold"/>
              </a:rPr>
              <a:t>PAGES 7 – 14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8400" y="1574800"/>
            <a:ext cx="2514600" cy="381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8400" y="1574800"/>
            <a:ext cx="2514600" cy="50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51600" y="1879600"/>
            <a:ext cx="711200" cy="711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Picture 34" descr="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288" y="2050288"/>
            <a:ext cx="369824" cy="369824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938772" y="1819859"/>
            <a:ext cx="298704" cy="298704"/>
          </a:xfrm>
          <a:prstGeom prst="ellipse">
            <a:avLst/>
          </a:prstGeom>
          <a:solidFill>
            <a:srgbClr val="8CC63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8772" y="1819859"/>
            <a:ext cx="298704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76" b="0">
                <a:solidFill>
                  <a:srgbClr val="0B308E"/>
                </a:solidFill>
                <a:latin typeface="Segoe UI Semibold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1600" y="28194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1600" y="3048000"/>
            <a:ext cx="2133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Reference cases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51600" y="3810000"/>
            <a:ext cx="2108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51600" y="3937000"/>
            <a:ext cx="21336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5607A"/>
                </a:solidFill>
                <a:latin typeface="Segoe UI"/>
              </a:rPr>
              <a:t>How is it built, and where does it run today?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1600" y="50292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spc="120">
                <a:solidFill>
                  <a:srgbClr val="93A0B4"/>
                </a:solidFill>
                <a:latin typeface="Segoe UI Semibold"/>
              </a:rPr>
              <a:t>PAGES 15 – 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67800" y="1574800"/>
            <a:ext cx="2514600" cy="381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67800" y="1574800"/>
            <a:ext cx="2514600" cy="50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71000" y="1879600"/>
            <a:ext cx="711200" cy="711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6" name="Picture 45" descr="coin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688" y="2050288"/>
            <a:ext cx="369824" cy="369824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9758172" y="1819859"/>
            <a:ext cx="298704" cy="298704"/>
          </a:xfrm>
          <a:prstGeom prst="ellipse">
            <a:avLst/>
          </a:prstGeom>
          <a:solidFill>
            <a:srgbClr val="8CC63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58172" y="1819859"/>
            <a:ext cx="298704" cy="298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76" b="0">
                <a:solidFill>
                  <a:srgbClr val="0B308E"/>
                </a:solidFill>
                <a:latin typeface="Segoe UI Semibold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1000" y="28194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1000" y="3048000"/>
            <a:ext cx="2133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Business model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271000" y="3810000"/>
            <a:ext cx="2108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271000" y="3937000"/>
            <a:ext cx="21336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5607A"/>
                </a:solidFill>
                <a:latin typeface="Segoe UI"/>
              </a:rPr>
              <a:t>How could the network pay for itself?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71000" y="50292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spc="120">
                <a:solidFill>
                  <a:srgbClr val="93A0B4"/>
                </a:solidFill>
                <a:latin typeface="Segoe UI Semibold"/>
              </a:rPr>
              <a:t>PAGES 20 – 21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600" y="56388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5" name="Picture 54" descr="handshak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5765800"/>
            <a:ext cx="254000" cy="2540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19200" y="56388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An open discussion: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the spectrum is Globe’s; these are options to explore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15240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01 OF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400" y="1727200"/>
            <a:ext cx="482600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0" b="0">
                <a:solidFill>
                  <a:srgbClr val="0B308E"/>
                </a:solidFill>
                <a:latin typeface="Segoe UI Light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37592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39878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450 MHz 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45720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55607A"/>
                </a:solidFill>
                <a:latin typeface="Segoe UI"/>
              </a:rPr>
              <a:t>What can this band do that mid-band cannot?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7600" y="1524000"/>
            <a:ext cx="5384800" cy="863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7600" y="1524000"/>
            <a:ext cx="50800" cy="863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7000" y="1701800"/>
            <a:ext cx="508000" cy="508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radio-tow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20" y="1823720"/>
            <a:ext cx="264160" cy="26416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824980" y="1659127"/>
            <a:ext cx="213360" cy="213360"/>
          </a:xfrm>
          <a:prstGeom prst="ellipse">
            <a:avLst/>
          </a:prstGeom>
          <a:solidFill>
            <a:srgbClr val="0B30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24980" y="1659127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9800" y="1524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450 MHz advantages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7600" y="2540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77000" y="2717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users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20" y="2839720"/>
            <a:ext cx="264160" cy="264160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6824980" y="2675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4980" y="2675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9800" y="2540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Target industries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7600" y="3556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7000" y="3733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Picture 24" descr="globe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20" y="3855720"/>
            <a:ext cx="264160" cy="2641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6824980" y="3691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4980" y="3691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9800" y="3556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Reference cases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7600" y="4572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7000" y="4749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coins_ste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920" y="4871720"/>
            <a:ext cx="264160" cy="26416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824980" y="4707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4980" y="4707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9800" y="4572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Business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3500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01  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A scarce low band, best spent on B2B and B2G, not on consumer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549400"/>
            <a:ext cx="508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WHY NOT CONSUMER: THE CHANNEL IS NARROW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854200"/>
            <a:ext cx="48768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450 MHz (Band 31 / 72)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2070100"/>
            <a:ext cx="190500" cy="1778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204470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≈ 2×5 MHz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362200"/>
            <a:ext cx="48768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One typical LTE carrier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578100"/>
            <a:ext cx="762000" cy="177800"/>
          </a:xfrm>
          <a:prstGeom prst="rect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3200" y="255270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20 MHz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870200"/>
            <a:ext cx="48768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One typical 5G carrier (3.5 GHz)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3086100"/>
            <a:ext cx="3810000" cy="177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1200" y="306070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100 MHz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403600"/>
            <a:ext cx="4876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One 450 MHz cell covers a very large area, so this narrow channel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is shared by far more users than a mid-band cell.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987800"/>
            <a:ext cx="2362200" cy="1651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987800"/>
            <a:ext cx="2362200" cy="508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chec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4140200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68400" y="41402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FITS: B2B AND B2G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45212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"/>
              </a:rPr>
              <a:t>Power, water, oil &amp; gas, 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48514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"/>
              </a:rPr>
              <a:t>Emergency and public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51816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"/>
              </a:rPr>
              <a:t>IoT, SCADA, MCPTT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24200" y="3987800"/>
            <a:ext cx="2362200" cy="1651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987800"/>
            <a:ext cx="2362200" cy="50800"/>
          </a:xfrm>
          <a:prstGeom prst="rect">
            <a:avLst/>
          </a:prstGeom>
          <a:solidFill>
            <a:srgbClr val="556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info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0" y="4140200"/>
            <a:ext cx="228600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83000" y="41402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55607A"/>
                </a:solidFill>
                <a:latin typeface="Segoe UI Semibold"/>
              </a:rPr>
              <a:t>NOT FOR CONSUMERS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7400" y="45212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"/>
              </a:rPr>
              <a:t>Smartphone internet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7400" y="48514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"/>
              </a:rPr>
              <a:t>Video streaming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7400" y="51816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"/>
              </a:rPr>
              <a:t>Home broadband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1200" y="1549400"/>
            <a:ext cx="5791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THREE MORE REASONS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1854200"/>
            <a:ext cx="5791200" cy="1143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94400" y="21463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8" name="Picture 37" descr="smartpho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512" y="2280412"/>
            <a:ext cx="290576" cy="29057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56400" y="1981200"/>
            <a:ext cx="4622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No consumer handsets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6400" y="2286000"/>
            <a:ext cx="462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Mainstream smartphones do not support Band 31 or 72. Devices are routers, meters and rugged handhelds.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91200" y="3124200"/>
            <a:ext cx="5791200" cy="1143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994400" y="34163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3" name="Picture 42" descr="badge-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8512" y="3550412"/>
            <a:ext cx="290576" cy="29057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56400" y="3251200"/>
            <a:ext cx="4622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Licensed for critical infrastructure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0" y="3556000"/>
            <a:ext cx="462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Germany reserved the band for energy and water; Singapore for public safety; South Africa for rail.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91200" y="4394200"/>
            <a:ext cx="5791200" cy="1143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994400" y="46863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8" name="Picture 47" descr="z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8512" y="4820412"/>
            <a:ext cx="290576" cy="29057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56400" y="4521200"/>
            <a:ext cx="4622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Built for resilience, not consumer cost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56400" y="4826000"/>
            <a:ext cx="462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Sites carry long backup power (72 h at 450connect) and priority for mission-critical traffic.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600" y="57912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2" name="Picture 51" descr="info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918200"/>
            <a:ext cx="254000" cy="2540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219200" y="57912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Market signal: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Norway’s ice began moving its 450 MHz consumer users to industrial service in 2024.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3GPP LTE / NR channel bandwidths; Bundesnetzagentur (Nov 2020, Mar 2021); 450 MHz Alliance, Equipment Report (May 2025) p4-p5; Annual Global Update (Dec 2025) p6-p9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01   WHY 450 MHZ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Reach every island, cross the mountains, stay up through the storm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5494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THE PHILIPPINES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828800"/>
            <a:ext cx="3708400" cy="1066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2800" y="20828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wav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12" y="2216912"/>
            <a:ext cx="290576" cy="2905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24000" y="1930400"/>
            <a:ext cx="269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Reach far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" y="2209800"/>
            <a:ext cx="269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7,641 islands</a:t>
            </a:r>
          </a:p>
        </p:txBody>
      </p:sp>
      <p:pic>
        <p:nvPicPr>
          <p:cNvPr id="16" name="Picture 15" descr="arrow-righ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527300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27200" y="2463800"/>
            <a:ext cx="2514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9B00"/>
                </a:solidFill>
                <a:latin typeface="Segoe UI Semibold"/>
              </a:rPr>
              <a:t>One site where mid-band needs 2.5–15×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2997200"/>
            <a:ext cx="3708400" cy="1066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2800" y="3251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mount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12" y="3385312"/>
            <a:ext cx="290576" cy="2905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24000" y="3098800"/>
            <a:ext cx="269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Cross rugged terrain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" y="3378200"/>
            <a:ext cx="269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Mountainous island interiors</a:t>
            </a:r>
          </a:p>
        </p:txBody>
      </p:sp>
      <p:pic>
        <p:nvPicPr>
          <p:cNvPr id="23" name="Picture 22" descr="arrow-righ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695700"/>
            <a:ext cx="1524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27200" y="3632200"/>
            <a:ext cx="2514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9B00"/>
                </a:solidFill>
                <a:latin typeface="Segoe UI Semibold"/>
              </a:rPr>
              <a:t>Bends over ridges and into valleys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4165600"/>
            <a:ext cx="3708400" cy="1066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2800" y="44196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tornad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912" y="4553712"/>
            <a:ext cx="290576" cy="29057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24000" y="4267200"/>
            <a:ext cx="269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Survive the storm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" y="4546600"/>
            <a:ext cx="2692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#1 WorldRiskIndex  ·  ~20 cyclones a year</a:t>
            </a:r>
          </a:p>
        </p:txBody>
      </p:sp>
      <p:pic>
        <p:nvPicPr>
          <p:cNvPr id="30" name="Picture 29" descr="arrow-righ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864100"/>
            <a:ext cx="15240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727200" y="4800600"/>
            <a:ext cx="25146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9B00"/>
                </a:solidFill>
                <a:latin typeface="Segoe UI Semibold"/>
              </a:rPr>
              <a:t>Few sites, so backup power is affordable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1549400"/>
            <a:ext cx="508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DELIVERS  ·  SAME SITE GRID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828800"/>
            <a:ext cx="2235200" cy="3403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1955800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spc="120">
                <a:solidFill>
                  <a:srgbClr val="7F9B00"/>
                </a:solidFill>
                <a:latin typeface="Segoe UI Semibold"/>
              </a:rPr>
              <a:t>450 MHZ</a:t>
            </a:r>
          </a:p>
        </p:txBody>
      </p:sp>
      <p:pic>
        <p:nvPicPr>
          <p:cNvPr id="35" name="Picture 34" descr="waffle_24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2209800"/>
            <a:ext cx="1828800" cy="1828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572000" y="4089400"/>
            <a:ext cx="223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0">
                <a:solidFill>
                  <a:srgbClr val="7F9B00"/>
                </a:solidFill>
                <a:latin typeface="Segoe UI Light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521200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covered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53000" y="4775200"/>
            <a:ext cx="1473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0" y="4826000"/>
            <a:ext cx="223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B308E"/>
                </a:solidFill>
                <a:latin typeface="Segoe UI Semibold"/>
              </a:rPr>
              <a:t>Baseline site grid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9600" y="1828800"/>
            <a:ext cx="2235200" cy="34036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59600" y="1955800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spc="120">
                <a:solidFill>
                  <a:srgbClr val="0B308E"/>
                </a:solidFill>
                <a:latin typeface="Segoe UI Semibold"/>
              </a:rPr>
              <a:t>740 MHZ</a:t>
            </a:r>
          </a:p>
        </p:txBody>
      </p:sp>
      <p:pic>
        <p:nvPicPr>
          <p:cNvPr id="42" name="Picture 41" descr="waffle_24_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2800" y="2209800"/>
            <a:ext cx="1828800" cy="1828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959600" y="4089400"/>
            <a:ext cx="223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0">
                <a:solidFill>
                  <a:srgbClr val="0B308E"/>
                </a:solidFill>
                <a:latin typeface="Segoe UI Light"/>
              </a:rPr>
              <a:t>91%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9600" y="4521200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covered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40600" y="4775200"/>
            <a:ext cx="1473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959600" y="4826000"/>
            <a:ext cx="223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B308E"/>
                </a:solidFill>
                <a:latin typeface="Segoe UI Semibold"/>
              </a:rPr>
              <a:t>2.5–3×  sites to close the gap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47200" y="1828800"/>
            <a:ext cx="2235200" cy="34036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47200" y="1955800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spc="120">
                <a:solidFill>
                  <a:srgbClr val="0B308E"/>
                </a:solidFill>
                <a:latin typeface="Segoe UI Semibold"/>
              </a:rPr>
              <a:t>2.35 GHZ</a:t>
            </a:r>
          </a:p>
        </p:txBody>
      </p:sp>
      <p:pic>
        <p:nvPicPr>
          <p:cNvPr id="49" name="Picture 48" descr="waffle_24_2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0400" y="2209800"/>
            <a:ext cx="1828800" cy="18288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347200" y="4089400"/>
            <a:ext cx="223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0">
                <a:solidFill>
                  <a:srgbClr val="0B308E"/>
                </a:solidFill>
                <a:latin typeface="Segoe UI Light"/>
              </a:rPr>
              <a:t>59%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47200" y="4521200"/>
            <a:ext cx="22352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covered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728200" y="4775200"/>
            <a:ext cx="1473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347200" y="4826000"/>
            <a:ext cx="223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B308E"/>
                </a:solidFill>
                <a:latin typeface="Segoe UI Semibold"/>
              </a:rPr>
              <a:t>12–15×  sites to close the gap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5397500"/>
            <a:ext cx="127000" cy="127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75200" y="5359400"/>
            <a:ext cx="1016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covered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42000" y="5397500"/>
            <a:ext cx="127000" cy="1270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45200" y="5359400"/>
            <a:ext cx="1016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not covered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12000" y="5397500"/>
            <a:ext cx="127000" cy="127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0" y="5359400"/>
            <a:ext cx="1016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site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1" name="Picture 60" descr="info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5867400"/>
            <a:ext cx="254000" cy="2540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219200" y="57404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Not a capacity layer: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3–5 MHz carries voice, telemetry and low-rate video, alongside 4G and 5G.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NAMRIA; WorldRiskReport 2025; PAGASA; 450 MHz Alliance Brief (Jun 2022) p15, grid modelled at 410 MHz. Vs 410 MHz, 450 MHz adds ~1 dB path loss, 740 MHz ~7 dB (Hata).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01  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The band is mainstream, and utilities lead the way</a:t>
            </a:r>
          </a:p>
        </p:txBody>
      </p:sp>
      <p:pic>
        <p:nvPicPr>
          <p:cNvPr id="10" name="Picture 9" descr="worldmap_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0"/>
            <a:ext cx="7620000" cy="254725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99450" y="1665514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450" y="1665514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Russia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5085" y="2275114"/>
            <a:ext cx="316230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5085" y="2275114"/>
            <a:ext cx="31623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China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88707" y="2514600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88707" y="2514600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Mexico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20822" y="3233057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20822" y="3233057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Brazil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43210" y="2862942"/>
            <a:ext cx="445008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3210" y="2862942"/>
            <a:ext cx="445008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Suriname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29861" y="3799114"/>
            <a:ext cx="487934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9861" y="3799114"/>
            <a:ext cx="487934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Argentina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7416" y="2296885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7416" y="2296885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Tunisia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3873" y="2808514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83873" y="2808514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Nigeria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4913" y="2928257"/>
            <a:ext cx="316230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4913" y="2928257"/>
            <a:ext cx="31623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Ghana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54113" y="3015342"/>
            <a:ext cx="316230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54113" y="3015342"/>
            <a:ext cx="31623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Kenya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01279" y="3265714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1279" y="3265714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Angola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6273" y="3483428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6273" y="3483428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Namibia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46672" y="3712028"/>
            <a:ext cx="61671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6672" y="3712028"/>
            <a:ext cx="61671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South Africa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60329" y="2514600"/>
            <a:ext cx="61671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0329" y="2514600"/>
            <a:ext cx="61671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Saudi Arabia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15987" y="2405742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15987" y="2405742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Bahrain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89416" y="2079171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89416" y="2079171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Armenia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34318" y="2906485"/>
            <a:ext cx="487934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4318" y="2906485"/>
            <a:ext cx="487934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Sri Lanka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21838" y="2645228"/>
            <a:ext cx="445008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21838" y="2645228"/>
            <a:ext cx="445008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Cambodia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2981" y="2819400"/>
            <a:ext cx="445008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12981" y="2819400"/>
            <a:ext cx="445008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Malaysia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13290" y="3080657"/>
            <a:ext cx="487934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13290" y="3080657"/>
            <a:ext cx="487934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Singapore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79347" y="3233057"/>
            <a:ext cx="487934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9347" y="3233057"/>
            <a:ext cx="487934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Indonesia</a:t>
            </a:r>
          </a:p>
        </p:txBody>
      </p:sp>
      <p:sp>
        <p:nvSpPr>
          <p:cNvPr id="53" name="Oval 52"/>
          <p:cNvSpPr/>
          <p:nvPr/>
        </p:nvSpPr>
        <p:spPr>
          <a:xfrm>
            <a:off x="6865257" y="2717800"/>
            <a:ext cx="203200" cy="203200"/>
          </a:xfrm>
          <a:prstGeom prst="ellipse">
            <a:avLst/>
          </a:prstGeom>
          <a:noFill/>
          <a:ln w="1905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7055757" y="2616200"/>
            <a:ext cx="190500" cy="152400"/>
          </a:xfrm>
          <a:prstGeom prst="line">
            <a:avLst/>
          </a:prstGeom>
          <a:ln w="12700">
            <a:solidFill>
              <a:srgbClr val="F2B7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195457" y="2463800"/>
            <a:ext cx="1117600" cy="20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95457" y="2463800"/>
            <a:ext cx="11176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16213E"/>
                </a:solidFill>
                <a:latin typeface="Segoe UI Semibold"/>
              </a:rPr>
              <a:t>Philippines · Globe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95457" y="2463800"/>
            <a:ext cx="1117600" cy="203200"/>
          </a:xfrm>
          <a:prstGeom prst="roundRect">
            <a:avLst/>
          </a:prstGeom>
          <a:noFill/>
          <a:ln w="127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34400" y="1524000"/>
            <a:ext cx="3048000" cy="24384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9" name="Picture 58" descr="worldmap_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524000"/>
            <a:ext cx="3048000" cy="2438400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8604292" y="2653453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04292" y="2653453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Ireland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52018" y="3547533"/>
            <a:ext cx="316230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52018" y="3547533"/>
            <a:ext cx="31623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Spain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95773" y="2558626"/>
            <a:ext cx="57378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95773" y="2558626"/>
            <a:ext cx="57378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Netherlands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857359" y="2829560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57359" y="2829560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Germany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789625" y="2436706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89625" y="2436706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Denmark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43355" y="2057400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43355" y="2057400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Norway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217488" y="1955800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17488" y="1955800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Sweden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907225" y="1955800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907225" y="1955800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Finland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488422" y="2721186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488422" y="2721186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Poland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094425" y="3019213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94425" y="3019213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Austria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869762" y="3188546"/>
            <a:ext cx="445008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69762" y="3188546"/>
            <a:ext cx="445008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Slovenia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534692" y="3059853"/>
            <a:ext cx="402082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34692" y="3059853"/>
            <a:ext cx="402082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Hungary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069618" y="3398520"/>
            <a:ext cx="316230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69618" y="3398520"/>
            <a:ext cx="31623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Italy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657755" y="3594946"/>
            <a:ext cx="359156" cy="152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657755" y="3594946"/>
            <a:ext cx="359156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650" b="0">
                <a:solidFill>
                  <a:srgbClr val="16213E"/>
                </a:solidFill>
                <a:latin typeface="Segoe UI"/>
              </a:rPr>
              <a:t>Greece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36000" y="16002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EUROPE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9600" y="4140200"/>
            <a:ext cx="127000" cy="127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2800" y="4076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Utilities &amp; industry  14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99079" y="4140200"/>
            <a:ext cx="127000" cy="1270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02279" y="4076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Public safety  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19600" y="4140200"/>
            <a:ext cx="127000" cy="127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22800" y="4076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Rail  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00040" y="4140200"/>
            <a:ext cx="127000" cy="127000"/>
          </a:xfrm>
          <a:prstGeom prst="rect">
            <a:avLst/>
          </a:prstGeom>
          <a:solidFill>
            <a:srgbClr val="5B8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603240" y="4076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Operator  12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36080" y="4140200"/>
            <a:ext cx="127000" cy="127000"/>
          </a:xfrm>
          <a:prstGeom prst="rect">
            <a:avLst/>
          </a:prstGeom>
          <a:solidFill>
            <a:srgbClr val="C3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39280" y="4076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Trial / consultation  17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9600" y="4470400"/>
            <a:ext cx="3454400" cy="914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12800" y="46990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1" name="Picture 100" descr="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28" y="4808728"/>
            <a:ext cx="237744" cy="237744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397000" y="44704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0">
                <a:solidFill>
                  <a:srgbClr val="0B308E"/>
                </a:solidFill>
                <a:latin typeface="Segoe UI Light"/>
              </a:rPr>
              <a:t>86%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514600" y="4470400"/>
            <a:ext cx="1473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of people: allocated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or in consultation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368800" y="4470400"/>
            <a:ext cx="3454400" cy="914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572000" y="46990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6" name="Picture 105" descr="radio-tow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808728"/>
            <a:ext cx="237744" cy="237744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156200" y="44704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0">
                <a:solidFill>
                  <a:srgbClr val="0B308E"/>
                </a:solidFill>
                <a:latin typeface="Segoe UI Light"/>
              </a:rPr>
              <a:t>77 / 39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73800" y="4470400"/>
            <a:ext cx="1473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countries with networks 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already on LTE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128000" y="4470400"/>
            <a:ext cx="3454400" cy="914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331200" y="46990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1" name="Picture 110" descr="trending-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0928" y="4808728"/>
            <a:ext cx="237744" cy="237744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8915400" y="447040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0">
                <a:solidFill>
                  <a:srgbClr val="0B308E"/>
                </a:solidFill>
                <a:latin typeface="Segoe UI Light"/>
              </a:rPr>
              <a:t>14M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033000" y="4470400"/>
            <a:ext cx="1473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sensor links by 2030,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plus 1.8M broadband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09600" y="5562600"/>
            <a:ext cx="10972800" cy="4318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5" name="Picture 114" descr="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651500"/>
            <a:ext cx="254000" cy="25400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219200" y="5562600"/>
            <a:ext cx="10160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The common pattern: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one licensed operator per country; utilities are the largest user group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Annual Global Update (Dec 2025) p4, p6-p9 country updates, p11-p12; countries coloured by main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15240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02 OF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400" y="1727200"/>
            <a:ext cx="482600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0" b="0">
                <a:solidFill>
                  <a:srgbClr val="0B308E"/>
                </a:solidFill>
                <a:latin typeface="Segoe UI Light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37592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39878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Target industries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45720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55607A"/>
                </a:solidFill>
                <a:latin typeface="Segoe UI"/>
              </a:rPr>
              <a:t>Who needs it, and who would pay first?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7600" y="1524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7000" y="1701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radio-tower_st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20" y="1823720"/>
            <a:ext cx="264160" cy="26416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824980" y="1659127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4980" y="1659127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9800" y="1524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450 MHz advantages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7600" y="2540000"/>
            <a:ext cx="5384800" cy="863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7600" y="2540000"/>
            <a:ext cx="50800" cy="863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77000" y="2717800"/>
            <a:ext cx="508000" cy="508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20" y="2839720"/>
            <a:ext cx="264160" cy="264160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6824980" y="2675128"/>
            <a:ext cx="213360" cy="213360"/>
          </a:xfrm>
          <a:prstGeom prst="ellipse">
            <a:avLst/>
          </a:prstGeom>
          <a:solidFill>
            <a:srgbClr val="0B30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4980" y="2675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9800" y="2540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Target industries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7600" y="3556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7000" y="3733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Picture 24" descr="globe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20" y="3855720"/>
            <a:ext cx="264160" cy="2641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6824980" y="3691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4980" y="3691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9800" y="3556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Reference cases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7600" y="4572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7000" y="4749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coins_ste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920" y="4871720"/>
            <a:ext cx="264160" cy="26416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824980" y="4707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4980" y="4707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9800" y="4572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Business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3500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WHO PAYS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Start with the utilities: they pay first and fit best</a:t>
            </a:r>
          </a:p>
        </p:txBody>
      </p:sp>
      <p:pic>
        <p:nvPicPr>
          <p:cNvPr id="10" name="Picture 9" descr="hand-coins_st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900" y="144780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13200" y="17272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ABILITY TO PAY</a:t>
            </a:r>
          </a:p>
        </p:txBody>
      </p:sp>
      <p:pic>
        <p:nvPicPr>
          <p:cNvPr id="12" name="Picture 11" descr="targe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00" y="144780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7200" y="17272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FIT WITH 450</a:t>
            </a:r>
          </a:p>
        </p:txBody>
      </p:sp>
      <p:pic>
        <p:nvPicPr>
          <p:cNvPr id="14" name="Picture 13" descr="clock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900" y="1447800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61200" y="17272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SPEED TO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0800" y="17272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KEY 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1981200"/>
            <a:ext cx="10972800" cy="5588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1981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7F9B00"/>
                </a:solidFill>
                <a:latin typeface="Segoe UI Light"/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1219200" y="2070100"/>
            <a:ext cx="381000" cy="381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z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40" y="2161540"/>
            <a:ext cx="198120" cy="198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778000" y="1981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Power</a:t>
            </a:r>
          </a:p>
        </p:txBody>
      </p:sp>
      <p:sp>
        <p:nvSpPr>
          <p:cNvPr id="22" name="Oval 21"/>
          <p:cNvSpPr/>
          <p:nvPr/>
        </p:nvSpPr>
        <p:spPr>
          <a:xfrm>
            <a:off x="45085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117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149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325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357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89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565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597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629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40800" y="1981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Proven anchor abroad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2616200"/>
            <a:ext cx="10972800" cy="5588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200" y="2616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7F9B00"/>
                </a:solidFill>
                <a:latin typeface="Segoe UI Light"/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1219200" y="2705100"/>
            <a:ext cx="381000" cy="381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Picture 34" descr="droplet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640" y="2796540"/>
            <a:ext cx="198120" cy="1981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778000" y="2616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Water</a:t>
            </a:r>
          </a:p>
        </p:txBody>
      </p:sp>
      <p:sp>
        <p:nvSpPr>
          <p:cNvPr id="37" name="Oval 36"/>
          <p:cNvSpPr/>
          <p:nvPr/>
        </p:nvSpPr>
        <p:spPr>
          <a:xfrm>
            <a:off x="45085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117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14900" y="283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25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357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389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565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597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629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0800" y="2616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Same sites as power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3251200"/>
            <a:ext cx="109728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1200" y="3251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93A0B4"/>
                </a:solidFill>
                <a:latin typeface="Segoe UI Light"/>
              </a:rPr>
              <a:t>3</a:t>
            </a:r>
          </a:p>
        </p:txBody>
      </p:sp>
      <p:sp>
        <p:nvSpPr>
          <p:cNvPr id="49" name="Oval 48"/>
          <p:cNvSpPr/>
          <p:nvPr/>
        </p:nvSpPr>
        <p:spPr>
          <a:xfrm>
            <a:off x="1219200" y="3340100"/>
            <a:ext cx="381000" cy="381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0" name="Picture 49" descr="sire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0640" y="3431540"/>
            <a:ext cx="198120" cy="1981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778000" y="3251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Emergency</a:t>
            </a:r>
          </a:p>
        </p:txBody>
      </p:sp>
      <p:sp>
        <p:nvSpPr>
          <p:cNvPr id="52" name="Oval 51"/>
          <p:cNvSpPr/>
          <p:nvPr/>
        </p:nvSpPr>
        <p:spPr>
          <a:xfrm>
            <a:off x="45085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7117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914900" y="346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25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2357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389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565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97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962900" y="346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40800" y="3251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Typhoon readiness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600" y="3886200"/>
            <a:ext cx="10972800" cy="5588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1200" y="3886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93A0B4"/>
                </a:solidFill>
                <a:latin typeface="Segoe UI Light"/>
              </a:rPr>
              <a:t>4</a:t>
            </a:r>
          </a:p>
        </p:txBody>
      </p:sp>
      <p:sp>
        <p:nvSpPr>
          <p:cNvPr id="64" name="Oval 63"/>
          <p:cNvSpPr/>
          <p:nvPr/>
        </p:nvSpPr>
        <p:spPr>
          <a:xfrm>
            <a:off x="1219200" y="3975100"/>
            <a:ext cx="381000" cy="381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5" name="Picture 64" descr="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0640" y="4066540"/>
            <a:ext cx="198120" cy="1981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778000" y="3886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Police</a:t>
            </a:r>
          </a:p>
        </p:txBody>
      </p:sp>
      <p:sp>
        <p:nvSpPr>
          <p:cNvPr id="67" name="Oval 66"/>
          <p:cNvSpPr/>
          <p:nvPr/>
        </p:nvSpPr>
        <p:spPr>
          <a:xfrm>
            <a:off x="45085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7117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149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0325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357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38900" y="410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5565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759700" y="410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2900" y="410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40800" y="3886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Interoperate, not replace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9600" y="4521200"/>
            <a:ext cx="109728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1200" y="4521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93A0B4"/>
                </a:solidFill>
                <a:latin typeface="Segoe UI Light"/>
              </a:rPr>
              <a:t>5</a:t>
            </a:r>
          </a:p>
        </p:txBody>
      </p:sp>
      <p:sp>
        <p:nvSpPr>
          <p:cNvPr id="79" name="Oval 78"/>
          <p:cNvSpPr/>
          <p:nvPr/>
        </p:nvSpPr>
        <p:spPr>
          <a:xfrm>
            <a:off x="1219200" y="4610100"/>
            <a:ext cx="381000" cy="381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0" name="Picture 79" descr="train-fron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0640" y="4701540"/>
            <a:ext cx="198120" cy="19812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778000" y="4521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Rail</a:t>
            </a:r>
          </a:p>
        </p:txBody>
      </p:sp>
      <p:sp>
        <p:nvSpPr>
          <p:cNvPr id="82" name="Oval 81"/>
          <p:cNvSpPr/>
          <p:nvPr/>
        </p:nvSpPr>
        <p:spPr>
          <a:xfrm>
            <a:off x="45085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7117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914900" y="473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0325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2357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4389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5565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759700" y="473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962900" y="473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40800" y="4521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Long project cycles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9600" y="5156200"/>
            <a:ext cx="10972800" cy="5588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1200" y="5156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93A0B4"/>
                </a:solidFill>
                <a:latin typeface="Segoe UI Light"/>
              </a:rPr>
              <a:t>6</a:t>
            </a:r>
          </a:p>
        </p:txBody>
      </p:sp>
      <p:sp>
        <p:nvSpPr>
          <p:cNvPr id="94" name="Oval 93"/>
          <p:cNvSpPr/>
          <p:nvPr/>
        </p:nvSpPr>
        <p:spPr>
          <a:xfrm>
            <a:off x="1219200" y="5245100"/>
            <a:ext cx="381000" cy="381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5" name="Picture 94" descr="ship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0640" y="5336540"/>
            <a:ext cx="198120" cy="19812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778000" y="5156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Port</a:t>
            </a:r>
          </a:p>
        </p:txBody>
      </p:sp>
      <p:sp>
        <p:nvSpPr>
          <p:cNvPr id="97" name="Oval 96"/>
          <p:cNvSpPr/>
          <p:nvPr/>
        </p:nvSpPr>
        <p:spPr>
          <a:xfrm>
            <a:off x="45085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17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914900" y="537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0325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2357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438900" y="537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65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7597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962900" y="537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40800" y="5156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No 450 MHz precedent yet</a:t>
            </a:r>
          </a:p>
        </p:txBody>
      </p:sp>
      <p:pic>
        <p:nvPicPr>
          <p:cNvPr id="107" name="Picture 106" descr="check_gre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892800"/>
            <a:ext cx="203200" cy="20320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914400" y="5842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Green rows: the anchor customers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6096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Our reading, to be tested with Globe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Hytera assessment; 450 MHz Alliance, Annual Global Update (Dec 2025) p8-p9; LWUA NRW data (2025)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PRIORITY 1 OF 6  · 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Power anchors the network, as it does in Germany and Malaysia</a:t>
            </a:r>
          </a:p>
        </p:txBody>
      </p:sp>
      <p:pic>
        <p:nvPicPr>
          <p:cNvPr id="10" name="Picture 9" descr="v6_13015b8219.jpg"/>
          <p:cNvPicPr>
            <a:picLocks noChangeAspect="1"/>
          </p:cNvPicPr>
          <p:nvPr/>
        </p:nvPicPr>
        <p:blipFill>
          <a:blip r:embed="rId2"/>
          <a:srcRect l="6800" r="6800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121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electric cooperatives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under NEA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1.4M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consumers cut off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by Typhoon Tino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cpu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SCADA &amp;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feeder automation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radi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Push-to-talk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for line crews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gaug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Smart meters,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deep indoors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Germany  450connect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B72  ·  &gt;95%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Malaysia  TNB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 ·  4 areas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Capacity package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IoT per meter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SCADA O&amp;M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NEA; Department of Energy (5 Nov 2025); 450 MHz Alliance, RFI for devices (2025) p5, Annual Global Update (Dec 2025) p8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PRIORITY 2 OF 6  ·  WATER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Water: find the losses instead of estimating them</a:t>
            </a:r>
          </a:p>
        </p:txBody>
      </p:sp>
      <p:pic>
        <p:nvPicPr>
          <p:cNvPr id="10" name="Picture 9" descr="v6_5f9dad8d68.jpg"/>
          <p:cNvPicPr>
            <a:picLocks noChangeAspect="1"/>
          </p:cNvPicPr>
          <p:nvPr/>
        </p:nvPicPr>
        <p:blipFill>
          <a:blip r:embed="rId2"/>
          <a:srcRect t="11853" b="11853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drople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532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water districts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under LWUA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149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kept losses within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the 20% limit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gau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Meters that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activit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Pressure sensing,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leak location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cpu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Pump &amp; reservoir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telemetry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Bahrain  EWA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water-meter 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Kenya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band reserved for utilities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IoT per meter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Telemetry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LWUA NRW data, end-2025 (reported Aug 2026); 450 MHz Alliance, Annual Global Update (Dec 2025) p6, p8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PRIORITY 3 OF 6  ·  EMERGENCY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Emergency: the layer that has to survive the storm</a:t>
            </a:r>
          </a:p>
        </p:txBody>
      </p:sp>
      <p:pic>
        <p:nvPicPr>
          <p:cNvPr id="10" name="Picture 9" descr="v6_4589fbbd86.jpg"/>
          <p:cNvPicPr>
            <a:picLocks noChangeAspect="1"/>
          </p:cNvPicPr>
          <p:nvPr/>
        </p:nvPicPr>
        <p:blipFill>
          <a:blip r:embed="rId2"/>
          <a:srcRect b="2283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ire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WorldRiskIndex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~20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tropical cyclones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a year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packa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Deployed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within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satellite-dish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Satellite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backhaul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user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Field command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Indonesia  SeaTelSat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over satellite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Hytera  E-pack200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rapid-deployment kit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Readiness retainer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Standby kits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MCX 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WorldRiskReport 2025; PAGASA; 450 MHz Alliance, RFI for devices (2025) p5; Hytera product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PRIORITY 4 OF 6  ·  POLICE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Police: one group call across the agencies</a:t>
            </a:r>
          </a:p>
        </p:txBody>
      </p:sp>
      <p:pic>
        <p:nvPicPr>
          <p:cNvPr id="10" name="Picture 9" descr="v6_6c17f9f128.jpg"/>
          <p:cNvPicPr>
            <a:picLocks noChangeAspect="1"/>
          </p:cNvPicPr>
          <p:nvPr/>
        </p:nvPicPr>
        <p:blipFill>
          <a:blip r:embed="rId2"/>
          <a:srcRect b="1915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Interop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with DMR and TETRA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already in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when the public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network congests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Cross-agency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group 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vide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Live video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from the scene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networ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DMR / TETRA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interworking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Singapore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 ·  public safety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Russia  Rostelecom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 ·  public safety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MCX per user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Devices as service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Annual Global Update (Dec 2025) p8-p9; Hytera public-safety references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PRIORITY 5 OF 6  ·  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Rail: coverage that follows the track, not the towns</a:t>
            </a:r>
          </a:p>
        </p:txBody>
      </p:sp>
      <p:pic>
        <p:nvPicPr>
          <p:cNvPr id="10" name="Picture 9" descr="v6_8b437e2f48.jpg"/>
          <p:cNvPicPr>
            <a:picLocks noChangeAspect="1"/>
          </p:cNvPicPr>
          <p:nvPr/>
        </p:nvPicPr>
        <p:blipFill>
          <a:blip r:embed="rId2"/>
          <a:srcRect t="530" b="10530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train-fro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Corridor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coverage, including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cuttings and tunnels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to ground voice,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data and video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radi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Dispatch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along the 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vide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On-board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video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cabl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One network,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not a private 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South Africa  Transnet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for 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Hytera  Sri Lanka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MCS on 9 lines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MCX per user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Devices as service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Capacity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Annual Global Update (Dec 2025) p6; Hytera showroom briefing L211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02   PRIORITY 6 OF 6  ·  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Port: the case rests on coverage over open water</a:t>
            </a:r>
          </a:p>
        </p:txBody>
      </p:sp>
      <p:pic>
        <p:nvPicPr>
          <p:cNvPr id="10" name="Picture 9" descr="v6_b6694edb9e.jpg"/>
          <p:cNvPicPr>
            <a:picLocks noChangeAspect="1"/>
          </p:cNvPicPr>
          <p:nvPr/>
        </p:nvPicPr>
        <p:blipFill>
          <a:blip r:embed="rId2"/>
          <a:srcRect l="6800" r="6800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Quay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to open sea 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one group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Coastal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sites also serve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island communities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radi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Quay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dispatch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shi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Ship-to-shore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voice &amp;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wave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Coast guard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patrols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Precedent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no 450 MHz port yet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Basis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low-band reach over sea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MCX per user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Capacity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Coastal coverage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 reports (no port deployment listed); Hytera transport and maritime 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15240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03 OF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400" y="1727200"/>
            <a:ext cx="482600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0" b="0">
                <a:solidFill>
                  <a:srgbClr val="0B308E"/>
                </a:solidFill>
                <a:latin typeface="Segoe UI Light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37592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39878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Reference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45720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55607A"/>
                </a:solidFill>
                <a:latin typeface="Segoe UI"/>
              </a:rPr>
              <a:t>How is it built, and where does it run today?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7600" y="1524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7000" y="1701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radio-tower_st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20" y="1823720"/>
            <a:ext cx="264160" cy="26416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824980" y="1659127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4980" y="1659127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9800" y="1524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450 MHz advantages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7600" y="2540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7000" y="2717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users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20" y="2839720"/>
            <a:ext cx="264160" cy="26416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6824980" y="2675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4980" y="2675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9800" y="2540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Target industries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7600" y="3556000"/>
            <a:ext cx="5384800" cy="863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7600" y="3556000"/>
            <a:ext cx="50800" cy="863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7000" y="3733800"/>
            <a:ext cx="508000" cy="508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Picture 24" descr="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20" y="3855720"/>
            <a:ext cx="264160" cy="2641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6824980" y="3691128"/>
            <a:ext cx="213360" cy="213360"/>
          </a:xfrm>
          <a:prstGeom prst="ellipse">
            <a:avLst/>
          </a:prstGeom>
          <a:solidFill>
            <a:srgbClr val="0B30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4980" y="3691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9800" y="3556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Reference cases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7600" y="4572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7000" y="4749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coins_ste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920" y="4871720"/>
            <a:ext cx="264160" cy="26416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824980" y="4707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4980" y="4707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9800" y="4572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Business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3500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03   HOW IT IS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One build serves all six industries; only terminals and apps change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34544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smartphon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63700"/>
            <a:ext cx="279400" cy="27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1549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Terminal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057400"/>
            <a:ext cx="3454400" cy="281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800" y="2184400"/>
            <a:ext cx="3048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a_d6e47749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591" y="2235200"/>
            <a:ext cx="1680416" cy="1346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12800" y="38354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600" y="37338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PNC660 450M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400" y="37338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handheld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41148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600" y="40132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MNC650 450M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8400" y="40132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vehicle radio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43942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600" y="42926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P70 5G+450M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8400" y="42926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2026 Q4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6736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600" y="45720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PNC660Ex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8400" y="45720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ATEX, 2027 Q2</a:t>
            </a:r>
          </a:p>
        </p:txBody>
      </p:sp>
      <p:pic>
        <p:nvPicPr>
          <p:cNvPr id="28" name="Picture 27" descr="arrow-right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00" y="3302000"/>
            <a:ext cx="254000" cy="254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368800" y="1549400"/>
            <a:ext cx="34544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radio-tow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63700"/>
            <a:ext cx="279400" cy="279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978400" y="1549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Network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8800" y="2057400"/>
            <a:ext cx="3454400" cy="281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184400"/>
            <a:ext cx="3048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4" name="Picture 33" descr="a_c40f5594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4966" y="2235200"/>
            <a:ext cx="698066" cy="1092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72000" y="3378200"/>
            <a:ext cx="152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5607A"/>
                </a:solidFill>
                <a:latin typeface="Segoe UI Semibold"/>
              </a:rPr>
              <a:t>Fixed site  ·  RRU5800M</a:t>
            </a:r>
          </a:p>
        </p:txBody>
      </p:sp>
      <p:pic>
        <p:nvPicPr>
          <p:cNvPr id="36" name="Picture 35" descr="a_81c7398a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325" y="2235200"/>
            <a:ext cx="811348" cy="109219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96000" y="3378200"/>
            <a:ext cx="152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5607A"/>
                </a:solidFill>
                <a:latin typeface="Segoe UI Semibold"/>
              </a:rPr>
              <a:t>Mobile site  ·  iBS3800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6000" y="2311400"/>
            <a:ext cx="0" cy="119380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572000" y="38354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49800" y="37338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RRU5800M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7600" y="37338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on tower, Band 31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1148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49800" y="40132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BBU5801M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7600" y="40132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baseband in shelter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43942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49800" y="42926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iBS3800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7600" y="42926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mobile, Band 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46736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49800" y="45720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7600" y="45720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private or shared</a:t>
            </a:r>
          </a:p>
        </p:txBody>
      </p:sp>
      <p:pic>
        <p:nvPicPr>
          <p:cNvPr id="51" name="Picture 50" descr="arrow-right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3302000"/>
            <a:ext cx="254000" cy="25400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8128000" y="1549400"/>
            <a:ext cx="34544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3" name="Picture 52" descr="layer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1200" y="1663700"/>
            <a:ext cx="279400" cy="2794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737600" y="1549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Application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28000" y="2057400"/>
            <a:ext cx="3454400" cy="281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31200" y="2184400"/>
            <a:ext cx="3048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7" name="Picture 56" descr="a_5f06b6905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7400" y="2251964"/>
            <a:ext cx="2895600" cy="1312672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8331200" y="38354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9000" y="37338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MCS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56800" y="37338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PTT · video · data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31200" y="41148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9000" y="40132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Dispatch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56800" y="40132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voice, video, GIS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31200" y="43942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09000" y="42926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Recording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56800" y="42926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playback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31200" y="46736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9000" y="45720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Device mgmt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56800" y="4572000"/>
            <a:ext cx="1422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zero-touch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9600" y="5080000"/>
            <a:ext cx="5334000" cy="12192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1" name="Picture 70" descr="check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00" y="5257800"/>
            <a:ext cx="304800" cy="304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244600" y="52578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MCS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2800" y="5664200"/>
            <a:ext cx="4927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6213E"/>
                </a:solidFill>
                <a:latin typeface="Segoe UI"/>
              </a:rPr>
              <a:t>a 3GPP standard: runs on any LTE or 5G radio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48400" y="5080000"/>
            <a:ext cx="5334000" cy="1219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5" name="Picture 74" descr="badge-check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1600" y="5257800"/>
            <a:ext cx="304800" cy="3048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883400" y="52578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HYTERA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51600" y="5664200"/>
            <a:ext cx="4927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6213E"/>
                </a:solidFill>
                <a:latin typeface="Segoe UI"/>
              </a:rPr>
              <a:t>Alliance-listed device and eNB supplier; 450connect whitelisted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450M Roadmap; RRU5800M Product Description V3.5.01 §6.5; iBS3800 Product Description V3.0; MNC650 EU DoC (B31/B72); HyTalk MC V6.1; Alliance Equipment Report (May 2025) p5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03   ECOSYSTEM AND COMPATIBILITY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A 450 MHz Alliance member, built to plug into the network Globe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549400"/>
            <a:ext cx="482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IN THE 450 MHZ ECOSYSTEM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828800"/>
            <a:ext cx="4876800" cy="6604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2800" y="1943100"/>
            <a:ext cx="431800" cy="4318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badge-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32" y="2046732"/>
            <a:ext cx="224536" cy="2245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22400" y="19050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450 MHz Alliance 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2400" y="21717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Joined August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2565400"/>
            <a:ext cx="4876800" cy="66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2800" y="2679700"/>
            <a:ext cx="431800" cy="431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smart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32" y="2783332"/>
            <a:ext cx="224536" cy="2245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22400" y="26416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Alliance device supplier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2400" y="29083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Equipment Report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302000"/>
            <a:ext cx="4876800" cy="66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2800" y="3416300"/>
            <a:ext cx="431800" cy="431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radio-tow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432" y="3519932"/>
            <a:ext cx="224536" cy="2245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22400" y="33782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Alliance macro eNB supplier 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2400" y="36449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Equipment Report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4038600"/>
            <a:ext cx="4876800" cy="66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2800" y="4152900"/>
            <a:ext cx="431800" cy="431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Picture 27" descr="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432" y="4256532"/>
            <a:ext cx="224536" cy="22453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22400" y="41148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Operator-accepted 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2400" y="43815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450connect whitelist, Germany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4775200"/>
            <a:ext cx="4876800" cy="66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2800" y="4889500"/>
            <a:ext cx="431800" cy="431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3" name="Picture 32" descr="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432" y="4993132"/>
            <a:ext cx="224536" cy="2245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422400" y="48514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Band 31 and Band 72 portfolio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22400" y="51181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Terminals, eNB and MCS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1200" y="1549400"/>
            <a:ext cx="5791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COMPATIBLE BY DESIGN  ·  3GPP STANDARD INTERFACES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91200" y="1828800"/>
            <a:ext cx="2133600" cy="762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8" name="Picture 37" descr="smart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057400"/>
            <a:ext cx="304800" cy="304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50000" y="1828800"/>
            <a:ext cx="14986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Segoe UI Semibold"/>
              </a:rPr>
              <a:t>Hytera terminals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24800" y="2209800"/>
            <a:ext cx="1524000" cy="0"/>
          </a:xfrm>
          <a:prstGeom prst="line">
            <a:avLst/>
          </a:prstGeom>
          <a:ln w="15875">
            <a:solidFill>
              <a:srgbClr val="3A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178800" y="2070100"/>
            <a:ext cx="1016000" cy="279400"/>
          </a:xfrm>
          <a:prstGeom prst="round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78800" y="20701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0B308E"/>
                </a:solidFill>
                <a:latin typeface="Segoe UI Semibold"/>
              </a:rPr>
              <a:t>LTE Uu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91200" y="2743200"/>
            <a:ext cx="2133600" cy="762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4" name="Picture 43" descr="radio-tow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971800"/>
            <a:ext cx="304800" cy="3048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50000" y="2743200"/>
            <a:ext cx="14986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Segoe UI Semibold"/>
              </a:rPr>
              <a:t>Hytera 450 MHz eNB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24800" y="3124200"/>
            <a:ext cx="1524000" cy="0"/>
          </a:xfrm>
          <a:prstGeom prst="line">
            <a:avLst/>
          </a:prstGeom>
          <a:ln w="15875">
            <a:solidFill>
              <a:srgbClr val="3A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178800" y="2984500"/>
            <a:ext cx="1016000" cy="279400"/>
          </a:xfrm>
          <a:prstGeom prst="round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78800" y="29845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0B308E"/>
                </a:solidFill>
                <a:latin typeface="Segoe UI Semibold"/>
              </a:rPr>
              <a:t>S1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91200" y="3657600"/>
            <a:ext cx="2133600" cy="762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0" name="Picture 49" descr="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886200"/>
            <a:ext cx="304800" cy="304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350000" y="3657600"/>
            <a:ext cx="14986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Segoe UI Semibold"/>
              </a:rPr>
              <a:t>Hytera MCS platform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924800" y="4038600"/>
            <a:ext cx="1524000" cy="0"/>
          </a:xfrm>
          <a:prstGeom prst="line">
            <a:avLst/>
          </a:prstGeom>
          <a:ln w="15875">
            <a:solidFill>
              <a:srgbClr val="3A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178800" y="3898900"/>
            <a:ext cx="1016000" cy="279400"/>
          </a:xfrm>
          <a:prstGeom prst="round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78800" y="38989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0B308E"/>
                </a:solidFill>
                <a:latin typeface="Segoe UI Semibold"/>
              </a:rPr>
              <a:t>SIP / MCX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8800" y="1828800"/>
            <a:ext cx="2133600" cy="25908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48800" y="1828800"/>
            <a:ext cx="2133600" cy="508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7" name="Picture 56" descr="server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000" y="2057400"/>
            <a:ext cx="381000" cy="381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652000" y="2514600"/>
            <a:ext cx="1778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Globe’s existing core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52000" y="3022600"/>
            <a:ext cx="1778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EPC / 5GC from</a:t>
            </a:r>
          </a:p>
        </p:txBody>
      </p:sp>
      <p:pic>
        <p:nvPicPr>
          <p:cNvPr id="60" name="Picture 59" descr="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000" y="3327400"/>
            <a:ext cx="152400" cy="1524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880600" y="32766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 Semibold"/>
              </a:rPr>
              <a:t>Huawei</a:t>
            </a:r>
          </a:p>
        </p:txBody>
      </p:sp>
      <p:pic>
        <p:nvPicPr>
          <p:cNvPr id="62" name="Picture 61" descr="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000" y="3581400"/>
            <a:ext cx="152400" cy="1524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880600" y="35306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 Semibold"/>
              </a:rPr>
              <a:t>ZTE</a:t>
            </a:r>
          </a:p>
        </p:txBody>
      </p:sp>
      <p:pic>
        <p:nvPicPr>
          <p:cNvPr id="64" name="Picture 63" descr="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000" y="3835400"/>
            <a:ext cx="152400" cy="1524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880600" y="37846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 Semibold"/>
              </a:rPr>
              <a:t>Nokia</a:t>
            </a:r>
          </a:p>
        </p:txBody>
      </p:sp>
      <p:pic>
        <p:nvPicPr>
          <p:cNvPr id="66" name="Picture 65" descr="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000" y="4089400"/>
            <a:ext cx="152400" cy="1524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880600" y="40386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6213E"/>
                </a:solidFill>
                <a:latin typeface="Segoe UI Semibold"/>
              </a:rPr>
              <a:t>Ericsson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91200" y="4597400"/>
            <a:ext cx="5791200" cy="838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9" name="Picture 68" descr="network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4400" y="4826000"/>
            <a:ext cx="381000" cy="381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527800" y="467360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0B308E"/>
                </a:solidFill>
                <a:latin typeface="Segoe UI Semibold"/>
              </a:rPr>
              <a:t>Multi-vendor by standard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27800" y="500380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The Alliance’s eNB list itself spans Ericsson, Huawei, Hytera, Nokia and ZTE.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3" name="Picture 72" descr="handshake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00" y="5867400"/>
            <a:ext cx="254000" cy="2540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219200" y="57404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For Globe: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add Hytera radio and terminals without replacing the core you run today. Interoperability is verified per project.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Hytera news release (Aug 2024); 450 MHz Alliance, Equipment Report (May 2025) p5 §4.1-4.2; 450connect whitelist; 3GPP TS 36.300 / 36.413 / 23.280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03   REFERENCE  ·  GERMANY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450connect: one nationwide 450 MHz network, shared by Germany’s utilities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3429000" cy="4064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_3d268c2b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0" y="1969507"/>
            <a:ext cx="2540000" cy="3426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9000" y="182880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8CC63F"/>
                </a:solidFill>
                <a:latin typeface="Segoe UI Semibold"/>
              </a:rP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" y="2489200"/>
            <a:ext cx="3048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000" b="0">
                <a:solidFill>
                  <a:srgbClr val="FFFFFF"/>
                </a:solidFill>
                <a:latin typeface="Segoe UI Light"/>
              </a:rPr>
              <a:t>&gt;95%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3505200"/>
            <a:ext cx="2921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DCE5F3"/>
                </a:solidFill>
                <a:latin typeface="Segoe UI"/>
              </a:rPr>
              <a:t>of Germany, on one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DCE5F3"/>
                </a:solidFill>
                <a:latin typeface="Segoe UI"/>
              </a:rPr>
              <a:t>national 450 MHz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000" y="5105400"/>
            <a:ext cx="1320800" cy="304800"/>
          </a:xfrm>
          <a:prstGeom prst="round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" y="51054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B308E"/>
                </a:solidFill>
                <a:latin typeface="Segoe UI Semibold"/>
              </a:rPr>
              <a:t>Band 72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11400" y="5105400"/>
            <a:ext cx="1473200" cy="30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11400" y="5105400"/>
            <a:ext cx="1473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B308E"/>
                </a:solidFill>
                <a:latin typeface="Segoe UI Semibold"/>
              </a:rPr>
              <a:t>Licence to 2040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1549400"/>
            <a:ext cx="3556000" cy="939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6600" y="17907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radio-tow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328" y="1900427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56200" y="1651000"/>
            <a:ext cx="2616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Light"/>
              </a:rPr>
              <a:t>~1,600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6200" y="2057400"/>
            <a:ext cx="2616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sites for nationwide coverage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26400" y="1549400"/>
            <a:ext cx="3556000" cy="939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0" y="17907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6" name="Picture 25" descr="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1900427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839200" y="1651000"/>
            <a:ext cx="2616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Light"/>
              </a:rPr>
              <a:t>72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9200" y="2057400"/>
            <a:ext cx="2616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battery backup at every site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2590800"/>
            <a:ext cx="3556000" cy="939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46600" y="28321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wav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328" y="2941828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156200" y="2692400"/>
            <a:ext cx="2616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Light"/>
              </a:rPr>
              <a:t>2×4.74 MHz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6200" y="3098800"/>
            <a:ext cx="2616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451.00–455.74 / 461.00–465.74 MHz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26400" y="2590800"/>
            <a:ext cx="3556000" cy="939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600" y="28321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Picture 35" descr="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2941828"/>
            <a:ext cx="237744" cy="2377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39200" y="2692400"/>
            <a:ext cx="2616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Light"/>
              </a:rPr>
              <a:t>4 × 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9200" y="3098800"/>
            <a:ext cx="2616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owned by utility groups incl. E.ON and Alliander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632200"/>
            <a:ext cx="3556000" cy="939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46600" y="38735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1" name="Picture 40" descr="serv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6328" y="3983228"/>
            <a:ext cx="237744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156200" y="3733800"/>
            <a:ext cx="2616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Light"/>
              </a:rPr>
              <a:t>Nokia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56200" y="4140200"/>
            <a:ext cx="2616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radio, core, backhaul and power backup; O&amp;M to 2040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26400" y="3632200"/>
            <a:ext cx="3556000" cy="9398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29600" y="3873500"/>
            <a:ext cx="457200" cy="4572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6" name="Picture 45" descr="smartpho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3983228"/>
            <a:ext cx="237744" cy="2377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839200" y="3733800"/>
            <a:ext cx="26162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7F9B00"/>
                </a:solidFill>
                <a:latin typeface="Segoe UI Light"/>
              </a:rPr>
              <a:t>PNC660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39200" y="4140200"/>
            <a:ext cx="2616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Hytera handheld on the 450connect whitelist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4749800"/>
            <a:ext cx="508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FROM LICENCE TO NETWORK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5054600"/>
            <a:ext cx="17145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70400" y="50800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Nov 2020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70400" y="5308600"/>
            <a:ext cx="152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6213E"/>
                </a:solidFill>
                <a:latin typeface="Segoe UI"/>
              </a:rPr>
              <a:t>Band reserved for energy &amp; water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59500" y="5054600"/>
            <a:ext cx="17145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86500" y="50800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Mar 2021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86500" y="5308600"/>
            <a:ext cx="152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6213E"/>
                </a:solidFill>
                <a:latin typeface="Segoe UI"/>
              </a:rPr>
              <a:t>Licence awarded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75600" y="5054600"/>
            <a:ext cx="17145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02600" y="50800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Feb 2022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2600" y="5308600"/>
            <a:ext cx="152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6213E"/>
                </a:solidFill>
                <a:latin typeface="Segoe UI"/>
              </a:rPr>
              <a:t>Nokia selected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91700" y="5054600"/>
            <a:ext cx="17145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18700" y="50800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End 2024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18700" y="5308600"/>
            <a:ext cx="152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6213E"/>
                </a:solidFill>
                <a:latin typeface="Segoe UI"/>
              </a:rPr>
              <a:t>Full operation planned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600" y="57912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3" name="Picture 62" descr="check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5918200"/>
            <a:ext cx="254000" cy="2540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219200" y="57912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For Globe: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one operator, one network, many utility customers — and no consumer service.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Bundesnetzagentur press releases (Mar 2021); Nokia newsroom (Feb 2022); 450 MHz Alliance, RFI (2025) p5, Global Update (Dec 2025) p9; 450connect; Hytera whitelist certificate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03  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Three 450 MHz networks, three national mission-critical deployments</a:t>
            </a:r>
          </a:p>
        </p:txBody>
      </p:sp>
      <p:pic>
        <p:nvPicPr>
          <p:cNvPr id="10" name="Picture 9" descr="radio-tower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4940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5200" y="15494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450 MHZ NETWORKS  ·  OPERATOR NETWORKS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1854200"/>
            <a:ext cx="3454400" cy="1905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1854200"/>
            <a:ext cx="13208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loc_germa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54200"/>
            <a:ext cx="1320800" cy="1905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8200" y="2006600"/>
            <a:ext cx="1854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GERMANY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8200" y="22098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450connect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8200" y="24892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7F9B00"/>
                </a:solidFill>
                <a:latin typeface="Segoe UI Light"/>
              </a:rPr>
              <a:t>B72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8200" y="29210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national utility network</a:t>
            </a:r>
          </a:p>
        </p:txBody>
      </p:sp>
      <p:pic>
        <p:nvPicPr>
          <p:cNvPr id="19" name="Picture 18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3251200"/>
            <a:ext cx="15240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336800" y="32004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&gt;95% coverage</a:t>
            </a:r>
          </a:p>
        </p:txBody>
      </p:sp>
      <p:pic>
        <p:nvPicPr>
          <p:cNvPr id="21" name="Picture 2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3505200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336800" y="34544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PNC660 whitelisted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8800" y="1854200"/>
            <a:ext cx="3454400" cy="1905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8800" y="1854200"/>
            <a:ext cx="13208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Picture 24" descr="loc_malays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800" y="1854200"/>
            <a:ext cx="1320800" cy="1905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67400" y="2006600"/>
            <a:ext cx="1854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MALAYSIA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7400" y="22098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TNB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7400" y="24892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7F9B00"/>
                </a:solidFill>
                <a:latin typeface="Segoe UI Light"/>
              </a:rPr>
              <a:t>B31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67400" y="29210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utility network</a:t>
            </a:r>
          </a:p>
        </p:txBody>
      </p:sp>
      <p:pic>
        <p:nvPicPr>
          <p:cNvPr id="30" name="Picture 29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3251200"/>
            <a:ext cx="15240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6000" y="32004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Phase 1: 4 areas</a:t>
            </a:r>
          </a:p>
        </p:txBody>
      </p:sp>
      <p:pic>
        <p:nvPicPr>
          <p:cNvPr id="32" name="Picture 3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3505200"/>
            <a:ext cx="1524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96000" y="34544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Phase 2 tendering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0" y="1854200"/>
            <a:ext cx="3454400" cy="1905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8000" y="1854200"/>
            <a:ext cx="13208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Picture 35" descr="loc_singap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0" y="1854200"/>
            <a:ext cx="1320800" cy="1905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626600" y="2006600"/>
            <a:ext cx="1854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SINGAPORE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6600" y="22098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Public safety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6600" y="24892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7F9B00"/>
                </a:solidFill>
                <a:latin typeface="Segoe UI Light"/>
              </a:rPr>
              <a:t>B31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6600" y="29210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public safety network</a:t>
            </a:r>
          </a:p>
        </p:txBody>
      </p:sp>
      <p:pic>
        <p:nvPicPr>
          <p:cNvPr id="41" name="Picture 4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00" y="3251200"/>
            <a:ext cx="152400" cy="152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55200" y="32004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In service</a:t>
            </a:r>
          </a:p>
        </p:txBody>
      </p:sp>
      <p:pic>
        <p:nvPicPr>
          <p:cNvPr id="43" name="Picture 4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00" y="3505200"/>
            <a:ext cx="152400" cy="152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855200" y="34544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Same band as PH</a:t>
            </a:r>
          </a:p>
        </p:txBody>
      </p:sp>
      <p:pic>
        <p:nvPicPr>
          <p:cNvPr id="45" name="Picture 44" descr="layers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911600"/>
            <a:ext cx="228600" cy="2286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65200" y="3911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HYTERA MISSION-CRITICAL DEPLOYMENTS AT NATIONAL SCALE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4216400"/>
            <a:ext cx="34544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8" name="Picture 47" descr="v6_4c49d82c37.jpg"/>
          <p:cNvPicPr>
            <a:picLocks noChangeAspect="1"/>
          </p:cNvPicPr>
          <p:nvPr/>
        </p:nvPicPr>
        <p:blipFill>
          <a:blip r:embed="rId8"/>
          <a:srcRect l="30500" r="30500"/>
          <a:stretch>
            <a:fillRect/>
          </a:stretch>
        </p:blipFill>
        <p:spPr>
          <a:xfrm>
            <a:off x="609600" y="4216400"/>
            <a:ext cx="1320800" cy="1905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108200" y="4368800"/>
            <a:ext cx="1854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SRI LANKA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8200" y="45720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Railways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8200" y="48514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0B308E"/>
                </a:solidFill>
                <a:latin typeface="Segoe UI Light"/>
              </a:rPr>
              <a:t>1,950+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8200" y="52832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MCS terminals</a:t>
            </a:r>
          </a:p>
        </p:txBody>
      </p:sp>
      <p:pic>
        <p:nvPicPr>
          <p:cNvPr id="53" name="Picture 5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5613400"/>
            <a:ext cx="152400" cy="1524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336800" y="55626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9 lines, 403 stations</a:t>
            </a:r>
          </a:p>
        </p:txBody>
      </p:sp>
      <p:pic>
        <p:nvPicPr>
          <p:cNvPr id="55" name="Picture 5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5867400"/>
            <a:ext cx="152400" cy="1524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336800" y="58166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Dialog: 450 licence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68800" y="4216400"/>
            <a:ext cx="34544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8" name="Picture 57" descr="v6_9add975c86.jpg"/>
          <p:cNvPicPr>
            <a:picLocks noChangeAspect="1"/>
          </p:cNvPicPr>
          <p:nvPr/>
        </p:nvPicPr>
        <p:blipFill>
          <a:blip r:embed="rId9"/>
          <a:srcRect t="33" b="33"/>
          <a:stretch>
            <a:fillRect/>
          </a:stretch>
        </p:blipFill>
        <p:spPr>
          <a:xfrm>
            <a:off x="4368800" y="4216400"/>
            <a:ext cx="1320800" cy="19050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867400" y="4368800"/>
            <a:ext cx="1854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HONG KONG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67400" y="45720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Light Rail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67400" y="48514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0B308E"/>
                </a:solidFill>
                <a:latin typeface="Segoe UI Light"/>
              </a:rPr>
              <a:t>810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67400" y="52832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MCS terminals</a:t>
            </a:r>
          </a:p>
        </p:txBody>
      </p:sp>
      <p:pic>
        <p:nvPicPr>
          <p:cNvPr id="63" name="Picture 6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5613400"/>
            <a:ext cx="152400" cy="1524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096000" y="55626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1st railway MCS on 5G</a:t>
            </a:r>
          </a:p>
        </p:txBody>
      </p:sp>
      <p:pic>
        <p:nvPicPr>
          <p:cNvPr id="65" name="Picture 6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5867400"/>
            <a:ext cx="152400" cy="1524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096000" y="58166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Replaced TETRA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28000" y="4216400"/>
            <a:ext cx="34544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8" name="Picture 67" descr="v6_0316e38593.jpg"/>
          <p:cNvPicPr>
            <a:picLocks noChangeAspect="1"/>
          </p:cNvPicPr>
          <p:nvPr/>
        </p:nvPicPr>
        <p:blipFill>
          <a:blip r:embed="rId10"/>
          <a:srcRect l="24000" r="24000"/>
          <a:stretch>
            <a:fillRect/>
          </a:stretch>
        </p:blipFill>
        <p:spPr>
          <a:xfrm>
            <a:off x="8128000" y="4216400"/>
            <a:ext cx="1320800" cy="19050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626600" y="4368800"/>
            <a:ext cx="1854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PAPUA NEW GUINEA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26600" y="45720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Police HQ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26600" y="48514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0B308E"/>
                </a:solidFill>
                <a:latin typeface="Segoe UI Light"/>
              </a:rPr>
              <a:t>3,000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26600" y="52832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officers served</a:t>
            </a:r>
          </a:p>
        </p:txBody>
      </p:sp>
      <p:pic>
        <p:nvPicPr>
          <p:cNvPr id="73" name="Picture 7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00" y="5613400"/>
            <a:ext cx="152400" cy="1524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855200" y="55626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APEC security</a:t>
            </a:r>
          </a:p>
        </p:txBody>
      </p:sp>
      <p:pic>
        <p:nvPicPr>
          <p:cNvPr id="75" name="Picture 7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00" y="5867400"/>
            <a:ext cx="152400" cy="1524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855200" y="5816600"/>
            <a:ext cx="16256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6213E"/>
                </a:solidFill>
                <a:latin typeface="Segoe UI"/>
              </a:rPr>
              <a:t>60 s dispatch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9600" y="61722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Top row: operator networks; Hytera’s link is the 450connect whitelist. PNG photo is illustrative.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Annual Global Update (Dec 2025) p7-p9; RFI for devices (2025) p5; 450connect whitelist; Hytera showroom briefing L170, L211; PNG case records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15240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CHAPTER 04 OF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400" y="1727200"/>
            <a:ext cx="482600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0" b="0">
                <a:solidFill>
                  <a:srgbClr val="0B308E"/>
                </a:solidFill>
                <a:latin typeface="Segoe UI Light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37592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39878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Semibold"/>
              </a:rPr>
              <a:t>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4572000"/>
            <a:ext cx="4826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55607A"/>
                </a:solidFill>
                <a:latin typeface="Segoe UI"/>
              </a:rPr>
              <a:t>How could the network pay for itself?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7600" y="1524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7000" y="1701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radio-tower_st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20" y="1823720"/>
            <a:ext cx="264160" cy="26416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824980" y="1659127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4980" y="1659127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9800" y="1524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450 MHz advantages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7600" y="2540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7000" y="2717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users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20" y="2839720"/>
            <a:ext cx="264160" cy="26416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6824980" y="2675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4980" y="2675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9800" y="2540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Target industries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7600" y="3556000"/>
            <a:ext cx="5384800" cy="863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77000" y="3733800"/>
            <a:ext cx="508000" cy="508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globe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20" y="3855720"/>
            <a:ext cx="264160" cy="26416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6824980" y="3691128"/>
            <a:ext cx="213360" cy="213360"/>
          </a:xfrm>
          <a:prstGeom prst="ellipse">
            <a:avLst/>
          </a:prstGeom>
          <a:solidFill>
            <a:srgbClr val="93A0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4980" y="3691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9800" y="3556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3A0B4"/>
                </a:solidFill>
                <a:latin typeface="Segoe UI Semibold"/>
              </a:rPr>
              <a:t>Reference cases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7600" y="4572000"/>
            <a:ext cx="5384800" cy="863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7600" y="4572000"/>
            <a:ext cx="50800" cy="863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7000" y="4749800"/>
            <a:ext cx="508000" cy="508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coin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920" y="4871720"/>
            <a:ext cx="264160" cy="26416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824980" y="4707128"/>
            <a:ext cx="213360" cy="213360"/>
          </a:xfrm>
          <a:prstGeom prst="ellipse">
            <a:avLst/>
          </a:prstGeom>
          <a:solidFill>
            <a:srgbClr val="0B30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4980" y="4707128"/>
            <a:ext cx="2133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9800" y="4572000"/>
            <a:ext cx="4064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Business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3500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04   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Utilities fund the coverage; every other industry builds on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3352800" cy="965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packag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778000"/>
            <a:ext cx="508000" cy="50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73200" y="16510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Hytera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3200" y="2006600"/>
            <a:ext cx="2362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DCE5F3"/>
                </a:solidFill>
                <a:latin typeface="Segoe UI"/>
              </a:rPr>
              <a:t>Radio, terminals, platform</a:t>
            </a:r>
          </a:p>
        </p:txBody>
      </p:sp>
      <p:pic>
        <p:nvPicPr>
          <p:cNvPr id="14" name="Picture 13" descr="arrow-righ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905000"/>
            <a:ext cx="304800" cy="304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419600" y="1549400"/>
            <a:ext cx="3352800" cy="9652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radio-tow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800" y="1778000"/>
            <a:ext cx="508000" cy="50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83200" y="16510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Globe Telecom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3200" y="2006600"/>
            <a:ext cx="2362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Spectrum, network, customers</a:t>
            </a:r>
          </a:p>
        </p:txBody>
      </p:sp>
      <p:pic>
        <p:nvPicPr>
          <p:cNvPr id="19" name="Picture 18" descr="arrow-righ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1905000"/>
            <a:ext cx="304800" cy="304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549400"/>
            <a:ext cx="3352800" cy="965200"/>
          </a:xfrm>
          <a:prstGeom prst="rect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building-2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1778000"/>
            <a:ext cx="508000" cy="508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93200" y="16510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Anchor 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3200" y="2006600"/>
            <a:ext cx="2362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DCE5F3"/>
                </a:solidFill>
                <a:latin typeface="Segoe UI"/>
              </a:rPr>
              <a:t>Contract capacity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2743200"/>
            <a:ext cx="508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SIX REVENUE LINES  ·  AND WHO BUYS THEM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0226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2800" y="3340100"/>
            <a:ext cx="533400" cy="5334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gau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816" y="3468116"/>
            <a:ext cx="277368" cy="2773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24000" y="32512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IoT connectivity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" y="36068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Power  ·  Water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8800" y="30226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0" y="33401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2" name="Picture 31" descr="radio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468116"/>
            <a:ext cx="277368" cy="2773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283200" y="32512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MCX as a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3200" y="36068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Police  ·  Rail  ·  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8000" y="30226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31200" y="33401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layer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9216" y="3468116"/>
            <a:ext cx="277368" cy="2773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042400" y="32512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Capacity packages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2400" y="36068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Power  ·  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43434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2800" y="46609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2" name="Picture 41" descr="smartphon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816" y="4788916"/>
            <a:ext cx="277368" cy="2773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524000" y="45720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Devices as a 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" y="49276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Police  ·  Rail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68800" y="43434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72000" y="46609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7" name="Picture 46" descr="cpu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016" y="4788916"/>
            <a:ext cx="277368" cy="27736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283200" y="45720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Integration &amp; O&amp;M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83200" y="49276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Power  ·  Water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8000" y="43434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331200" y="46609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2" name="Picture 51" descr="siren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9216" y="4788916"/>
            <a:ext cx="277368" cy="27736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042400" y="45720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Emergency readiness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42400" y="49276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Emergency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600" y="58166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6" name="Picture 55" descr="info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800" y="5943600"/>
            <a:ext cx="254000" cy="254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219200" y="58166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Sign demand before the build: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Portugal’s 450 MHz trial stalled on commercial terms, not technology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Hytera proposal; 450 MHz Alliance, Annual Global Update (Dec 2025) p9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a_2b6cd945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244" y="431800"/>
            <a:ext cx="1284111" cy="508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959600" y="1626615"/>
            <a:ext cx="4470400" cy="4112768"/>
          </a:xfrm>
          <a:prstGeom prst="ellipse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18400" y="2140712"/>
            <a:ext cx="3352800" cy="3084576"/>
          </a:xfrm>
          <a:prstGeom prst="ellipse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77200" y="2654808"/>
            <a:ext cx="2235200" cy="2056384"/>
          </a:xfrm>
          <a:prstGeom prst="ellipse">
            <a:avLst/>
          </a:prstGeom>
          <a:solidFill>
            <a:srgbClr val="DF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_64ddced7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2022122"/>
            <a:ext cx="2159000" cy="3118555"/>
          </a:xfrm>
          <a:prstGeom prst="rect">
            <a:avLst/>
          </a:prstGeom>
        </p:spPr>
      </p:pic>
      <p:pic>
        <p:nvPicPr>
          <p:cNvPr id="11" name="Picture 10" descr="a_7405c6de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2501900"/>
            <a:ext cx="2159000" cy="30226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609600" y="5969000"/>
            <a:ext cx="109728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3600" y="1600200"/>
            <a:ext cx="558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HYTERA  ×  GLOBE TELECOM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1905000"/>
            <a:ext cx="558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Semibold"/>
              </a:rPr>
              <a:t>Thank you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00" y="28702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600" y="3225800"/>
            <a:ext cx="558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FOR DISCUSSION</a:t>
            </a:r>
          </a:p>
        </p:txBody>
      </p:sp>
      <p:sp>
        <p:nvSpPr>
          <p:cNvPr id="17" name="Oval 16"/>
          <p:cNvSpPr/>
          <p:nvPr/>
        </p:nvSpPr>
        <p:spPr>
          <a:xfrm>
            <a:off x="863600" y="3530600"/>
            <a:ext cx="406400" cy="406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radio-tow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136" y="3628136"/>
            <a:ext cx="211328" cy="211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22400" y="3530600"/>
            <a:ext cx="482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Band and bandwidth</a:t>
            </a:r>
          </a:p>
        </p:txBody>
      </p:sp>
      <p:sp>
        <p:nvSpPr>
          <p:cNvPr id="20" name="Oval 19"/>
          <p:cNvSpPr/>
          <p:nvPr/>
        </p:nvSpPr>
        <p:spPr>
          <a:xfrm>
            <a:off x="863600" y="4089400"/>
            <a:ext cx="406400" cy="406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136" y="4186936"/>
            <a:ext cx="211328" cy="2113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22400" y="4089400"/>
            <a:ext cx="482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Which industries matter most</a:t>
            </a:r>
          </a:p>
        </p:txBody>
      </p:sp>
      <p:sp>
        <p:nvSpPr>
          <p:cNvPr id="23" name="Oval 22"/>
          <p:cNvSpPr/>
          <p:nvPr/>
        </p:nvSpPr>
        <p:spPr>
          <a:xfrm>
            <a:off x="863600" y="4648200"/>
            <a:ext cx="406400" cy="406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map-p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136" y="4745736"/>
            <a:ext cx="211328" cy="2113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22400" y="4648200"/>
            <a:ext cx="482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Where coverage is needed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0706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Mission First  ·  Safety Always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2400" y="60706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3A0B4"/>
                </a:solidFill>
                <a:latin typeface="Segoe UI"/>
              </a:rPr>
              <a:t>Hytera Communications Corporation Limited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3459</Words>
  <Application>Microsoft Macintosh PowerPoint</Application>
  <PresentationFormat>宽屏</PresentationFormat>
  <Paragraphs>390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yu</dc:creator>
  <cp:lastModifiedBy>stefan yu</cp:lastModifiedBy>
  <cp:revision>1</cp:revision>
  <dcterms:created xsi:type="dcterms:W3CDTF">2026-10-10T01:12:47Z</dcterms:created>
  <dcterms:modified xsi:type="dcterms:W3CDTF">2026-10-10T01:38:43Z</dcterms:modified>
</cp:coreProperties>
</file>