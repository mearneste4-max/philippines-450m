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jp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22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9" Type="http://schemas.openxmlformats.org/officeDocument/2006/relationships/image" Target="../media/image42.jpg"/><Relationship Id="rId10" Type="http://schemas.openxmlformats.org/officeDocument/2006/relationships/image" Target="../media/image43.jpg"/><Relationship Id="rId11" Type="http://schemas.openxmlformats.org/officeDocument/2006/relationships/image" Target="../media/image16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21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9.png"/><Relationship Id="rId4" Type="http://schemas.openxmlformats.org/officeDocument/2006/relationships/image" Target="../media/image46.png"/><Relationship Id="rId5" Type="http://schemas.openxmlformats.org/officeDocument/2006/relationships/image" Target="../media/image50.png"/><Relationship Id="rId6" Type="http://schemas.openxmlformats.org/officeDocument/2006/relationships/image" Target="../media/image44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55.png"/><Relationship Id="rId4" Type="http://schemas.openxmlformats.org/officeDocument/2006/relationships/image" Target="../media/image54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58.png"/><Relationship Id="rId4" Type="http://schemas.openxmlformats.org/officeDocument/2006/relationships/image" Target="../media/image45.png"/><Relationship Id="rId5" Type="http://schemas.openxmlformats.org/officeDocument/2006/relationships/image" Target="../media/image56.png"/><Relationship Id="rId6" Type="http://schemas.openxmlformats.org/officeDocument/2006/relationships/image" Target="../media/image59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60.png"/><Relationship Id="rId4" Type="http://schemas.openxmlformats.org/officeDocument/2006/relationships/image" Target="../media/image45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8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Relationship Id="rId9" Type="http://schemas.openxmlformats.org/officeDocument/2006/relationships/image" Target="../media/image68.png"/><Relationship Id="rId10" Type="http://schemas.openxmlformats.org/officeDocument/2006/relationships/image" Target="../media/image16.png"/><Relationship Id="rId11" Type="http://schemas.openxmlformats.org/officeDocument/2006/relationships/image" Target="../media/image47.png"/><Relationship Id="rId1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8.png"/><Relationship Id="rId4" Type="http://schemas.openxmlformats.org/officeDocument/2006/relationships/image" Target="../media/image69.png"/><Relationship Id="rId5" Type="http://schemas.openxmlformats.org/officeDocument/2006/relationships/image" Target="../media/image67.png"/><Relationship Id="rId6" Type="http://schemas.openxmlformats.org/officeDocument/2006/relationships/image" Target="../media/image70.png"/><Relationship Id="rId7" Type="http://schemas.openxmlformats.org/officeDocument/2006/relationships/image" Target="../media/image19.png"/><Relationship Id="rId8" Type="http://schemas.openxmlformats.org/officeDocument/2006/relationships/image" Target="../media/image71.png"/><Relationship Id="rId9" Type="http://schemas.openxmlformats.org/officeDocument/2006/relationships/image" Target="../media/image16.png"/><Relationship Id="rId10" Type="http://schemas.openxmlformats.org/officeDocument/2006/relationships/image" Target="../media/image57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8.png"/><Relationship Id="rId4" Type="http://schemas.openxmlformats.org/officeDocument/2006/relationships/image" Target="../media/image73.pn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74.png"/><Relationship Id="rId8" Type="http://schemas.openxmlformats.org/officeDocument/2006/relationships/image" Target="../media/image19.png"/><Relationship Id="rId9" Type="http://schemas.openxmlformats.org/officeDocument/2006/relationships/image" Target="../media/image33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1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38.jp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67.png"/><Relationship Id="rId9" Type="http://schemas.openxmlformats.org/officeDocument/2006/relationships/image" Target="../media/image19.png"/><Relationship Id="rId10" Type="http://schemas.openxmlformats.org/officeDocument/2006/relationships/image" Target="../media/image73.png"/><Relationship Id="rId11" Type="http://schemas.openxmlformats.org/officeDocument/2006/relationships/image" Target="../media/image51.png"/><Relationship Id="rId12" Type="http://schemas.openxmlformats.org/officeDocument/2006/relationships/image" Target="../media/image22.png"/><Relationship Id="rId1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5.png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7 –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15 – 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20 – 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scarce low band, best spent on B2B and B2G, not on consumer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NOT CONSUMER: THE CHANNEL IS NARROW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54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450 MHz (Band 31 / 72)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070100"/>
            <a:ext cx="190500" cy="177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044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≈ 2×5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362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LTE carrier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578100"/>
            <a:ext cx="762000" cy="1778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3200" y="2552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870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5G carrier (3.5 GHz)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86100"/>
            <a:ext cx="3810000" cy="177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200" y="3060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100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403600"/>
            <a:ext cx="4876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One 450 MHz cell covers a very large area, so this narrow channel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is shared by far more users than a mid-band cell.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987800"/>
            <a:ext cx="2362200" cy="1651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3987800"/>
            <a:ext cx="23622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14020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84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FITS: B2B AND B2G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Power, water, oil &amp; gas, 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Emergency and public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IoT, SCADA, MCPTT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4200" y="3987800"/>
            <a:ext cx="2362200" cy="1651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4200" y="3987800"/>
            <a:ext cx="2362200" cy="50800"/>
          </a:xfrm>
          <a:prstGeom prst="rect">
            <a:avLst/>
          </a:prstGeom>
          <a:solidFill>
            <a:srgbClr val="5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info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414020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830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55607A"/>
                </a:solidFill>
                <a:latin typeface="Segoe UI Semibold"/>
              </a:rPr>
              <a:t>NOT FOR CONSUMERS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74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Smartphone internet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74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Video streaming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74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Home broadband</a:t>
            </a:r>
          </a:p>
        </p:txBody>
      </p:sp>
      <p:pic>
        <p:nvPicPr>
          <p:cNvPr id="35" name="Picture 34" descr="v6_5c1aa6a0bd.jpg"/>
          <p:cNvPicPr>
            <a:picLocks noChangeAspect="1"/>
          </p:cNvPicPr>
          <p:nvPr/>
        </p:nvPicPr>
        <p:blipFill>
          <a:blip r:embed="rId4"/>
          <a:srcRect t="36586" b="26586"/>
          <a:stretch>
            <a:fillRect/>
          </a:stretch>
        </p:blipFill>
        <p:spPr>
          <a:xfrm>
            <a:off x="5791200" y="1549400"/>
            <a:ext cx="5791200" cy="14224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943600" y="2565400"/>
            <a:ext cx="2489200" cy="279400"/>
          </a:xfrm>
          <a:prstGeom prst="round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2565400"/>
            <a:ext cx="2489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Segoe UI Semibold"/>
              </a:rPr>
              <a:t>Critical infrastructure first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1200" y="30988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THREE MORE REASONS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91200" y="33528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994400" y="3492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smartphon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032" y="3596132"/>
            <a:ext cx="224536" cy="22453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604000" y="34290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 consumer handsets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4000" y="36957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Phones lack Band 31/72; devices are routers, meters, rugged handhelds.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91200" y="41402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994400" y="4279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badge-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8032" y="4383532"/>
            <a:ext cx="224536" cy="22453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604000" y="42164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Licensed for critical infrastructure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4000" y="44831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Germany: energy &amp; water. Singapore: public safety. South Africa: rail.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49276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94400" y="5067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1" name="Picture 50" descr="za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8032" y="5170932"/>
            <a:ext cx="224536" cy="22453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04000" y="50038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Built for resilience, not consumer cost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4000" y="52705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Long backup power (72 h at 450connect) and mission-critical priority.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info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Market signal: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Norway’s ice began moving its 450 MHz consumer users to industrial service in 2024.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3GPP LTE / NR channel bandwidths; Bundesnetzagentur (Nov 2020, Mar 2021); 450 MHz Alliance, Equipment Report (May 2025) p4-p5; Annual Global Update (Dec 2025) p6-p9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pic>
        <p:nvPicPr>
          <p:cNvPr id="19" name="Picture 18" descr="v6_13015b8219.jpg"/>
          <p:cNvPicPr>
            <a:picLocks noChangeAspect="1"/>
          </p:cNvPicPr>
          <p:nvPr/>
        </p:nvPicPr>
        <p:blipFill>
          <a:blip r:embed="rId5"/>
          <a:srcRect l="3125" r="3125"/>
          <a:stretch>
            <a:fillRect/>
          </a:stretch>
        </p:blipFill>
        <p:spPr>
          <a:xfrm>
            <a:off x="1143000" y="2032000"/>
            <a:ext cx="7620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57400" y="1981200"/>
            <a:ext cx="1905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1" name="Oval 20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pic>
        <p:nvPicPr>
          <p:cNvPr id="33" name="Picture 32" descr="v6_5f9dad8d68.jpg"/>
          <p:cNvPicPr>
            <a:picLocks noChangeAspect="1"/>
          </p:cNvPicPr>
          <p:nvPr/>
        </p:nvPicPr>
        <p:blipFill>
          <a:blip r:embed="rId6"/>
          <a:srcRect t="9844" b="19844"/>
          <a:stretch>
            <a:fillRect/>
          </a:stretch>
        </p:blipFill>
        <p:spPr>
          <a:xfrm>
            <a:off x="1143000" y="2667000"/>
            <a:ext cx="7620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057400" y="2616200"/>
            <a:ext cx="1905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5" name="Oval 34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pic>
        <p:nvPicPr>
          <p:cNvPr id="47" name="Picture 46" descr="v6_4589fbbd86.jpg"/>
          <p:cNvPicPr>
            <a:picLocks noChangeAspect="1"/>
          </p:cNvPicPr>
          <p:nvPr/>
        </p:nvPicPr>
        <p:blipFill>
          <a:blip r:embed="rId7"/>
          <a:srcRect b="9944"/>
          <a:stretch>
            <a:fillRect/>
          </a:stretch>
        </p:blipFill>
        <p:spPr>
          <a:xfrm>
            <a:off x="1143000" y="3302000"/>
            <a:ext cx="762000" cy="4572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057400" y="3251200"/>
            <a:ext cx="1905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49" name="Oval 48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pic>
        <p:nvPicPr>
          <p:cNvPr id="61" name="Picture 60" descr="v6_6c17f9f128.jpg"/>
          <p:cNvPicPr>
            <a:picLocks noChangeAspect="1"/>
          </p:cNvPicPr>
          <p:nvPr/>
        </p:nvPicPr>
        <p:blipFill>
          <a:blip r:embed="rId8"/>
          <a:srcRect b="9605"/>
          <a:stretch>
            <a:fillRect/>
          </a:stretch>
        </p:blipFill>
        <p:spPr>
          <a:xfrm>
            <a:off x="1143000" y="3937000"/>
            <a:ext cx="762000" cy="4572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057400" y="3886200"/>
            <a:ext cx="1905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3" name="Oval 62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pic>
        <p:nvPicPr>
          <p:cNvPr id="75" name="Picture 74" descr="v6_8b437e2f48.jpg"/>
          <p:cNvPicPr>
            <a:picLocks noChangeAspect="1"/>
          </p:cNvPicPr>
          <p:nvPr/>
        </p:nvPicPr>
        <p:blipFill>
          <a:blip r:embed="rId9"/>
          <a:srcRect t="4016" b="14016"/>
          <a:stretch>
            <a:fillRect/>
          </a:stretch>
        </p:blipFill>
        <p:spPr>
          <a:xfrm>
            <a:off x="1143000" y="4572000"/>
            <a:ext cx="762000" cy="4572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057400" y="4521200"/>
            <a:ext cx="1905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77" name="Oval 76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pic>
        <p:nvPicPr>
          <p:cNvPr id="89" name="Picture 88" descr="v6_b6694edb9e.jpg"/>
          <p:cNvPicPr>
            <a:picLocks noChangeAspect="1"/>
          </p:cNvPicPr>
          <p:nvPr/>
        </p:nvPicPr>
        <p:blipFill>
          <a:blip r:embed="rId10"/>
          <a:srcRect l="3125" r="3125"/>
          <a:stretch>
            <a:fillRect/>
          </a:stretch>
        </p:blipFill>
        <p:spPr>
          <a:xfrm>
            <a:off x="1143000" y="5207000"/>
            <a:ext cx="762000" cy="4572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2057400" y="5156200"/>
            <a:ext cx="1905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1" name="Oval 90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1" name="Picture 100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90%+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and macro eNB supplier lists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 (below)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838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a_e8b6d055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8176" y="4826000"/>
            <a:ext cx="3899647" cy="736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martphon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4" name="Picture 53" descr="server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57" name="Picture 56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59" name="Picture 58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1" name="Picture 60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6" name="Picture 65" descr="networ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0" name="Picture 69" descr="handshake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  ·  GERMANY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450connect: one nationwide 450 MHz network, shared by Germany’s utilities</a:t>
            </a:r>
          </a:p>
        </p:txBody>
      </p:sp>
      <p:pic>
        <p:nvPicPr>
          <p:cNvPr id="10" name="Picture 9" descr="v6_f102d88041.jpg"/>
          <p:cNvPicPr>
            <a:picLocks noChangeAspect="1"/>
          </p:cNvPicPr>
          <p:nvPr/>
        </p:nvPicPr>
        <p:blipFill>
          <a:blip r:embed="rId2"/>
          <a:srcRect l="19875" r="23875"/>
          <a:stretch>
            <a:fillRect/>
          </a:stretch>
        </p:blipFill>
        <p:spPr>
          <a:xfrm>
            <a:off x="609600" y="1549400"/>
            <a:ext cx="3429000" cy="406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292600"/>
            <a:ext cx="3429000" cy="1320800"/>
          </a:xfrm>
          <a:prstGeom prst="rect">
            <a:avLst/>
          </a:prstGeom>
          <a:solidFill>
            <a:srgbClr val="0B308E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419600"/>
            <a:ext cx="2921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8CC63F"/>
                </a:solidFill>
                <a:latin typeface="Segoe UI Semibold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597400"/>
            <a:ext cx="1524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200" b="0">
                <a:solidFill>
                  <a:srgbClr val="FFFFFF"/>
                </a:solidFill>
                <a:latin typeface="Segoe UI Light"/>
              </a:rPr>
              <a:t>90%+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4400" y="4648200"/>
            <a:ext cx="17272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of Germany’s area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by Q4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2324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Band 72  ·  2×4.74 MHz  ·  licence to 2040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6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328" y="1900427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56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6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sites live (Oct 2025), ~1,600 planned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6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1900427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39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10,000+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9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substations connected (Feb 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46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328" y="294182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56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6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energy and water utilities behind it, via 4 equal shareholders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6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2941828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39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72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9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battery backup; data plus MCPTT voice with dispatch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36322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46600" y="38735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328" y="3983228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156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Nokia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6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radio, core, backhaul and power backup; O&amp;M to 2040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6400" y="3632200"/>
            <a:ext cx="3556000" cy="939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3873500"/>
            <a:ext cx="457200" cy="4572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smartpho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3983228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9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7F9B00"/>
                </a:solidFill>
                <a:latin typeface="Segoe UI Light"/>
              </a:rPr>
              <a:t>PNC660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9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Hytera handheld whitelisted (announced MWC 2026)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4749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FROM LICENCE TO NETWORK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04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Nov 2020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04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Band reserved for energy &amp;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595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65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Mar 2021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65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Licence awarded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756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26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Oct 2025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26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1,000 sites, 90% area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917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187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Nationwide target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0" name="Picture 59" descr="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operator, one network, many utility customers — and no consumer service.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Bundesnetzagentur (Mar 2021); Nokia (Feb 2022); 450connect press releases (Feb 2025, Oct 2025, Feb 2026); 50komma2 (Feb 2026); Hytera MWC 2026. Photo © Westfalen Weser Netz GmbH, via 450connect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90%+ area (Q4 2025)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25600"/>
            <a:ext cx="812800" cy="812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a_7405c6d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8" y="1663700"/>
            <a:ext cx="526142" cy="736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51000" y="1651000"/>
            <a:ext cx="2235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000" y="2006600"/>
            <a:ext cx="2235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5" name="Picture 14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95800" y="1625600"/>
            <a:ext cx="812800" cy="812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a_c40f5594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805" y="1663700"/>
            <a:ext cx="470789" cy="736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1000" y="1651000"/>
            <a:ext cx="2235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000" y="2006600"/>
            <a:ext cx="2235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21" name="Picture 20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v6_13015b8219.jpg"/>
          <p:cNvPicPr>
            <a:picLocks noChangeAspect="1"/>
          </p:cNvPicPr>
          <p:nvPr/>
        </p:nvPicPr>
        <p:blipFill>
          <a:blip r:embed="rId5"/>
          <a:srcRect l="21875" r="21875"/>
          <a:stretch>
            <a:fillRect/>
          </a:stretch>
        </p:blipFill>
        <p:spPr>
          <a:xfrm>
            <a:off x="8305800" y="1625600"/>
            <a:ext cx="812800" cy="812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71000" y="1651000"/>
            <a:ext cx="2235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1000" y="2006600"/>
            <a:ext cx="2235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9" name="Picture 38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9" name="Picture 48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4" name="Picture 53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