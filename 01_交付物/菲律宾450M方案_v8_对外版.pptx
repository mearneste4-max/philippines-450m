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1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20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16.png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20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37.png"/><Relationship Id="rId4" Type="http://schemas.openxmlformats.org/officeDocument/2006/relationships/image" Target="../media/image45.png"/><Relationship Id="rId5" Type="http://schemas.openxmlformats.org/officeDocument/2006/relationships/image" Target="../media/image49.png"/><Relationship Id="rId6" Type="http://schemas.openxmlformats.org/officeDocument/2006/relationships/image" Target="../media/image43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38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9.png"/><Relationship Id="rId4" Type="http://schemas.openxmlformats.org/officeDocument/2006/relationships/image" Target="../media/image53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40.png"/><Relationship Id="rId4" Type="http://schemas.openxmlformats.org/officeDocument/2006/relationships/image" Target="../media/image44.png"/><Relationship Id="rId5" Type="http://schemas.openxmlformats.org/officeDocument/2006/relationships/image" Target="../media/image55.png"/><Relationship Id="rId6" Type="http://schemas.openxmlformats.org/officeDocument/2006/relationships/image" Target="../media/image58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image" Target="../media/image41.png"/><Relationship Id="rId4" Type="http://schemas.openxmlformats.org/officeDocument/2006/relationships/image" Target="../media/image44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8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16.png"/><Relationship Id="rId11" Type="http://schemas.openxmlformats.org/officeDocument/2006/relationships/image" Target="../media/image46.png"/><Relationship Id="rId1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Relationship Id="rId4" Type="http://schemas.openxmlformats.org/officeDocument/2006/relationships/image" Target="../media/image8.png"/><Relationship Id="rId5" Type="http://schemas.openxmlformats.org/officeDocument/2006/relationships/image" Target="../media/image68.png"/><Relationship Id="rId6" Type="http://schemas.openxmlformats.org/officeDocument/2006/relationships/image" Target="../media/image66.png"/><Relationship Id="rId7" Type="http://schemas.openxmlformats.org/officeDocument/2006/relationships/image" Target="../media/image69.png"/><Relationship Id="rId8" Type="http://schemas.openxmlformats.org/officeDocument/2006/relationships/image" Target="../media/image16.png"/><Relationship Id="rId9" Type="http://schemas.openxmlformats.org/officeDocument/2006/relationships/image" Target="../media/image56.png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image" Target="../media/image8.png"/><Relationship Id="rId4" Type="http://schemas.openxmlformats.org/officeDocument/2006/relationships/image" Target="../media/image71.png"/><Relationship Id="rId5" Type="http://schemas.openxmlformats.org/officeDocument/2006/relationships/image" Target="../media/image9.png"/><Relationship Id="rId6" Type="http://schemas.openxmlformats.org/officeDocument/2006/relationships/image" Target="../media/image20.png"/><Relationship Id="rId7" Type="http://schemas.openxmlformats.org/officeDocument/2006/relationships/image" Target="../media/image72.png"/><Relationship Id="rId8" Type="http://schemas.openxmlformats.org/officeDocument/2006/relationships/image" Target="../media/image18.png"/><Relationship Id="rId9" Type="http://schemas.openxmlformats.org/officeDocument/2006/relationships/image" Target="../media/image32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16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jpg"/><Relationship Id="rId9" Type="http://schemas.openxmlformats.org/officeDocument/2006/relationships/image" Target="../media/image79.jpg"/><Relationship Id="rId10" Type="http://schemas.openxmlformats.org/officeDocument/2006/relationships/image" Target="../media/image80.jpg"/><Relationship Id="rId1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63.png"/><Relationship Id="rId4" Type="http://schemas.openxmlformats.org/officeDocument/2006/relationships/image" Target="../media/image8.png"/><Relationship Id="rId5" Type="http://schemas.openxmlformats.org/officeDocument/2006/relationships/image" Target="../media/image82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66.png"/><Relationship Id="rId9" Type="http://schemas.openxmlformats.org/officeDocument/2006/relationships/image" Target="../media/image18.png"/><Relationship Id="rId10" Type="http://schemas.openxmlformats.org/officeDocument/2006/relationships/image" Target="../media/image71.png"/><Relationship Id="rId11" Type="http://schemas.openxmlformats.org/officeDocument/2006/relationships/image" Target="../media/image38.png"/><Relationship Id="rId12" Type="http://schemas.openxmlformats.org/officeDocument/2006/relationships/image" Target="../media/image21.png"/><Relationship Id="rId1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5.png"/><Relationship Id="rId8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7 – 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15 – 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20 – 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scarce low band, best spent on B2B and B2G, not on consumer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WHY NOT CONSUMER: THE CHANNEL IS NARROW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854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450 MHz (Band 31 / 72)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2070100"/>
            <a:ext cx="190500" cy="177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044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≈ 2×5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362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LTE carrier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578100"/>
            <a:ext cx="762000" cy="1778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3200" y="2552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870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5G carrier (3.5 GHz)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086100"/>
            <a:ext cx="3810000" cy="177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200" y="3060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100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403600"/>
            <a:ext cx="48768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One 450 MHz cell covers a very large area, so this narrow channel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is shared by far more users than a mid-band cell.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987800"/>
            <a:ext cx="2362200" cy="1651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600" y="3987800"/>
            <a:ext cx="23622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140200"/>
            <a:ext cx="228600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684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FITS: B2B AND B2G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Power, water, oil &amp; gas, 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Emergency and public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IoT, SCADA, MCPTT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24200" y="3987800"/>
            <a:ext cx="2362200" cy="1651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24200" y="3987800"/>
            <a:ext cx="2362200" cy="50800"/>
          </a:xfrm>
          <a:prstGeom prst="rect">
            <a:avLst/>
          </a:prstGeom>
          <a:solidFill>
            <a:srgbClr val="5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info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400" y="4140200"/>
            <a:ext cx="228600" cy="228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6830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55607A"/>
                </a:solidFill>
                <a:latin typeface="Segoe UI Semibold"/>
              </a:rPr>
              <a:t>NOT FOR CONSUMERS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74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Smartphone internet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74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Video streaming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274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Home broadband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THREE MORE REASONS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185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94400" y="214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8512" y="2280412"/>
            <a:ext cx="290576" cy="29057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756400" y="198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No consumer handsets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56400" y="228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Mainstream smartphones do not support Band 31 or 72. Devices are routers, meters and rugged handhelds.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91200" y="312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994400" y="341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3" name="Picture 42" descr="badge-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8512" y="3550412"/>
            <a:ext cx="290576" cy="29057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6400" y="325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Licensed for critical infrastructure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56400" y="355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Germany reserved the band for energy and water; Singapore for public safety; South Africa for rail.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91200" y="439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994400" y="468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12" y="4820412"/>
            <a:ext cx="290576" cy="29057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756400" y="452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Built for resilience, not consumer cost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56400" y="482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Sites carry long backup power (72 h at 450connect) and priority for mission-critical traffic.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info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Market signal: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Norway’s ice began moving its 450 MHz consumer users to industrial service in 2024.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3GPP LTE / NR channel bandwidths; Bundesnetzagentur (Nov 2020, Mar 2021); 450 MHz Alliance, Equipment Report (May 2025) p4-p5; Annual Global Update (Dec 2025) p6-p9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90%+ area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c40f5594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966" y="2235200"/>
            <a:ext cx="698066" cy="1092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Fixed site  ·  RRU5800M</a:t>
            </a:r>
          </a:p>
        </p:txBody>
      </p:sp>
      <p:pic>
        <p:nvPicPr>
          <p:cNvPr id="36" name="Picture 35" descr="a_81c7398a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2325" y="2235200"/>
            <a:ext cx="811348" cy="109219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Mobile site  ·  iBS3800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RRU5800M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on tower, Band 31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BBU5801M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baseband in shelter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iBS3800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mobile, Band 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RRU5800M Product Description V3.5.01 §6.5; iBS3800 Product Description V3.0; MNC650 EU DoC (B31/B72); HyTalk MC V6.1; Alliance Equipment Report (May 2025) p5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supplier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macro eNB supplier 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2800" y="4889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432" y="4993132"/>
            <a:ext cx="224536" cy="224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22400" y="48514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400" y="51181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4" name="Picture 43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server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60" name="Picture 59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62" name="Picture 61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4" name="Picture 63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6" name="Picture 65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9" name="Picture 68" descr="networ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3" name="Picture 72" descr="handshak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  ·  GERMANY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450connect: one nationwide 450 MHz network, shared by Germany’s utilities</a:t>
            </a:r>
          </a:p>
        </p:txBody>
      </p:sp>
      <p:pic>
        <p:nvPicPr>
          <p:cNvPr id="10" name="Picture 9" descr="v6_f102d88041.jpg"/>
          <p:cNvPicPr>
            <a:picLocks noChangeAspect="1"/>
          </p:cNvPicPr>
          <p:nvPr/>
        </p:nvPicPr>
        <p:blipFill>
          <a:blip r:embed="rId2"/>
          <a:srcRect l="19875" r="23875"/>
          <a:stretch>
            <a:fillRect/>
          </a:stretch>
        </p:blipFill>
        <p:spPr>
          <a:xfrm>
            <a:off x="609600" y="1549400"/>
            <a:ext cx="3429000" cy="4064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292600"/>
            <a:ext cx="3429000" cy="1320800"/>
          </a:xfrm>
          <a:prstGeom prst="rect">
            <a:avLst/>
          </a:prstGeom>
          <a:solidFill>
            <a:srgbClr val="0B308E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4419600"/>
            <a:ext cx="2921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8CC63F"/>
                </a:solidFill>
                <a:latin typeface="Segoe UI Semibold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4597400"/>
            <a:ext cx="1524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200" b="0">
                <a:solidFill>
                  <a:srgbClr val="FFFFFF"/>
                </a:solidFill>
                <a:latin typeface="Segoe UI Light"/>
              </a:rPr>
              <a:t>90%+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4400" y="4648200"/>
            <a:ext cx="17272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of Germany’s area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by Q4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52324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Segoe UI Semibold"/>
              </a:rPr>
              <a:t>Band 72  ·  2×4.74 MHz  ·  licence to 2040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6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6328" y="1900427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56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6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sites live (Oct 2025), ~1,600 planned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6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pu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1900427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839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10,000+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9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substations connected (Feb 2026)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46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us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6328" y="2941828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56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6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energy and water utilities behind it, via 4 equal shareholders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6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2941828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39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72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9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battery backup; data plus MCPTT voice with dispatch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36322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46600" y="38735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erve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6328" y="3983228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156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Nokia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56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radio, core, backhaul and power backup; O&amp;M to 2040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26400" y="3632200"/>
            <a:ext cx="3556000" cy="939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600" y="3873500"/>
            <a:ext cx="457200" cy="4572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3" name="Picture 42" descr="smartphon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9328" y="3983228"/>
            <a:ext cx="237744" cy="23774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839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7F9B00"/>
                </a:solidFill>
                <a:latin typeface="Segoe UI Light"/>
              </a:rPr>
              <a:t>PNC660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9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Hytera handheld whitelisted (announced MWC 2026)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47498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FROM LICENCE TO NETWORK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434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04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Nov 2020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04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Band reserved for energy &amp;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595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65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Mar 2021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865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Licence awarded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756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26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Oct 2025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26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1,000 sites, 90% area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917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187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187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Nationwide target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0" name="Picture 59" descr="chec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operator, one network, many utility customers — and no consumer service.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Bundesnetzagentur (Mar 2021); Nokia (Feb 2022); 450connect press releases (Feb 2025, Oct 2025, Feb 2026); 50komma2 (Feb 2026); Hytera MWC 2026. Photo © Westfalen Weser Netz GmbH, via 450connect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90%+ area (Q4 2025)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9add975c86.jpg"/>
          <p:cNvPicPr>
            <a:picLocks noChangeAspect="1"/>
          </p:cNvPicPr>
          <p:nvPr/>
        </p:nvPicPr>
        <p:blipFill>
          <a:blip r:embed="rId9"/>
          <a:srcRect t="33" b="3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PNG photo is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