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  <p:sldId id="276" r:id="rId27"/>
    <p:sldId id="277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24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23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Relationship Id="rId10" Type="http://schemas.openxmlformats.org/officeDocument/2006/relationships/image" Target="../media/image44.png"/><Relationship Id="rId11" Type="http://schemas.openxmlformats.org/officeDocument/2006/relationships/image" Target="../media/image16.png"/><Relationship Id="rId1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23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image" Target="../media/image40.png"/><Relationship Id="rId4" Type="http://schemas.openxmlformats.org/officeDocument/2006/relationships/image" Target="../media/image47.png"/><Relationship Id="rId5" Type="http://schemas.openxmlformats.org/officeDocument/2006/relationships/image" Target="../media/image51.png"/><Relationship Id="rId6" Type="http://schemas.openxmlformats.org/officeDocument/2006/relationships/image" Target="../media/image45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4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image" Target="../media/image42.png"/><Relationship Id="rId4" Type="http://schemas.openxmlformats.org/officeDocument/2006/relationships/image" Target="../media/image54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image" Target="../media/image43.png"/><Relationship Id="rId4" Type="http://schemas.openxmlformats.org/officeDocument/2006/relationships/image" Target="../media/image46.png"/><Relationship Id="rId5" Type="http://schemas.openxmlformats.org/officeDocument/2006/relationships/image" Target="../media/image56.png"/><Relationship Id="rId6" Type="http://schemas.openxmlformats.org/officeDocument/2006/relationships/image" Target="../media/image59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44.png"/><Relationship Id="rId4" Type="http://schemas.openxmlformats.org/officeDocument/2006/relationships/image" Target="../media/image46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8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16.png"/><Relationship Id="rId11" Type="http://schemas.openxmlformats.org/officeDocument/2006/relationships/image" Target="../media/image48.png"/><Relationship Id="rId1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68.png"/><Relationship Id="rId5" Type="http://schemas.openxmlformats.org/officeDocument/2006/relationships/image" Target="../media/image66.png"/><Relationship Id="rId6" Type="http://schemas.openxmlformats.org/officeDocument/2006/relationships/image" Target="../media/image69.png"/><Relationship Id="rId7" Type="http://schemas.openxmlformats.org/officeDocument/2006/relationships/image" Target="../media/image21.png"/><Relationship Id="rId8" Type="http://schemas.openxmlformats.org/officeDocument/2006/relationships/image" Target="../media/image70.png"/><Relationship Id="rId9" Type="http://schemas.openxmlformats.org/officeDocument/2006/relationships/image" Target="../media/image16.png"/><Relationship Id="rId10" Type="http://schemas.openxmlformats.org/officeDocument/2006/relationships/image" Target="../media/image57.png"/><Relationship Id="rId11" Type="http://schemas.openxmlformats.org/officeDocument/2006/relationships/image" Target="../media/image12.png"/><Relationship Id="rId1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image" Target="../media/image8.png"/><Relationship Id="rId4" Type="http://schemas.openxmlformats.org/officeDocument/2006/relationships/image" Target="../media/image72.png"/><Relationship Id="rId5" Type="http://schemas.openxmlformats.org/officeDocument/2006/relationships/image" Target="../media/image9.png"/><Relationship Id="rId6" Type="http://schemas.openxmlformats.org/officeDocument/2006/relationships/image" Target="../media/image23.png"/><Relationship Id="rId7" Type="http://schemas.openxmlformats.org/officeDocument/2006/relationships/image" Target="../media/image73.png"/><Relationship Id="rId8" Type="http://schemas.openxmlformats.org/officeDocument/2006/relationships/image" Target="../media/image21.png"/><Relationship Id="rId9" Type="http://schemas.openxmlformats.org/officeDocument/2006/relationships/image" Target="../media/image35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image" Target="../media/image16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Relationship Id="rId8" Type="http://schemas.openxmlformats.org/officeDocument/2006/relationships/image" Target="../media/image79.jpg"/><Relationship Id="rId9" Type="http://schemas.openxmlformats.org/officeDocument/2006/relationships/image" Target="../media/image80.jpg"/><Relationship Id="rId10" Type="http://schemas.openxmlformats.org/officeDocument/2006/relationships/image" Target="../media/image81.jpg"/><Relationship Id="rId11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63.png"/><Relationship Id="rId4" Type="http://schemas.openxmlformats.org/officeDocument/2006/relationships/image" Target="../media/image8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Relationship Id="rId7" Type="http://schemas.openxmlformats.org/officeDocument/2006/relationships/image" Target="../media/image85.png"/><Relationship Id="rId8" Type="http://schemas.openxmlformats.org/officeDocument/2006/relationships/image" Target="../media/image66.png"/><Relationship Id="rId9" Type="http://schemas.openxmlformats.org/officeDocument/2006/relationships/image" Target="../media/image21.png"/><Relationship Id="rId10" Type="http://schemas.openxmlformats.org/officeDocument/2006/relationships/image" Target="../media/image72.png"/><Relationship Id="rId11" Type="http://schemas.openxmlformats.org/officeDocument/2006/relationships/image" Target="../media/image41.png"/><Relationship Id="rId12" Type="http://schemas.openxmlformats.org/officeDocument/2006/relationships/image" Target="../media/image24.png"/><Relationship Id="rId1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86.png"/><Relationship Id="rId8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7 – 14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15 – 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20 – 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scarce low band, best spent on B2B and B2G, not on consumer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WHY NOT CONSUMER: THE CHANNEL IS NARROW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854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450 MHz (Band 31 / 72)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2070100"/>
            <a:ext cx="190500" cy="177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" y="2044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≈ 2×5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362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LTE carrier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578100"/>
            <a:ext cx="762000" cy="1778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3200" y="2552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 MHz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870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5G carrier (3.5 GHz)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086100"/>
            <a:ext cx="3810000" cy="177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1200" y="3060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100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403600"/>
            <a:ext cx="48768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One 450 MHz cell covers a very large area, so this narrow channel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is shared by far more users than a mid-band cell.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987800"/>
            <a:ext cx="2362200" cy="1651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600" y="3987800"/>
            <a:ext cx="23622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4140200"/>
            <a:ext cx="228600" cy="228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684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FITS: B2B AND B2G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Power, water, oil &amp; gas, 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Emergency and public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IoT, SCADA, MCPTT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24200" y="3987800"/>
            <a:ext cx="2362200" cy="1651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24200" y="3987800"/>
            <a:ext cx="2362200" cy="50800"/>
          </a:xfrm>
          <a:prstGeom prst="rect">
            <a:avLst/>
          </a:prstGeom>
          <a:solidFill>
            <a:srgbClr val="5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info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400" y="4140200"/>
            <a:ext cx="228600" cy="228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6830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55607A"/>
                </a:solidFill>
                <a:latin typeface="Segoe UI Semibold"/>
              </a:rPr>
              <a:t>NOT FOR CONSUMERS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74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Smartphone internet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274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Video streaming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274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Home broadband</a:t>
            </a:r>
          </a:p>
        </p:txBody>
      </p:sp>
      <p:pic>
        <p:nvPicPr>
          <p:cNvPr id="35" name="Picture 34" descr="v6_13015b8219.jpg"/>
          <p:cNvPicPr>
            <a:picLocks noChangeAspect="1"/>
          </p:cNvPicPr>
          <p:nvPr/>
        </p:nvPicPr>
        <p:blipFill>
          <a:blip r:embed="rId4"/>
          <a:srcRect l="12835" r="12835"/>
          <a:stretch>
            <a:fillRect/>
          </a:stretch>
        </p:blipFill>
        <p:spPr>
          <a:xfrm>
            <a:off x="5791200" y="1549400"/>
            <a:ext cx="1879600" cy="14224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892800" y="2590800"/>
            <a:ext cx="937260" cy="254000"/>
          </a:xfrm>
          <a:prstGeom prst="round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92800" y="2590800"/>
            <a:ext cx="93726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Segoe UI Semibold"/>
              </a:rPr>
              <a:t>Utilities</a:t>
            </a:r>
          </a:p>
        </p:txBody>
      </p:sp>
      <p:pic>
        <p:nvPicPr>
          <p:cNvPr id="38" name="Picture 37" descr="v6_4589fbbd86.jpg"/>
          <p:cNvPicPr>
            <a:picLocks noChangeAspect="1"/>
          </p:cNvPicPr>
          <p:nvPr/>
        </p:nvPicPr>
        <p:blipFill>
          <a:blip r:embed="rId5"/>
          <a:srcRect l="5980" r="5980"/>
          <a:stretch>
            <a:fillRect/>
          </a:stretch>
        </p:blipFill>
        <p:spPr>
          <a:xfrm>
            <a:off x="7747000" y="1549400"/>
            <a:ext cx="1879600" cy="142240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7848600" y="2590800"/>
            <a:ext cx="1252220" cy="254000"/>
          </a:xfrm>
          <a:prstGeom prst="round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48600" y="2590800"/>
            <a:ext cx="125222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Segoe UI Semibold"/>
              </a:rPr>
              <a:t>Public safety</a:t>
            </a:r>
          </a:p>
        </p:txBody>
      </p:sp>
      <p:pic>
        <p:nvPicPr>
          <p:cNvPr id="41" name="Picture 40" descr="v6_b6694edb9e.jpg"/>
          <p:cNvPicPr>
            <a:picLocks noChangeAspect="1"/>
          </p:cNvPicPr>
          <p:nvPr/>
        </p:nvPicPr>
        <p:blipFill>
          <a:blip r:embed="rId6"/>
          <a:srcRect l="12835" r="12835"/>
          <a:stretch>
            <a:fillRect/>
          </a:stretch>
        </p:blipFill>
        <p:spPr>
          <a:xfrm>
            <a:off x="9702800" y="1549400"/>
            <a:ext cx="1879600" cy="1422400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9804400" y="2590800"/>
            <a:ext cx="937260" cy="254000"/>
          </a:xfrm>
          <a:prstGeom prst="round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04400" y="2590800"/>
            <a:ext cx="93726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Segoe UI Semibold"/>
              </a:rPr>
              <a:t>Transport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91200" y="30988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THREE MORE REASONS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91200" y="3352800"/>
            <a:ext cx="5791200" cy="7112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994400" y="34925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smartphon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8032" y="3596132"/>
            <a:ext cx="224536" cy="22453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604000" y="3429000"/>
            <a:ext cx="4775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 consumer handsets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04000" y="3695700"/>
            <a:ext cx="477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Phones lack Band 31/72; devices are routers, meters, rugged handhelds.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91200" y="4140200"/>
            <a:ext cx="5791200" cy="7112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94400" y="4279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badge-check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8032" y="4383532"/>
            <a:ext cx="224536" cy="22453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04000" y="4216400"/>
            <a:ext cx="4775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Licensed for critical infrastructure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04000" y="4483100"/>
            <a:ext cx="477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Germany: energy &amp; water. Singapore: public safety. South Africa: rail.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91200" y="4927600"/>
            <a:ext cx="5791200" cy="7112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994400" y="5067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zap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8032" y="5170932"/>
            <a:ext cx="224536" cy="22453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604000" y="5003800"/>
            <a:ext cx="4775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Built for resilience, not consumer cost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04000" y="5270500"/>
            <a:ext cx="477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Long backup power (72 h at 450connect) and mission-critical priority.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Market signal: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Norway’s ice began moving its 450 MHz consumer users to industrial service in 2024.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3GPP LTE / NR channel bandwidths; Bundesnetzagentur (Nov 2020, Mar 2021); 450 MHz Alliance, Equipment Report (May 2025) p4-p5; Annual Global Update (Dec 2025) p6-p9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2.35 GHZ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90%+ area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c40f5594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4966" y="2235200"/>
            <a:ext cx="698066" cy="1092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Fixed site  ·  RRU5800M</a:t>
            </a:r>
          </a:p>
        </p:txBody>
      </p:sp>
      <p:pic>
        <p:nvPicPr>
          <p:cNvPr id="36" name="Picture 35" descr="a_81c7398a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2325" y="2235200"/>
            <a:ext cx="811348" cy="109219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Mobile site  ·  iBS3800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RRU5800M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on tower, Band 31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BBU5801M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baseband in shelter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iBS3800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mobile, Band 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RRU5800M Product Description V3.5.01 §6.5; iBS3800 Product Description V3.0; MNC650 EU DoC (B31/B72); HyTalk MC V6.1; Alliance Equipment Report (May 2025) p5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ECOSYSTEM AND COMPATIBILITY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450 MHz Alliance member, built to plug into the network Globe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IN THE 450 MHZ ECOSYSTEM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4876800" cy="6604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943100"/>
            <a:ext cx="431800" cy="431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adge-che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32" y="2046732"/>
            <a:ext cx="224536" cy="224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22400" y="19050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450 MHz Alliance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1717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Joined August 2024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5654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2800" y="26797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32" y="2783332"/>
            <a:ext cx="224536" cy="224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26416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device and macro eNB supplier lists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29083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3020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800" y="3416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432" y="3519932"/>
            <a:ext cx="224536" cy="2245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22400" y="33782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Operator-accepted terminal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2400" y="36449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450connect whitelist, Germany (below)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0386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2800" y="4152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lay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432" y="4256532"/>
            <a:ext cx="224536" cy="224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22400" y="41148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Band 31 and Band 72 portfolio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2400" y="43815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Terminals, eNB and MCS platform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775200"/>
            <a:ext cx="4876800" cy="838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a_e8b6d055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8176" y="4826000"/>
            <a:ext cx="3899647" cy="7366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COMPATIBLE BY DESIGN  ·  3GPP STANDARD INTERFACES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91200" y="18288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smartphon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2057400"/>
            <a:ext cx="304800" cy="304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350000" y="18288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terminals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924800" y="22098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178800" y="20701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78800" y="20701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LTE Uu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91200" y="27432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1" name="Picture 40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971800"/>
            <a:ext cx="304800" cy="3048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350000" y="27432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450 MHz eNB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924800" y="31242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178800" y="29845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8800" y="29845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91200" y="36576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lay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3886200"/>
            <a:ext cx="304800" cy="3048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350000" y="36576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MCS platform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924800" y="40386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178800" y="38989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800" y="38989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SIP / MCX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48800" y="1828800"/>
            <a:ext cx="2133600" cy="2590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48800" y="1828800"/>
            <a:ext cx="2133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4" name="Picture 53" descr="server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2057400"/>
            <a:ext cx="381000" cy="381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652000" y="2514600"/>
            <a:ext cx="1778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Globe’s existing core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52000" y="3022600"/>
            <a:ext cx="1778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EPC / 5GC from</a:t>
            </a:r>
          </a:p>
        </p:txBody>
      </p:sp>
      <p:pic>
        <p:nvPicPr>
          <p:cNvPr id="57" name="Picture 56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3327400"/>
            <a:ext cx="152400" cy="1524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880600" y="3276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Huawei</a:t>
            </a:r>
          </a:p>
        </p:txBody>
      </p:sp>
      <p:pic>
        <p:nvPicPr>
          <p:cNvPr id="59" name="Picture 58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3581400"/>
            <a:ext cx="152400" cy="1524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9880600" y="3530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ZTE</a:t>
            </a:r>
          </a:p>
        </p:txBody>
      </p:sp>
      <p:pic>
        <p:nvPicPr>
          <p:cNvPr id="61" name="Picture 60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3835400"/>
            <a:ext cx="152400" cy="152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880600" y="3784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Nokia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4089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9880600" y="4038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Ericsson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791200" y="4597400"/>
            <a:ext cx="5791200" cy="838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6" name="Picture 65" descr="networ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4400" y="4826000"/>
            <a:ext cx="381000" cy="3810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527800" y="4673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Multi-vendor by standard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27800" y="50038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The Alliance’s eNB list itself spans Ericsson, Huawei, Hytera, Nokia and ZTE.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0" name="Picture 69" descr="handshake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add Hytera radio and terminals without replacing the core you run today. Interoperability is verified per project.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news release (Aug 2024); 450 MHz Alliance, Equipment Report (May 2025) p5 §4.1-4.2; 450connect whitelist; 3GPP TS 36.300 / 36.413 / 23.280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  ·  GERMANY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450connect: one nationwide 450 MHz network, shared by Germany’s utilities</a:t>
            </a:r>
          </a:p>
        </p:txBody>
      </p:sp>
      <p:pic>
        <p:nvPicPr>
          <p:cNvPr id="10" name="Picture 9" descr="v6_f102d88041.jpg"/>
          <p:cNvPicPr>
            <a:picLocks noChangeAspect="1"/>
          </p:cNvPicPr>
          <p:nvPr/>
        </p:nvPicPr>
        <p:blipFill>
          <a:blip r:embed="rId2"/>
          <a:srcRect l="19875" r="23875"/>
          <a:stretch>
            <a:fillRect/>
          </a:stretch>
        </p:blipFill>
        <p:spPr>
          <a:xfrm>
            <a:off x="609600" y="1549400"/>
            <a:ext cx="3429000" cy="4064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292600"/>
            <a:ext cx="3429000" cy="1320800"/>
          </a:xfrm>
          <a:prstGeom prst="rect">
            <a:avLst/>
          </a:prstGeom>
          <a:solidFill>
            <a:srgbClr val="0B308E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4419600"/>
            <a:ext cx="2921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8CC63F"/>
                </a:solidFill>
                <a:latin typeface="Segoe UI Semibold"/>
              </a:rPr>
              <a:t>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4597400"/>
            <a:ext cx="1524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200" b="0">
                <a:solidFill>
                  <a:srgbClr val="FFFFFF"/>
                </a:solidFill>
                <a:latin typeface="Segoe UI Light"/>
              </a:rPr>
              <a:t>90%+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4400" y="4648200"/>
            <a:ext cx="17272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DCE5F3"/>
                </a:solidFill>
                <a:latin typeface="Segoe UI"/>
              </a:rPr>
              <a:t>of Germany’s area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DCE5F3"/>
                </a:solidFill>
                <a:latin typeface="Segoe UI"/>
              </a:rPr>
              <a:t>by Q4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52324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Segoe UI Semibold"/>
              </a:rPr>
              <a:t>Band 72  ·  2×4.74 MHz  ·  licence to 2040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46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6328" y="1900427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56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6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sites live (Oct 2025), ~1,600 planned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6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pu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1900427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839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10,000+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9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substations connected (Feb 2026)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46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us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6328" y="2941828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56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6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energy and water utilities behind it, via 4 equal shareholders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6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za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9328" y="2941828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839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72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9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battery backup; data plus MCPTT voice with dispatch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36322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46600" y="38735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erver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6328" y="3983228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156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Nokia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56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radio, core, backhaul and power backup; O&amp;M to 2040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26400" y="3632200"/>
            <a:ext cx="3556000" cy="939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600" y="3873500"/>
            <a:ext cx="457200" cy="4572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3" name="Picture 42" descr="smartphon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9328" y="3983228"/>
            <a:ext cx="237744" cy="23774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839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7F9B00"/>
                </a:solidFill>
                <a:latin typeface="Segoe UI Light"/>
              </a:rPr>
              <a:t>PNC660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9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Hytera handheld whitelisted (announced MWC 2026)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3400" y="47498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FROM LICENCE TO NETWORK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434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704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Nov 2020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04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Band reserved for energy &amp;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595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65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Mar 2021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865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Licence awarded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756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26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Oct 2025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26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1,000 sites, 90% area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917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187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187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Nationwide target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0" name="Picture 59" descr="chec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operator, one network, many utility customers — and no consumer service.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Bundesnetzagentur (Mar 2021); Nokia (Feb 2022); 450connect press releases (Feb 2025, Oct 2025, Feb 2026); 50komma2 (Feb 2026); Hytera MWC 2026. Photo © Westfalen Weser Netz GmbH, via 450connect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90%+ area (Q4 2025)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9add975c86.jpg"/>
          <p:cNvPicPr>
            <a:picLocks noChangeAspect="1"/>
          </p:cNvPicPr>
          <p:nvPr/>
        </p:nvPicPr>
        <p:blipFill>
          <a:blip r:embed="rId9"/>
          <a:srcRect t="33" b="3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PNG photo is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