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87603"/>
  </p:normalViewPr>
  <p:slideViewPr>
    <p:cSldViewPr snapToGrid="0">
      <p:cViewPr varScale="1">
        <p:scale>
          <a:sx n="110" d="100"/>
          <a:sy n="110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84660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47FDD-D38F-E8F5-8586-E9662854F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190AE4-F9E4-5FD9-42AF-9099DFB80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44CE86-5C68-32E7-D4E0-B2761B6C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1EA70-862F-65FC-F764-9F45D4A9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C33ED-5EBC-FA7B-0C38-EA39C46D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284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37B1B-511C-D4F8-7DF7-64EC8B6C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EBE62D-2664-56CB-82C4-04C33D46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467FE-6C09-037E-14DD-381C54D5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96919-FD4A-9072-7E35-742516F9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7BDBD7-22AF-728F-B452-8AA3C2EF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900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A9FEF-46D9-58A0-4123-77A3F86E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B04C57-B239-E772-614E-004D45A9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51A5B-944A-D7C3-E6C5-B7BA6FC4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9A231-E1D6-02E5-049E-13B6C93B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85DA2-F919-AB2D-F4AB-97443082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4538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9ECDE-D311-74B1-0F20-F87A6A7A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C9B88-FA6C-8ECF-D8A5-00CA3EDE0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993D3-8E45-B3B9-AB74-754EF2E7E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EEAE69-5CB6-4FFB-A05B-FAFE465F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47215C-0B7F-E4B7-5E41-E225FE47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F1607B-F95D-FA9A-48D0-AB90D6ED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959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9B30D-EF98-9776-0E67-87371B2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E8FDD7-C50E-7D11-4708-BD3BD0488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F05520-BEDD-DC89-EDB8-29A55A688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A41E8D-4EDE-E951-9249-16343C40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A15438-E2BC-3C49-A770-61F2058F0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69E29F-2CA3-451B-1588-22B05F1C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3E0C48-D0FC-01D7-EFB2-E342FFD1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2CF963-EAD2-D222-FE32-733BFF92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17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A2317-4DD0-7705-8F0E-9C1AE468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0B3C6B-F1F3-8087-82E4-22E777BF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57A2B-3769-94B4-A8DA-143705D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269BBB-3D3E-D5C1-373C-4AEBE84F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48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53ED18-81E5-087C-CE7B-D43178BA1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BD668C-C643-0734-3F58-28ECB6961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FAAAAD-C5EF-CB82-DA12-5DCCE44F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456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5AE71-64EC-7CAF-DCC1-AC7B7F25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341FA-757E-CC97-7EBF-8640D3A5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D92CD0-2012-EC24-D6A6-D8F0D6235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589081-6ADA-73DD-0406-D9080177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305348-185C-AEBE-DDBC-FA8F5835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34C1BA-03A9-E84F-1095-593ADDB3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374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198B2-5754-13F5-8B12-C9C8CBC4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5E2333-142C-3E91-91F4-A347E32A4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E17102-E033-CDC0-B618-299CC91D4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05AFF9-9891-A28B-4FBF-DFF53204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2270D-2426-270F-0336-B3337C39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A358EA-4E08-6B21-F095-EE06B953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961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A809F-C91F-7B47-8C12-D25BA362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4A7382-0CA7-7D8B-83FF-08EF76126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417F5-F88C-8CA1-E9BC-7CAC37C4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4339F-FA6A-38A9-D527-0FDC93D8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AB572A-7476-7FB5-9791-802D508D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728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63993-AF72-23D1-D01C-F973643BA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A46C64-EFAA-9A05-E2F3-ABC719457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2B8B04-FC76-CEC2-9550-07C425ADE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66A49-4F49-DA65-9C97-50D34FC9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331544-F576-56EF-205E-90A98A61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402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96E172E-41BA-F174-FF99-50C83FEBC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600" y="6136968"/>
            <a:ext cx="12193200" cy="721032"/>
          </a:xfrm>
          <a:prstGeom prst="rect">
            <a:avLst/>
          </a:prstGeom>
        </p:spPr>
      </p:pic>
      <p:grpSp>
        <p:nvGrpSpPr>
          <p:cNvPr id="7" name="图形 12">
            <a:extLst>
              <a:ext uri="{FF2B5EF4-FFF2-40B4-BE49-F238E27FC236}">
                <a16:creationId xmlns:a16="http://schemas.microsoft.com/office/drawing/2014/main" id="{1E6E911F-38F1-42B3-AAB8-57311022C81E}"/>
              </a:ext>
            </a:extLst>
          </p:cNvPr>
          <p:cNvGrpSpPr/>
          <p:nvPr userDrawn="1"/>
        </p:nvGrpSpPr>
        <p:grpSpPr>
          <a:xfrm>
            <a:off x="10477059" y="327570"/>
            <a:ext cx="1306953" cy="520464"/>
            <a:chOff x="1739537" y="98099"/>
            <a:chExt cx="4612704" cy="1836902"/>
          </a:xfrm>
        </p:grpSpPr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1FF87494-65BD-1CE3-B49E-C51C092D8D37}"/>
                </a:ext>
              </a:extLst>
            </p:cNvPr>
            <p:cNvSpPr/>
            <p:nvPr/>
          </p:nvSpPr>
          <p:spPr>
            <a:xfrm>
              <a:off x="1739537" y="771564"/>
              <a:ext cx="650741" cy="894889"/>
            </a:xfrm>
            <a:custGeom>
              <a:avLst/>
              <a:gdLst>
                <a:gd name="connsiteX0" fmla="*/ 495249 w 650741"/>
                <a:gd name="connsiteY0" fmla="*/ 368834 h 894889"/>
                <a:gd name="connsiteX1" fmla="*/ 155316 w 650741"/>
                <a:gd name="connsiteY1" fmla="*/ 368834 h 894889"/>
                <a:gd name="connsiteX2" fmla="*/ 155316 w 650741"/>
                <a:gd name="connsiteY2" fmla="*/ 0 h 894889"/>
                <a:gd name="connsiteX3" fmla="*/ 0 w 650741"/>
                <a:gd name="connsiteY3" fmla="*/ 0 h 894889"/>
                <a:gd name="connsiteX4" fmla="*/ 0 w 650741"/>
                <a:gd name="connsiteY4" fmla="*/ 894890 h 894889"/>
                <a:gd name="connsiteX5" fmla="*/ 155316 w 650741"/>
                <a:gd name="connsiteY5" fmla="*/ 894890 h 894889"/>
                <a:gd name="connsiteX6" fmla="*/ 155316 w 650741"/>
                <a:gd name="connsiteY6" fmla="*/ 488856 h 894889"/>
                <a:gd name="connsiteX7" fmla="*/ 495249 w 650741"/>
                <a:gd name="connsiteY7" fmla="*/ 488856 h 894889"/>
                <a:gd name="connsiteX8" fmla="*/ 495249 w 650741"/>
                <a:gd name="connsiteY8" fmla="*/ 894890 h 894889"/>
                <a:gd name="connsiteX9" fmla="*/ 510839 w 650741"/>
                <a:gd name="connsiteY9" fmla="*/ 894890 h 894889"/>
                <a:gd name="connsiteX10" fmla="*/ 650742 w 650741"/>
                <a:gd name="connsiteY10" fmla="*/ 894890 h 894889"/>
                <a:gd name="connsiteX11" fmla="*/ 650742 w 650741"/>
                <a:gd name="connsiteY11" fmla="*/ 0 h 894889"/>
                <a:gd name="connsiteX12" fmla="*/ 495249 w 650741"/>
                <a:gd name="connsiteY12" fmla="*/ 0 h 89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741" h="894889">
                  <a:moveTo>
                    <a:pt x="495249" y="368834"/>
                  </a:moveTo>
                  <a:lnTo>
                    <a:pt x="155316" y="368834"/>
                  </a:lnTo>
                  <a:lnTo>
                    <a:pt x="155316" y="0"/>
                  </a:lnTo>
                  <a:lnTo>
                    <a:pt x="0" y="0"/>
                  </a:lnTo>
                  <a:lnTo>
                    <a:pt x="0" y="894890"/>
                  </a:lnTo>
                  <a:lnTo>
                    <a:pt x="155316" y="894890"/>
                  </a:lnTo>
                  <a:lnTo>
                    <a:pt x="155316" y="488856"/>
                  </a:lnTo>
                  <a:lnTo>
                    <a:pt x="495249" y="488856"/>
                  </a:lnTo>
                  <a:lnTo>
                    <a:pt x="495249" y="894890"/>
                  </a:lnTo>
                  <a:lnTo>
                    <a:pt x="510839" y="894890"/>
                  </a:lnTo>
                  <a:lnTo>
                    <a:pt x="650742" y="894890"/>
                  </a:lnTo>
                  <a:lnTo>
                    <a:pt x="650742" y="0"/>
                  </a:lnTo>
                  <a:lnTo>
                    <a:pt x="495249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4F5D7A08-87FA-A7AA-66DC-CC3FFCCD16AF}"/>
                </a:ext>
              </a:extLst>
            </p:cNvPr>
            <p:cNvSpPr/>
            <p:nvPr/>
          </p:nvSpPr>
          <p:spPr>
            <a:xfrm>
              <a:off x="2459620" y="1005434"/>
              <a:ext cx="592694" cy="929567"/>
            </a:xfrm>
            <a:custGeom>
              <a:avLst/>
              <a:gdLst>
                <a:gd name="connsiteX0" fmla="*/ 436748 w 592694"/>
                <a:gd name="connsiteY0" fmla="*/ 12476 h 929567"/>
                <a:gd name="connsiteX1" fmla="*/ 310454 w 592694"/>
                <a:gd name="connsiteY1" fmla="*/ 485449 h 929567"/>
                <a:gd name="connsiteX2" fmla="*/ 161943 w 592694"/>
                <a:gd name="connsiteY2" fmla="*/ 11764 h 929567"/>
                <a:gd name="connsiteX3" fmla="*/ 158997 w 592694"/>
                <a:gd name="connsiteY3" fmla="*/ 0 h 929567"/>
                <a:gd name="connsiteX4" fmla="*/ 0 w 592694"/>
                <a:gd name="connsiteY4" fmla="*/ 0 h 929567"/>
                <a:gd name="connsiteX5" fmla="*/ 5002 w 592694"/>
                <a:gd name="connsiteY5" fmla="*/ 19361 h 929567"/>
                <a:gd name="connsiteX6" fmla="*/ 223669 w 592694"/>
                <a:gd name="connsiteY6" fmla="*/ 647854 h 929567"/>
                <a:gd name="connsiteX7" fmla="*/ 147979 w 592694"/>
                <a:gd name="connsiteY7" fmla="*/ 785362 h 929567"/>
                <a:gd name="connsiteX8" fmla="*/ 93871 w 592694"/>
                <a:gd name="connsiteY8" fmla="*/ 815643 h 929567"/>
                <a:gd name="connsiteX9" fmla="*/ 12975 w 592694"/>
                <a:gd name="connsiteY9" fmla="*/ 815643 h 929567"/>
                <a:gd name="connsiteX10" fmla="*/ 6806 w 592694"/>
                <a:gd name="connsiteY10" fmla="*/ 916128 h 929567"/>
                <a:gd name="connsiteX11" fmla="*/ 19348 w 592694"/>
                <a:gd name="connsiteY11" fmla="*/ 919258 h 929567"/>
                <a:gd name="connsiteX12" fmla="*/ 103087 w 592694"/>
                <a:gd name="connsiteY12" fmla="*/ 929567 h 929567"/>
                <a:gd name="connsiteX13" fmla="*/ 104889 w 592694"/>
                <a:gd name="connsiteY13" fmla="*/ 929567 h 929567"/>
                <a:gd name="connsiteX14" fmla="*/ 243016 w 592694"/>
                <a:gd name="connsiteY14" fmla="*/ 871489 h 929567"/>
                <a:gd name="connsiteX15" fmla="*/ 378346 w 592694"/>
                <a:gd name="connsiteY15" fmla="*/ 652078 h 929567"/>
                <a:gd name="connsiteX16" fmla="*/ 587872 w 592694"/>
                <a:gd name="connsiteY16" fmla="*/ 19287 h 929567"/>
                <a:gd name="connsiteX17" fmla="*/ 592695 w 592694"/>
                <a:gd name="connsiteY17" fmla="*/ 2 h 929567"/>
                <a:gd name="connsiteX18" fmla="*/ 439078 w 592694"/>
                <a:gd name="connsiteY18" fmla="*/ 2 h 929567"/>
                <a:gd name="connsiteX19" fmla="*/ 436748 w 592694"/>
                <a:gd name="connsiteY19" fmla="*/ 12478 h 92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2694" h="929567">
                  <a:moveTo>
                    <a:pt x="436748" y="12476"/>
                  </a:moveTo>
                  <a:cubicBezTo>
                    <a:pt x="404955" y="174421"/>
                    <a:pt x="360448" y="339438"/>
                    <a:pt x="310454" y="485449"/>
                  </a:cubicBezTo>
                  <a:cubicBezTo>
                    <a:pt x="255533" y="333879"/>
                    <a:pt x="204855" y="182322"/>
                    <a:pt x="161943" y="11764"/>
                  </a:cubicBezTo>
                  <a:lnTo>
                    <a:pt x="158997" y="0"/>
                  </a:lnTo>
                  <a:lnTo>
                    <a:pt x="0" y="0"/>
                  </a:lnTo>
                  <a:lnTo>
                    <a:pt x="5002" y="19361"/>
                  </a:lnTo>
                  <a:cubicBezTo>
                    <a:pt x="62158" y="239336"/>
                    <a:pt x="146988" y="470850"/>
                    <a:pt x="223669" y="647854"/>
                  </a:cubicBezTo>
                  <a:cubicBezTo>
                    <a:pt x="192133" y="717948"/>
                    <a:pt x="168114" y="761067"/>
                    <a:pt x="147979" y="785362"/>
                  </a:cubicBezTo>
                  <a:cubicBezTo>
                    <a:pt x="126752" y="810281"/>
                    <a:pt x="113296" y="815216"/>
                    <a:pt x="93871" y="815643"/>
                  </a:cubicBezTo>
                  <a:lnTo>
                    <a:pt x="12975" y="815643"/>
                  </a:lnTo>
                  <a:lnTo>
                    <a:pt x="6806" y="916128"/>
                  </a:lnTo>
                  <a:lnTo>
                    <a:pt x="19348" y="919258"/>
                  </a:lnTo>
                  <a:cubicBezTo>
                    <a:pt x="40043" y="924358"/>
                    <a:pt x="69597" y="929567"/>
                    <a:pt x="103087" y="929567"/>
                  </a:cubicBezTo>
                  <a:lnTo>
                    <a:pt x="104889" y="929567"/>
                  </a:lnTo>
                  <a:cubicBezTo>
                    <a:pt x="155951" y="929567"/>
                    <a:pt x="201171" y="913896"/>
                    <a:pt x="243016" y="871489"/>
                  </a:cubicBezTo>
                  <a:cubicBezTo>
                    <a:pt x="285545" y="828732"/>
                    <a:pt x="326678" y="760432"/>
                    <a:pt x="378346" y="652078"/>
                  </a:cubicBezTo>
                  <a:cubicBezTo>
                    <a:pt x="447061" y="509460"/>
                    <a:pt x="516553" y="303411"/>
                    <a:pt x="587872" y="19287"/>
                  </a:cubicBezTo>
                  <a:lnTo>
                    <a:pt x="592695" y="2"/>
                  </a:lnTo>
                  <a:lnTo>
                    <a:pt x="439078" y="2"/>
                  </a:lnTo>
                  <a:lnTo>
                    <a:pt x="436748" y="1247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50E9FEE1-E93A-F1E5-E543-3E55DCA60665}"/>
                </a:ext>
              </a:extLst>
            </p:cNvPr>
            <p:cNvSpPr/>
            <p:nvPr/>
          </p:nvSpPr>
          <p:spPr>
            <a:xfrm>
              <a:off x="3117596" y="822326"/>
              <a:ext cx="394925" cy="853987"/>
            </a:xfrm>
            <a:custGeom>
              <a:avLst/>
              <a:gdLst>
                <a:gd name="connsiteX0" fmla="*/ 263816 w 394925"/>
                <a:gd name="connsiteY0" fmla="*/ 726822 h 853987"/>
                <a:gd name="connsiteX1" fmla="*/ 245453 w 394925"/>
                <a:gd name="connsiteY1" fmla="*/ 649176 h 853987"/>
                <a:gd name="connsiteX2" fmla="*/ 245453 w 394925"/>
                <a:gd name="connsiteY2" fmla="*/ 292104 h 853987"/>
                <a:gd name="connsiteX3" fmla="*/ 394859 w 394925"/>
                <a:gd name="connsiteY3" fmla="*/ 292104 h 853987"/>
                <a:gd name="connsiteX4" fmla="*/ 394859 w 394925"/>
                <a:gd name="connsiteY4" fmla="*/ 183108 h 853987"/>
                <a:gd name="connsiteX5" fmla="*/ 245453 w 394925"/>
                <a:gd name="connsiteY5" fmla="*/ 183108 h 853987"/>
                <a:gd name="connsiteX6" fmla="*/ 245453 w 394925"/>
                <a:gd name="connsiteY6" fmla="*/ 0 h 853987"/>
                <a:gd name="connsiteX7" fmla="*/ 122994 w 394925"/>
                <a:gd name="connsiteY7" fmla="*/ 0 h 853987"/>
                <a:gd name="connsiteX8" fmla="*/ 94329 w 394925"/>
                <a:gd name="connsiteY8" fmla="*/ 183108 h 853987"/>
                <a:gd name="connsiteX9" fmla="*/ 0 w 394925"/>
                <a:gd name="connsiteY9" fmla="*/ 183108 h 853987"/>
                <a:gd name="connsiteX10" fmla="*/ 0 w 394925"/>
                <a:gd name="connsiteY10" fmla="*/ 292104 h 853987"/>
                <a:gd name="connsiteX11" fmla="*/ 93695 w 394925"/>
                <a:gd name="connsiteY11" fmla="*/ 292104 h 853987"/>
                <a:gd name="connsiteX12" fmla="*/ 93695 w 394925"/>
                <a:gd name="connsiteY12" fmla="*/ 678954 h 853987"/>
                <a:gd name="connsiteX13" fmla="*/ 144573 w 394925"/>
                <a:gd name="connsiteY13" fmla="*/ 818311 h 853987"/>
                <a:gd name="connsiteX14" fmla="*/ 272215 w 394925"/>
                <a:gd name="connsiteY14" fmla="*/ 853988 h 853987"/>
                <a:gd name="connsiteX15" fmla="*/ 382840 w 394925"/>
                <a:gd name="connsiteY15" fmla="*/ 842420 h 853987"/>
                <a:gd name="connsiteX16" fmla="*/ 394925 w 394925"/>
                <a:gd name="connsiteY16" fmla="*/ 839750 h 853987"/>
                <a:gd name="connsiteX17" fmla="*/ 394925 w 394925"/>
                <a:gd name="connsiteY17" fmla="*/ 740162 h 853987"/>
                <a:gd name="connsiteX18" fmla="*/ 324985 w 394925"/>
                <a:gd name="connsiteY18" fmla="*/ 740162 h 853987"/>
                <a:gd name="connsiteX19" fmla="*/ 263816 w 394925"/>
                <a:gd name="connsiteY19" fmla="*/ 726822 h 853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925" h="853987">
                  <a:moveTo>
                    <a:pt x="263816" y="726822"/>
                  </a:moveTo>
                  <a:cubicBezTo>
                    <a:pt x="253426" y="717574"/>
                    <a:pt x="245354" y="695621"/>
                    <a:pt x="245453" y="649176"/>
                  </a:cubicBezTo>
                  <a:lnTo>
                    <a:pt x="245453" y="292104"/>
                  </a:lnTo>
                  <a:lnTo>
                    <a:pt x="394859" y="292104"/>
                  </a:lnTo>
                  <a:lnTo>
                    <a:pt x="394859" y="183108"/>
                  </a:lnTo>
                  <a:lnTo>
                    <a:pt x="245453" y="183108"/>
                  </a:lnTo>
                  <a:lnTo>
                    <a:pt x="245453" y="0"/>
                  </a:lnTo>
                  <a:lnTo>
                    <a:pt x="122994" y="0"/>
                  </a:lnTo>
                  <a:lnTo>
                    <a:pt x="94329" y="183108"/>
                  </a:lnTo>
                  <a:lnTo>
                    <a:pt x="0" y="183108"/>
                  </a:lnTo>
                  <a:lnTo>
                    <a:pt x="0" y="292104"/>
                  </a:lnTo>
                  <a:lnTo>
                    <a:pt x="93695" y="292104"/>
                  </a:lnTo>
                  <a:lnTo>
                    <a:pt x="93695" y="678954"/>
                  </a:lnTo>
                  <a:cubicBezTo>
                    <a:pt x="93618" y="745010"/>
                    <a:pt x="111270" y="790722"/>
                    <a:pt x="144573" y="818311"/>
                  </a:cubicBezTo>
                  <a:cubicBezTo>
                    <a:pt x="177820" y="845922"/>
                    <a:pt x="222322" y="853911"/>
                    <a:pt x="272215" y="853988"/>
                  </a:cubicBezTo>
                  <a:cubicBezTo>
                    <a:pt x="312790" y="853911"/>
                    <a:pt x="354175" y="848975"/>
                    <a:pt x="382840" y="842420"/>
                  </a:cubicBezTo>
                  <a:lnTo>
                    <a:pt x="394925" y="839750"/>
                  </a:lnTo>
                  <a:lnTo>
                    <a:pt x="394925" y="740162"/>
                  </a:lnTo>
                  <a:lnTo>
                    <a:pt x="324985" y="740162"/>
                  </a:lnTo>
                  <a:cubicBezTo>
                    <a:pt x="293093" y="740337"/>
                    <a:pt x="273670" y="736572"/>
                    <a:pt x="263816" y="726822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C63A48D9-4FC7-12B4-7763-ECF778419844}"/>
                </a:ext>
              </a:extLst>
            </p:cNvPr>
            <p:cNvSpPr/>
            <p:nvPr/>
          </p:nvSpPr>
          <p:spPr>
            <a:xfrm>
              <a:off x="3556629" y="991891"/>
              <a:ext cx="579088" cy="688176"/>
            </a:xfrm>
            <a:custGeom>
              <a:avLst/>
              <a:gdLst>
                <a:gd name="connsiteX0" fmla="*/ 302411 w 579088"/>
                <a:gd name="connsiteY0" fmla="*/ 106382 h 688176"/>
                <a:gd name="connsiteX1" fmla="*/ 392519 w 579088"/>
                <a:gd name="connsiteY1" fmla="*/ 147363 h 688176"/>
                <a:gd name="connsiteX2" fmla="*/ 424586 w 579088"/>
                <a:gd name="connsiteY2" fmla="*/ 266121 h 688176"/>
                <a:gd name="connsiteX3" fmla="*/ 157379 w 579088"/>
                <a:gd name="connsiteY3" fmla="*/ 266121 h 688176"/>
                <a:gd name="connsiteX4" fmla="*/ 192847 w 579088"/>
                <a:gd name="connsiteY4" fmla="*/ 160347 h 688176"/>
                <a:gd name="connsiteX5" fmla="*/ 302411 w 579088"/>
                <a:gd name="connsiteY5" fmla="*/ 106384 h 688176"/>
                <a:gd name="connsiteX6" fmla="*/ 309925 w 579088"/>
                <a:gd name="connsiteY6" fmla="*/ 2 h 688176"/>
                <a:gd name="connsiteX7" fmla="*/ 77924 w 579088"/>
                <a:gd name="connsiteY7" fmla="*/ 94567 h 688176"/>
                <a:gd name="connsiteX8" fmla="*/ 0 w 579088"/>
                <a:gd name="connsiteY8" fmla="*/ 345967 h 688176"/>
                <a:gd name="connsiteX9" fmla="*/ 76043 w 579088"/>
                <a:gd name="connsiteY9" fmla="*/ 600802 h 688176"/>
                <a:gd name="connsiteX10" fmla="*/ 310909 w 579088"/>
                <a:gd name="connsiteY10" fmla="*/ 688177 h 688176"/>
                <a:gd name="connsiteX11" fmla="*/ 311445 w 579088"/>
                <a:gd name="connsiteY11" fmla="*/ 688177 h 688176"/>
                <a:gd name="connsiteX12" fmla="*/ 549713 w 579088"/>
                <a:gd name="connsiteY12" fmla="*/ 654131 h 688176"/>
                <a:gd name="connsiteX13" fmla="*/ 563504 w 579088"/>
                <a:gd name="connsiteY13" fmla="*/ 650093 h 688176"/>
                <a:gd name="connsiteX14" fmla="*/ 540570 w 579088"/>
                <a:gd name="connsiteY14" fmla="*/ 540743 h 688176"/>
                <a:gd name="connsiteX15" fmla="*/ 524733 w 579088"/>
                <a:gd name="connsiteY15" fmla="*/ 545131 h 688176"/>
                <a:gd name="connsiteX16" fmla="*/ 329633 w 579088"/>
                <a:gd name="connsiteY16" fmla="*/ 574253 h 688176"/>
                <a:gd name="connsiteX17" fmla="*/ 193941 w 579088"/>
                <a:gd name="connsiteY17" fmla="*/ 518330 h 688176"/>
                <a:gd name="connsiteX18" fmla="*/ 156417 w 579088"/>
                <a:gd name="connsiteY18" fmla="*/ 370076 h 688176"/>
                <a:gd name="connsiteX19" fmla="*/ 577568 w 579088"/>
                <a:gd name="connsiteY19" fmla="*/ 370076 h 688176"/>
                <a:gd name="connsiteX20" fmla="*/ 577568 w 579088"/>
                <a:gd name="connsiteY20" fmla="*/ 354481 h 688176"/>
                <a:gd name="connsiteX21" fmla="*/ 579089 w 579088"/>
                <a:gd name="connsiteY21" fmla="*/ 295232 h 688176"/>
                <a:gd name="connsiteX22" fmla="*/ 517110 w 579088"/>
                <a:gd name="connsiteY22" fmla="*/ 82269 h 688176"/>
                <a:gd name="connsiteX23" fmla="*/ 309925 w 579088"/>
                <a:gd name="connsiteY23" fmla="*/ 1 h 6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9088" h="688176">
                  <a:moveTo>
                    <a:pt x="302411" y="106382"/>
                  </a:moveTo>
                  <a:cubicBezTo>
                    <a:pt x="343260" y="106763"/>
                    <a:pt x="371903" y="120991"/>
                    <a:pt x="392519" y="147363"/>
                  </a:cubicBezTo>
                  <a:cubicBezTo>
                    <a:pt x="412861" y="173787"/>
                    <a:pt x="424586" y="214128"/>
                    <a:pt x="424586" y="266121"/>
                  </a:cubicBezTo>
                  <a:lnTo>
                    <a:pt x="157379" y="266121"/>
                  </a:lnTo>
                  <a:cubicBezTo>
                    <a:pt x="161229" y="227118"/>
                    <a:pt x="172538" y="189033"/>
                    <a:pt x="192847" y="160347"/>
                  </a:cubicBezTo>
                  <a:cubicBezTo>
                    <a:pt x="216153" y="128004"/>
                    <a:pt x="249467" y="106764"/>
                    <a:pt x="302411" y="106384"/>
                  </a:cubicBezTo>
                  <a:close/>
                  <a:moveTo>
                    <a:pt x="309925" y="2"/>
                  </a:moveTo>
                  <a:cubicBezTo>
                    <a:pt x="209351" y="-175"/>
                    <a:pt x="130431" y="33437"/>
                    <a:pt x="77924" y="94567"/>
                  </a:cubicBezTo>
                  <a:cubicBezTo>
                    <a:pt x="25439" y="155519"/>
                    <a:pt x="0" y="242001"/>
                    <a:pt x="0" y="345967"/>
                  </a:cubicBezTo>
                  <a:cubicBezTo>
                    <a:pt x="0" y="456312"/>
                    <a:pt x="23744" y="542089"/>
                    <a:pt x="76043" y="600802"/>
                  </a:cubicBezTo>
                  <a:cubicBezTo>
                    <a:pt x="128178" y="659493"/>
                    <a:pt x="207546" y="688177"/>
                    <a:pt x="310909" y="688177"/>
                  </a:cubicBezTo>
                  <a:lnTo>
                    <a:pt x="311445" y="688177"/>
                  </a:lnTo>
                  <a:cubicBezTo>
                    <a:pt x="400667" y="688177"/>
                    <a:pt x="480647" y="674278"/>
                    <a:pt x="549713" y="654131"/>
                  </a:cubicBezTo>
                  <a:lnTo>
                    <a:pt x="563504" y="650093"/>
                  </a:lnTo>
                  <a:lnTo>
                    <a:pt x="540570" y="540743"/>
                  </a:lnTo>
                  <a:lnTo>
                    <a:pt x="524733" y="545131"/>
                  </a:lnTo>
                  <a:cubicBezTo>
                    <a:pt x="463280" y="562160"/>
                    <a:pt x="406409" y="574176"/>
                    <a:pt x="329633" y="574253"/>
                  </a:cubicBezTo>
                  <a:cubicBezTo>
                    <a:pt x="260666" y="573892"/>
                    <a:pt x="220091" y="553821"/>
                    <a:pt x="193941" y="518330"/>
                  </a:cubicBezTo>
                  <a:cubicBezTo>
                    <a:pt x="169661" y="484996"/>
                    <a:pt x="157937" y="434720"/>
                    <a:pt x="156417" y="370076"/>
                  </a:cubicBezTo>
                  <a:lnTo>
                    <a:pt x="577568" y="370076"/>
                  </a:lnTo>
                  <a:lnTo>
                    <a:pt x="577568" y="354481"/>
                  </a:lnTo>
                  <a:cubicBezTo>
                    <a:pt x="577568" y="336566"/>
                    <a:pt x="579089" y="308419"/>
                    <a:pt x="579089" y="295232"/>
                  </a:cubicBezTo>
                  <a:cubicBezTo>
                    <a:pt x="579012" y="209028"/>
                    <a:pt x="561010" y="135241"/>
                    <a:pt x="517110" y="82269"/>
                  </a:cubicBezTo>
                  <a:cubicBezTo>
                    <a:pt x="473309" y="29321"/>
                    <a:pt x="404254" y="-177"/>
                    <a:pt x="309925" y="1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341E5E21-2A07-AD8F-3B28-E1CBFDE6C95C}"/>
                </a:ext>
              </a:extLst>
            </p:cNvPr>
            <p:cNvSpPr/>
            <p:nvPr/>
          </p:nvSpPr>
          <p:spPr>
            <a:xfrm>
              <a:off x="4227181" y="991914"/>
              <a:ext cx="380685" cy="674561"/>
            </a:xfrm>
            <a:custGeom>
              <a:avLst/>
              <a:gdLst>
                <a:gd name="connsiteX0" fmla="*/ 288773 w 380685"/>
                <a:gd name="connsiteY0" fmla="*/ 5 h 674561"/>
                <a:gd name="connsiteX1" fmla="*/ 198403 w 380685"/>
                <a:gd name="connsiteY1" fmla="*/ 32906 h 674561"/>
                <a:gd name="connsiteX2" fmla="*/ 133811 w 380685"/>
                <a:gd name="connsiteY2" fmla="*/ 102802 h 674561"/>
                <a:gd name="connsiteX3" fmla="*/ 124493 w 380685"/>
                <a:gd name="connsiteY3" fmla="*/ 13546 h 674561"/>
                <a:gd name="connsiteX4" fmla="*/ 0 w 380685"/>
                <a:gd name="connsiteY4" fmla="*/ 13546 h 674561"/>
                <a:gd name="connsiteX5" fmla="*/ 0 w 380685"/>
                <a:gd name="connsiteY5" fmla="*/ 674562 h 674561"/>
                <a:gd name="connsiteX6" fmla="*/ 151627 w 380685"/>
                <a:gd name="connsiteY6" fmla="*/ 674562 h 674561"/>
                <a:gd name="connsiteX7" fmla="*/ 151627 w 380685"/>
                <a:gd name="connsiteY7" fmla="*/ 244704 h 674561"/>
                <a:gd name="connsiteX8" fmla="*/ 233160 w 380685"/>
                <a:gd name="connsiteY8" fmla="*/ 148356 h 674561"/>
                <a:gd name="connsiteX9" fmla="*/ 284191 w 380685"/>
                <a:gd name="connsiteY9" fmla="*/ 122542 h 674561"/>
                <a:gd name="connsiteX10" fmla="*/ 340460 w 380685"/>
                <a:gd name="connsiteY10" fmla="*/ 131943 h 674561"/>
                <a:gd name="connsiteX11" fmla="*/ 356482 w 380685"/>
                <a:gd name="connsiteY11" fmla="*/ 136338 h 674561"/>
                <a:gd name="connsiteX12" fmla="*/ 359807 w 380685"/>
                <a:gd name="connsiteY12" fmla="*/ 120027 h 674561"/>
                <a:gd name="connsiteX13" fmla="*/ 380685 w 380685"/>
                <a:gd name="connsiteY13" fmla="*/ 15681 h 674561"/>
                <a:gd name="connsiteX14" fmla="*/ 366971 w 380685"/>
                <a:gd name="connsiteY14" fmla="*/ 11844 h 674561"/>
                <a:gd name="connsiteX15" fmla="*/ 288773 w 380685"/>
                <a:gd name="connsiteY15" fmla="*/ 5 h 67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0685" h="674561">
                  <a:moveTo>
                    <a:pt x="288773" y="5"/>
                  </a:moveTo>
                  <a:cubicBezTo>
                    <a:pt x="255525" y="-275"/>
                    <a:pt x="225898" y="10574"/>
                    <a:pt x="198403" y="32906"/>
                  </a:cubicBezTo>
                  <a:cubicBezTo>
                    <a:pt x="177426" y="49650"/>
                    <a:pt x="157095" y="72618"/>
                    <a:pt x="133811" y="102802"/>
                  </a:cubicBezTo>
                  <a:lnTo>
                    <a:pt x="124493" y="13546"/>
                  </a:lnTo>
                  <a:lnTo>
                    <a:pt x="0" y="13546"/>
                  </a:lnTo>
                  <a:lnTo>
                    <a:pt x="0" y="674562"/>
                  </a:lnTo>
                  <a:lnTo>
                    <a:pt x="151627" y="674562"/>
                  </a:lnTo>
                  <a:lnTo>
                    <a:pt x="151627" y="244704"/>
                  </a:lnTo>
                  <a:cubicBezTo>
                    <a:pt x="186919" y="198815"/>
                    <a:pt x="212643" y="167437"/>
                    <a:pt x="233160" y="148356"/>
                  </a:cubicBezTo>
                  <a:cubicBezTo>
                    <a:pt x="254815" y="128539"/>
                    <a:pt x="268814" y="122619"/>
                    <a:pt x="284191" y="122542"/>
                  </a:cubicBezTo>
                  <a:cubicBezTo>
                    <a:pt x="300246" y="122542"/>
                    <a:pt x="318598" y="125845"/>
                    <a:pt x="340460" y="131943"/>
                  </a:cubicBezTo>
                  <a:lnTo>
                    <a:pt x="356482" y="136338"/>
                  </a:lnTo>
                  <a:lnTo>
                    <a:pt x="359807" y="120027"/>
                  </a:lnTo>
                  <a:lnTo>
                    <a:pt x="380685" y="15681"/>
                  </a:lnTo>
                  <a:lnTo>
                    <a:pt x="366971" y="11844"/>
                  </a:lnTo>
                  <a:cubicBezTo>
                    <a:pt x="340285" y="3943"/>
                    <a:pt x="314485" y="5"/>
                    <a:pt x="288773" y="5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797F1EB2-7BFE-7EFE-A850-707DBB310097}"/>
                </a:ext>
              </a:extLst>
            </p:cNvPr>
            <p:cNvSpPr/>
            <p:nvPr/>
          </p:nvSpPr>
          <p:spPr>
            <a:xfrm>
              <a:off x="4620026" y="991866"/>
              <a:ext cx="539861" cy="688201"/>
            </a:xfrm>
            <a:custGeom>
              <a:avLst/>
              <a:gdLst>
                <a:gd name="connsiteX0" fmla="*/ 187108 w 539861"/>
                <a:gd name="connsiteY0" fmla="*/ 410329 h 688201"/>
                <a:gd name="connsiteX1" fmla="*/ 296136 w 539861"/>
                <a:gd name="connsiteY1" fmla="*/ 381208 h 688201"/>
                <a:gd name="connsiteX2" fmla="*/ 296311 w 539861"/>
                <a:gd name="connsiteY2" fmla="*/ 381208 h 688201"/>
                <a:gd name="connsiteX3" fmla="*/ 389547 w 539861"/>
                <a:gd name="connsiteY3" fmla="*/ 381208 h 688201"/>
                <a:gd name="connsiteX4" fmla="*/ 389547 w 539861"/>
                <a:gd name="connsiteY4" fmla="*/ 501589 h 688201"/>
                <a:gd name="connsiteX5" fmla="*/ 248015 w 539861"/>
                <a:gd name="connsiteY5" fmla="*/ 579202 h 688201"/>
                <a:gd name="connsiteX6" fmla="*/ 176084 w 539861"/>
                <a:gd name="connsiteY6" fmla="*/ 554743 h 688201"/>
                <a:gd name="connsiteX7" fmla="*/ 153336 w 539861"/>
                <a:gd name="connsiteY7" fmla="*/ 488325 h 688201"/>
                <a:gd name="connsiteX8" fmla="*/ 187108 w 539861"/>
                <a:gd name="connsiteY8" fmla="*/ 410329 h 688201"/>
                <a:gd name="connsiteX9" fmla="*/ 481634 w 539861"/>
                <a:gd name="connsiteY9" fmla="*/ 63926 h 688201"/>
                <a:gd name="connsiteX10" fmla="*/ 282772 w 539861"/>
                <a:gd name="connsiteY10" fmla="*/ 0 h 688201"/>
                <a:gd name="connsiteX11" fmla="*/ 53932 w 539861"/>
                <a:gd name="connsiteY11" fmla="*/ 41872 h 688201"/>
                <a:gd name="connsiteX12" fmla="*/ 40042 w 539861"/>
                <a:gd name="connsiteY12" fmla="*/ 46877 h 688201"/>
                <a:gd name="connsiteX13" fmla="*/ 73880 w 539861"/>
                <a:gd name="connsiteY13" fmla="*/ 152291 h 688201"/>
                <a:gd name="connsiteX14" fmla="*/ 89225 w 539861"/>
                <a:gd name="connsiteY14" fmla="*/ 146194 h 688201"/>
                <a:gd name="connsiteX15" fmla="*/ 264595 w 539861"/>
                <a:gd name="connsiteY15" fmla="*/ 110242 h 688201"/>
                <a:gd name="connsiteX16" fmla="*/ 363113 w 539861"/>
                <a:gd name="connsiteY16" fmla="*/ 140198 h 688201"/>
                <a:gd name="connsiteX17" fmla="*/ 389547 w 539861"/>
                <a:gd name="connsiteY17" fmla="*/ 237003 h 688201"/>
                <a:gd name="connsiteX18" fmla="*/ 389547 w 539861"/>
                <a:gd name="connsiteY18" fmla="*/ 279727 h 688201"/>
                <a:gd name="connsiteX19" fmla="*/ 309993 w 539861"/>
                <a:gd name="connsiteY19" fmla="*/ 279727 h 688201"/>
                <a:gd name="connsiteX20" fmla="*/ 88765 w 539861"/>
                <a:gd name="connsiteY20" fmla="*/ 330571 h 688201"/>
                <a:gd name="connsiteX21" fmla="*/ 3 w 539861"/>
                <a:gd name="connsiteY21" fmla="*/ 493250 h 688201"/>
                <a:gd name="connsiteX22" fmla="*/ 61084 w 539861"/>
                <a:gd name="connsiteY22" fmla="*/ 636930 h 688201"/>
                <a:gd name="connsiteX23" fmla="*/ 220870 w 539861"/>
                <a:gd name="connsiteY23" fmla="*/ 688201 h 688201"/>
                <a:gd name="connsiteX24" fmla="*/ 221056 w 539861"/>
                <a:gd name="connsiteY24" fmla="*/ 688201 h 688201"/>
                <a:gd name="connsiteX25" fmla="*/ 407899 w 539861"/>
                <a:gd name="connsiteY25" fmla="*/ 618183 h 688201"/>
                <a:gd name="connsiteX26" fmla="*/ 413641 w 539861"/>
                <a:gd name="connsiteY26" fmla="*/ 674664 h 688201"/>
                <a:gd name="connsiteX27" fmla="*/ 427607 w 539861"/>
                <a:gd name="connsiteY27" fmla="*/ 674664 h 688201"/>
                <a:gd name="connsiteX28" fmla="*/ 539861 w 539861"/>
                <a:gd name="connsiteY28" fmla="*/ 674664 h 688201"/>
                <a:gd name="connsiteX29" fmla="*/ 539861 w 539861"/>
                <a:gd name="connsiteY29" fmla="*/ 217282 h 688201"/>
                <a:gd name="connsiteX30" fmla="*/ 481634 w 539861"/>
                <a:gd name="connsiteY30" fmla="*/ 63924 h 6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9861" h="688201">
                  <a:moveTo>
                    <a:pt x="187108" y="410329"/>
                  </a:moveTo>
                  <a:cubicBezTo>
                    <a:pt x="209594" y="392316"/>
                    <a:pt x="245423" y="381208"/>
                    <a:pt x="296136" y="381208"/>
                  </a:cubicBezTo>
                  <a:lnTo>
                    <a:pt x="296311" y="381208"/>
                  </a:lnTo>
                  <a:lnTo>
                    <a:pt x="389547" y="381208"/>
                  </a:lnTo>
                  <a:lnTo>
                    <a:pt x="389547" y="501589"/>
                  </a:lnTo>
                  <a:cubicBezTo>
                    <a:pt x="343339" y="547301"/>
                    <a:pt x="301134" y="579278"/>
                    <a:pt x="248015" y="579202"/>
                  </a:cubicBezTo>
                  <a:cubicBezTo>
                    <a:pt x="213816" y="579103"/>
                    <a:pt x="191067" y="569703"/>
                    <a:pt x="176084" y="554743"/>
                  </a:cubicBezTo>
                  <a:cubicBezTo>
                    <a:pt x="161407" y="539772"/>
                    <a:pt x="153336" y="517720"/>
                    <a:pt x="153336" y="488325"/>
                  </a:cubicBezTo>
                  <a:cubicBezTo>
                    <a:pt x="153434" y="453371"/>
                    <a:pt x="164710" y="428364"/>
                    <a:pt x="187108" y="410329"/>
                  </a:cubicBezTo>
                  <a:close/>
                  <a:moveTo>
                    <a:pt x="481634" y="63926"/>
                  </a:moveTo>
                  <a:cubicBezTo>
                    <a:pt x="439976" y="23578"/>
                    <a:pt x="375045" y="0"/>
                    <a:pt x="282772" y="0"/>
                  </a:cubicBezTo>
                  <a:cubicBezTo>
                    <a:pt x="208074" y="0"/>
                    <a:pt x="126650" y="15144"/>
                    <a:pt x="53932" y="41872"/>
                  </a:cubicBezTo>
                  <a:lnTo>
                    <a:pt x="40042" y="46877"/>
                  </a:lnTo>
                  <a:lnTo>
                    <a:pt x="73880" y="152291"/>
                  </a:lnTo>
                  <a:lnTo>
                    <a:pt x="89225" y="146194"/>
                  </a:lnTo>
                  <a:cubicBezTo>
                    <a:pt x="149322" y="122183"/>
                    <a:pt x="211027" y="110242"/>
                    <a:pt x="264595" y="110242"/>
                  </a:cubicBezTo>
                  <a:cubicBezTo>
                    <a:pt x="315484" y="110242"/>
                    <a:pt x="345472" y="121193"/>
                    <a:pt x="363113" y="140198"/>
                  </a:cubicBezTo>
                  <a:cubicBezTo>
                    <a:pt x="380940" y="159101"/>
                    <a:pt x="389645" y="190377"/>
                    <a:pt x="389547" y="237003"/>
                  </a:cubicBezTo>
                  <a:lnTo>
                    <a:pt x="389547" y="279727"/>
                  </a:lnTo>
                  <a:lnTo>
                    <a:pt x="309993" y="279727"/>
                  </a:lnTo>
                  <a:cubicBezTo>
                    <a:pt x="220443" y="279727"/>
                    <a:pt x="144302" y="295683"/>
                    <a:pt x="88765" y="330571"/>
                  </a:cubicBezTo>
                  <a:cubicBezTo>
                    <a:pt x="33239" y="365252"/>
                    <a:pt x="-358" y="421174"/>
                    <a:pt x="3" y="493250"/>
                  </a:cubicBezTo>
                  <a:cubicBezTo>
                    <a:pt x="-106" y="553210"/>
                    <a:pt x="21679" y="603136"/>
                    <a:pt x="61084" y="636930"/>
                  </a:cubicBezTo>
                  <a:cubicBezTo>
                    <a:pt x="100314" y="670724"/>
                    <a:pt x="155490" y="688201"/>
                    <a:pt x="220870" y="688201"/>
                  </a:cubicBezTo>
                  <a:lnTo>
                    <a:pt x="221056" y="688201"/>
                  </a:lnTo>
                  <a:cubicBezTo>
                    <a:pt x="301845" y="688201"/>
                    <a:pt x="362763" y="656005"/>
                    <a:pt x="407899" y="618183"/>
                  </a:cubicBezTo>
                  <a:lnTo>
                    <a:pt x="413641" y="674664"/>
                  </a:lnTo>
                  <a:lnTo>
                    <a:pt x="427607" y="674664"/>
                  </a:lnTo>
                  <a:lnTo>
                    <a:pt x="539861" y="674664"/>
                  </a:lnTo>
                  <a:lnTo>
                    <a:pt x="539861" y="217282"/>
                  </a:lnTo>
                  <a:cubicBezTo>
                    <a:pt x="539861" y="159454"/>
                    <a:pt x="523456" y="104244"/>
                    <a:pt x="481634" y="63924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19BC152C-2577-764E-802F-9B05F4CFABCE}"/>
                </a:ext>
              </a:extLst>
            </p:cNvPr>
            <p:cNvSpPr/>
            <p:nvPr/>
          </p:nvSpPr>
          <p:spPr>
            <a:xfrm>
              <a:off x="5059160" y="682028"/>
              <a:ext cx="1293081" cy="539038"/>
            </a:xfrm>
            <a:custGeom>
              <a:avLst/>
              <a:gdLst>
                <a:gd name="connsiteX0" fmla="*/ 0 w 1293081"/>
                <a:gd name="connsiteY0" fmla="*/ 167611 h 539038"/>
                <a:gd name="connsiteX1" fmla="*/ 1128189 w 1293081"/>
                <a:gd name="connsiteY1" fmla="*/ 172185 h 539038"/>
                <a:gd name="connsiteX2" fmla="*/ 1128189 w 1293081"/>
                <a:gd name="connsiteY2" fmla="*/ 172185 h 539038"/>
                <a:gd name="connsiteX3" fmla="*/ 1128189 w 1293081"/>
                <a:gd name="connsiteY3" fmla="*/ 172082 h 539038"/>
                <a:gd name="connsiteX4" fmla="*/ 1293082 w 1293081"/>
                <a:gd name="connsiteY4" fmla="*/ 0 h 539038"/>
                <a:gd name="connsiteX5" fmla="*/ 0 w 1293081"/>
                <a:gd name="connsiteY5" fmla="*/ 167611 h 539038"/>
                <a:gd name="connsiteX6" fmla="*/ 952085 w 1293081"/>
                <a:gd name="connsiteY6" fmla="*/ 329836 h 539038"/>
                <a:gd name="connsiteX7" fmla="*/ 1066188 w 1293081"/>
                <a:gd name="connsiteY7" fmla="*/ 230546 h 539038"/>
                <a:gd name="connsiteX8" fmla="*/ 1066188 w 1293081"/>
                <a:gd name="connsiteY8" fmla="*/ 230546 h 539038"/>
                <a:gd name="connsiteX9" fmla="*/ 48723 w 1293081"/>
                <a:gd name="connsiteY9" fmla="*/ 206054 h 539038"/>
                <a:gd name="connsiteX10" fmla="*/ 48723 w 1293081"/>
                <a:gd name="connsiteY10" fmla="*/ 206054 h 539038"/>
                <a:gd name="connsiteX11" fmla="*/ 952085 w 1293081"/>
                <a:gd name="connsiteY11" fmla="*/ 329837 h 539038"/>
                <a:gd name="connsiteX12" fmla="*/ 800776 w 1293081"/>
                <a:gd name="connsiteY12" fmla="*/ 445820 h 539038"/>
                <a:gd name="connsiteX13" fmla="*/ 889287 w 1293081"/>
                <a:gd name="connsiteY13" fmla="*/ 380039 h 539038"/>
                <a:gd name="connsiteX14" fmla="*/ 889287 w 1293081"/>
                <a:gd name="connsiteY14" fmla="*/ 380039 h 539038"/>
                <a:gd name="connsiteX15" fmla="*/ 94045 w 1293081"/>
                <a:gd name="connsiteY15" fmla="*/ 251963 h 539038"/>
                <a:gd name="connsiteX16" fmla="*/ 94045 w 1293081"/>
                <a:gd name="connsiteY16" fmla="*/ 251963 h 539038"/>
                <a:gd name="connsiteX17" fmla="*/ 800776 w 1293081"/>
                <a:gd name="connsiteY17" fmla="*/ 445820 h 539038"/>
                <a:gd name="connsiteX18" fmla="*/ 657822 w 1293081"/>
                <a:gd name="connsiteY18" fmla="*/ 539038 h 539038"/>
                <a:gd name="connsiteX19" fmla="*/ 745349 w 1293081"/>
                <a:gd name="connsiteY19" fmla="*/ 484006 h 539038"/>
                <a:gd name="connsiteX20" fmla="*/ 745349 w 1293081"/>
                <a:gd name="connsiteY20" fmla="*/ 484006 h 539038"/>
                <a:gd name="connsiteX21" fmla="*/ 202625 w 1293081"/>
                <a:gd name="connsiteY21" fmla="*/ 337457 h 539038"/>
                <a:gd name="connsiteX22" fmla="*/ 202625 w 1293081"/>
                <a:gd name="connsiteY22" fmla="*/ 337457 h 539038"/>
                <a:gd name="connsiteX23" fmla="*/ 657822 w 1293081"/>
                <a:gd name="connsiteY23" fmla="*/ 539038 h 5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3081" h="539038">
                  <a:moveTo>
                    <a:pt x="0" y="167611"/>
                  </a:moveTo>
                  <a:cubicBezTo>
                    <a:pt x="536741" y="245762"/>
                    <a:pt x="1127915" y="172185"/>
                    <a:pt x="1128189" y="172185"/>
                  </a:cubicBezTo>
                  <a:lnTo>
                    <a:pt x="1128189" y="172185"/>
                  </a:lnTo>
                  <a:lnTo>
                    <a:pt x="1128189" y="172082"/>
                  </a:lnTo>
                  <a:lnTo>
                    <a:pt x="1293082" y="0"/>
                  </a:lnTo>
                  <a:cubicBezTo>
                    <a:pt x="504489" y="190197"/>
                    <a:pt x="0" y="167611"/>
                    <a:pt x="0" y="167611"/>
                  </a:cubicBezTo>
                  <a:close/>
                  <a:moveTo>
                    <a:pt x="952085" y="329836"/>
                  </a:moveTo>
                  <a:cubicBezTo>
                    <a:pt x="992836" y="296221"/>
                    <a:pt x="1031071" y="262812"/>
                    <a:pt x="1066188" y="230546"/>
                  </a:cubicBezTo>
                  <a:lnTo>
                    <a:pt x="1066188" y="230546"/>
                  </a:lnTo>
                  <a:cubicBezTo>
                    <a:pt x="551331" y="289058"/>
                    <a:pt x="48723" y="206054"/>
                    <a:pt x="48723" y="206054"/>
                  </a:cubicBezTo>
                  <a:lnTo>
                    <a:pt x="48723" y="206054"/>
                  </a:lnTo>
                  <a:cubicBezTo>
                    <a:pt x="381856" y="318201"/>
                    <a:pt x="859812" y="328946"/>
                    <a:pt x="952085" y="329837"/>
                  </a:cubicBezTo>
                  <a:close/>
                  <a:moveTo>
                    <a:pt x="800776" y="445820"/>
                  </a:moveTo>
                  <a:cubicBezTo>
                    <a:pt x="831147" y="424223"/>
                    <a:pt x="860796" y="402271"/>
                    <a:pt x="889287" y="380039"/>
                  </a:cubicBezTo>
                  <a:lnTo>
                    <a:pt x="889287" y="380039"/>
                  </a:lnTo>
                  <a:cubicBezTo>
                    <a:pt x="790135" y="376178"/>
                    <a:pt x="372712" y="358443"/>
                    <a:pt x="94045" y="251963"/>
                  </a:cubicBezTo>
                  <a:lnTo>
                    <a:pt x="94045" y="251963"/>
                  </a:lnTo>
                  <a:cubicBezTo>
                    <a:pt x="94045" y="251963"/>
                    <a:pt x="346300" y="401738"/>
                    <a:pt x="800776" y="445820"/>
                  </a:cubicBezTo>
                  <a:close/>
                  <a:moveTo>
                    <a:pt x="657822" y="539038"/>
                  </a:moveTo>
                  <a:cubicBezTo>
                    <a:pt x="687658" y="521299"/>
                    <a:pt x="716935" y="502832"/>
                    <a:pt x="745349" y="484006"/>
                  </a:cubicBezTo>
                  <a:lnTo>
                    <a:pt x="745349" y="484006"/>
                  </a:lnTo>
                  <a:cubicBezTo>
                    <a:pt x="682375" y="478263"/>
                    <a:pt x="476611" y="442870"/>
                    <a:pt x="202625" y="337457"/>
                  </a:cubicBezTo>
                  <a:lnTo>
                    <a:pt x="202625" y="337457"/>
                  </a:lnTo>
                  <a:cubicBezTo>
                    <a:pt x="202625" y="337457"/>
                    <a:pt x="440881" y="503824"/>
                    <a:pt x="657822" y="5390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4550A4"/>
                </a:gs>
                <a:gs pos="100000">
                  <a:srgbClr val="0B308E"/>
                </a:gs>
              </a:gsLst>
              <a:lin ang="380415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9581C1DF-FC14-054E-3982-7B96D62B6852}"/>
                </a:ext>
              </a:extLst>
            </p:cNvPr>
            <p:cNvSpPr/>
            <p:nvPr/>
          </p:nvSpPr>
          <p:spPr>
            <a:xfrm>
              <a:off x="4797706" y="98099"/>
              <a:ext cx="809109" cy="689987"/>
            </a:xfrm>
            <a:custGeom>
              <a:avLst/>
              <a:gdLst>
                <a:gd name="connsiteX0" fmla="*/ 0 w 809109"/>
                <a:gd name="connsiteY0" fmla="*/ 0 h 689987"/>
                <a:gd name="connsiteX1" fmla="*/ 0 w 809109"/>
                <a:gd name="connsiteY1" fmla="*/ 2540 h 689987"/>
                <a:gd name="connsiteX2" fmla="*/ 13507 w 809109"/>
                <a:gd name="connsiteY2" fmla="*/ 192331 h 689987"/>
                <a:gd name="connsiteX3" fmla="*/ 14043 w 809109"/>
                <a:gd name="connsiteY3" fmla="*/ 193043 h 689987"/>
                <a:gd name="connsiteX4" fmla="*/ 809110 w 809109"/>
                <a:gd name="connsiteY4" fmla="*/ 646128 h 689987"/>
                <a:gd name="connsiteX5" fmla="*/ 809110 w 809109"/>
                <a:gd name="connsiteY5" fmla="*/ 646128 h 689987"/>
                <a:gd name="connsiteX6" fmla="*/ 0 w 809109"/>
                <a:gd name="connsiteY6" fmla="*/ 1 h 689987"/>
                <a:gd name="connsiteX7" fmla="*/ 53196 w 809109"/>
                <a:gd name="connsiteY7" fmla="*/ 378134 h 689987"/>
                <a:gd name="connsiteX8" fmla="*/ 747383 w 809109"/>
                <a:gd name="connsiteY8" fmla="*/ 658857 h 689987"/>
                <a:gd name="connsiteX9" fmla="*/ 747383 w 809109"/>
                <a:gd name="connsiteY9" fmla="*/ 658857 h 689987"/>
                <a:gd name="connsiteX10" fmla="*/ 23645 w 809109"/>
                <a:gd name="connsiteY10" fmla="*/ 253995 h 689987"/>
                <a:gd name="connsiteX11" fmla="*/ 23645 w 809109"/>
                <a:gd name="connsiteY11" fmla="*/ 253995 h 689987"/>
                <a:gd name="connsiteX12" fmla="*/ 53196 w 809109"/>
                <a:gd name="connsiteY12" fmla="*/ 378134 h 689987"/>
                <a:gd name="connsiteX13" fmla="*/ 109083 w 809109"/>
                <a:gd name="connsiteY13" fmla="*/ 527553 h 689987"/>
                <a:gd name="connsiteX14" fmla="*/ 660775 w 809109"/>
                <a:gd name="connsiteY14" fmla="*/ 668002 h 689987"/>
                <a:gd name="connsiteX15" fmla="*/ 660775 w 809109"/>
                <a:gd name="connsiteY15" fmla="*/ 668002 h 689987"/>
                <a:gd name="connsiteX16" fmla="*/ 68158 w 809109"/>
                <a:gd name="connsiteY16" fmla="*/ 425009 h 689987"/>
                <a:gd name="connsiteX17" fmla="*/ 68158 w 809109"/>
                <a:gd name="connsiteY17" fmla="*/ 425009 h 689987"/>
                <a:gd name="connsiteX18" fmla="*/ 109083 w 809109"/>
                <a:gd name="connsiteY18" fmla="*/ 527553 h 689987"/>
                <a:gd name="connsiteX19" fmla="*/ 129425 w 809109"/>
                <a:gd name="connsiteY19" fmla="*/ 569424 h 689987"/>
                <a:gd name="connsiteX20" fmla="*/ 186930 w 809109"/>
                <a:gd name="connsiteY20" fmla="*/ 665588 h 689987"/>
                <a:gd name="connsiteX21" fmla="*/ 186930 w 809109"/>
                <a:gd name="connsiteY21" fmla="*/ 665588 h 689987"/>
                <a:gd name="connsiteX22" fmla="*/ 186930 w 809109"/>
                <a:gd name="connsiteY22" fmla="*/ 665665 h 689987"/>
                <a:gd name="connsiteX23" fmla="*/ 587138 w 809109"/>
                <a:gd name="connsiteY23" fmla="*/ 686550 h 689987"/>
                <a:gd name="connsiteX24" fmla="*/ 587138 w 809109"/>
                <a:gd name="connsiteY24" fmla="*/ 686550 h 689987"/>
                <a:gd name="connsiteX25" fmla="*/ 129775 w 809109"/>
                <a:gd name="connsiteY25" fmla="*/ 569424 h 689987"/>
                <a:gd name="connsiteX26" fmla="*/ 129775 w 809109"/>
                <a:gd name="connsiteY26" fmla="*/ 569424 h 689987"/>
                <a:gd name="connsiteX27" fmla="*/ 129425 w 809109"/>
                <a:gd name="connsiteY27" fmla="*/ 569424 h 68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09109" h="689987">
                  <a:moveTo>
                    <a:pt x="0" y="0"/>
                  </a:moveTo>
                  <a:lnTo>
                    <a:pt x="0" y="2540"/>
                  </a:lnTo>
                  <a:cubicBezTo>
                    <a:pt x="284" y="55818"/>
                    <a:pt x="3631" y="120886"/>
                    <a:pt x="13507" y="192331"/>
                  </a:cubicBezTo>
                  <a:lnTo>
                    <a:pt x="14043" y="193043"/>
                  </a:lnTo>
                  <a:cubicBezTo>
                    <a:pt x="393591" y="495286"/>
                    <a:pt x="809110" y="646128"/>
                    <a:pt x="809110" y="646128"/>
                  </a:cubicBezTo>
                  <a:lnTo>
                    <a:pt x="809110" y="646128"/>
                  </a:lnTo>
                  <a:cubicBezTo>
                    <a:pt x="275693" y="342819"/>
                    <a:pt x="0" y="1"/>
                    <a:pt x="0" y="1"/>
                  </a:cubicBezTo>
                  <a:close/>
                  <a:moveTo>
                    <a:pt x="53196" y="378134"/>
                  </a:moveTo>
                  <a:cubicBezTo>
                    <a:pt x="476436" y="613250"/>
                    <a:pt x="747383" y="658857"/>
                    <a:pt x="747383" y="658857"/>
                  </a:cubicBezTo>
                  <a:lnTo>
                    <a:pt x="747383" y="658857"/>
                  </a:lnTo>
                  <a:cubicBezTo>
                    <a:pt x="287964" y="461849"/>
                    <a:pt x="23897" y="254273"/>
                    <a:pt x="23645" y="253995"/>
                  </a:cubicBezTo>
                  <a:lnTo>
                    <a:pt x="23645" y="253995"/>
                  </a:lnTo>
                  <a:cubicBezTo>
                    <a:pt x="31082" y="294341"/>
                    <a:pt x="40761" y="335932"/>
                    <a:pt x="53196" y="378134"/>
                  </a:cubicBezTo>
                  <a:close/>
                  <a:moveTo>
                    <a:pt x="109083" y="527553"/>
                  </a:moveTo>
                  <a:cubicBezTo>
                    <a:pt x="428326" y="649811"/>
                    <a:pt x="660775" y="668002"/>
                    <a:pt x="660775" y="668002"/>
                  </a:cubicBezTo>
                  <a:lnTo>
                    <a:pt x="660775" y="668002"/>
                  </a:lnTo>
                  <a:cubicBezTo>
                    <a:pt x="286433" y="551485"/>
                    <a:pt x="68508" y="425287"/>
                    <a:pt x="68158" y="425009"/>
                  </a:cubicBezTo>
                  <a:lnTo>
                    <a:pt x="68158" y="425009"/>
                  </a:lnTo>
                  <a:cubicBezTo>
                    <a:pt x="79707" y="459156"/>
                    <a:pt x="93236" y="493581"/>
                    <a:pt x="109083" y="527553"/>
                  </a:cubicBezTo>
                  <a:close/>
                  <a:moveTo>
                    <a:pt x="129425" y="569424"/>
                  </a:moveTo>
                  <a:cubicBezTo>
                    <a:pt x="146355" y="601868"/>
                    <a:pt x="165429" y="634211"/>
                    <a:pt x="186930" y="665588"/>
                  </a:cubicBezTo>
                  <a:lnTo>
                    <a:pt x="186930" y="665588"/>
                  </a:lnTo>
                  <a:lnTo>
                    <a:pt x="186930" y="665665"/>
                  </a:lnTo>
                  <a:cubicBezTo>
                    <a:pt x="397878" y="702506"/>
                    <a:pt x="587138" y="686550"/>
                    <a:pt x="587138" y="686550"/>
                  </a:cubicBezTo>
                  <a:lnTo>
                    <a:pt x="587138" y="686550"/>
                  </a:lnTo>
                  <a:cubicBezTo>
                    <a:pt x="316629" y="642290"/>
                    <a:pt x="166238" y="583219"/>
                    <a:pt x="129775" y="569424"/>
                  </a:cubicBezTo>
                  <a:lnTo>
                    <a:pt x="129775" y="569424"/>
                  </a:lnTo>
                  <a:lnTo>
                    <a:pt x="129425" y="569424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BFCD7F"/>
                </a:gs>
                <a:gs pos="100000">
                  <a:srgbClr val="809B00"/>
                </a:gs>
              </a:gsLst>
              <a:lin ang="12509132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F36AEA8-3AEE-2BD2-6A1A-683B2C33F84A}"/>
              </a:ext>
            </a:extLst>
          </p:cNvPr>
          <p:cNvGrpSpPr/>
          <p:nvPr userDrawn="1"/>
        </p:nvGrpSpPr>
        <p:grpSpPr>
          <a:xfrm>
            <a:off x="407988" y="416022"/>
            <a:ext cx="446425" cy="432024"/>
            <a:chOff x="3157789" y="1162600"/>
            <a:chExt cx="2232000" cy="216000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6314E6E3-A28B-A97E-0AE5-88C0DE0B41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93787" y="1162600"/>
              <a:ext cx="2159999" cy="2160000"/>
            </a:xfrm>
            <a:prstGeom prst="ellipse">
              <a:avLst/>
            </a:prstGeom>
            <a:solidFill>
              <a:srgbClr val="0B30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46565262-88D8-725C-5ACD-4D69907B9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57789" y="1461401"/>
              <a:ext cx="2232000" cy="1562399"/>
            </a:xfrm>
            <a:prstGeom prst="rect">
              <a:avLst/>
            </a:prstGeom>
          </p:spPr>
        </p:pic>
      </p:grp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B149AD21-405B-D537-EB6C-FEB360C5FB03}"/>
              </a:ext>
            </a:extLst>
          </p:cNvPr>
          <p:cNvSpPr/>
          <p:nvPr userDrawn="1"/>
        </p:nvSpPr>
        <p:spPr>
          <a:xfrm>
            <a:off x="777665" y="416034"/>
            <a:ext cx="8213621" cy="432000"/>
          </a:xfrm>
          <a:custGeom>
            <a:avLst/>
            <a:gdLst>
              <a:gd name="connsiteX0" fmla="*/ 0 w 8213621"/>
              <a:gd name="connsiteY0" fmla="*/ 0 h 432000"/>
              <a:gd name="connsiteX1" fmla="*/ 7997621 w 8213621"/>
              <a:gd name="connsiteY1" fmla="*/ 0 h 432000"/>
              <a:gd name="connsiteX2" fmla="*/ 8213621 w 8213621"/>
              <a:gd name="connsiteY2" fmla="*/ 216000 h 432000"/>
              <a:gd name="connsiteX3" fmla="*/ 7997621 w 8213621"/>
              <a:gd name="connsiteY3" fmla="*/ 432000 h 432000"/>
              <a:gd name="connsiteX4" fmla="*/ 0 w 8213621"/>
              <a:gd name="connsiteY4" fmla="*/ 432000 h 432000"/>
              <a:gd name="connsiteX5" fmla="*/ 38100 w 8213621"/>
              <a:gd name="connsiteY5" fmla="*/ 400565 h 432000"/>
              <a:gd name="connsiteX6" fmla="*/ 114549 w 8213621"/>
              <a:gd name="connsiteY6" fmla="*/ 216000 h 432000"/>
              <a:gd name="connsiteX7" fmla="*/ 38100 w 8213621"/>
              <a:gd name="connsiteY7" fmla="*/ 31435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13621" h="432000">
                <a:moveTo>
                  <a:pt x="0" y="0"/>
                </a:moveTo>
                <a:lnTo>
                  <a:pt x="7997621" y="0"/>
                </a:lnTo>
                <a:cubicBezTo>
                  <a:pt x="8116915" y="0"/>
                  <a:pt x="8213621" y="96706"/>
                  <a:pt x="8213621" y="216000"/>
                </a:cubicBezTo>
                <a:cubicBezTo>
                  <a:pt x="8213621" y="335294"/>
                  <a:pt x="8116915" y="432000"/>
                  <a:pt x="7997621" y="432000"/>
                </a:cubicBezTo>
                <a:lnTo>
                  <a:pt x="0" y="432000"/>
                </a:lnTo>
                <a:lnTo>
                  <a:pt x="38100" y="400565"/>
                </a:lnTo>
                <a:cubicBezTo>
                  <a:pt x="85334" y="353331"/>
                  <a:pt x="114549" y="288077"/>
                  <a:pt x="114549" y="216000"/>
                </a:cubicBezTo>
                <a:cubicBezTo>
                  <a:pt x="114549" y="143923"/>
                  <a:pt x="85334" y="78670"/>
                  <a:pt x="38100" y="31435"/>
                </a:cubicBezTo>
                <a:close/>
              </a:path>
            </a:pathLst>
          </a:custGeom>
          <a:gradFill flip="none" rotWithShape="1">
            <a:gsLst>
              <a:gs pos="0">
                <a:srgbClr val="6492D4">
                  <a:alpha val="2000"/>
                </a:srgbClr>
              </a:gs>
              <a:gs pos="50000">
                <a:srgbClr val="6492D4">
                  <a:alpha val="10000"/>
                </a:srgbClr>
              </a:gs>
              <a:gs pos="98000">
                <a:srgbClr val="6492D4">
                  <a:alpha val="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AAD96DA-A547-44C3-527A-3BB8CA701C3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65112" y="6498448"/>
            <a:ext cx="1555083" cy="10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7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4FF59C-D32E-291D-F4BC-2EBEDD3F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CB62A-A28B-9E82-A3F3-AF5202CE4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780B2-EC77-5362-71CA-6DDF89EE9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DEC29-7515-0103-604F-66D4083E1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9263E4-CC43-E1F8-6671-5541F77EC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6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7F9B00"/>
                </a:solidFill>
                <a:latin typeface="Arial"/>
              </a:rPr>
              <a:t>A  ·  THE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550400" y="342900"/>
            <a:ext cx="3302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1400" y="342900"/>
            <a:ext cx="330200" cy="508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12400" y="342900"/>
            <a:ext cx="330200" cy="508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42900"/>
            <a:ext cx="330200" cy="508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25200" y="228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0B308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762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0B308E"/>
                </a:solidFill>
                <a:latin typeface="Arial"/>
              </a:rPr>
              <a:t>450 MHz does one job well: coverage that is still there after the storm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13716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09600" y="1574800"/>
            <a:ext cx="5410200" cy="193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1574800"/>
            <a:ext cx="50800" cy="1930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000" y="17526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400" b="1">
                <a:solidFill>
                  <a:srgbClr val="8CC63F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9400" y="17526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7F9B00"/>
                </a:solidFill>
                <a:latin typeface="Arial"/>
              </a:rP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2286000"/>
            <a:ext cx="4953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A coverage and resilience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2692400"/>
            <a:ext cx="49022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55607A"/>
                </a:solidFill>
                <a:latin typeface="Arial"/>
              </a:rPr>
              <a:t>Alongside Globe’s 4G and 5G, not instead of them. Voice, telemetry and low-rate video, not capacity.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574800"/>
            <a:ext cx="5410200" cy="193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574800"/>
            <a:ext cx="50800" cy="1930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600" y="17526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400" b="1">
                <a:solidFill>
                  <a:srgbClr val="8CC63F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0" y="17526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7F9B00"/>
                </a:solidFill>
                <a:latin typeface="Arial"/>
              </a:rPr>
              <a:t>WHY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1600" y="2286000"/>
            <a:ext cx="4953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The band is mainstream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600" y="2692400"/>
            <a:ext cx="49022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55607A"/>
                </a:solidFill>
                <a:latin typeface="Arial"/>
              </a:rPr>
              <a:t>Networks in 77 countries, 39 of them already on LTE. Globe already holds the spectrum.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657600"/>
            <a:ext cx="5410200" cy="193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600" y="3657600"/>
            <a:ext cx="50800" cy="1930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000" y="38354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400" b="1">
                <a:solidFill>
                  <a:srgbClr val="8CC63F"/>
                </a:solidFill>
                <a:latin typeface="Arial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9400" y="38354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7F9B00"/>
                </a:solidFill>
                <a:latin typeface="Arial"/>
              </a:rPr>
              <a:t>WHO PAYS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" y="4368800"/>
            <a:ext cx="4953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The utilities anchor the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" y="4775200"/>
            <a:ext cx="49022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55607A"/>
                </a:solidFill>
                <a:latin typeface="Arial"/>
              </a:rPr>
              <a:t>Electric cooperatives and water districts first; public safety and transport use the same sites.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657600"/>
            <a:ext cx="5410200" cy="193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657600"/>
            <a:ext cx="50800" cy="19304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1600" y="38354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400" b="1">
                <a:solidFill>
                  <a:srgbClr val="8CC63F"/>
                </a:solidFill>
                <a:latin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2000" y="38354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7F9B00"/>
                </a:solidFill>
                <a:latin typeface="Arial"/>
              </a:rPr>
              <a:t>WHAT WE PROPOSE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1600" y="4368800"/>
            <a:ext cx="4953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A pilot, not a 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1600" y="4775200"/>
            <a:ext cx="49022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55607A"/>
                </a:solidFill>
                <a:latin typeface="Arial"/>
              </a:rPr>
              <a:t>One typhoon-belt province and two anchor customers, measured in Globe’s own terrain.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5842000"/>
            <a:ext cx="10972800" cy="4572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200" y="584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7F9B00"/>
                </a:solidFill>
                <a:latin typeface="Arial"/>
              </a:rPr>
              <a:t>Today’s ask:  </a:t>
            </a:r>
            <a:r>
              <a:rPr sz="1200" b="0">
                <a:solidFill>
                  <a:srgbClr val="16213E"/>
                </a:solidFill>
                <a:latin typeface="Arial"/>
              </a:rPr>
              <a:t>confirm the spectrum parameters and nominate a pilot province.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4770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450 MHz Alliance, Annual Global Update (Dec 2025) p11 Table 1; Brief (Jun 2022) p15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7F9B00"/>
                </a:solidFill>
                <a:latin typeface="Arial"/>
              </a:rPr>
              <a:t>C  ·  WHO PAYS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550400" y="342900"/>
            <a:ext cx="330200" cy="508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1400" y="342900"/>
            <a:ext cx="330200" cy="508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12400" y="342900"/>
            <a:ext cx="3302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42900"/>
            <a:ext cx="330200" cy="508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25200" y="228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0B308E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762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0B308E"/>
                </a:solidFill>
                <a:latin typeface="Arial"/>
              </a:rPr>
              <a:t>Start where the money and the fit are both highest: the utilities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13716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68400" y="14986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55607A"/>
                </a:solidFill>
                <a:latin typeface="Arial"/>
              </a:rPr>
              <a:t>INDUSTRY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3200" y="1498600"/>
            <a:ext cx="1168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55607A"/>
                </a:solidFill>
                <a:latin typeface="Arial"/>
              </a:rPr>
              <a:t>ABILITY TO 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6200" y="1498600"/>
            <a:ext cx="1168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55607A"/>
                </a:solidFill>
                <a:latin typeface="Arial"/>
              </a:rPr>
              <a:t>FIT WITH 450 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498600"/>
            <a:ext cx="1168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55607A"/>
                </a:solidFill>
                <a:latin typeface="Arial"/>
              </a:rPr>
              <a:t>TIME TO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7000" y="1498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55607A"/>
                </a:solidFill>
                <a:latin typeface="Arial"/>
              </a:rPr>
              <a:t>WHY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752600"/>
            <a:ext cx="10972800" cy="5842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600" y="1752600"/>
            <a:ext cx="330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2000" b="1">
                <a:solidFill>
                  <a:srgbClr val="7F9B00"/>
                </a:solidFill>
                <a:latin typeface="Arial"/>
              </a:rPr>
              <a:t>1</a:t>
            </a:r>
          </a:p>
        </p:txBody>
      </p:sp>
      <p:pic>
        <p:nvPicPr>
          <p:cNvPr id="18" name="Picture 17" descr="a_2adbfbb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1820510"/>
            <a:ext cx="558800" cy="44837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54200" y="1752600"/>
            <a:ext cx="2032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0B308E"/>
                </a:solidFill>
                <a:latin typeface="Arial"/>
              </a:rPr>
              <a:t>Power</a:t>
            </a:r>
          </a:p>
        </p:txBody>
      </p:sp>
      <p:sp>
        <p:nvSpPr>
          <p:cNvPr id="20" name="Oval 19"/>
          <p:cNvSpPr/>
          <p:nvPr/>
        </p:nvSpPr>
        <p:spPr>
          <a:xfrm>
            <a:off x="4318000" y="19812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08500" y="19812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9000" y="19812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61000" y="19812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51500" y="19812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42000" y="19812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04000" y="19812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94500" y="19812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85000" y="19812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7000" y="1752600"/>
            <a:ext cx="3759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16213E"/>
                </a:solidFill>
                <a:latin typeface="Arial"/>
              </a:rPr>
              <a:t>The utilities anchor 450connect in Germany and TNB in Malaysia; scattered assets need a private data path.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2413000"/>
            <a:ext cx="10972800" cy="5842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600" y="2413000"/>
            <a:ext cx="330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2000" b="1">
                <a:solidFill>
                  <a:srgbClr val="7F9B00"/>
                </a:solidFill>
                <a:latin typeface="Arial"/>
              </a:rPr>
              <a:t>2</a:t>
            </a:r>
          </a:p>
        </p:txBody>
      </p:sp>
      <p:pic>
        <p:nvPicPr>
          <p:cNvPr id="32" name="Picture 31" descr="a_365a95ab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2480174"/>
            <a:ext cx="558800" cy="44985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54200" y="2413000"/>
            <a:ext cx="2032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0B308E"/>
                </a:solidFill>
                <a:latin typeface="Arial"/>
              </a:rPr>
              <a:t>Water</a:t>
            </a:r>
          </a:p>
        </p:txBody>
      </p:sp>
      <p:sp>
        <p:nvSpPr>
          <p:cNvPr id="34" name="Oval 33"/>
          <p:cNvSpPr/>
          <p:nvPr/>
        </p:nvSpPr>
        <p:spPr>
          <a:xfrm>
            <a:off x="4318000" y="26416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08500" y="26416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99000" y="26416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61000" y="26416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651500" y="26416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842000" y="26416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4000" y="26416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94500" y="26416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85000" y="2641600"/>
            <a:ext cx="114300" cy="1143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7000" y="2413000"/>
            <a:ext cx="3759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16213E"/>
                </a:solidFill>
                <a:latin typeface="Arial"/>
              </a:rPr>
              <a:t>Same sites and same IoT as power. Budgets vary: only 149 of 532 districts meet the 20% loss limit.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600" y="3073400"/>
            <a:ext cx="10972800" cy="584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600" y="3073400"/>
            <a:ext cx="330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2000" b="1">
                <a:solidFill>
                  <a:srgbClr val="0B308E"/>
                </a:solidFill>
                <a:latin typeface="Arial"/>
              </a:rPr>
              <a:t>3</a:t>
            </a:r>
          </a:p>
        </p:txBody>
      </p:sp>
      <p:pic>
        <p:nvPicPr>
          <p:cNvPr id="46" name="Picture 45" descr="a_01a451a5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0" y="3130657"/>
            <a:ext cx="558800" cy="4696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854200" y="3073400"/>
            <a:ext cx="2032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0B308E"/>
                </a:solidFill>
                <a:latin typeface="Arial"/>
              </a:rPr>
              <a:t>Emergency</a:t>
            </a:r>
          </a:p>
        </p:txBody>
      </p:sp>
      <p:sp>
        <p:nvSpPr>
          <p:cNvPr id="48" name="Oval 47"/>
          <p:cNvSpPr/>
          <p:nvPr/>
        </p:nvSpPr>
        <p:spPr>
          <a:xfrm>
            <a:off x="4318000" y="33020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08500" y="33020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699000" y="33020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461000" y="33020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51500" y="33020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42000" y="33020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604000" y="33020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794500" y="33020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985000" y="33020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7000" y="3073400"/>
            <a:ext cx="3759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16213E"/>
                </a:solidFill>
                <a:latin typeface="Arial"/>
              </a:rPr>
              <a:t>The direct answer to the typhoon risk. Paid as standby readiness, not by usage.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600" y="3733800"/>
            <a:ext cx="10972800" cy="584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6600" y="3733800"/>
            <a:ext cx="330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2000" b="1">
                <a:solidFill>
                  <a:srgbClr val="0B308E"/>
                </a:solidFill>
                <a:latin typeface="Arial"/>
              </a:rPr>
              <a:t>4</a:t>
            </a:r>
          </a:p>
        </p:txBody>
      </p:sp>
      <p:pic>
        <p:nvPicPr>
          <p:cNvPr id="60" name="Picture 59" descr="a_bd2b5a0db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769" y="3784600"/>
            <a:ext cx="440060" cy="482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854200" y="3733800"/>
            <a:ext cx="2032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0B308E"/>
                </a:solidFill>
                <a:latin typeface="Arial"/>
              </a:rPr>
              <a:t>Police</a:t>
            </a:r>
          </a:p>
        </p:txBody>
      </p:sp>
      <p:sp>
        <p:nvSpPr>
          <p:cNvPr id="62" name="Oval 61"/>
          <p:cNvSpPr/>
          <p:nvPr/>
        </p:nvSpPr>
        <p:spPr>
          <a:xfrm>
            <a:off x="4318000" y="39624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08500" y="39624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699000" y="39624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461000" y="39624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651500" y="39624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842000" y="39624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604000" y="39624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794500" y="39624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985000" y="39624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47000" y="3733800"/>
            <a:ext cx="3759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16213E"/>
                </a:solidFill>
                <a:latin typeface="Arial"/>
              </a:rPr>
              <a:t>Large user base, but DMR and TETRA are already in service. The entry point is interoperability.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600" y="4394200"/>
            <a:ext cx="10972800" cy="584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6600" y="4394200"/>
            <a:ext cx="330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2000" b="1">
                <a:solidFill>
                  <a:srgbClr val="0B308E"/>
                </a:solidFill>
                <a:latin typeface="Arial"/>
              </a:rPr>
              <a:t>5</a:t>
            </a:r>
          </a:p>
        </p:txBody>
      </p:sp>
      <p:pic>
        <p:nvPicPr>
          <p:cNvPr id="74" name="Picture 73" descr="a_033b685a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400" y="4490199"/>
            <a:ext cx="558800" cy="3922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854200" y="4394200"/>
            <a:ext cx="2032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0B308E"/>
                </a:solidFill>
                <a:latin typeface="Arial"/>
              </a:rPr>
              <a:t>Rail</a:t>
            </a:r>
          </a:p>
        </p:txBody>
      </p:sp>
      <p:sp>
        <p:nvSpPr>
          <p:cNvPr id="76" name="Oval 75"/>
          <p:cNvSpPr/>
          <p:nvPr/>
        </p:nvSpPr>
        <p:spPr>
          <a:xfrm>
            <a:off x="4318000" y="46228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508500" y="46228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99000" y="46228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461000" y="46228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651500" y="46228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842000" y="46228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604000" y="46228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794500" y="46228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985000" y="46228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47000" y="4394200"/>
            <a:ext cx="3759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16213E"/>
                </a:solidFill>
                <a:latin typeface="Arial"/>
              </a:rPr>
              <a:t>Corridor coverage suits the band, but the rail network is limited and projects run long.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600" y="5054600"/>
            <a:ext cx="10972800" cy="584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6600" y="5054600"/>
            <a:ext cx="330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2000" b="1">
                <a:solidFill>
                  <a:srgbClr val="0B308E"/>
                </a:solidFill>
                <a:latin typeface="Arial"/>
              </a:rPr>
              <a:t>6</a:t>
            </a:r>
          </a:p>
        </p:txBody>
      </p:sp>
      <p:pic>
        <p:nvPicPr>
          <p:cNvPr id="88" name="Picture 87" descr="a_cf44be03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5145692"/>
            <a:ext cx="558800" cy="402014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854200" y="5054600"/>
            <a:ext cx="2032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0B308E"/>
                </a:solidFill>
                <a:latin typeface="Arial"/>
              </a:rPr>
              <a:t>Port</a:t>
            </a:r>
          </a:p>
        </p:txBody>
      </p:sp>
      <p:sp>
        <p:nvSpPr>
          <p:cNvPr id="90" name="Oval 89"/>
          <p:cNvSpPr/>
          <p:nvPr/>
        </p:nvSpPr>
        <p:spPr>
          <a:xfrm>
            <a:off x="4318000" y="52832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508500" y="52832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699000" y="52832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461000" y="52832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651500" y="52832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842000" y="52832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604000" y="52832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794500" y="5283200"/>
            <a:ext cx="114300" cy="1143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985000" y="5283200"/>
            <a:ext cx="114300" cy="1143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47000" y="5054600"/>
            <a:ext cx="3759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16213E"/>
                </a:solidFill>
                <a:latin typeface="Arial"/>
              </a:rPr>
              <a:t>Coverage over water is an advantage, but there is no 450 MHz port deployment to point to yet.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8000" y="1752600"/>
            <a:ext cx="50800" cy="1244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9600" y="5791200"/>
            <a:ext cx="635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7F9B00"/>
                </a:solidFill>
                <a:latin typeface="Arial"/>
              </a:rPr>
              <a:t>GREEN ROWS = ANCHOR CUSTOMERS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9600" y="60198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Our reading, to be tested in the pilot. Three dots = strongest. Police has the largest budget but the slowest path to revenue.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9600" y="64770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Hytera assessment; 450 MHz Alliance, Annual Global Update (Dec 2025) p8-p9; LWUA NRW data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7F9B00"/>
                </a:solidFill>
                <a:latin typeface="Arial"/>
              </a:rPr>
              <a:t>C  ·  PRIORITY 1 OF 6  · 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550400" y="342900"/>
            <a:ext cx="330200" cy="508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1400" y="342900"/>
            <a:ext cx="330200" cy="508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12400" y="342900"/>
            <a:ext cx="3302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42900"/>
            <a:ext cx="330200" cy="508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25200" y="228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0B308E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762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0B308E"/>
                </a:solidFill>
                <a:latin typeface="Arial"/>
              </a:rPr>
              <a:t>Power is the anchor customer - as it is for 450connect in Germany and TNB in Malaysia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13716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v6_13015b8219.jpg"/>
          <p:cNvPicPr>
            <a:picLocks noChangeAspect="1"/>
          </p:cNvPicPr>
          <p:nvPr/>
        </p:nvPicPr>
        <p:blipFill>
          <a:blip r:embed="rId2"/>
          <a:srcRect l="2331" r="2331"/>
          <a:stretch>
            <a:fillRect/>
          </a:stretch>
        </p:blipFill>
        <p:spPr>
          <a:xfrm>
            <a:off x="609600" y="1574800"/>
            <a:ext cx="5080000" cy="299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6228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93A0B4"/>
                </a:solidFill>
                <a:latin typeface="Arial"/>
              </a:rPr>
              <a:t>Line crews on a repair job. Illustrative imagery.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69000" y="1574800"/>
            <a:ext cx="5613400" cy="711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69000" y="1574800"/>
            <a:ext cx="50800" cy="711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7600" y="1574800"/>
            <a:ext cx="12192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400" b="1">
                <a:solidFill>
                  <a:srgbClr val="0B308E"/>
                </a:solidFill>
                <a:latin typeface="Arial"/>
              </a:rPr>
              <a:t>121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3000" y="1574800"/>
            <a:ext cx="38862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6213E"/>
                </a:solidFill>
                <a:latin typeface="Arial"/>
              </a:rPr>
              <a:t>electric cooperatives under NEA serve the rural grid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69000" y="2387600"/>
            <a:ext cx="5613400" cy="711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69000" y="2387600"/>
            <a:ext cx="50800" cy="711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7600" y="2387600"/>
            <a:ext cx="12192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400" b="1">
                <a:solidFill>
                  <a:srgbClr val="0B308E"/>
                </a:solidFill>
                <a:latin typeface="Arial"/>
              </a:rPr>
              <a:t>1.4M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3000" y="2387600"/>
            <a:ext cx="38862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6213E"/>
                </a:solidFill>
                <a:latin typeface="Arial"/>
              </a:rPr>
              <a:t>electricity consumers without power after Typhoon Tino, Nov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9000" y="33274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WHAT 450 MHZ DOES</a:t>
            </a:r>
          </a:p>
        </p:txBody>
      </p:sp>
      <p:sp>
        <p:nvSpPr>
          <p:cNvPr id="22" name="Oval 21"/>
          <p:cNvSpPr/>
          <p:nvPr/>
        </p:nvSpPr>
        <p:spPr>
          <a:xfrm>
            <a:off x="5969000" y="3581400"/>
            <a:ext cx="279400" cy="279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69000" y="35814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94100"/>
            <a:ext cx="5181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6213E"/>
                </a:solidFill>
                <a:latin typeface="Arial"/>
              </a:rPr>
              <a:t>A private data path for SCADA, feeder automation and substations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5969000" y="3962400"/>
            <a:ext cx="279400" cy="279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9000" y="39624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75100"/>
            <a:ext cx="5181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6213E"/>
                </a:solidFill>
                <a:latin typeface="Arial"/>
              </a:rPr>
              <a:t>Push-to-talk, video and lone-worker alarms for line crews</a:t>
            </a:r>
          </a:p>
        </p:txBody>
      </p:sp>
      <p:sp>
        <p:nvSpPr>
          <p:cNvPr id="28" name="Oval 27"/>
          <p:cNvSpPr/>
          <p:nvPr/>
        </p:nvSpPr>
        <p:spPr>
          <a:xfrm>
            <a:off x="5969000" y="4343400"/>
            <a:ext cx="279400" cy="279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9000" y="43434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56100"/>
            <a:ext cx="5181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6213E"/>
                </a:solidFill>
                <a:latin typeface="Arial"/>
              </a:rPr>
              <a:t>Smart meters on the same sites, reaching boxes deep indoors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978400"/>
            <a:ext cx="5410200" cy="1219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" y="4978400"/>
            <a:ext cx="54102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00" y="5156200"/>
            <a:ext cx="4953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0B308E"/>
                </a:solidFill>
                <a:latin typeface="Arial"/>
              </a:rPr>
              <a:t>PROOF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5410200"/>
            <a:ext cx="495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16213E"/>
                </a:solidFill>
                <a:latin typeface="Arial"/>
              </a:rPr>
              <a:t>Germany: 450connect, Band 72, more than 95% national coverage.  Malaysia: TNB, Band 31, initial deployment in four areas.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4978400"/>
            <a:ext cx="5410200" cy="12192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4978400"/>
            <a:ext cx="5410200" cy="508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156200"/>
            <a:ext cx="4953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7F9B00"/>
                </a:solidFill>
                <a:latin typeface="Arial"/>
              </a:rPr>
              <a:t>WHAT GLOBE SELLS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10200"/>
            <a:ext cx="495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16213E"/>
                </a:solidFill>
                <a:latin typeface="Arial"/>
              </a:rPr>
              <a:t>A capacity package for the cooperative, IoT connectivity per meter, and SCADA integration and O&amp;M.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4770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NEA; Department of Energy (5 Nov 2025); 450 MHz Alliance, RFI for devices (2025) p5, Annual Global Update (Dec 2025) p8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3459</Words>
  <Application>Microsoft Macintosh PowerPoint</Application>
  <PresentationFormat>宽屏</PresentationFormat>
  <Paragraphs>390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yu</dc:creator>
  <cp:lastModifiedBy>stefan yu</cp:lastModifiedBy>
  <cp:revision>1</cp:revision>
  <dcterms:created xsi:type="dcterms:W3CDTF">2026-10-10T01:12:47Z</dcterms:created>
  <dcterms:modified xsi:type="dcterms:W3CDTF">2026-10-10T01:38:43Z</dcterms:modified>
</cp:coreProperties>
</file>