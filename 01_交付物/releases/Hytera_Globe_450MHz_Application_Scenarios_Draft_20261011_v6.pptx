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6"/>
    <p:sldId id="269" r:id="rId5"/>
    <p:sldId id="270" r:id="rId4"/>
    <p:sldId id="271" r:id="rId3"/>
    <p:sldId id="272" r:id="rId2"/>
    <p:sldId id="273" r:id="rId24"/>
    <p:sldId id="274" r:id="rId25"/>
    <p:sldId id="275" r:id="rId26"/>
    <p:sldId id="276" r:id="rId27"/>
    <p:sldId id="277"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4"/>
    <p:restoredTop sz="87603"/>
  </p:normalViewPr>
  <p:slideViewPr>
    <p:cSldViewPr snapToGrid="0">
      <p:cViewPr varScale="1">
        <p:scale>
          <a:sx n="110" d="100"/>
          <a:sy n="110" d="100"/>
        </p:scale>
        <p:origin x="88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 name="Notes Placeholder"/>
          <p:cNvSpPr>
            <a:spLocks noGrp="1"/>
          </p:cNvSpPr>
          <p:nvPr>
            <p:ph type="body" sz="quarter" idx="1"/>
          </p:nvPr>
        </p:nvSpPr>
        <p:spPr>
          <a:xfrm>
            <a:off x="685800" y="4343400"/>
            <a:ext cx="5486400" cy="4114800"/>
          </a:xfrm>
        </p:spPr>
        <p:txBody>
          <a:bodyPr/>
          <a:lstStyle/>
          <a:p/>
        </p:txBody>
      </p:sp>
    </p:spTree>
    <p:extLst>
      <p:ext uri="{BB962C8B-B14F-4D97-AF65-F5344CB8AC3E}">
        <p14:creationId xmlns:p14="http://schemas.microsoft.com/office/powerpoint/2010/main" val="384660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for your time today. Globe already holds 450 MHz spectrum, so the interesting question is what it could be used for. Today is an exchange of ideas, not a proposal. We will look at four questions together, and please interrupt at any point.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Four questions frame the discussion. First, what can this band do that mid-band cannot. Second, which industries need it, and who would pay first. Third, how such a network is built, and where it runs today. And fourth, how it could pay for itself. The spectrum is Globe's; these are options to explore together.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Let us start with the band itself: what can 450 megahertz do that mid-band cannot?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Before the industries, one point on positioning. 450 MHz is a scarce low band, and its value is in business and government use, not consumer service. The reason is simple: the channel is narrow. About two by five megahertz is a quarter of one ordinary LTE carrier, and one 450 cell covers a very large area, so that capacity is shared by many users. Consumer phones do not support the band, and Germany reserved it for critical infrastructure. Even Norway's ice moved its 450 consumers to industrial use.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Philippines asks three things of a network: reach more than seven thousand islands, cross mountainous terrain, and stay up through around twenty cyclones a year. On the right is the same site grid at three frequencies. At 450 the grid covers everything; at 740 megahertz about nine percent goes dark, at 2.35 gigahertz about forty-one percent. Fewer sites also makes backup power affordable. It is not a capacity layer: three to five megahertz carries voice, telemetry and low-rate video.</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band is mainstream. Eighty-six percent of the world lives where it is allocated or under consultation, seventy-seven countries have networks, and thirty-nine already run LTE. The colours show what the networks are used for: dark blue is utilities and smart grid, which is the largest group. The pattern repeats: one licensed operator per country, and utilities are the largest group of users. The Philippines licence is Band 31, the same band as Malaysia and Singapore.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Second question: which industries need this network, and who would pay first?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Six industries can use this network, but they do not pay at the same speed. We rank power and water first: they have the budget, the fit is strong, and revenue comes quickly. Emergency is next, paid as standby readiness. Police budgets are large, but the path is slowest, because DMR and TETRA are already in service. Rail and port come later. This ranking is our reading, and we would like to test it against yours.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Power is the anchor customer. There are one hundred and twenty-one electric cooperatives under NEA, and a single typhoon cut off one point four million consumers. The network gives them three things: a private data path for SCADA and feeder automation, push-to-talk for line crews, and smart meters deep indoors. This is exactly how 450connect in Germany and TNB in Malaysia started. For Globe it is a capacity package, IoT per meter, and integration.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Water uses the same sites as power with a different payoff. Of five hundred and thirty-two water districts, only one hundred and forty-nine kept their losses within LWUA's twenty percent limit. Most districts know their losses as a percentage, not as a location. On this network meters report, pressure sensors locate the leaks, and pump and reservoir sites send telemetry. Bahrain already runs a water-meter network in this band range.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Emergency is the industry that matches the typhoon risk most directly. When the public network fails, a 450 MHz layer with satellite backhaul can be extended within hours, with a field command post on the same network. In Indonesia, SeaTelSat is sourcing equipment for Band 31 rural LTE over satellite backhaul. For Globe this is a readiness retainer: kits on standby, paid by the province or the agency whether or not a storm comes.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For police, the requirement is not another private network. It is one group call across agencies that already run DMR and TETRA, with priority when the public network congests. The network provides cross-agency group calls, live video from the scene, and interworking with the radio systems already in service. Singapore runs Band 31 for public safety today. For Globe it is MCX as a service, per user per month.</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Rail needs coverage that follows the track, not the towns, including cuttings and tunnels. A 450 MHz corridor gives dispatch along the line and on-board video on one network, rather than a separate private system. South Africa has assigned Band 31 to Transnet for rail, and our own MCS runs on nine lines in Sri Lanka. For Globe this is MCX as a service and devices as a service.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Port is the last on our list, and we will be candid: there is no 450 MHz port network to point to yet. The case rests on coverage over open water: quay dispatch, ship-to-shore voice and data, and coast guard patrols on one group call. The same coastal sites also serve island communities. For Globe it is MCX as a service plus capacity, if the data supports it.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Third question: how is such a network built, and where does it run today?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One build serves all six industries. Only the terminals and the applications change. At the terminal layer: the PNC660 450M handheld, a vehicle radio, and a 5G plus 450 model coming in 2026. At the network layer: fixed eNodeBs on towers, mobile eNodeBs for rapid deployment, a private or shared core, and backhaul. On top sit the mission-critical services. MCS is a 3GPP standard and runs on any LTE or 5G radio, so it carries over to 450 MHz unchanged.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We are part of the 450 MHz ecosystem, not a newcomer to it. Hytera joined the 450 MHz Alliance in 2024 and is on its supplier lists for both devices and macro base stations, and our handheld is accepted on 450connect's network in Germany. Just as important for Globe: everything is built on 3GPP standard interfaces, so our radio and terminals can plug into the core you already run, whether that is Huawei, ZTE, Nokia or Ericsson. Interoperability is verified for each project.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The best-documented 450 MHz network is Germany's 450connect. The regulator reserved the band for energy and water in 2020 and licensed 450connect in 2021, to 2040. Seventy-plus utilities stand behind it; Nokia supplies the network. During 2025 coverage rose from thirty to over ninety percent of Germany, on a thousand sites with seventy-two hours of backup, and over ten thousand substations are connected. One operator, one network, many utilities, no consumer service. Our PNC660 is on its whitelist.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Two kinds of evidence, three of each. Top row: 450 MHz operator networks. 450connect covers over ninety percent of Germany, with our PNC660 on its whitelist. TNB in Malaysia is rolling out Band 31, and Singapore's public safety network runs on Band 31, the same band as yours. Bottom row: our own mission-critical deployments. Sri Lanka Railways with one thousand nine hundred and fifty terminals, Hong Kong Light Rail, the first railway MCS on 5G, and the Papua New Guinea police command centre.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Last question: how could the network pay for itself?</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Three parties, one chain. Hytera supplies the radio, terminals and platform. Globe holds the spectrum, runs the network and owns the customer. The anchor customers contract capacity first. Utilities fund the coverage, and the other industries build on it: six revenue lines, each tied to an industry page you have seen. The lesson from Portugal is simple: the 450 MHz trial there stalled on commercial terms, not on technology. So the sequence matters: contract the demand before the build.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sz="quarter"/>
          </p:nvPr>
        </p:nvSpPr>
        <p:spPr/>
        <p:txBody>
          <a:bodyPr/>
          <a:lstStyle/>
          <a:p>
            <a:r>
              <a:t>Thank you. To open the discussion, three questions we would value your view on: the band and bandwidth you are considering, which industries matter most to Globe, and where coverage is needed first. We are happy to follow up with a technical workshop for your network planning team if that is useful.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47FDD-D38F-E8F5-8586-E9662854F614}"/>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B3190AE4-F9E4-5FD9-42AF-9099DFB806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444CE86-5C68-32E7-D4E0-B2761B6CF04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DB1EA70-862F-65FC-F764-9F45D4A993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FC33ED-5EBC-FA7B-0C38-EA39C46DC30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792845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537B1B-511C-D4F8-7DF7-64EC8B6C705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3EBE62D-2664-56CB-82C4-04C33D46D38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D5467FE-6C09-037E-14DD-381C54D5CBA6}"/>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D1396919-FD4A-9072-7E35-742516F97F3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27BDBD7-22AF-728F-B452-8AA3C2EF134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45900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A9FEF-46D9-58A0-4123-77A3F86E55F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3B04C57-B239-E772-614E-004D45A923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5D51A5B-944A-D7C3-E6C5-B7BA6FC4AF29}"/>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1F9A231-E1D6-02E5-049E-13B6C93B374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F785DA2-F919-AB2D-F4AB-9744308204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964538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19ECDE-D311-74B1-0F20-F87A6A7A78D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3C9B88-FA6C-8ECF-D8A5-00CA3EDE00D5}"/>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AC993D3-8E45-B3B9-AB74-754EF2E7E086}"/>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22EEAE69-5CB6-4FFB-A05B-FAFE465FA368}"/>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8B47215C-0B7F-E4B7-5E41-E225FE479C1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CF1607B-F95D-FA9A-48D0-AB90D6EDA81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5959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69B30D-EF98-9776-0E67-87371B217684}"/>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7E8FDD7-C50E-7D11-4708-BD3BD0488D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3F05520-BEDD-DC89-EDB8-29A55A68814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88A41E8D-4EDE-E951-9249-16343C408D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3A15438-E2BC-3C49-A770-61F2058F0C5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469E29F-2CA3-451B-1588-22B05F1C1FF4}"/>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8" name="页脚占位符 7">
            <a:extLst>
              <a:ext uri="{FF2B5EF4-FFF2-40B4-BE49-F238E27FC236}">
                <a16:creationId xmlns:a16="http://schemas.microsoft.com/office/drawing/2014/main" id="{7D3E0C48-D0FC-01D7-EFB2-E342FFD1CAB9}"/>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EB2CF963-EAD2-D222-FE32-733BFF9279B7}"/>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84517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9A2317-4DD0-7705-8F0E-9C1AE468940F}"/>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80B3C6B-F1F3-8087-82E4-22E777BFA3C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4" name="页脚占位符 3">
            <a:extLst>
              <a:ext uri="{FF2B5EF4-FFF2-40B4-BE49-F238E27FC236}">
                <a16:creationId xmlns:a16="http://schemas.microsoft.com/office/drawing/2014/main" id="{7BE57A2B-3769-94B4-A8DA-143705DFDD31}"/>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6269BBB-3D3E-D5C1-373C-4AEBE84F81FA}"/>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173488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53ED18-81E5-087C-CE7B-D43178BA1583}"/>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3" name="页脚占位符 2">
            <a:extLst>
              <a:ext uri="{FF2B5EF4-FFF2-40B4-BE49-F238E27FC236}">
                <a16:creationId xmlns:a16="http://schemas.microsoft.com/office/drawing/2014/main" id="{A2BD668C-C643-0734-3F58-28ECB696171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F2FAAAAD-C5EF-CB82-DA12-5DCCE44FC6BF}"/>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54456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75AE71-64EC-7CAF-DCC1-AC7B7F2512A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371341FA-757E-CC97-7EBF-8640D3A585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AD92CD0-2012-EC24-D6A6-D8F0D6235C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8589081-6ADA-73DD-0406-D90801775B10}"/>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2E305348-185C-AEBE-DDBC-FA8F583587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434C1BA-03A9-E84F-1095-593ADDB3722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463744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198B2-5754-13F5-8B12-C9C8CBC4456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E5E2333-142C-3E91-91F4-A347E32A47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AE17102-E033-CDC0-B618-299CC91D4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3F05AFF9-9891-A28B-4FBF-DFF532046A32}"/>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6" name="页脚占位符 5">
            <a:extLst>
              <a:ext uri="{FF2B5EF4-FFF2-40B4-BE49-F238E27FC236}">
                <a16:creationId xmlns:a16="http://schemas.microsoft.com/office/drawing/2014/main" id="{D942270D-2426-270F-0336-B3337C39505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EA358EA-4E08-6B21-F095-EE06B95312D0}"/>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45961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CA809F-C91F-7B47-8C12-D25BA362AFC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04A7382-0CA7-7D8B-83FF-08EF76126FD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B9417F5-F88C-8CA1-E9BC-7CAC37C486D7}"/>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2724339F-FA6A-38A9-D527-0FDC93D8D7A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7AB572A-7476-7FB5-9791-802D508D7519}"/>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647280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FF63993-AF72-23D1-D01C-F973643BA67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1A46C64-EFAA-9A05-E2F3-ABC719457BB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52B8B04-FC76-CEC2-9550-07C425ADE2DE}"/>
              </a:ext>
            </a:extLst>
          </p:cNvPr>
          <p:cNvSpPr>
            <a:spLocks noGrp="1"/>
          </p:cNvSpPr>
          <p:nvPr>
            <p:ph type="dt" sz="half" idx="10"/>
          </p:nvPr>
        </p:nvSpPr>
        <p:spPr/>
        <p:txBody>
          <a:body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00466A49-4F49-DA65-9C97-50D34FC9A1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331544-F576-56EF-205E-90A98A61DCBD}"/>
              </a:ext>
            </a:extLst>
          </p:cNvPr>
          <p:cNvSpPr>
            <a:spLocks noGrp="1"/>
          </p:cNvSpPr>
          <p:nvPr>
            <p:ph type="sldNum" sz="quarter" idx="12"/>
          </p:nvPr>
        </p:nvSpPr>
        <p:spPr/>
        <p:txBody>
          <a:body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3294027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96E172E-41BA-F174-FF99-50C83FEBC34E}"/>
              </a:ext>
            </a:extLst>
          </p:cNvPr>
          <p:cNvPicPr>
            <a:picLocks noChangeAspect="1"/>
          </p:cNvPicPr>
          <p:nvPr userDrawn="1"/>
        </p:nvPicPr>
        <p:blipFill>
          <a:blip r:embed="rId2">
            <a:alphaModFix amt="15000"/>
          </a:blip>
          <a:stretch>
            <a:fillRect/>
          </a:stretch>
        </p:blipFill>
        <p:spPr>
          <a:xfrm>
            <a:off x="-600" y="6136968"/>
            <a:ext cx="12193200" cy="721032"/>
          </a:xfrm>
          <a:prstGeom prst="rect">
            <a:avLst/>
          </a:prstGeom>
        </p:spPr>
      </p:pic>
      <p:grpSp>
        <p:nvGrpSpPr>
          <p:cNvPr id="7" name="图形 12">
            <a:extLst>
              <a:ext uri="{FF2B5EF4-FFF2-40B4-BE49-F238E27FC236}">
                <a16:creationId xmlns:a16="http://schemas.microsoft.com/office/drawing/2014/main" id="{1E6E911F-38F1-42B3-AAB8-57311022C81E}"/>
              </a:ext>
            </a:extLst>
          </p:cNvPr>
          <p:cNvGrpSpPr/>
          <p:nvPr userDrawn="1"/>
        </p:nvGrpSpPr>
        <p:grpSpPr>
          <a:xfrm>
            <a:off x="10477059" y="327570"/>
            <a:ext cx="1306953" cy="520464"/>
            <a:chOff x="1739537" y="98099"/>
            <a:chExt cx="4612704" cy="1836902"/>
          </a:xfrm>
        </p:grpSpPr>
        <p:sp>
          <p:nvSpPr>
            <p:cNvPr id="8" name="任意形状 7">
              <a:extLst>
                <a:ext uri="{FF2B5EF4-FFF2-40B4-BE49-F238E27FC236}">
                  <a16:creationId xmlns:a16="http://schemas.microsoft.com/office/drawing/2014/main" id="{1FF87494-65BD-1CE3-B49E-C51C092D8D37}"/>
                </a:ext>
              </a:extLst>
            </p:cNvPr>
            <p:cNvSpPr/>
            <p:nvPr/>
          </p:nvSpPr>
          <p:spPr>
            <a:xfrm>
              <a:off x="1739537" y="771564"/>
              <a:ext cx="650741" cy="894889"/>
            </a:xfrm>
            <a:custGeom>
              <a:avLst/>
              <a:gdLst>
                <a:gd name="connsiteX0" fmla="*/ 495249 w 650741"/>
                <a:gd name="connsiteY0" fmla="*/ 368834 h 894889"/>
                <a:gd name="connsiteX1" fmla="*/ 155316 w 650741"/>
                <a:gd name="connsiteY1" fmla="*/ 368834 h 894889"/>
                <a:gd name="connsiteX2" fmla="*/ 155316 w 650741"/>
                <a:gd name="connsiteY2" fmla="*/ 0 h 894889"/>
                <a:gd name="connsiteX3" fmla="*/ 0 w 650741"/>
                <a:gd name="connsiteY3" fmla="*/ 0 h 894889"/>
                <a:gd name="connsiteX4" fmla="*/ 0 w 650741"/>
                <a:gd name="connsiteY4" fmla="*/ 894890 h 894889"/>
                <a:gd name="connsiteX5" fmla="*/ 155316 w 650741"/>
                <a:gd name="connsiteY5" fmla="*/ 894890 h 894889"/>
                <a:gd name="connsiteX6" fmla="*/ 155316 w 650741"/>
                <a:gd name="connsiteY6" fmla="*/ 488856 h 894889"/>
                <a:gd name="connsiteX7" fmla="*/ 495249 w 650741"/>
                <a:gd name="connsiteY7" fmla="*/ 488856 h 894889"/>
                <a:gd name="connsiteX8" fmla="*/ 495249 w 650741"/>
                <a:gd name="connsiteY8" fmla="*/ 894890 h 894889"/>
                <a:gd name="connsiteX9" fmla="*/ 510839 w 650741"/>
                <a:gd name="connsiteY9" fmla="*/ 894890 h 894889"/>
                <a:gd name="connsiteX10" fmla="*/ 650742 w 650741"/>
                <a:gd name="connsiteY10" fmla="*/ 894890 h 894889"/>
                <a:gd name="connsiteX11" fmla="*/ 650742 w 650741"/>
                <a:gd name="connsiteY11" fmla="*/ 0 h 894889"/>
                <a:gd name="connsiteX12" fmla="*/ 495249 w 650741"/>
                <a:gd name="connsiteY12" fmla="*/ 0 h 894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0741" h="894889">
                  <a:moveTo>
                    <a:pt x="495249" y="368834"/>
                  </a:moveTo>
                  <a:lnTo>
                    <a:pt x="155316" y="368834"/>
                  </a:lnTo>
                  <a:lnTo>
                    <a:pt x="155316" y="0"/>
                  </a:lnTo>
                  <a:lnTo>
                    <a:pt x="0" y="0"/>
                  </a:lnTo>
                  <a:lnTo>
                    <a:pt x="0" y="894890"/>
                  </a:lnTo>
                  <a:lnTo>
                    <a:pt x="155316" y="894890"/>
                  </a:lnTo>
                  <a:lnTo>
                    <a:pt x="155316" y="488856"/>
                  </a:lnTo>
                  <a:lnTo>
                    <a:pt x="495249" y="488856"/>
                  </a:lnTo>
                  <a:lnTo>
                    <a:pt x="495249" y="894890"/>
                  </a:lnTo>
                  <a:lnTo>
                    <a:pt x="510839" y="894890"/>
                  </a:lnTo>
                  <a:lnTo>
                    <a:pt x="650742" y="894890"/>
                  </a:lnTo>
                  <a:lnTo>
                    <a:pt x="650742" y="0"/>
                  </a:lnTo>
                  <a:lnTo>
                    <a:pt x="495249" y="0"/>
                  </a:lnTo>
                  <a:close/>
                </a:path>
              </a:pathLst>
            </a:custGeom>
            <a:solidFill>
              <a:srgbClr val="656464"/>
            </a:solidFill>
            <a:ln w="109" cap="flat">
              <a:noFill/>
              <a:prstDash val="solid"/>
              <a:miter/>
            </a:ln>
          </p:spPr>
          <p:txBody>
            <a:bodyPr rtlCol="0" anchor="ctr"/>
            <a:lstStyle/>
            <a:p>
              <a:endParaRPr lang="zh-CN" altLang="en-US"/>
            </a:p>
          </p:txBody>
        </p:sp>
        <p:sp>
          <p:nvSpPr>
            <p:cNvPr id="9" name="任意形状 8">
              <a:extLst>
                <a:ext uri="{FF2B5EF4-FFF2-40B4-BE49-F238E27FC236}">
                  <a16:creationId xmlns:a16="http://schemas.microsoft.com/office/drawing/2014/main" id="{4F5D7A08-87FA-A7AA-66DC-CC3FFCCD16AF}"/>
                </a:ext>
              </a:extLst>
            </p:cNvPr>
            <p:cNvSpPr/>
            <p:nvPr/>
          </p:nvSpPr>
          <p:spPr>
            <a:xfrm>
              <a:off x="2459620" y="1005434"/>
              <a:ext cx="592694" cy="929567"/>
            </a:xfrm>
            <a:custGeom>
              <a:avLst/>
              <a:gdLst>
                <a:gd name="connsiteX0" fmla="*/ 436748 w 592694"/>
                <a:gd name="connsiteY0" fmla="*/ 12476 h 929567"/>
                <a:gd name="connsiteX1" fmla="*/ 310454 w 592694"/>
                <a:gd name="connsiteY1" fmla="*/ 485449 h 929567"/>
                <a:gd name="connsiteX2" fmla="*/ 161943 w 592694"/>
                <a:gd name="connsiteY2" fmla="*/ 11764 h 929567"/>
                <a:gd name="connsiteX3" fmla="*/ 158997 w 592694"/>
                <a:gd name="connsiteY3" fmla="*/ 0 h 929567"/>
                <a:gd name="connsiteX4" fmla="*/ 0 w 592694"/>
                <a:gd name="connsiteY4" fmla="*/ 0 h 929567"/>
                <a:gd name="connsiteX5" fmla="*/ 5002 w 592694"/>
                <a:gd name="connsiteY5" fmla="*/ 19361 h 929567"/>
                <a:gd name="connsiteX6" fmla="*/ 223669 w 592694"/>
                <a:gd name="connsiteY6" fmla="*/ 647854 h 929567"/>
                <a:gd name="connsiteX7" fmla="*/ 147979 w 592694"/>
                <a:gd name="connsiteY7" fmla="*/ 785362 h 929567"/>
                <a:gd name="connsiteX8" fmla="*/ 93871 w 592694"/>
                <a:gd name="connsiteY8" fmla="*/ 815643 h 929567"/>
                <a:gd name="connsiteX9" fmla="*/ 12975 w 592694"/>
                <a:gd name="connsiteY9" fmla="*/ 815643 h 929567"/>
                <a:gd name="connsiteX10" fmla="*/ 6806 w 592694"/>
                <a:gd name="connsiteY10" fmla="*/ 916128 h 929567"/>
                <a:gd name="connsiteX11" fmla="*/ 19348 w 592694"/>
                <a:gd name="connsiteY11" fmla="*/ 919258 h 929567"/>
                <a:gd name="connsiteX12" fmla="*/ 103087 w 592694"/>
                <a:gd name="connsiteY12" fmla="*/ 929567 h 929567"/>
                <a:gd name="connsiteX13" fmla="*/ 104889 w 592694"/>
                <a:gd name="connsiteY13" fmla="*/ 929567 h 929567"/>
                <a:gd name="connsiteX14" fmla="*/ 243016 w 592694"/>
                <a:gd name="connsiteY14" fmla="*/ 871489 h 929567"/>
                <a:gd name="connsiteX15" fmla="*/ 378346 w 592694"/>
                <a:gd name="connsiteY15" fmla="*/ 652078 h 929567"/>
                <a:gd name="connsiteX16" fmla="*/ 587872 w 592694"/>
                <a:gd name="connsiteY16" fmla="*/ 19287 h 929567"/>
                <a:gd name="connsiteX17" fmla="*/ 592695 w 592694"/>
                <a:gd name="connsiteY17" fmla="*/ 2 h 929567"/>
                <a:gd name="connsiteX18" fmla="*/ 439078 w 592694"/>
                <a:gd name="connsiteY18" fmla="*/ 2 h 929567"/>
                <a:gd name="connsiteX19" fmla="*/ 436748 w 592694"/>
                <a:gd name="connsiteY19" fmla="*/ 12478 h 92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92694" h="929567">
                  <a:moveTo>
                    <a:pt x="436748" y="12476"/>
                  </a:moveTo>
                  <a:cubicBezTo>
                    <a:pt x="404955" y="174421"/>
                    <a:pt x="360448" y="339438"/>
                    <a:pt x="310454" y="485449"/>
                  </a:cubicBezTo>
                  <a:cubicBezTo>
                    <a:pt x="255533" y="333879"/>
                    <a:pt x="204855" y="182322"/>
                    <a:pt x="161943" y="11764"/>
                  </a:cubicBezTo>
                  <a:lnTo>
                    <a:pt x="158997" y="0"/>
                  </a:lnTo>
                  <a:lnTo>
                    <a:pt x="0" y="0"/>
                  </a:lnTo>
                  <a:lnTo>
                    <a:pt x="5002" y="19361"/>
                  </a:lnTo>
                  <a:cubicBezTo>
                    <a:pt x="62158" y="239336"/>
                    <a:pt x="146988" y="470850"/>
                    <a:pt x="223669" y="647854"/>
                  </a:cubicBezTo>
                  <a:cubicBezTo>
                    <a:pt x="192133" y="717948"/>
                    <a:pt x="168114" y="761067"/>
                    <a:pt x="147979" y="785362"/>
                  </a:cubicBezTo>
                  <a:cubicBezTo>
                    <a:pt x="126752" y="810281"/>
                    <a:pt x="113296" y="815216"/>
                    <a:pt x="93871" y="815643"/>
                  </a:cubicBezTo>
                  <a:lnTo>
                    <a:pt x="12975" y="815643"/>
                  </a:lnTo>
                  <a:lnTo>
                    <a:pt x="6806" y="916128"/>
                  </a:lnTo>
                  <a:lnTo>
                    <a:pt x="19348" y="919258"/>
                  </a:lnTo>
                  <a:cubicBezTo>
                    <a:pt x="40043" y="924358"/>
                    <a:pt x="69597" y="929567"/>
                    <a:pt x="103087" y="929567"/>
                  </a:cubicBezTo>
                  <a:lnTo>
                    <a:pt x="104889" y="929567"/>
                  </a:lnTo>
                  <a:cubicBezTo>
                    <a:pt x="155951" y="929567"/>
                    <a:pt x="201171" y="913896"/>
                    <a:pt x="243016" y="871489"/>
                  </a:cubicBezTo>
                  <a:cubicBezTo>
                    <a:pt x="285545" y="828732"/>
                    <a:pt x="326678" y="760432"/>
                    <a:pt x="378346" y="652078"/>
                  </a:cubicBezTo>
                  <a:cubicBezTo>
                    <a:pt x="447061" y="509460"/>
                    <a:pt x="516553" y="303411"/>
                    <a:pt x="587872" y="19287"/>
                  </a:cubicBezTo>
                  <a:lnTo>
                    <a:pt x="592695" y="2"/>
                  </a:lnTo>
                  <a:lnTo>
                    <a:pt x="439078" y="2"/>
                  </a:lnTo>
                  <a:lnTo>
                    <a:pt x="436748" y="12478"/>
                  </a:lnTo>
                  <a:close/>
                </a:path>
              </a:pathLst>
            </a:custGeom>
            <a:solidFill>
              <a:srgbClr val="656464"/>
            </a:solidFill>
            <a:ln w="109" cap="flat">
              <a:noFill/>
              <a:prstDash val="solid"/>
              <a:miter/>
            </a:ln>
          </p:spPr>
          <p:txBody>
            <a:bodyPr rtlCol="0" anchor="ctr"/>
            <a:lstStyle/>
            <a:p>
              <a:endParaRPr lang="zh-CN" altLang="en-US"/>
            </a:p>
          </p:txBody>
        </p:sp>
        <p:sp>
          <p:nvSpPr>
            <p:cNvPr id="10" name="任意形状 9">
              <a:extLst>
                <a:ext uri="{FF2B5EF4-FFF2-40B4-BE49-F238E27FC236}">
                  <a16:creationId xmlns:a16="http://schemas.microsoft.com/office/drawing/2014/main" id="{50E9FEE1-E93A-F1E5-E543-3E55DCA60665}"/>
                </a:ext>
              </a:extLst>
            </p:cNvPr>
            <p:cNvSpPr/>
            <p:nvPr/>
          </p:nvSpPr>
          <p:spPr>
            <a:xfrm>
              <a:off x="3117596" y="822326"/>
              <a:ext cx="394925" cy="853987"/>
            </a:xfrm>
            <a:custGeom>
              <a:avLst/>
              <a:gdLst>
                <a:gd name="connsiteX0" fmla="*/ 263816 w 394925"/>
                <a:gd name="connsiteY0" fmla="*/ 726822 h 853987"/>
                <a:gd name="connsiteX1" fmla="*/ 245453 w 394925"/>
                <a:gd name="connsiteY1" fmla="*/ 649176 h 853987"/>
                <a:gd name="connsiteX2" fmla="*/ 245453 w 394925"/>
                <a:gd name="connsiteY2" fmla="*/ 292104 h 853987"/>
                <a:gd name="connsiteX3" fmla="*/ 394859 w 394925"/>
                <a:gd name="connsiteY3" fmla="*/ 292104 h 853987"/>
                <a:gd name="connsiteX4" fmla="*/ 394859 w 394925"/>
                <a:gd name="connsiteY4" fmla="*/ 183108 h 853987"/>
                <a:gd name="connsiteX5" fmla="*/ 245453 w 394925"/>
                <a:gd name="connsiteY5" fmla="*/ 183108 h 853987"/>
                <a:gd name="connsiteX6" fmla="*/ 245453 w 394925"/>
                <a:gd name="connsiteY6" fmla="*/ 0 h 853987"/>
                <a:gd name="connsiteX7" fmla="*/ 122994 w 394925"/>
                <a:gd name="connsiteY7" fmla="*/ 0 h 853987"/>
                <a:gd name="connsiteX8" fmla="*/ 94329 w 394925"/>
                <a:gd name="connsiteY8" fmla="*/ 183108 h 853987"/>
                <a:gd name="connsiteX9" fmla="*/ 0 w 394925"/>
                <a:gd name="connsiteY9" fmla="*/ 183108 h 853987"/>
                <a:gd name="connsiteX10" fmla="*/ 0 w 394925"/>
                <a:gd name="connsiteY10" fmla="*/ 292104 h 853987"/>
                <a:gd name="connsiteX11" fmla="*/ 93695 w 394925"/>
                <a:gd name="connsiteY11" fmla="*/ 292104 h 853987"/>
                <a:gd name="connsiteX12" fmla="*/ 93695 w 394925"/>
                <a:gd name="connsiteY12" fmla="*/ 678954 h 853987"/>
                <a:gd name="connsiteX13" fmla="*/ 144573 w 394925"/>
                <a:gd name="connsiteY13" fmla="*/ 818311 h 853987"/>
                <a:gd name="connsiteX14" fmla="*/ 272215 w 394925"/>
                <a:gd name="connsiteY14" fmla="*/ 853988 h 853987"/>
                <a:gd name="connsiteX15" fmla="*/ 382840 w 394925"/>
                <a:gd name="connsiteY15" fmla="*/ 842420 h 853987"/>
                <a:gd name="connsiteX16" fmla="*/ 394925 w 394925"/>
                <a:gd name="connsiteY16" fmla="*/ 839750 h 853987"/>
                <a:gd name="connsiteX17" fmla="*/ 394925 w 394925"/>
                <a:gd name="connsiteY17" fmla="*/ 740162 h 853987"/>
                <a:gd name="connsiteX18" fmla="*/ 324985 w 394925"/>
                <a:gd name="connsiteY18" fmla="*/ 740162 h 853987"/>
                <a:gd name="connsiteX19" fmla="*/ 263816 w 394925"/>
                <a:gd name="connsiteY19" fmla="*/ 726822 h 853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4925" h="853987">
                  <a:moveTo>
                    <a:pt x="263816" y="726822"/>
                  </a:moveTo>
                  <a:cubicBezTo>
                    <a:pt x="253426" y="717574"/>
                    <a:pt x="245354" y="695621"/>
                    <a:pt x="245453" y="649176"/>
                  </a:cubicBezTo>
                  <a:lnTo>
                    <a:pt x="245453" y="292104"/>
                  </a:lnTo>
                  <a:lnTo>
                    <a:pt x="394859" y="292104"/>
                  </a:lnTo>
                  <a:lnTo>
                    <a:pt x="394859" y="183108"/>
                  </a:lnTo>
                  <a:lnTo>
                    <a:pt x="245453" y="183108"/>
                  </a:lnTo>
                  <a:lnTo>
                    <a:pt x="245453" y="0"/>
                  </a:lnTo>
                  <a:lnTo>
                    <a:pt x="122994" y="0"/>
                  </a:lnTo>
                  <a:lnTo>
                    <a:pt x="94329" y="183108"/>
                  </a:lnTo>
                  <a:lnTo>
                    <a:pt x="0" y="183108"/>
                  </a:lnTo>
                  <a:lnTo>
                    <a:pt x="0" y="292104"/>
                  </a:lnTo>
                  <a:lnTo>
                    <a:pt x="93695" y="292104"/>
                  </a:lnTo>
                  <a:lnTo>
                    <a:pt x="93695" y="678954"/>
                  </a:lnTo>
                  <a:cubicBezTo>
                    <a:pt x="93618" y="745010"/>
                    <a:pt x="111270" y="790722"/>
                    <a:pt x="144573" y="818311"/>
                  </a:cubicBezTo>
                  <a:cubicBezTo>
                    <a:pt x="177820" y="845922"/>
                    <a:pt x="222322" y="853911"/>
                    <a:pt x="272215" y="853988"/>
                  </a:cubicBezTo>
                  <a:cubicBezTo>
                    <a:pt x="312790" y="853911"/>
                    <a:pt x="354175" y="848975"/>
                    <a:pt x="382840" y="842420"/>
                  </a:cubicBezTo>
                  <a:lnTo>
                    <a:pt x="394925" y="839750"/>
                  </a:lnTo>
                  <a:lnTo>
                    <a:pt x="394925" y="740162"/>
                  </a:lnTo>
                  <a:lnTo>
                    <a:pt x="324985" y="740162"/>
                  </a:lnTo>
                  <a:cubicBezTo>
                    <a:pt x="293093" y="740337"/>
                    <a:pt x="273670" y="736572"/>
                    <a:pt x="263816" y="726822"/>
                  </a:cubicBezTo>
                  <a:close/>
                </a:path>
              </a:pathLst>
            </a:custGeom>
            <a:solidFill>
              <a:srgbClr val="656464"/>
            </a:solidFill>
            <a:ln w="109" cap="flat">
              <a:noFill/>
              <a:prstDash val="solid"/>
              <a:miter/>
            </a:ln>
          </p:spPr>
          <p:txBody>
            <a:bodyPr rtlCol="0" anchor="ctr"/>
            <a:lstStyle/>
            <a:p>
              <a:endParaRPr lang="zh-CN" altLang="en-US"/>
            </a:p>
          </p:txBody>
        </p:sp>
        <p:sp>
          <p:nvSpPr>
            <p:cNvPr id="11" name="任意形状 10">
              <a:extLst>
                <a:ext uri="{FF2B5EF4-FFF2-40B4-BE49-F238E27FC236}">
                  <a16:creationId xmlns:a16="http://schemas.microsoft.com/office/drawing/2014/main" id="{C63A48D9-4FC7-12B4-7763-ECF778419844}"/>
                </a:ext>
              </a:extLst>
            </p:cNvPr>
            <p:cNvSpPr/>
            <p:nvPr/>
          </p:nvSpPr>
          <p:spPr>
            <a:xfrm>
              <a:off x="3556629" y="991891"/>
              <a:ext cx="579088" cy="688176"/>
            </a:xfrm>
            <a:custGeom>
              <a:avLst/>
              <a:gdLst>
                <a:gd name="connsiteX0" fmla="*/ 302411 w 579088"/>
                <a:gd name="connsiteY0" fmla="*/ 106382 h 688176"/>
                <a:gd name="connsiteX1" fmla="*/ 392519 w 579088"/>
                <a:gd name="connsiteY1" fmla="*/ 147363 h 688176"/>
                <a:gd name="connsiteX2" fmla="*/ 424586 w 579088"/>
                <a:gd name="connsiteY2" fmla="*/ 266121 h 688176"/>
                <a:gd name="connsiteX3" fmla="*/ 157379 w 579088"/>
                <a:gd name="connsiteY3" fmla="*/ 266121 h 688176"/>
                <a:gd name="connsiteX4" fmla="*/ 192847 w 579088"/>
                <a:gd name="connsiteY4" fmla="*/ 160347 h 688176"/>
                <a:gd name="connsiteX5" fmla="*/ 302411 w 579088"/>
                <a:gd name="connsiteY5" fmla="*/ 106384 h 688176"/>
                <a:gd name="connsiteX6" fmla="*/ 309925 w 579088"/>
                <a:gd name="connsiteY6" fmla="*/ 2 h 688176"/>
                <a:gd name="connsiteX7" fmla="*/ 77924 w 579088"/>
                <a:gd name="connsiteY7" fmla="*/ 94567 h 688176"/>
                <a:gd name="connsiteX8" fmla="*/ 0 w 579088"/>
                <a:gd name="connsiteY8" fmla="*/ 345967 h 688176"/>
                <a:gd name="connsiteX9" fmla="*/ 76043 w 579088"/>
                <a:gd name="connsiteY9" fmla="*/ 600802 h 688176"/>
                <a:gd name="connsiteX10" fmla="*/ 310909 w 579088"/>
                <a:gd name="connsiteY10" fmla="*/ 688177 h 688176"/>
                <a:gd name="connsiteX11" fmla="*/ 311445 w 579088"/>
                <a:gd name="connsiteY11" fmla="*/ 688177 h 688176"/>
                <a:gd name="connsiteX12" fmla="*/ 549713 w 579088"/>
                <a:gd name="connsiteY12" fmla="*/ 654131 h 688176"/>
                <a:gd name="connsiteX13" fmla="*/ 563504 w 579088"/>
                <a:gd name="connsiteY13" fmla="*/ 650093 h 688176"/>
                <a:gd name="connsiteX14" fmla="*/ 540570 w 579088"/>
                <a:gd name="connsiteY14" fmla="*/ 540743 h 688176"/>
                <a:gd name="connsiteX15" fmla="*/ 524733 w 579088"/>
                <a:gd name="connsiteY15" fmla="*/ 545131 h 688176"/>
                <a:gd name="connsiteX16" fmla="*/ 329633 w 579088"/>
                <a:gd name="connsiteY16" fmla="*/ 574253 h 688176"/>
                <a:gd name="connsiteX17" fmla="*/ 193941 w 579088"/>
                <a:gd name="connsiteY17" fmla="*/ 518330 h 688176"/>
                <a:gd name="connsiteX18" fmla="*/ 156417 w 579088"/>
                <a:gd name="connsiteY18" fmla="*/ 370076 h 688176"/>
                <a:gd name="connsiteX19" fmla="*/ 577568 w 579088"/>
                <a:gd name="connsiteY19" fmla="*/ 370076 h 688176"/>
                <a:gd name="connsiteX20" fmla="*/ 577568 w 579088"/>
                <a:gd name="connsiteY20" fmla="*/ 354481 h 688176"/>
                <a:gd name="connsiteX21" fmla="*/ 579089 w 579088"/>
                <a:gd name="connsiteY21" fmla="*/ 295232 h 688176"/>
                <a:gd name="connsiteX22" fmla="*/ 517110 w 579088"/>
                <a:gd name="connsiteY22" fmla="*/ 82269 h 688176"/>
                <a:gd name="connsiteX23" fmla="*/ 309925 w 579088"/>
                <a:gd name="connsiteY23" fmla="*/ 1 h 68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79088" h="688176">
                  <a:moveTo>
                    <a:pt x="302411" y="106382"/>
                  </a:moveTo>
                  <a:cubicBezTo>
                    <a:pt x="343260" y="106763"/>
                    <a:pt x="371903" y="120991"/>
                    <a:pt x="392519" y="147363"/>
                  </a:cubicBezTo>
                  <a:cubicBezTo>
                    <a:pt x="412861" y="173787"/>
                    <a:pt x="424586" y="214128"/>
                    <a:pt x="424586" y="266121"/>
                  </a:cubicBezTo>
                  <a:lnTo>
                    <a:pt x="157379" y="266121"/>
                  </a:lnTo>
                  <a:cubicBezTo>
                    <a:pt x="161229" y="227118"/>
                    <a:pt x="172538" y="189033"/>
                    <a:pt x="192847" y="160347"/>
                  </a:cubicBezTo>
                  <a:cubicBezTo>
                    <a:pt x="216153" y="128004"/>
                    <a:pt x="249467" y="106764"/>
                    <a:pt x="302411" y="106384"/>
                  </a:cubicBezTo>
                  <a:close/>
                  <a:moveTo>
                    <a:pt x="309925" y="2"/>
                  </a:moveTo>
                  <a:cubicBezTo>
                    <a:pt x="209351" y="-175"/>
                    <a:pt x="130431" y="33437"/>
                    <a:pt x="77924" y="94567"/>
                  </a:cubicBezTo>
                  <a:cubicBezTo>
                    <a:pt x="25439" y="155519"/>
                    <a:pt x="0" y="242001"/>
                    <a:pt x="0" y="345967"/>
                  </a:cubicBezTo>
                  <a:cubicBezTo>
                    <a:pt x="0" y="456312"/>
                    <a:pt x="23744" y="542089"/>
                    <a:pt x="76043" y="600802"/>
                  </a:cubicBezTo>
                  <a:cubicBezTo>
                    <a:pt x="128178" y="659493"/>
                    <a:pt x="207546" y="688177"/>
                    <a:pt x="310909" y="688177"/>
                  </a:cubicBezTo>
                  <a:lnTo>
                    <a:pt x="311445" y="688177"/>
                  </a:lnTo>
                  <a:cubicBezTo>
                    <a:pt x="400667" y="688177"/>
                    <a:pt x="480647" y="674278"/>
                    <a:pt x="549713" y="654131"/>
                  </a:cubicBezTo>
                  <a:lnTo>
                    <a:pt x="563504" y="650093"/>
                  </a:lnTo>
                  <a:lnTo>
                    <a:pt x="540570" y="540743"/>
                  </a:lnTo>
                  <a:lnTo>
                    <a:pt x="524733" y="545131"/>
                  </a:lnTo>
                  <a:cubicBezTo>
                    <a:pt x="463280" y="562160"/>
                    <a:pt x="406409" y="574176"/>
                    <a:pt x="329633" y="574253"/>
                  </a:cubicBezTo>
                  <a:cubicBezTo>
                    <a:pt x="260666" y="573892"/>
                    <a:pt x="220091" y="553821"/>
                    <a:pt x="193941" y="518330"/>
                  </a:cubicBezTo>
                  <a:cubicBezTo>
                    <a:pt x="169661" y="484996"/>
                    <a:pt x="157937" y="434720"/>
                    <a:pt x="156417" y="370076"/>
                  </a:cubicBezTo>
                  <a:lnTo>
                    <a:pt x="577568" y="370076"/>
                  </a:lnTo>
                  <a:lnTo>
                    <a:pt x="577568" y="354481"/>
                  </a:lnTo>
                  <a:cubicBezTo>
                    <a:pt x="577568" y="336566"/>
                    <a:pt x="579089" y="308419"/>
                    <a:pt x="579089" y="295232"/>
                  </a:cubicBezTo>
                  <a:cubicBezTo>
                    <a:pt x="579012" y="209028"/>
                    <a:pt x="561010" y="135241"/>
                    <a:pt x="517110" y="82269"/>
                  </a:cubicBezTo>
                  <a:cubicBezTo>
                    <a:pt x="473309" y="29321"/>
                    <a:pt x="404254" y="-177"/>
                    <a:pt x="309925" y="1"/>
                  </a:cubicBezTo>
                  <a:close/>
                </a:path>
              </a:pathLst>
            </a:custGeom>
            <a:solidFill>
              <a:srgbClr val="656464"/>
            </a:solidFill>
            <a:ln w="109" cap="flat">
              <a:noFill/>
              <a:prstDash val="solid"/>
              <a:miter/>
            </a:ln>
          </p:spPr>
          <p:txBody>
            <a:bodyPr rtlCol="0" anchor="ctr"/>
            <a:lstStyle/>
            <a:p>
              <a:endParaRPr lang="zh-CN" altLang="en-US"/>
            </a:p>
          </p:txBody>
        </p:sp>
        <p:sp>
          <p:nvSpPr>
            <p:cNvPr id="12" name="任意形状 11">
              <a:extLst>
                <a:ext uri="{FF2B5EF4-FFF2-40B4-BE49-F238E27FC236}">
                  <a16:creationId xmlns:a16="http://schemas.microsoft.com/office/drawing/2014/main" id="{341E5E21-2A07-AD8F-3B28-E1CBFDE6C95C}"/>
                </a:ext>
              </a:extLst>
            </p:cNvPr>
            <p:cNvSpPr/>
            <p:nvPr/>
          </p:nvSpPr>
          <p:spPr>
            <a:xfrm>
              <a:off x="4227181" y="991914"/>
              <a:ext cx="380685" cy="674561"/>
            </a:xfrm>
            <a:custGeom>
              <a:avLst/>
              <a:gdLst>
                <a:gd name="connsiteX0" fmla="*/ 288773 w 380685"/>
                <a:gd name="connsiteY0" fmla="*/ 5 h 674561"/>
                <a:gd name="connsiteX1" fmla="*/ 198403 w 380685"/>
                <a:gd name="connsiteY1" fmla="*/ 32906 h 674561"/>
                <a:gd name="connsiteX2" fmla="*/ 133811 w 380685"/>
                <a:gd name="connsiteY2" fmla="*/ 102802 h 674561"/>
                <a:gd name="connsiteX3" fmla="*/ 124493 w 380685"/>
                <a:gd name="connsiteY3" fmla="*/ 13546 h 674561"/>
                <a:gd name="connsiteX4" fmla="*/ 0 w 380685"/>
                <a:gd name="connsiteY4" fmla="*/ 13546 h 674561"/>
                <a:gd name="connsiteX5" fmla="*/ 0 w 380685"/>
                <a:gd name="connsiteY5" fmla="*/ 674562 h 674561"/>
                <a:gd name="connsiteX6" fmla="*/ 151627 w 380685"/>
                <a:gd name="connsiteY6" fmla="*/ 674562 h 674561"/>
                <a:gd name="connsiteX7" fmla="*/ 151627 w 380685"/>
                <a:gd name="connsiteY7" fmla="*/ 244704 h 674561"/>
                <a:gd name="connsiteX8" fmla="*/ 233160 w 380685"/>
                <a:gd name="connsiteY8" fmla="*/ 148356 h 674561"/>
                <a:gd name="connsiteX9" fmla="*/ 284191 w 380685"/>
                <a:gd name="connsiteY9" fmla="*/ 122542 h 674561"/>
                <a:gd name="connsiteX10" fmla="*/ 340460 w 380685"/>
                <a:gd name="connsiteY10" fmla="*/ 131943 h 674561"/>
                <a:gd name="connsiteX11" fmla="*/ 356482 w 380685"/>
                <a:gd name="connsiteY11" fmla="*/ 136338 h 674561"/>
                <a:gd name="connsiteX12" fmla="*/ 359807 w 380685"/>
                <a:gd name="connsiteY12" fmla="*/ 120027 h 674561"/>
                <a:gd name="connsiteX13" fmla="*/ 380685 w 380685"/>
                <a:gd name="connsiteY13" fmla="*/ 15681 h 674561"/>
                <a:gd name="connsiteX14" fmla="*/ 366971 w 380685"/>
                <a:gd name="connsiteY14" fmla="*/ 11844 h 674561"/>
                <a:gd name="connsiteX15" fmla="*/ 288773 w 380685"/>
                <a:gd name="connsiteY15" fmla="*/ 5 h 67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0685" h="674561">
                  <a:moveTo>
                    <a:pt x="288773" y="5"/>
                  </a:moveTo>
                  <a:cubicBezTo>
                    <a:pt x="255525" y="-275"/>
                    <a:pt x="225898" y="10574"/>
                    <a:pt x="198403" y="32906"/>
                  </a:cubicBezTo>
                  <a:cubicBezTo>
                    <a:pt x="177426" y="49650"/>
                    <a:pt x="157095" y="72618"/>
                    <a:pt x="133811" y="102802"/>
                  </a:cubicBezTo>
                  <a:lnTo>
                    <a:pt x="124493" y="13546"/>
                  </a:lnTo>
                  <a:lnTo>
                    <a:pt x="0" y="13546"/>
                  </a:lnTo>
                  <a:lnTo>
                    <a:pt x="0" y="674562"/>
                  </a:lnTo>
                  <a:lnTo>
                    <a:pt x="151627" y="674562"/>
                  </a:lnTo>
                  <a:lnTo>
                    <a:pt x="151627" y="244704"/>
                  </a:lnTo>
                  <a:cubicBezTo>
                    <a:pt x="186919" y="198815"/>
                    <a:pt x="212643" y="167437"/>
                    <a:pt x="233160" y="148356"/>
                  </a:cubicBezTo>
                  <a:cubicBezTo>
                    <a:pt x="254815" y="128539"/>
                    <a:pt x="268814" y="122619"/>
                    <a:pt x="284191" y="122542"/>
                  </a:cubicBezTo>
                  <a:cubicBezTo>
                    <a:pt x="300246" y="122542"/>
                    <a:pt x="318598" y="125845"/>
                    <a:pt x="340460" y="131943"/>
                  </a:cubicBezTo>
                  <a:lnTo>
                    <a:pt x="356482" y="136338"/>
                  </a:lnTo>
                  <a:lnTo>
                    <a:pt x="359807" y="120027"/>
                  </a:lnTo>
                  <a:lnTo>
                    <a:pt x="380685" y="15681"/>
                  </a:lnTo>
                  <a:lnTo>
                    <a:pt x="366971" y="11844"/>
                  </a:lnTo>
                  <a:cubicBezTo>
                    <a:pt x="340285" y="3943"/>
                    <a:pt x="314485" y="5"/>
                    <a:pt x="288773" y="5"/>
                  </a:cubicBezTo>
                  <a:close/>
                </a:path>
              </a:pathLst>
            </a:custGeom>
            <a:solidFill>
              <a:srgbClr val="656464"/>
            </a:solidFill>
            <a:ln w="109" cap="flat">
              <a:noFill/>
              <a:prstDash val="solid"/>
              <a:miter/>
            </a:ln>
          </p:spPr>
          <p:txBody>
            <a:bodyPr rtlCol="0" anchor="ctr"/>
            <a:lstStyle/>
            <a:p>
              <a:endParaRPr lang="zh-CN" altLang="en-US"/>
            </a:p>
          </p:txBody>
        </p:sp>
        <p:sp>
          <p:nvSpPr>
            <p:cNvPr id="13" name="任意形状 12">
              <a:extLst>
                <a:ext uri="{FF2B5EF4-FFF2-40B4-BE49-F238E27FC236}">
                  <a16:creationId xmlns:a16="http://schemas.microsoft.com/office/drawing/2014/main" id="{797F1EB2-7BFE-7EFE-A850-707DBB310097}"/>
                </a:ext>
              </a:extLst>
            </p:cNvPr>
            <p:cNvSpPr/>
            <p:nvPr/>
          </p:nvSpPr>
          <p:spPr>
            <a:xfrm>
              <a:off x="4620026" y="991866"/>
              <a:ext cx="539861" cy="688201"/>
            </a:xfrm>
            <a:custGeom>
              <a:avLst/>
              <a:gdLst>
                <a:gd name="connsiteX0" fmla="*/ 187108 w 539861"/>
                <a:gd name="connsiteY0" fmla="*/ 410329 h 688201"/>
                <a:gd name="connsiteX1" fmla="*/ 296136 w 539861"/>
                <a:gd name="connsiteY1" fmla="*/ 381208 h 688201"/>
                <a:gd name="connsiteX2" fmla="*/ 296311 w 539861"/>
                <a:gd name="connsiteY2" fmla="*/ 381208 h 688201"/>
                <a:gd name="connsiteX3" fmla="*/ 389547 w 539861"/>
                <a:gd name="connsiteY3" fmla="*/ 381208 h 688201"/>
                <a:gd name="connsiteX4" fmla="*/ 389547 w 539861"/>
                <a:gd name="connsiteY4" fmla="*/ 501589 h 688201"/>
                <a:gd name="connsiteX5" fmla="*/ 248015 w 539861"/>
                <a:gd name="connsiteY5" fmla="*/ 579202 h 688201"/>
                <a:gd name="connsiteX6" fmla="*/ 176084 w 539861"/>
                <a:gd name="connsiteY6" fmla="*/ 554743 h 688201"/>
                <a:gd name="connsiteX7" fmla="*/ 153336 w 539861"/>
                <a:gd name="connsiteY7" fmla="*/ 488325 h 688201"/>
                <a:gd name="connsiteX8" fmla="*/ 187108 w 539861"/>
                <a:gd name="connsiteY8" fmla="*/ 410329 h 688201"/>
                <a:gd name="connsiteX9" fmla="*/ 481634 w 539861"/>
                <a:gd name="connsiteY9" fmla="*/ 63926 h 688201"/>
                <a:gd name="connsiteX10" fmla="*/ 282772 w 539861"/>
                <a:gd name="connsiteY10" fmla="*/ 0 h 688201"/>
                <a:gd name="connsiteX11" fmla="*/ 53932 w 539861"/>
                <a:gd name="connsiteY11" fmla="*/ 41872 h 688201"/>
                <a:gd name="connsiteX12" fmla="*/ 40042 w 539861"/>
                <a:gd name="connsiteY12" fmla="*/ 46877 h 688201"/>
                <a:gd name="connsiteX13" fmla="*/ 73880 w 539861"/>
                <a:gd name="connsiteY13" fmla="*/ 152291 h 688201"/>
                <a:gd name="connsiteX14" fmla="*/ 89225 w 539861"/>
                <a:gd name="connsiteY14" fmla="*/ 146194 h 688201"/>
                <a:gd name="connsiteX15" fmla="*/ 264595 w 539861"/>
                <a:gd name="connsiteY15" fmla="*/ 110242 h 688201"/>
                <a:gd name="connsiteX16" fmla="*/ 363113 w 539861"/>
                <a:gd name="connsiteY16" fmla="*/ 140198 h 688201"/>
                <a:gd name="connsiteX17" fmla="*/ 389547 w 539861"/>
                <a:gd name="connsiteY17" fmla="*/ 237003 h 688201"/>
                <a:gd name="connsiteX18" fmla="*/ 389547 w 539861"/>
                <a:gd name="connsiteY18" fmla="*/ 279727 h 688201"/>
                <a:gd name="connsiteX19" fmla="*/ 309993 w 539861"/>
                <a:gd name="connsiteY19" fmla="*/ 279727 h 688201"/>
                <a:gd name="connsiteX20" fmla="*/ 88765 w 539861"/>
                <a:gd name="connsiteY20" fmla="*/ 330571 h 688201"/>
                <a:gd name="connsiteX21" fmla="*/ 3 w 539861"/>
                <a:gd name="connsiteY21" fmla="*/ 493250 h 688201"/>
                <a:gd name="connsiteX22" fmla="*/ 61084 w 539861"/>
                <a:gd name="connsiteY22" fmla="*/ 636930 h 688201"/>
                <a:gd name="connsiteX23" fmla="*/ 220870 w 539861"/>
                <a:gd name="connsiteY23" fmla="*/ 688201 h 688201"/>
                <a:gd name="connsiteX24" fmla="*/ 221056 w 539861"/>
                <a:gd name="connsiteY24" fmla="*/ 688201 h 688201"/>
                <a:gd name="connsiteX25" fmla="*/ 407899 w 539861"/>
                <a:gd name="connsiteY25" fmla="*/ 618183 h 688201"/>
                <a:gd name="connsiteX26" fmla="*/ 413641 w 539861"/>
                <a:gd name="connsiteY26" fmla="*/ 674664 h 688201"/>
                <a:gd name="connsiteX27" fmla="*/ 427607 w 539861"/>
                <a:gd name="connsiteY27" fmla="*/ 674664 h 688201"/>
                <a:gd name="connsiteX28" fmla="*/ 539861 w 539861"/>
                <a:gd name="connsiteY28" fmla="*/ 674664 h 688201"/>
                <a:gd name="connsiteX29" fmla="*/ 539861 w 539861"/>
                <a:gd name="connsiteY29" fmla="*/ 217282 h 688201"/>
                <a:gd name="connsiteX30" fmla="*/ 481634 w 539861"/>
                <a:gd name="connsiteY30" fmla="*/ 63924 h 68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9861" h="688201">
                  <a:moveTo>
                    <a:pt x="187108" y="410329"/>
                  </a:moveTo>
                  <a:cubicBezTo>
                    <a:pt x="209594" y="392316"/>
                    <a:pt x="245423" y="381208"/>
                    <a:pt x="296136" y="381208"/>
                  </a:cubicBezTo>
                  <a:lnTo>
                    <a:pt x="296311" y="381208"/>
                  </a:lnTo>
                  <a:lnTo>
                    <a:pt x="389547" y="381208"/>
                  </a:lnTo>
                  <a:lnTo>
                    <a:pt x="389547" y="501589"/>
                  </a:lnTo>
                  <a:cubicBezTo>
                    <a:pt x="343339" y="547301"/>
                    <a:pt x="301134" y="579278"/>
                    <a:pt x="248015" y="579202"/>
                  </a:cubicBezTo>
                  <a:cubicBezTo>
                    <a:pt x="213816" y="579103"/>
                    <a:pt x="191067" y="569703"/>
                    <a:pt x="176084" y="554743"/>
                  </a:cubicBezTo>
                  <a:cubicBezTo>
                    <a:pt x="161407" y="539772"/>
                    <a:pt x="153336" y="517720"/>
                    <a:pt x="153336" y="488325"/>
                  </a:cubicBezTo>
                  <a:cubicBezTo>
                    <a:pt x="153434" y="453371"/>
                    <a:pt x="164710" y="428364"/>
                    <a:pt x="187108" y="410329"/>
                  </a:cubicBezTo>
                  <a:close/>
                  <a:moveTo>
                    <a:pt x="481634" y="63926"/>
                  </a:moveTo>
                  <a:cubicBezTo>
                    <a:pt x="439976" y="23578"/>
                    <a:pt x="375045" y="0"/>
                    <a:pt x="282772" y="0"/>
                  </a:cubicBezTo>
                  <a:cubicBezTo>
                    <a:pt x="208074" y="0"/>
                    <a:pt x="126650" y="15144"/>
                    <a:pt x="53932" y="41872"/>
                  </a:cubicBezTo>
                  <a:lnTo>
                    <a:pt x="40042" y="46877"/>
                  </a:lnTo>
                  <a:lnTo>
                    <a:pt x="73880" y="152291"/>
                  </a:lnTo>
                  <a:lnTo>
                    <a:pt x="89225" y="146194"/>
                  </a:lnTo>
                  <a:cubicBezTo>
                    <a:pt x="149322" y="122183"/>
                    <a:pt x="211027" y="110242"/>
                    <a:pt x="264595" y="110242"/>
                  </a:cubicBezTo>
                  <a:cubicBezTo>
                    <a:pt x="315484" y="110242"/>
                    <a:pt x="345472" y="121193"/>
                    <a:pt x="363113" y="140198"/>
                  </a:cubicBezTo>
                  <a:cubicBezTo>
                    <a:pt x="380940" y="159101"/>
                    <a:pt x="389645" y="190377"/>
                    <a:pt x="389547" y="237003"/>
                  </a:cubicBezTo>
                  <a:lnTo>
                    <a:pt x="389547" y="279727"/>
                  </a:lnTo>
                  <a:lnTo>
                    <a:pt x="309993" y="279727"/>
                  </a:lnTo>
                  <a:cubicBezTo>
                    <a:pt x="220443" y="279727"/>
                    <a:pt x="144302" y="295683"/>
                    <a:pt x="88765" y="330571"/>
                  </a:cubicBezTo>
                  <a:cubicBezTo>
                    <a:pt x="33239" y="365252"/>
                    <a:pt x="-358" y="421174"/>
                    <a:pt x="3" y="493250"/>
                  </a:cubicBezTo>
                  <a:cubicBezTo>
                    <a:pt x="-106" y="553210"/>
                    <a:pt x="21679" y="603136"/>
                    <a:pt x="61084" y="636930"/>
                  </a:cubicBezTo>
                  <a:cubicBezTo>
                    <a:pt x="100314" y="670724"/>
                    <a:pt x="155490" y="688201"/>
                    <a:pt x="220870" y="688201"/>
                  </a:cubicBezTo>
                  <a:lnTo>
                    <a:pt x="221056" y="688201"/>
                  </a:lnTo>
                  <a:cubicBezTo>
                    <a:pt x="301845" y="688201"/>
                    <a:pt x="362763" y="656005"/>
                    <a:pt x="407899" y="618183"/>
                  </a:cubicBezTo>
                  <a:lnTo>
                    <a:pt x="413641" y="674664"/>
                  </a:lnTo>
                  <a:lnTo>
                    <a:pt x="427607" y="674664"/>
                  </a:lnTo>
                  <a:lnTo>
                    <a:pt x="539861" y="674664"/>
                  </a:lnTo>
                  <a:lnTo>
                    <a:pt x="539861" y="217282"/>
                  </a:lnTo>
                  <a:cubicBezTo>
                    <a:pt x="539861" y="159454"/>
                    <a:pt x="523456" y="104244"/>
                    <a:pt x="481634" y="63924"/>
                  </a:cubicBezTo>
                  <a:close/>
                </a:path>
              </a:pathLst>
            </a:custGeom>
            <a:solidFill>
              <a:srgbClr val="656464"/>
            </a:solidFill>
            <a:ln w="109" cap="flat">
              <a:noFill/>
              <a:prstDash val="solid"/>
              <a:miter/>
            </a:ln>
          </p:spPr>
          <p:txBody>
            <a:bodyPr rtlCol="0" anchor="ctr"/>
            <a:lstStyle/>
            <a:p>
              <a:endParaRPr lang="zh-CN" altLang="en-US"/>
            </a:p>
          </p:txBody>
        </p:sp>
        <p:sp>
          <p:nvSpPr>
            <p:cNvPr id="14" name="任意形状 13">
              <a:extLst>
                <a:ext uri="{FF2B5EF4-FFF2-40B4-BE49-F238E27FC236}">
                  <a16:creationId xmlns:a16="http://schemas.microsoft.com/office/drawing/2014/main" id="{19BC152C-2577-764E-802F-9B05F4CFABCE}"/>
                </a:ext>
              </a:extLst>
            </p:cNvPr>
            <p:cNvSpPr/>
            <p:nvPr/>
          </p:nvSpPr>
          <p:spPr>
            <a:xfrm>
              <a:off x="5059160" y="682028"/>
              <a:ext cx="1293081" cy="539038"/>
            </a:xfrm>
            <a:custGeom>
              <a:avLst/>
              <a:gdLst>
                <a:gd name="connsiteX0" fmla="*/ 0 w 1293081"/>
                <a:gd name="connsiteY0" fmla="*/ 167611 h 539038"/>
                <a:gd name="connsiteX1" fmla="*/ 1128189 w 1293081"/>
                <a:gd name="connsiteY1" fmla="*/ 172185 h 539038"/>
                <a:gd name="connsiteX2" fmla="*/ 1128189 w 1293081"/>
                <a:gd name="connsiteY2" fmla="*/ 172185 h 539038"/>
                <a:gd name="connsiteX3" fmla="*/ 1128189 w 1293081"/>
                <a:gd name="connsiteY3" fmla="*/ 172082 h 539038"/>
                <a:gd name="connsiteX4" fmla="*/ 1293082 w 1293081"/>
                <a:gd name="connsiteY4" fmla="*/ 0 h 539038"/>
                <a:gd name="connsiteX5" fmla="*/ 0 w 1293081"/>
                <a:gd name="connsiteY5" fmla="*/ 167611 h 539038"/>
                <a:gd name="connsiteX6" fmla="*/ 952085 w 1293081"/>
                <a:gd name="connsiteY6" fmla="*/ 329836 h 539038"/>
                <a:gd name="connsiteX7" fmla="*/ 1066188 w 1293081"/>
                <a:gd name="connsiteY7" fmla="*/ 230546 h 539038"/>
                <a:gd name="connsiteX8" fmla="*/ 1066188 w 1293081"/>
                <a:gd name="connsiteY8" fmla="*/ 230546 h 539038"/>
                <a:gd name="connsiteX9" fmla="*/ 48723 w 1293081"/>
                <a:gd name="connsiteY9" fmla="*/ 206054 h 539038"/>
                <a:gd name="connsiteX10" fmla="*/ 48723 w 1293081"/>
                <a:gd name="connsiteY10" fmla="*/ 206054 h 539038"/>
                <a:gd name="connsiteX11" fmla="*/ 952085 w 1293081"/>
                <a:gd name="connsiteY11" fmla="*/ 329837 h 539038"/>
                <a:gd name="connsiteX12" fmla="*/ 800776 w 1293081"/>
                <a:gd name="connsiteY12" fmla="*/ 445820 h 539038"/>
                <a:gd name="connsiteX13" fmla="*/ 889287 w 1293081"/>
                <a:gd name="connsiteY13" fmla="*/ 380039 h 539038"/>
                <a:gd name="connsiteX14" fmla="*/ 889287 w 1293081"/>
                <a:gd name="connsiteY14" fmla="*/ 380039 h 539038"/>
                <a:gd name="connsiteX15" fmla="*/ 94045 w 1293081"/>
                <a:gd name="connsiteY15" fmla="*/ 251963 h 539038"/>
                <a:gd name="connsiteX16" fmla="*/ 94045 w 1293081"/>
                <a:gd name="connsiteY16" fmla="*/ 251963 h 539038"/>
                <a:gd name="connsiteX17" fmla="*/ 800776 w 1293081"/>
                <a:gd name="connsiteY17" fmla="*/ 445820 h 539038"/>
                <a:gd name="connsiteX18" fmla="*/ 657822 w 1293081"/>
                <a:gd name="connsiteY18" fmla="*/ 539038 h 539038"/>
                <a:gd name="connsiteX19" fmla="*/ 745349 w 1293081"/>
                <a:gd name="connsiteY19" fmla="*/ 484006 h 539038"/>
                <a:gd name="connsiteX20" fmla="*/ 745349 w 1293081"/>
                <a:gd name="connsiteY20" fmla="*/ 484006 h 539038"/>
                <a:gd name="connsiteX21" fmla="*/ 202625 w 1293081"/>
                <a:gd name="connsiteY21" fmla="*/ 337457 h 539038"/>
                <a:gd name="connsiteX22" fmla="*/ 202625 w 1293081"/>
                <a:gd name="connsiteY22" fmla="*/ 337457 h 539038"/>
                <a:gd name="connsiteX23" fmla="*/ 657822 w 1293081"/>
                <a:gd name="connsiteY23" fmla="*/ 539038 h 5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93081" h="539038">
                  <a:moveTo>
                    <a:pt x="0" y="167611"/>
                  </a:moveTo>
                  <a:cubicBezTo>
                    <a:pt x="536741" y="245762"/>
                    <a:pt x="1127915" y="172185"/>
                    <a:pt x="1128189" y="172185"/>
                  </a:cubicBezTo>
                  <a:lnTo>
                    <a:pt x="1128189" y="172185"/>
                  </a:lnTo>
                  <a:lnTo>
                    <a:pt x="1128189" y="172082"/>
                  </a:lnTo>
                  <a:lnTo>
                    <a:pt x="1293082" y="0"/>
                  </a:lnTo>
                  <a:cubicBezTo>
                    <a:pt x="504489" y="190197"/>
                    <a:pt x="0" y="167611"/>
                    <a:pt x="0" y="167611"/>
                  </a:cubicBezTo>
                  <a:close/>
                  <a:moveTo>
                    <a:pt x="952085" y="329836"/>
                  </a:moveTo>
                  <a:cubicBezTo>
                    <a:pt x="992836" y="296221"/>
                    <a:pt x="1031071" y="262812"/>
                    <a:pt x="1066188" y="230546"/>
                  </a:cubicBezTo>
                  <a:lnTo>
                    <a:pt x="1066188" y="230546"/>
                  </a:lnTo>
                  <a:cubicBezTo>
                    <a:pt x="551331" y="289058"/>
                    <a:pt x="48723" y="206054"/>
                    <a:pt x="48723" y="206054"/>
                  </a:cubicBezTo>
                  <a:lnTo>
                    <a:pt x="48723" y="206054"/>
                  </a:lnTo>
                  <a:cubicBezTo>
                    <a:pt x="381856" y="318201"/>
                    <a:pt x="859812" y="328946"/>
                    <a:pt x="952085" y="329837"/>
                  </a:cubicBezTo>
                  <a:close/>
                  <a:moveTo>
                    <a:pt x="800776" y="445820"/>
                  </a:moveTo>
                  <a:cubicBezTo>
                    <a:pt x="831147" y="424223"/>
                    <a:pt x="860796" y="402271"/>
                    <a:pt x="889287" y="380039"/>
                  </a:cubicBezTo>
                  <a:lnTo>
                    <a:pt x="889287" y="380039"/>
                  </a:lnTo>
                  <a:cubicBezTo>
                    <a:pt x="790135" y="376178"/>
                    <a:pt x="372712" y="358443"/>
                    <a:pt x="94045" y="251963"/>
                  </a:cubicBezTo>
                  <a:lnTo>
                    <a:pt x="94045" y="251963"/>
                  </a:lnTo>
                  <a:cubicBezTo>
                    <a:pt x="94045" y="251963"/>
                    <a:pt x="346300" y="401738"/>
                    <a:pt x="800776" y="445820"/>
                  </a:cubicBezTo>
                  <a:close/>
                  <a:moveTo>
                    <a:pt x="657822" y="539038"/>
                  </a:moveTo>
                  <a:cubicBezTo>
                    <a:pt x="687658" y="521299"/>
                    <a:pt x="716935" y="502832"/>
                    <a:pt x="745349" y="484006"/>
                  </a:cubicBezTo>
                  <a:lnTo>
                    <a:pt x="745349" y="484006"/>
                  </a:lnTo>
                  <a:cubicBezTo>
                    <a:pt x="682375" y="478263"/>
                    <a:pt x="476611" y="442870"/>
                    <a:pt x="202625" y="337457"/>
                  </a:cubicBezTo>
                  <a:lnTo>
                    <a:pt x="202625" y="337457"/>
                  </a:lnTo>
                  <a:cubicBezTo>
                    <a:pt x="202625" y="337457"/>
                    <a:pt x="440881" y="503824"/>
                    <a:pt x="657822" y="539038"/>
                  </a:cubicBezTo>
                  <a:close/>
                </a:path>
              </a:pathLst>
            </a:custGeom>
            <a:gradFill>
              <a:gsLst>
                <a:gs pos="0">
                  <a:srgbClr val="FFFFFF"/>
                </a:gs>
                <a:gs pos="50000">
                  <a:srgbClr val="4550A4"/>
                </a:gs>
                <a:gs pos="100000">
                  <a:srgbClr val="0B308E"/>
                </a:gs>
              </a:gsLst>
              <a:lin ang="380415" scaled="1"/>
            </a:gradFill>
            <a:ln w="109" cap="flat">
              <a:noFill/>
              <a:prstDash val="solid"/>
              <a:miter/>
            </a:ln>
          </p:spPr>
          <p:txBody>
            <a:bodyPr rtlCol="0" anchor="ctr"/>
            <a:lstStyle/>
            <a:p>
              <a:endParaRPr lang="zh-CN" altLang="en-US"/>
            </a:p>
          </p:txBody>
        </p:sp>
        <p:sp>
          <p:nvSpPr>
            <p:cNvPr id="15" name="任意形状 14">
              <a:extLst>
                <a:ext uri="{FF2B5EF4-FFF2-40B4-BE49-F238E27FC236}">
                  <a16:creationId xmlns:a16="http://schemas.microsoft.com/office/drawing/2014/main" id="{9581C1DF-FC14-054E-3982-7B96D62B6852}"/>
                </a:ext>
              </a:extLst>
            </p:cNvPr>
            <p:cNvSpPr/>
            <p:nvPr/>
          </p:nvSpPr>
          <p:spPr>
            <a:xfrm>
              <a:off x="4797706" y="98099"/>
              <a:ext cx="809109" cy="689987"/>
            </a:xfrm>
            <a:custGeom>
              <a:avLst/>
              <a:gdLst>
                <a:gd name="connsiteX0" fmla="*/ 0 w 809109"/>
                <a:gd name="connsiteY0" fmla="*/ 0 h 689987"/>
                <a:gd name="connsiteX1" fmla="*/ 0 w 809109"/>
                <a:gd name="connsiteY1" fmla="*/ 2540 h 689987"/>
                <a:gd name="connsiteX2" fmla="*/ 13507 w 809109"/>
                <a:gd name="connsiteY2" fmla="*/ 192331 h 689987"/>
                <a:gd name="connsiteX3" fmla="*/ 14043 w 809109"/>
                <a:gd name="connsiteY3" fmla="*/ 193043 h 689987"/>
                <a:gd name="connsiteX4" fmla="*/ 809110 w 809109"/>
                <a:gd name="connsiteY4" fmla="*/ 646128 h 689987"/>
                <a:gd name="connsiteX5" fmla="*/ 809110 w 809109"/>
                <a:gd name="connsiteY5" fmla="*/ 646128 h 689987"/>
                <a:gd name="connsiteX6" fmla="*/ 0 w 809109"/>
                <a:gd name="connsiteY6" fmla="*/ 1 h 689987"/>
                <a:gd name="connsiteX7" fmla="*/ 53196 w 809109"/>
                <a:gd name="connsiteY7" fmla="*/ 378134 h 689987"/>
                <a:gd name="connsiteX8" fmla="*/ 747383 w 809109"/>
                <a:gd name="connsiteY8" fmla="*/ 658857 h 689987"/>
                <a:gd name="connsiteX9" fmla="*/ 747383 w 809109"/>
                <a:gd name="connsiteY9" fmla="*/ 658857 h 689987"/>
                <a:gd name="connsiteX10" fmla="*/ 23645 w 809109"/>
                <a:gd name="connsiteY10" fmla="*/ 253995 h 689987"/>
                <a:gd name="connsiteX11" fmla="*/ 23645 w 809109"/>
                <a:gd name="connsiteY11" fmla="*/ 253995 h 689987"/>
                <a:gd name="connsiteX12" fmla="*/ 53196 w 809109"/>
                <a:gd name="connsiteY12" fmla="*/ 378134 h 689987"/>
                <a:gd name="connsiteX13" fmla="*/ 109083 w 809109"/>
                <a:gd name="connsiteY13" fmla="*/ 527553 h 689987"/>
                <a:gd name="connsiteX14" fmla="*/ 660775 w 809109"/>
                <a:gd name="connsiteY14" fmla="*/ 668002 h 689987"/>
                <a:gd name="connsiteX15" fmla="*/ 660775 w 809109"/>
                <a:gd name="connsiteY15" fmla="*/ 668002 h 689987"/>
                <a:gd name="connsiteX16" fmla="*/ 68158 w 809109"/>
                <a:gd name="connsiteY16" fmla="*/ 425009 h 689987"/>
                <a:gd name="connsiteX17" fmla="*/ 68158 w 809109"/>
                <a:gd name="connsiteY17" fmla="*/ 425009 h 689987"/>
                <a:gd name="connsiteX18" fmla="*/ 109083 w 809109"/>
                <a:gd name="connsiteY18" fmla="*/ 527553 h 689987"/>
                <a:gd name="connsiteX19" fmla="*/ 129425 w 809109"/>
                <a:gd name="connsiteY19" fmla="*/ 569424 h 689987"/>
                <a:gd name="connsiteX20" fmla="*/ 186930 w 809109"/>
                <a:gd name="connsiteY20" fmla="*/ 665588 h 689987"/>
                <a:gd name="connsiteX21" fmla="*/ 186930 w 809109"/>
                <a:gd name="connsiteY21" fmla="*/ 665588 h 689987"/>
                <a:gd name="connsiteX22" fmla="*/ 186930 w 809109"/>
                <a:gd name="connsiteY22" fmla="*/ 665665 h 689987"/>
                <a:gd name="connsiteX23" fmla="*/ 587138 w 809109"/>
                <a:gd name="connsiteY23" fmla="*/ 686550 h 689987"/>
                <a:gd name="connsiteX24" fmla="*/ 587138 w 809109"/>
                <a:gd name="connsiteY24" fmla="*/ 686550 h 689987"/>
                <a:gd name="connsiteX25" fmla="*/ 129775 w 809109"/>
                <a:gd name="connsiteY25" fmla="*/ 569424 h 689987"/>
                <a:gd name="connsiteX26" fmla="*/ 129775 w 809109"/>
                <a:gd name="connsiteY26" fmla="*/ 569424 h 689987"/>
                <a:gd name="connsiteX27" fmla="*/ 129425 w 809109"/>
                <a:gd name="connsiteY27" fmla="*/ 569424 h 68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9109" h="689987">
                  <a:moveTo>
                    <a:pt x="0" y="0"/>
                  </a:moveTo>
                  <a:lnTo>
                    <a:pt x="0" y="2540"/>
                  </a:lnTo>
                  <a:cubicBezTo>
                    <a:pt x="284" y="55818"/>
                    <a:pt x="3631" y="120886"/>
                    <a:pt x="13507" y="192331"/>
                  </a:cubicBezTo>
                  <a:lnTo>
                    <a:pt x="14043" y="193043"/>
                  </a:lnTo>
                  <a:cubicBezTo>
                    <a:pt x="393591" y="495286"/>
                    <a:pt x="809110" y="646128"/>
                    <a:pt x="809110" y="646128"/>
                  </a:cubicBezTo>
                  <a:lnTo>
                    <a:pt x="809110" y="646128"/>
                  </a:lnTo>
                  <a:cubicBezTo>
                    <a:pt x="275693" y="342819"/>
                    <a:pt x="0" y="1"/>
                    <a:pt x="0" y="1"/>
                  </a:cubicBezTo>
                  <a:close/>
                  <a:moveTo>
                    <a:pt x="53196" y="378134"/>
                  </a:moveTo>
                  <a:cubicBezTo>
                    <a:pt x="476436" y="613250"/>
                    <a:pt x="747383" y="658857"/>
                    <a:pt x="747383" y="658857"/>
                  </a:cubicBezTo>
                  <a:lnTo>
                    <a:pt x="747383" y="658857"/>
                  </a:lnTo>
                  <a:cubicBezTo>
                    <a:pt x="287964" y="461849"/>
                    <a:pt x="23897" y="254273"/>
                    <a:pt x="23645" y="253995"/>
                  </a:cubicBezTo>
                  <a:lnTo>
                    <a:pt x="23645" y="253995"/>
                  </a:lnTo>
                  <a:cubicBezTo>
                    <a:pt x="31082" y="294341"/>
                    <a:pt x="40761" y="335932"/>
                    <a:pt x="53196" y="378134"/>
                  </a:cubicBezTo>
                  <a:close/>
                  <a:moveTo>
                    <a:pt x="109083" y="527553"/>
                  </a:moveTo>
                  <a:cubicBezTo>
                    <a:pt x="428326" y="649811"/>
                    <a:pt x="660775" y="668002"/>
                    <a:pt x="660775" y="668002"/>
                  </a:cubicBezTo>
                  <a:lnTo>
                    <a:pt x="660775" y="668002"/>
                  </a:lnTo>
                  <a:cubicBezTo>
                    <a:pt x="286433" y="551485"/>
                    <a:pt x="68508" y="425287"/>
                    <a:pt x="68158" y="425009"/>
                  </a:cubicBezTo>
                  <a:lnTo>
                    <a:pt x="68158" y="425009"/>
                  </a:lnTo>
                  <a:cubicBezTo>
                    <a:pt x="79707" y="459156"/>
                    <a:pt x="93236" y="493581"/>
                    <a:pt x="109083" y="527553"/>
                  </a:cubicBezTo>
                  <a:close/>
                  <a:moveTo>
                    <a:pt x="129425" y="569424"/>
                  </a:moveTo>
                  <a:cubicBezTo>
                    <a:pt x="146355" y="601868"/>
                    <a:pt x="165429" y="634211"/>
                    <a:pt x="186930" y="665588"/>
                  </a:cubicBezTo>
                  <a:lnTo>
                    <a:pt x="186930" y="665588"/>
                  </a:lnTo>
                  <a:lnTo>
                    <a:pt x="186930" y="665665"/>
                  </a:lnTo>
                  <a:cubicBezTo>
                    <a:pt x="397878" y="702506"/>
                    <a:pt x="587138" y="686550"/>
                    <a:pt x="587138" y="686550"/>
                  </a:cubicBezTo>
                  <a:lnTo>
                    <a:pt x="587138" y="686550"/>
                  </a:lnTo>
                  <a:cubicBezTo>
                    <a:pt x="316629" y="642290"/>
                    <a:pt x="166238" y="583219"/>
                    <a:pt x="129775" y="569424"/>
                  </a:cubicBezTo>
                  <a:lnTo>
                    <a:pt x="129775" y="569424"/>
                  </a:lnTo>
                  <a:lnTo>
                    <a:pt x="129425" y="569424"/>
                  </a:lnTo>
                  <a:close/>
                </a:path>
              </a:pathLst>
            </a:custGeom>
            <a:gradFill>
              <a:gsLst>
                <a:gs pos="0">
                  <a:srgbClr val="FFFFFF"/>
                </a:gs>
                <a:gs pos="50000">
                  <a:srgbClr val="BFCD7F"/>
                </a:gs>
                <a:gs pos="100000">
                  <a:srgbClr val="809B00"/>
                </a:gs>
              </a:gsLst>
              <a:lin ang="12509132" scaled="1"/>
            </a:gradFill>
            <a:ln w="109" cap="flat">
              <a:noFill/>
              <a:prstDash val="solid"/>
              <a:miter/>
            </a:ln>
          </p:spPr>
          <p:txBody>
            <a:bodyPr rtlCol="0" anchor="ctr"/>
            <a:lstStyle/>
            <a:p>
              <a:endParaRPr lang="zh-CN" altLang="en-US"/>
            </a:p>
          </p:txBody>
        </p:sp>
      </p:grpSp>
      <p:grpSp>
        <p:nvGrpSpPr>
          <p:cNvPr id="28" name="组合 27">
            <a:extLst>
              <a:ext uri="{FF2B5EF4-FFF2-40B4-BE49-F238E27FC236}">
                <a16:creationId xmlns:a16="http://schemas.microsoft.com/office/drawing/2014/main" id="{EF36AEA8-3AEE-2BD2-6A1A-683B2C33F84A}"/>
              </a:ext>
            </a:extLst>
          </p:cNvPr>
          <p:cNvGrpSpPr/>
          <p:nvPr userDrawn="1"/>
        </p:nvGrpSpPr>
        <p:grpSpPr>
          <a:xfrm>
            <a:off x="407988" y="416022"/>
            <a:ext cx="446425" cy="432024"/>
            <a:chOff x="3157789" y="1162600"/>
            <a:chExt cx="2232000" cy="2160000"/>
          </a:xfrm>
        </p:grpSpPr>
        <p:sp>
          <p:nvSpPr>
            <p:cNvPr id="29" name="椭圆 28">
              <a:extLst>
                <a:ext uri="{FF2B5EF4-FFF2-40B4-BE49-F238E27FC236}">
                  <a16:creationId xmlns:a16="http://schemas.microsoft.com/office/drawing/2014/main" id="{6314E6E3-A28B-A97E-0AE5-88C0DE0B414D}"/>
                </a:ext>
              </a:extLst>
            </p:cNvPr>
            <p:cNvSpPr>
              <a:spLocks noChangeAspect="1"/>
            </p:cNvSpPr>
            <p:nvPr/>
          </p:nvSpPr>
          <p:spPr>
            <a:xfrm>
              <a:off x="3193787" y="1162600"/>
              <a:ext cx="2159999" cy="2160000"/>
            </a:xfrm>
            <a:prstGeom prst="ellipse">
              <a:avLst/>
            </a:prstGeom>
            <a:solidFill>
              <a:srgbClr val="0B3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30" name="图形 29">
              <a:extLst>
                <a:ext uri="{FF2B5EF4-FFF2-40B4-BE49-F238E27FC236}">
                  <a16:creationId xmlns:a16="http://schemas.microsoft.com/office/drawing/2014/main" id="{46565262-88D8-725C-5ACD-4D69907B94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57789" y="1461401"/>
              <a:ext cx="2232000" cy="1562399"/>
            </a:xfrm>
            <a:prstGeom prst="rect">
              <a:avLst/>
            </a:prstGeom>
          </p:spPr>
        </p:pic>
      </p:grpSp>
      <p:sp>
        <p:nvSpPr>
          <p:cNvPr id="32" name="任意形状 31">
            <a:extLst>
              <a:ext uri="{FF2B5EF4-FFF2-40B4-BE49-F238E27FC236}">
                <a16:creationId xmlns:a16="http://schemas.microsoft.com/office/drawing/2014/main" id="{B149AD21-405B-D537-EB6C-FEB360C5FB03}"/>
              </a:ext>
            </a:extLst>
          </p:cNvPr>
          <p:cNvSpPr/>
          <p:nvPr userDrawn="1"/>
        </p:nvSpPr>
        <p:spPr>
          <a:xfrm>
            <a:off x="777665" y="416034"/>
            <a:ext cx="8213621" cy="432000"/>
          </a:xfrm>
          <a:custGeom>
            <a:avLst/>
            <a:gdLst>
              <a:gd name="connsiteX0" fmla="*/ 0 w 8213621"/>
              <a:gd name="connsiteY0" fmla="*/ 0 h 432000"/>
              <a:gd name="connsiteX1" fmla="*/ 7997621 w 8213621"/>
              <a:gd name="connsiteY1" fmla="*/ 0 h 432000"/>
              <a:gd name="connsiteX2" fmla="*/ 8213621 w 8213621"/>
              <a:gd name="connsiteY2" fmla="*/ 216000 h 432000"/>
              <a:gd name="connsiteX3" fmla="*/ 7997621 w 8213621"/>
              <a:gd name="connsiteY3" fmla="*/ 432000 h 432000"/>
              <a:gd name="connsiteX4" fmla="*/ 0 w 8213621"/>
              <a:gd name="connsiteY4" fmla="*/ 432000 h 432000"/>
              <a:gd name="connsiteX5" fmla="*/ 38100 w 8213621"/>
              <a:gd name="connsiteY5" fmla="*/ 400565 h 432000"/>
              <a:gd name="connsiteX6" fmla="*/ 114549 w 8213621"/>
              <a:gd name="connsiteY6" fmla="*/ 216000 h 432000"/>
              <a:gd name="connsiteX7" fmla="*/ 38100 w 8213621"/>
              <a:gd name="connsiteY7" fmla="*/ 31435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13621" h="432000">
                <a:moveTo>
                  <a:pt x="0" y="0"/>
                </a:moveTo>
                <a:lnTo>
                  <a:pt x="7997621" y="0"/>
                </a:lnTo>
                <a:cubicBezTo>
                  <a:pt x="8116915" y="0"/>
                  <a:pt x="8213621" y="96706"/>
                  <a:pt x="8213621" y="216000"/>
                </a:cubicBezTo>
                <a:cubicBezTo>
                  <a:pt x="8213621" y="335294"/>
                  <a:pt x="8116915" y="432000"/>
                  <a:pt x="7997621" y="432000"/>
                </a:cubicBezTo>
                <a:lnTo>
                  <a:pt x="0" y="432000"/>
                </a:lnTo>
                <a:lnTo>
                  <a:pt x="38100" y="400565"/>
                </a:lnTo>
                <a:cubicBezTo>
                  <a:pt x="85334" y="353331"/>
                  <a:pt x="114549" y="288077"/>
                  <a:pt x="114549" y="216000"/>
                </a:cubicBezTo>
                <a:cubicBezTo>
                  <a:pt x="114549" y="143923"/>
                  <a:pt x="85334" y="78670"/>
                  <a:pt x="38100" y="31435"/>
                </a:cubicBezTo>
                <a:close/>
              </a:path>
            </a:pathLst>
          </a:custGeom>
          <a:gradFill flip="none" rotWithShape="1">
            <a:gsLst>
              <a:gs pos="0">
                <a:srgbClr val="6492D4">
                  <a:alpha val="2000"/>
                </a:srgbClr>
              </a:gs>
              <a:gs pos="50000">
                <a:srgbClr val="6492D4">
                  <a:alpha val="10000"/>
                </a:srgbClr>
              </a:gs>
              <a:gs pos="98000">
                <a:srgbClr val="6492D4">
                  <a:alpha val="1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pic>
        <p:nvPicPr>
          <p:cNvPr id="16" name="图片 15">
            <a:extLst>
              <a:ext uri="{FF2B5EF4-FFF2-40B4-BE49-F238E27FC236}">
                <a16:creationId xmlns:a16="http://schemas.microsoft.com/office/drawing/2014/main" id="{4AAD96DA-A547-44C3-527A-3BB8CA701C33}"/>
              </a:ext>
            </a:extLst>
          </p:cNvPr>
          <p:cNvPicPr>
            <a:picLocks noChangeAspect="1"/>
          </p:cNvPicPr>
          <p:nvPr userDrawn="1"/>
        </p:nvPicPr>
        <p:blipFill>
          <a:blip r:embed="rId5"/>
          <a:srcRect/>
          <a:stretch/>
        </p:blipFill>
        <p:spPr>
          <a:xfrm>
            <a:off x="265112" y="6498448"/>
            <a:ext cx="1555083" cy="101928"/>
          </a:xfrm>
          <a:prstGeom prst="rect">
            <a:avLst/>
          </a:prstGeom>
        </p:spPr>
      </p:pic>
    </p:spTree>
    <p:extLst>
      <p:ext uri="{BB962C8B-B14F-4D97-AF65-F5344CB8AC3E}">
        <p14:creationId xmlns:p14="http://schemas.microsoft.com/office/powerpoint/2010/main" val="7983799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C4FF59C-D32E-291D-F4BC-2EBEDD3FC6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FCCB62A-A28B-9E82-A3F3-AF5202CE41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90780B2-EC77-5362-71CA-6DDF89EE9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146ACC-1619-E242-AD15-F336193CCCB6}" type="datetimeFigureOut">
              <a:rPr kumimoji="1" lang="zh-CN" altLang="en-US" smtClean="0"/>
              <a:t>2026/10/10</a:t>
            </a:fld>
            <a:endParaRPr kumimoji="1" lang="zh-CN" altLang="en-US"/>
          </a:p>
        </p:txBody>
      </p:sp>
      <p:sp>
        <p:nvSpPr>
          <p:cNvPr id="5" name="页脚占位符 4">
            <a:extLst>
              <a:ext uri="{FF2B5EF4-FFF2-40B4-BE49-F238E27FC236}">
                <a16:creationId xmlns:a16="http://schemas.microsoft.com/office/drawing/2014/main" id="{B95DEC29-7515-0103-604F-66D4083E18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49263E4-CC43-E1F8-6671-5541F77EC6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629A34-E785-A747-A39B-2C5BB758FEF7}" type="slidenum">
              <a:rPr kumimoji="1" lang="zh-CN" altLang="en-US" smtClean="0"/>
              <a:t>‹#›</a:t>
            </a:fld>
            <a:endParaRPr kumimoji="1" lang="zh-CN" altLang="en-US"/>
          </a:p>
        </p:txBody>
      </p:sp>
    </p:spTree>
    <p:extLst>
      <p:ext uri="{BB962C8B-B14F-4D97-AF65-F5344CB8AC3E}">
        <p14:creationId xmlns:p14="http://schemas.microsoft.com/office/powerpoint/2010/main" val="1653610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1.png"/><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20.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png"/><Relationship Id="rId11" Type="http://schemas.openxmlformats.org/officeDocument/2006/relationships/image" Target="../media/image16.png"/><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image" Target="../media/image20.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37.png"/><Relationship Id="rId4" Type="http://schemas.openxmlformats.org/officeDocument/2006/relationships/image" Target="../media/image45.png"/><Relationship Id="rId5" Type="http://schemas.openxmlformats.org/officeDocument/2006/relationships/image" Target="../media/image49.png"/><Relationship Id="rId6" Type="http://schemas.openxmlformats.org/officeDocument/2006/relationships/image" Target="../media/image43.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38.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image" Target="../media/image39.png"/><Relationship Id="rId4" Type="http://schemas.openxmlformats.org/officeDocument/2006/relationships/image" Target="../media/image53.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55.png"/><Relationship Id="rId6" Type="http://schemas.openxmlformats.org/officeDocument/2006/relationships/image" Target="../media/image58.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41.png"/><Relationship Id="rId4" Type="http://schemas.openxmlformats.org/officeDocument/2006/relationships/image" Target="../media/image44.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8.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16.png"/><Relationship Id="rId11" Type="http://schemas.openxmlformats.org/officeDocument/2006/relationships/image" Target="../media/image46.png"/><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68.png"/><Relationship Id="rId6" Type="http://schemas.openxmlformats.org/officeDocument/2006/relationships/image" Target="../media/image66.png"/><Relationship Id="rId7" Type="http://schemas.openxmlformats.org/officeDocument/2006/relationships/image" Target="../media/image69.png"/><Relationship Id="rId8" Type="http://schemas.openxmlformats.org/officeDocument/2006/relationships/image" Target="../media/image16.png"/><Relationship Id="rId9" Type="http://schemas.openxmlformats.org/officeDocument/2006/relationships/image" Target="../media/image56.png"/><Relationship Id="rId10" Type="http://schemas.openxmlformats.org/officeDocument/2006/relationships/image" Target="../media/image12.png"/><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8.png"/><Relationship Id="rId4" Type="http://schemas.openxmlformats.org/officeDocument/2006/relationships/image" Target="../media/image71.png"/><Relationship Id="rId5" Type="http://schemas.openxmlformats.org/officeDocument/2006/relationships/image" Target="../media/image9.png"/><Relationship Id="rId6" Type="http://schemas.openxmlformats.org/officeDocument/2006/relationships/image" Target="../media/image20.png"/><Relationship Id="rId7" Type="http://schemas.openxmlformats.org/officeDocument/2006/relationships/image" Target="../media/image72.png"/><Relationship Id="rId8" Type="http://schemas.openxmlformats.org/officeDocument/2006/relationships/image" Target="../media/image18.png"/><Relationship Id="rId9" Type="http://schemas.openxmlformats.org/officeDocument/2006/relationships/image" Target="../media/image32.png"/><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16.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jpg"/><Relationship Id="rId9" Type="http://schemas.openxmlformats.org/officeDocument/2006/relationships/image" Target="../media/image79.jpg"/><Relationship Id="rId10" Type="http://schemas.openxmlformats.org/officeDocument/2006/relationships/image" Target="../media/image80.jpg"/><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63.png"/><Relationship Id="rId4" Type="http://schemas.openxmlformats.org/officeDocument/2006/relationships/image" Target="../media/image8.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66.png"/><Relationship Id="rId9" Type="http://schemas.openxmlformats.org/officeDocument/2006/relationships/image" Target="../media/image18.png"/><Relationship Id="rId10" Type="http://schemas.openxmlformats.org/officeDocument/2006/relationships/image" Target="../media/image71.png"/><Relationship Id="rId11" Type="http://schemas.openxmlformats.org/officeDocument/2006/relationships/image" Target="../media/image38.png"/><Relationship Id="rId12" Type="http://schemas.openxmlformats.org/officeDocument/2006/relationships/image" Target="../media/image21.png"/><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85.png"/><Relationship Id="rId8"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969000" cy="1651000"/>
          </a:xfrm>
          <a:prstGeom prst="rect">
            <a:avLst/>
          </a:prstGeom>
          <a:noFill/>
        </p:spPr>
        <p:txBody>
          <a:bodyPr wrap="square" lIns="0" rIns="0" tIns="0" bIns="0" anchor="t">
            <a:spAutoFit/>
          </a:bodyPr>
          <a:lstStyle/>
          <a:p>
            <a:pPr algn="l">
              <a:lnSpc>
                <a:spcPct val="106000"/>
              </a:lnSpc>
              <a:spcAft>
                <a:spcPts val="0"/>
              </a:spcAft>
            </a:pPr>
            <a:r>
              <a:rPr sz="3000" b="0">
                <a:solidFill>
                  <a:srgbClr val="0B308E"/>
                </a:solidFill>
                <a:latin typeface="Segoe UI Semibold"/>
              </a:rPr>
              <a:t>Exploring Application</a:t>
            </a:r>
          </a:p>
          <a:p>
            <a:pPr algn="l">
              <a:lnSpc>
                <a:spcPct val="106000"/>
              </a:lnSpc>
              <a:spcAft>
                <a:spcPts val="0"/>
              </a:spcAft>
            </a:pPr>
            <a:r>
              <a:rPr sz="3000" b="0">
                <a:solidFill>
                  <a:srgbClr val="0B308E"/>
                </a:solidFill>
                <a:latin typeface="Segoe UI Semibold"/>
              </a:rPr>
              <a:t>Scenarios for a 450 MHz</a:t>
            </a:r>
          </a:p>
          <a:p>
            <a:pPr algn="l">
              <a:lnSpc>
                <a:spcPct val="106000"/>
              </a:lnSpc>
              <a:spcAft>
                <a:spcPts val="0"/>
              </a:spcAft>
            </a:pPr>
            <a:r>
              <a:rPr sz="3000" b="0">
                <a:solidFill>
                  <a:srgbClr val="0B308E"/>
                </a:solidFill>
                <a:latin typeface="Segoe UI Semibold"/>
              </a:rPr>
              <a:t>Mission-Critical Network</a:t>
            </a:r>
          </a:p>
        </p:txBody>
      </p:sp>
      <p:sp>
        <p:nvSpPr>
          <p:cNvPr id="15" name="Rectangle 14"/>
          <p:cNvSpPr/>
          <p:nvPr/>
        </p:nvSpPr>
        <p:spPr>
          <a:xfrm>
            <a:off x="863600" y="37084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962400"/>
            <a:ext cx="5588000" cy="635000"/>
          </a:xfrm>
          <a:prstGeom prst="rect">
            <a:avLst/>
          </a:prstGeom>
          <a:noFill/>
        </p:spPr>
        <p:txBody>
          <a:bodyPr wrap="square" lIns="0" rIns="0" tIns="0" bIns="0" anchor="t">
            <a:spAutoFit/>
          </a:bodyPr>
          <a:lstStyle/>
          <a:p>
            <a:pPr algn="l">
              <a:lnSpc>
                <a:spcPct val="130000"/>
              </a:lnSpc>
              <a:spcAft>
                <a:spcPts val="0"/>
              </a:spcAft>
            </a:pPr>
            <a:r>
              <a:rPr sz="1400" b="0">
                <a:solidFill>
                  <a:srgbClr val="55607A"/>
                </a:solidFill>
                <a:latin typeface="Segoe UI"/>
              </a:rPr>
              <a:t>Coverage and resilience for utilities,</a:t>
            </a:r>
          </a:p>
          <a:p>
            <a:pPr algn="l">
              <a:lnSpc>
                <a:spcPct val="130000"/>
              </a:lnSpc>
              <a:spcAft>
                <a:spcPts val="0"/>
              </a:spcAft>
            </a:pPr>
            <a:r>
              <a:rPr sz="1400" b="0">
                <a:solidFill>
                  <a:srgbClr val="55607A"/>
                </a:solidFill>
                <a:latin typeface="Segoe UI"/>
              </a:rPr>
              <a:t>public safety and transport</a:t>
            </a:r>
          </a:p>
        </p:txBody>
      </p:sp>
      <p:sp>
        <p:nvSpPr>
          <p:cNvPr id="17" name="TextBox 16"/>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Initial technical exchange  ·  October 2026</a:t>
            </a:r>
          </a:p>
        </p:txBody>
      </p:sp>
      <p:sp>
        <p:nvSpPr>
          <p:cNvPr id="18" name="TextBox 17"/>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AGENDA</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Four questions for today’s discussion</a:t>
            </a:r>
          </a:p>
        </p:txBody>
      </p:sp>
      <p:sp>
        <p:nvSpPr>
          <p:cNvPr id="10" name="Rectangle 9"/>
          <p:cNvSpPr/>
          <p:nvPr/>
        </p:nvSpPr>
        <p:spPr>
          <a:xfrm>
            <a:off x="6096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096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983488" y="2050288"/>
            <a:ext cx="369824" cy="369824"/>
          </a:xfrm>
          <a:prstGeom prst="rect">
            <a:avLst/>
          </a:prstGeom>
        </p:spPr>
      </p:pic>
      <p:sp>
        <p:nvSpPr>
          <p:cNvPr id="14" name="Oval 13"/>
          <p:cNvSpPr/>
          <p:nvPr/>
        </p:nvSpPr>
        <p:spPr>
          <a:xfrm>
            <a:off x="12999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2999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01</a:t>
            </a:r>
          </a:p>
        </p:txBody>
      </p:sp>
      <p:sp>
        <p:nvSpPr>
          <p:cNvPr id="16" name="TextBox 15"/>
          <p:cNvSpPr txBox="1"/>
          <p:nvPr/>
        </p:nvSpPr>
        <p:spPr>
          <a:xfrm>
            <a:off x="8128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a:t>
            </a:r>
          </a:p>
        </p:txBody>
      </p:sp>
      <p:sp>
        <p:nvSpPr>
          <p:cNvPr id="17" name="TextBox 16"/>
          <p:cNvSpPr txBox="1"/>
          <p:nvPr/>
        </p:nvSpPr>
        <p:spPr>
          <a:xfrm>
            <a:off x="8128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450 MHz advantages</a:t>
            </a:r>
          </a:p>
        </p:txBody>
      </p:sp>
      <p:cxnSp>
        <p:nvCxnSpPr>
          <p:cNvPr id="18" name="Connector 17"/>
          <p:cNvCxnSpPr/>
          <p:nvPr/>
        </p:nvCxnSpPr>
        <p:spPr>
          <a:xfrm>
            <a:off x="8128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What can this band do that mid-band cannot?</a:t>
            </a:r>
          </a:p>
        </p:txBody>
      </p:sp>
      <p:sp>
        <p:nvSpPr>
          <p:cNvPr id="20" name="TextBox 19"/>
          <p:cNvSpPr txBox="1"/>
          <p:nvPr/>
        </p:nvSpPr>
        <p:spPr>
          <a:xfrm>
            <a:off x="8128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3 – 6</a:t>
            </a:r>
          </a:p>
        </p:txBody>
      </p:sp>
      <p:sp>
        <p:nvSpPr>
          <p:cNvPr id="21" name="Rectangle 20"/>
          <p:cNvSpPr/>
          <p:nvPr/>
        </p:nvSpPr>
        <p:spPr>
          <a:xfrm>
            <a:off x="34290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4290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36322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users_white.png"/>
          <p:cNvPicPr>
            <a:picLocks noChangeAspect="1"/>
          </p:cNvPicPr>
          <p:nvPr/>
        </p:nvPicPr>
        <p:blipFill>
          <a:blip r:embed="rId3"/>
          <a:stretch>
            <a:fillRect/>
          </a:stretch>
        </p:blipFill>
        <p:spPr>
          <a:xfrm>
            <a:off x="3802888" y="2050288"/>
            <a:ext cx="369824" cy="369824"/>
          </a:xfrm>
          <a:prstGeom prst="rect">
            <a:avLst/>
          </a:prstGeom>
        </p:spPr>
      </p:pic>
      <p:sp>
        <p:nvSpPr>
          <p:cNvPr id="25" name="Oval 24"/>
          <p:cNvSpPr/>
          <p:nvPr/>
        </p:nvSpPr>
        <p:spPr>
          <a:xfrm>
            <a:off x="41193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1193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02</a:t>
            </a:r>
          </a:p>
        </p:txBody>
      </p:sp>
      <p:sp>
        <p:nvSpPr>
          <p:cNvPr id="27" name="TextBox 26"/>
          <p:cNvSpPr txBox="1"/>
          <p:nvPr/>
        </p:nvSpPr>
        <p:spPr>
          <a:xfrm>
            <a:off x="36322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a:t>
            </a:r>
          </a:p>
        </p:txBody>
      </p:sp>
      <p:sp>
        <p:nvSpPr>
          <p:cNvPr id="28" name="TextBox 27"/>
          <p:cNvSpPr txBox="1"/>
          <p:nvPr/>
        </p:nvSpPr>
        <p:spPr>
          <a:xfrm>
            <a:off x="36322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Target industries</a:t>
            </a:r>
          </a:p>
        </p:txBody>
      </p:sp>
      <p:cxnSp>
        <p:nvCxnSpPr>
          <p:cNvPr id="29" name="Connector 28"/>
          <p:cNvCxnSpPr/>
          <p:nvPr/>
        </p:nvCxnSpPr>
        <p:spPr>
          <a:xfrm>
            <a:off x="36322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322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Who needs it, and who would pay first?</a:t>
            </a:r>
          </a:p>
        </p:txBody>
      </p:sp>
      <p:sp>
        <p:nvSpPr>
          <p:cNvPr id="31" name="TextBox 30"/>
          <p:cNvSpPr txBox="1"/>
          <p:nvPr/>
        </p:nvSpPr>
        <p:spPr>
          <a:xfrm>
            <a:off x="36322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7 – 14</a:t>
            </a:r>
          </a:p>
        </p:txBody>
      </p:sp>
      <p:sp>
        <p:nvSpPr>
          <p:cNvPr id="32" name="Rectangle 31"/>
          <p:cNvSpPr/>
          <p:nvPr/>
        </p:nvSpPr>
        <p:spPr>
          <a:xfrm>
            <a:off x="62484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484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64516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globe_white.png"/>
          <p:cNvPicPr>
            <a:picLocks noChangeAspect="1"/>
          </p:cNvPicPr>
          <p:nvPr/>
        </p:nvPicPr>
        <p:blipFill>
          <a:blip r:embed="rId4"/>
          <a:stretch>
            <a:fillRect/>
          </a:stretch>
        </p:blipFill>
        <p:spPr>
          <a:xfrm>
            <a:off x="6622288" y="2050288"/>
            <a:ext cx="369824" cy="369824"/>
          </a:xfrm>
          <a:prstGeom prst="rect">
            <a:avLst/>
          </a:prstGeom>
        </p:spPr>
      </p:pic>
      <p:sp>
        <p:nvSpPr>
          <p:cNvPr id="36" name="Oval 35"/>
          <p:cNvSpPr/>
          <p:nvPr/>
        </p:nvSpPr>
        <p:spPr>
          <a:xfrm>
            <a:off x="69387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9387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03</a:t>
            </a:r>
          </a:p>
        </p:txBody>
      </p:sp>
      <p:sp>
        <p:nvSpPr>
          <p:cNvPr id="38" name="TextBox 37"/>
          <p:cNvSpPr txBox="1"/>
          <p:nvPr/>
        </p:nvSpPr>
        <p:spPr>
          <a:xfrm>
            <a:off x="64516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a:t>
            </a:r>
          </a:p>
        </p:txBody>
      </p:sp>
      <p:sp>
        <p:nvSpPr>
          <p:cNvPr id="39" name="TextBox 38"/>
          <p:cNvSpPr txBox="1"/>
          <p:nvPr/>
        </p:nvSpPr>
        <p:spPr>
          <a:xfrm>
            <a:off x="64516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Reference cases</a:t>
            </a:r>
          </a:p>
        </p:txBody>
      </p:sp>
      <p:cxnSp>
        <p:nvCxnSpPr>
          <p:cNvPr id="40" name="Connector 39"/>
          <p:cNvCxnSpPr/>
          <p:nvPr/>
        </p:nvCxnSpPr>
        <p:spPr>
          <a:xfrm>
            <a:off x="64516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516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is it built, and where does it run today?</a:t>
            </a:r>
          </a:p>
        </p:txBody>
      </p:sp>
      <p:sp>
        <p:nvSpPr>
          <p:cNvPr id="42" name="TextBox 41"/>
          <p:cNvSpPr txBox="1"/>
          <p:nvPr/>
        </p:nvSpPr>
        <p:spPr>
          <a:xfrm>
            <a:off x="64516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15 – 19</a:t>
            </a:r>
          </a:p>
        </p:txBody>
      </p:sp>
      <p:sp>
        <p:nvSpPr>
          <p:cNvPr id="43" name="Rectangle 42"/>
          <p:cNvSpPr/>
          <p:nvPr/>
        </p:nvSpPr>
        <p:spPr>
          <a:xfrm>
            <a:off x="9067800" y="1574800"/>
            <a:ext cx="2514600" cy="381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9067800" y="1574800"/>
            <a:ext cx="2514600" cy="50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9271000" y="1879600"/>
            <a:ext cx="711200" cy="711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6" name="Picture 45" descr="coins_white.png"/>
          <p:cNvPicPr>
            <a:picLocks noChangeAspect="1"/>
          </p:cNvPicPr>
          <p:nvPr/>
        </p:nvPicPr>
        <p:blipFill>
          <a:blip r:embed="rId5"/>
          <a:stretch>
            <a:fillRect/>
          </a:stretch>
        </p:blipFill>
        <p:spPr>
          <a:xfrm>
            <a:off x="9441688" y="2050288"/>
            <a:ext cx="369824" cy="369824"/>
          </a:xfrm>
          <a:prstGeom prst="rect">
            <a:avLst/>
          </a:prstGeom>
        </p:spPr>
      </p:pic>
      <p:sp>
        <p:nvSpPr>
          <p:cNvPr id="47" name="Oval 46"/>
          <p:cNvSpPr/>
          <p:nvPr/>
        </p:nvSpPr>
        <p:spPr>
          <a:xfrm>
            <a:off x="9758172" y="1819859"/>
            <a:ext cx="298704" cy="298704"/>
          </a:xfrm>
          <a:prstGeom prst="ellipse">
            <a:avLst/>
          </a:prstGeom>
          <a:solidFill>
            <a:srgbClr val="8CC63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758172" y="1819859"/>
            <a:ext cx="298704" cy="298704"/>
          </a:xfrm>
          <a:prstGeom prst="rect">
            <a:avLst/>
          </a:prstGeom>
          <a:noFill/>
        </p:spPr>
        <p:txBody>
          <a:bodyPr wrap="square" lIns="0" rIns="0" tIns="0" bIns="0" anchor="ctr">
            <a:spAutoFit/>
          </a:bodyPr>
          <a:lstStyle/>
          <a:p>
            <a:pPr algn="ctr">
              <a:lnSpc>
                <a:spcPct val="120000"/>
              </a:lnSpc>
              <a:spcAft>
                <a:spcPts val="0"/>
              </a:spcAft>
            </a:pPr>
            <a:r>
              <a:rPr sz="1176" b="0">
                <a:solidFill>
                  <a:srgbClr val="0B308E"/>
                </a:solidFill>
                <a:latin typeface="Segoe UI Semibold"/>
              </a:rPr>
              <a:t>04</a:t>
            </a:r>
          </a:p>
        </p:txBody>
      </p:sp>
      <p:sp>
        <p:nvSpPr>
          <p:cNvPr id="49" name="TextBox 48"/>
          <p:cNvSpPr txBox="1"/>
          <p:nvPr/>
        </p:nvSpPr>
        <p:spPr>
          <a:xfrm>
            <a:off x="9271000" y="2819400"/>
            <a:ext cx="2032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a:t>
            </a:r>
          </a:p>
        </p:txBody>
      </p:sp>
      <p:sp>
        <p:nvSpPr>
          <p:cNvPr id="50" name="TextBox 49"/>
          <p:cNvSpPr txBox="1"/>
          <p:nvPr/>
        </p:nvSpPr>
        <p:spPr>
          <a:xfrm>
            <a:off x="9271000" y="3048000"/>
            <a:ext cx="2133600" cy="635000"/>
          </a:xfrm>
          <a:prstGeom prst="rect">
            <a:avLst/>
          </a:prstGeom>
          <a:noFill/>
        </p:spPr>
        <p:txBody>
          <a:bodyPr wrap="square" lIns="0" rIns="0" tIns="0" bIns="0" anchor="t">
            <a:spAutoFit/>
          </a:bodyPr>
          <a:lstStyle/>
          <a:p>
            <a:pPr algn="l">
              <a:lnSpc>
                <a:spcPct val="110000"/>
              </a:lnSpc>
              <a:spcAft>
                <a:spcPts val="0"/>
              </a:spcAft>
            </a:pPr>
            <a:r>
              <a:rPr sz="1700" b="0">
                <a:solidFill>
                  <a:srgbClr val="0B308E"/>
                </a:solidFill>
                <a:latin typeface="Segoe UI Semibold"/>
              </a:rPr>
              <a:t>Business model</a:t>
            </a:r>
          </a:p>
        </p:txBody>
      </p:sp>
      <p:cxnSp>
        <p:nvCxnSpPr>
          <p:cNvPr id="51" name="Connector 50"/>
          <p:cNvCxnSpPr/>
          <p:nvPr/>
        </p:nvCxnSpPr>
        <p:spPr>
          <a:xfrm>
            <a:off x="9271000" y="3810000"/>
            <a:ext cx="2108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271000" y="3937000"/>
            <a:ext cx="2133600" cy="889000"/>
          </a:xfrm>
          <a:prstGeom prst="rect">
            <a:avLst/>
          </a:prstGeom>
          <a:noFill/>
        </p:spPr>
        <p:txBody>
          <a:bodyPr wrap="square" lIns="0" rIns="0" tIns="0" bIns="0" anchor="t">
            <a:spAutoFit/>
          </a:bodyPr>
          <a:lstStyle/>
          <a:p>
            <a:pPr algn="l">
              <a:lnSpc>
                <a:spcPct val="125000"/>
              </a:lnSpc>
              <a:spcAft>
                <a:spcPts val="0"/>
              </a:spcAft>
            </a:pPr>
            <a:r>
              <a:rPr sz="1250" b="0">
                <a:solidFill>
                  <a:srgbClr val="55607A"/>
                </a:solidFill>
                <a:latin typeface="Segoe UI"/>
              </a:rPr>
              <a:t>How could the network pay for itself?</a:t>
            </a:r>
          </a:p>
        </p:txBody>
      </p:sp>
      <p:sp>
        <p:nvSpPr>
          <p:cNvPr id="53" name="TextBox 52"/>
          <p:cNvSpPr txBox="1"/>
          <p:nvPr/>
        </p:nvSpPr>
        <p:spPr>
          <a:xfrm>
            <a:off x="9271000" y="5029200"/>
            <a:ext cx="2032000" cy="177800"/>
          </a:xfrm>
          <a:prstGeom prst="rect">
            <a:avLst/>
          </a:prstGeom>
          <a:noFill/>
        </p:spPr>
        <p:txBody>
          <a:bodyPr wrap="square" lIns="0" rIns="0" tIns="0" bIns="0" anchor="t">
            <a:spAutoFit/>
          </a:bodyPr>
          <a:lstStyle/>
          <a:p>
            <a:pPr algn="l">
              <a:lnSpc>
                <a:spcPct val="120000"/>
              </a:lnSpc>
              <a:spcAft>
                <a:spcPts val="0"/>
              </a:spcAft>
            </a:pPr>
            <a:r>
              <a:rPr sz="850" b="0" spc="120">
                <a:solidFill>
                  <a:srgbClr val="93A0B4"/>
                </a:solidFill>
                <a:latin typeface="Segoe UI Semibold"/>
              </a:rPr>
              <a:t>PAGES 20 – 21</a:t>
            </a:r>
          </a:p>
        </p:txBody>
      </p:sp>
      <p:sp>
        <p:nvSpPr>
          <p:cNvPr id="54" name="Rectangle 53"/>
          <p:cNvSpPr/>
          <p:nvPr/>
        </p:nvSpPr>
        <p:spPr>
          <a:xfrm>
            <a:off x="609600" y="56388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5" name="Picture 54" descr="handshake_navy.png"/>
          <p:cNvPicPr>
            <a:picLocks noChangeAspect="1"/>
          </p:cNvPicPr>
          <p:nvPr/>
        </p:nvPicPr>
        <p:blipFill>
          <a:blip r:embed="rId6"/>
          <a:stretch>
            <a:fillRect/>
          </a:stretch>
        </p:blipFill>
        <p:spPr>
          <a:xfrm>
            <a:off x="812800" y="5765800"/>
            <a:ext cx="254000" cy="254000"/>
          </a:xfrm>
          <a:prstGeom prst="rect">
            <a:avLst/>
          </a:prstGeom>
        </p:spPr>
      </p:pic>
      <p:sp>
        <p:nvSpPr>
          <p:cNvPr id="56" name="TextBox 55"/>
          <p:cNvSpPr txBox="1"/>
          <p:nvPr/>
        </p:nvSpPr>
        <p:spPr>
          <a:xfrm>
            <a:off x="1219200" y="56388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An open discussion:   </a:t>
            </a:r>
            <a:r>
              <a:rPr sz="1250" b="0">
                <a:solidFill>
                  <a:srgbClr val="16213E"/>
                </a:solidFill>
                <a:latin typeface="Segoe UI"/>
              </a:rPr>
              <a:t>the spectrum is Globe’s; these are options to explore together.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01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01</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450 MHz advantages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What can this band do that mid-band cannot?</a:t>
            </a:r>
          </a:p>
        </p:txBody>
      </p:sp>
      <p:sp>
        <p:nvSpPr>
          <p:cNvPr id="10" name="Rectangle 9"/>
          <p:cNvSpPr/>
          <p:nvPr/>
        </p:nvSpPr>
        <p:spPr>
          <a:xfrm>
            <a:off x="6197600" y="1524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197600" y="1524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6477000" y="1701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radio-tower_white.png"/>
          <p:cNvPicPr>
            <a:picLocks noChangeAspect="1"/>
          </p:cNvPicPr>
          <p:nvPr/>
        </p:nvPicPr>
        <p:blipFill>
          <a:blip r:embed="rId2"/>
          <a:stretch>
            <a:fillRect/>
          </a:stretch>
        </p:blipFill>
        <p:spPr>
          <a:xfrm>
            <a:off x="6598920" y="1823720"/>
            <a:ext cx="264160" cy="264160"/>
          </a:xfrm>
          <a:prstGeom prst="rect">
            <a:avLst/>
          </a:prstGeom>
        </p:spPr>
      </p:pic>
      <p:sp>
        <p:nvSpPr>
          <p:cNvPr id="14" name="Oval 13"/>
          <p:cNvSpPr/>
          <p:nvPr/>
        </p:nvSpPr>
        <p:spPr>
          <a:xfrm>
            <a:off x="6824980" y="1659127"/>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6" name="TextBox 15"/>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450 MHz advantages</a:t>
            </a:r>
          </a:p>
        </p:txBody>
      </p:sp>
      <p:sp>
        <p:nvSpPr>
          <p:cNvPr id="17" name="Rectangle 16"/>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steel.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POSITIONING</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scarce low band, best spent on B2B and B2G, not on consumer service</a:t>
            </a:r>
          </a:p>
        </p:txBody>
      </p:sp>
      <p:sp>
        <p:nvSpPr>
          <p:cNvPr id="10" name="TextBox 9"/>
          <p:cNvSpPr txBox="1"/>
          <p:nvPr/>
        </p:nvSpPr>
        <p:spPr>
          <a:xfrm>
            <a:off x="6096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WHY NOT CONSUMER: THE CHANNEL IS NARROW</a:t>
            </a:r>
          </a:p>
        </p:txBody>
      </p:sp>
      <p:sp>
        <p:nvSpPr>
          <p:cNvPr id="11" name="TextBox 10"/>
          <p:cNvSpPr txBox="1"/>
          <p:nvPr/>
        </p:nvSpPr>
        <p:spPr>
          <a:xfrm>
            <a:off x="609600" y="1854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450 MHz (Band 31 / 72)</a:t>
            </a:r>
          </a:p>
        </p:txBody>
      </p:sp>
      <p:sp>
        <p:nvSpPr>
          <p:cNvPr id="12" name="Rectangle 11"/>
          <p:cNvSpPr/>
          <p:nvPr/>
        </p:nvSpPr>
        <p:spPr>
          <a:xfrm>
            <a:off x="609600" y="2070100"/>
            <a:ext cx="190500" cy="177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1700" y="2044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 2×5 MHz</a:t>
            </a:r>
          </a:p>
        </p:txBody>
      </p:sp>
      <p:sp>
        <p:nvSpPr>
          <p:cNvPr id="14" name="TextBox 13"/>
          <p:cNvSpPr txBox="1"/>
          <p:nvPr/>
        </p:nvSpPr>
        <p:spPr>
          <a:xfrm>
            <a:off x="609600" y="2362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LTE carrier</a:t>
            </a:r>
          </a:p>
        </p:txBody>
      </p:sp>
      <p:sp>
        <p:nvSpPr>
          <p:cNvPr id="15" name="Rectangle 14"/>
          <p:cNvSpPr/>
          <p:nvPr/>
        </p:nvSpPr>
        <p:spPr>
          <a:xfrm>
            <a:off x="609600" y="2578100"/>
            <a:ext cx="762000" cy="1778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473200" y="2552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20 MHz</a:t>
            </a:r>
          </a:p>
        </p:txBody>
      </p:sp>
      <p:sp>
        <p:nvSpPr>
          <p:cNvPr id="17" name="TextBox 16"/>
          <p:cNvSpPr txBox="1"/>
          <p:nvPr/>
        </p:nvSpPr>
        <p:spPr>
          <a:xfrm>
            <a:off x="609600" y="2870200"/>
            <a:ext cx="4876800" cy="1778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One typical 5G carrier (3.5 GHz)</a:t>
            </a:r>
          </a:p>
        </p:txBody>
      </p:sp>
      <p:sp>
        <p:nvSpPr>
          <p:cNvPr id="18" name="Rectangle 17"/>
          <p:cNvSpPr/>
          <p:nvPr/>
        </p:nvSpPr>
        <p:spPr>
          <a:xfrm>
            <a:off x="609600" y="3086100"/>
            <a:ext cx="3810000" cy="177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21200" y="3060700"/>
            <a:ext cx="1143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0B308E"/>
                </a:solidFill>
                <a:latin typeface="Segoe UI Semibold"/>
              </a:rPr>
              <a:t>100 MHz</a:t>
            </a:r>
          </a:p>
        </p:txBody>
      </p:sp>
      <p:sp>
        <p:nvSpPr>
          <p:cNvPr id="20" name="TextBox 19"/>
          <p:cNvSpPr txBox="1"/>
          <p:nvPr/>
        </p:nvSpPr>
        <p:spPr>
          <a:xfrm>
            <a:off x="609600" y="3403600"/>
            <a:ext cx="4876800" cy="431800"/>
          </a:xfrm>
          <a:prstGeom prst="rect">
            <a:avLst/>
          </a:prstGeom>
          <a:noFill/>
        </p:spPr>
        <p:txBody>
          <a:bodyPr wrap="square" lIns="0" rIns="0" tIns="0" bIns="0" anchor="t">
            <a:spAutoFit/>
          </a:bodyPr>
          <a:lstStyle/>
          <a:p>
            <a:pPr algn="l">
              <a:lnSpc>
                <a:spcPct val="120000"/>
              </a:lnSpc>
              <a:spcAft>
                <a:spcPts val="0"/>
              </a:spcAft>
            </a:pPr>
            <a:r>
              <a:rPr sz="1050" b="0">
                <a:solidFill>
                  <a:srgbClr val="55607A"/>
                </a:solidFill>
                <a:latin typeface="Segoe UI"/>
              </a:rPr>
              <a:t>One 450 MHz cell covers a very large area, so this narrow channel</a:t>
            </a:r>
          </a:p>
          <a:p>
            <a:pPr algn="l">
              <a:lnSpc>
                <a:spcPct val="120000"/>
              </a:lnSpc>
              <a:spcAft>
                <a:spcPts val="0"/>
              </a:spcAft>
            </a:pPr>
            <a:r>
              <a:rPr sz="1050" b="0">
                <a:solidFill>
                  <a:srgbClr val="55607A"/>
                </a:solidFill>
                <a:latin typeface="Segoe UI"/>
              </a:rPr>
              <a:t>is shared by far more users than a mid-band cell.</a:t>
            </a:r>
          </a:p>
        </p:txBody>
      </p:sp>
      <p:sp>
        <p:nvSpPr>
          <p:cNvPr id="21" name="Rectangle 20"/>
          <p:cNvSpPr/>
          <p:nvPr/>
        </p:nvSpPr>
        <p:spPr>
          <a:xfrm>
            <a:off x="609600" y="3987800"/>
            <a:ext cx="2362200" cy="1651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09600" y="3987800"/>
            <a:ext cx="23622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heck_green.png"/>
          <p:cNvPicPr>
            <a:picLocks noChangeAspect="1"/>
          </p:cNvPicPr>
          <p:nvPr/>
        </p:nvPicPr>
        <p:blipFill>
          <a:blip r:embed="rId2"/>
          <a:stretch>
            <a:fillRect/>
          </a:stretch>
        </p:blipFill>
        <p:spPr>
          <a:xfrm>
            <a:off x="812800" y="4140200"/>
            <a:ext cx="228600" cy="228600"/>
          </a:xfrm>
          <a:prstGeom prst="rect">
            <a:avLst/>
          </a:prstGeom>
        </p:spPr>
      </p:pic>
      <p:sp>
        <p:nvSpPr>
          <p:cNvPr id="24" name="TextBox 23"/>
          <p:cNvSpPr txBox="1"/>
          <p:nvPr/>
        </p:nvSpPr>
        <p:spPr>
          <a:xfrm>
            <a:off x="11684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FITS: B2B AND B2G</a:t>
            </a:r>
          </a:p>
        </p:txBody>
      </p:sp>
      <p:sp>
        <p:nvSpPr>
          <p:cNvPr id="25" name="TextBox 24"/>
          <p:cNvSpPr txBox="1"/>
          <p:nvPr/>
        </p:nvSpPr>
        <p:spPr>
          <a:xfrm>
            <a:off x="8128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Power, water, oil &amp; gas, rail</a:t>
            </a:r>
          </a:p>
        </p:txBody>
      </p:sp>
      <p:sp>
        <p:nvSpPr>
          <p:cNvPr id="26" name="TextBox 25"/>
          <p:cNvSpPr txBox="1"/>
          <p:nvPr/>
        </p:nvSpPr>
        <p:spPr>
          <a:xfrm>
            <a:off x="8128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Emergency and public safety</a:t>
            </a:r>
          </a:p>
        </p:txBody>
      </p:sp>
      <p:sp>
        <p:nvSpPr>
          <p:cNvPr id="27" name="TextBox 26"/>
          <p:cNvSpPr txBox="1"/>
          <p:nvPr/>
        </p:nvSpPr>
        <p:spPr>
          <a:xfrm>
            <a:off x="8128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IoT, SCADA, MCPTT</a:t>
            </a:r>
          </a:p>
        </p:txBody>
      </p:sp>
      <p:sp>
        <p:nvSpPr>
          <p:cNvPr id="28" name="Rectangle 27"/>
          <p:cNvSpPr/>
          <p:nvPr/>
        </p:nvSpPr>
        <p:spPr>
          <a:xfrm>
            <a:off x="3124200" y="3987800"/>
            <a:ext cx="2362200" cy="1651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3124200" y="3987800"/>
            <a:ext cx="2362200" cy="50800"/>
          </a:xfrm>
          <a:prstGeom prst="rect">
            <a:avLst/>
          </a:prstGeom>
          <a:solidFill>
            <a:srgbClr val="5560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info_steel.png"/>
          <p:cNvPicPr>
            <a:picLocks noChangeAspect="1"/>
          </p:cNvPicPr>
          <p:nvPr/>
        </p:nvPicPr>
        <p:blipFill>
          <a:blip r:embed="rId3"/>
          <a:stretch>
            <a:fillRect/>
          </a:stretch>
        </p:blipFill>
        <p:spPr>
          <a:xfrm>
            <a:off x="3327400" y="4140200"/>
            <a:ext cx="228600" cy="228600"/>
          </a:xfrm>
          <a:prstGeom prst="rect">
            <a:avLst/>
          </a:prstGeom>
        </p:spPr>
      </p:pic>
      <p:sp>
        <p:nvSpPr>
          <p:cNvPr id="31" name="TextBox 30"/>
          <p:cNvSpPr txBox="1"/>
          <p:nvPr/>
        </p:nvSpPr>
        <p:spPr>
          <a:xfrm>
            <a:off x="3683000" y="41402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55607A"/>
                </a:solidFill>
                <a:latin typeface="Segoe UI Semibold"/>
              </a:rPr>
              <a:t>NOT FOR CONSUMERS</a:t>
            </a:r>
          </a:p>
        </p:txBody>
      </p:sp>
      <p:sp>
        <p:nvSpPr>
          <p:cNvPr id="32" name="TextBox 31"/>
          <p:cNvSpPr txBox="1"/>
          <p:nvPr/>
        </p:nvSpPr>
        <p:spPr>
          <a:xfrm>
            <a:off x="3327400" y="45212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Smartphone internet</a:t>
            </a:r>
          </a:p>
        </p:txBody>
      </p:sp>
      <p:sp>
        <p:nvSpPr>
          <p:cNvPr id="33" name="TextBox 32"/>
          <p:cNvSpPr txBox="1"/>
          <p:nvPr/>
        </p:nvSpPr>
        <p:spPr>
          <a:xfrm>
            <a:off x="3327400" y="48514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Video streaming</a:t>
            </a:r>
          </a:p>
        </p:txBody>
      </p:sp>
      <p:sp>
        <p:nvSpPr>
          <p:cNvPr id="34" name="TextBox 33"/>
          <p:cNvSpPr txBox="1"/>
          <p:nvPr/>
        </p:nvSpPr>
        <p:spPr>
          <a:xfrm>
            <a:off x="3327400" y="5181600"/>
            <a:ext cx="2032000" cy="2794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a:rPr>
              <a:t>Home broadband</a:t>
            </a:r>
          </a:p>
        </p:txBody>
      </p:sp>
      <p:sp>
        <p:nvSpPr>
          <p:cNvPr id="35" name="TextBox 34"/>
          <p:cNvSpPr txBox="1"/>
          <p:nvPr/>
        </p:nvSpPr>
        <p:spPr>
          <a:xfrm>
            <a:off x="5791200" y="15494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THREE MORE REASONS</a:t>
            </a:r>
          </a:p>
        </p:txBody>
      </p:sp>
      <p:sp>
        <p:nvSpPr>
          <p:cNvPr id="36" name="Rectangle 35"/>
          <p:cNvSpPr/>
          <p:nvPr/>
        </p:nvSpPr>
        <p:spPr>
          <a:xfrm>
            <a:off x="5791200" y="185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Oval 36"/>
          <p:cNvSpPr/>
          <p:nvPr/>
        </p:nvSpPr>
        <p:spPr>
          <a:xfrm>
            <a:off x="5994400" y="214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martphone_white.png"/>
          <p:cNvPicPr>
            <a:picLocks noChangeAspect="1"/>
          </p:cNvPicPr>
          <p:nvPr/>
        </p:nvPicPr>
        <p:blipFill>
          <a:blip r:embed="rId4"/>
          <a:stretch>
            <a:fillRect/>
          </a:stretch>
        </p:blipFill>
        <p:spPr>
          <a:xfrm>
            <a:off x="6128512" y="2280412"/>
            <a:ext cx="290576" cy="290576"/>
          </a:xfrm>
          <a:prstGeom prst="rect">
            <a:avLst/>
          </a:prstGeom>
        </p:spPr>
      </p:pic>
      <p:sp>
        <p:nvSpPr>
          <p:cNvPr id="39" name="TextBox 38"/>
          <p:cNvSpPr txBox="1"/>
          <p:nvPr/>
        </p:nvSpPr>
        <p:spPr>
          <a:xfrm>
            <a:off x="6756400" y="198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No consumer handsets</a:t>
            </a:r>
          </a:p>
        </p:txBody>
      </p:sp>
      <p:sp>
        <p:nvSpPr>
          <p:cNvPr id="40" name="TextBox 39"/>
          <p:cNvSpPr txBox="1"/>
          <p:nvPr/>
        </p:nvSpPr>
        <p:spPr>
          <a:xfrm>
            <a:off x="6756400" y="228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Mainstream smartphones do not support Band 31 or 72. Devices are routers, meters and rugged handhelds.</a:t>
            </a:r>
          </a:p>
        </p:txBody>
      </p:sp>
      <p:sp>
        <p:nvSpPr>
          <p:cNvPr id="41" name="Rectangle 40"/>
          <p:cNvSpPr/>
          <p:nvPr/>
        </p:nvSpPr>
        <p:spPr>
          <a:xfrm>
            <a:off x="5791200" y="312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5994400" y="341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3" name="Picture 42" descr="badge-check_white.png"/>
          <p:cNvPicPr>
            <a:picLocks noChangeAspect="1"/>
          </p:cNvPicPr>
          <p:nvPr/>
        </p:nvPicPr>
        <p:blipFill>
          <a:blip r:embed="rId5"/>
          <a:stretch>
            <a:fillRect/>
          </a:stretch>
        </p:blipFill>
        <p:spPr>
          <a:xfrm>
            <a:off x="6128512" y="3550412"/>
            <a:ext cx="290576" cy="290576"/>
          </a:xfrm>
          <a:prstGeom prst="rect">
            <a:avLst/>
          </a:prstGeom>
        </p:spPr>
      </p:pic>
      <p:sp>
        <p:nvSpPr>
          <p:cNvPr id="44" name="TextBox 43"/>
          <p:cNvSpPr txBox="1"/>
          <p:nvPr/>
        </p:nvSpPr>
        <p:spPr>
          <a:xfrm>
            <a:off x="6756400" y="325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Licensed for critical infrastructure</a:t>
            </a:r>
          </a:p>
        </p:txBody>
      </p:sp>
      <p:sp>
        <p:nvSpPr>
          <p:cNvPr id="45" name="TextBox 44"/>
          <p:cNvSpPr txBox="1"/>
          <p:nvPr/>
        </p:nvSpPr>
        <p:spPr>
          <a:xfrm>
            <a:off x="6756400" y="355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Germany reserved the band for energy and water; Singapore for public safety; South Africa for rail.</a:t>
            </a:r>
          </a:p>
        </p:txBody>
      </p:sp>
      <p:sp>
        <p:nvSpPr>
          <p:cNvPr id="46" name="Rectangle 45"/>
          <p:cNvSpPr/>
          <p:nvPr/>
        </p:nvSpPr>
        <p:spPr>
          <a:xfrm>
            <a:off x="5791200" y="4394200"/>
            <a:ext cx="5791200" cy="1143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Oval 46"/>
          <p:cNvSpPr/>
          <p:nvPr/>
        </p:nvSpPr>
        <p:spPr>
          <a:xfrm>
            <a:off x="5994400" y="46863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8" name="Picture 47" descr="zap_white.png"/>
          <p:cNvPicPr>
            <a:picLocks noChangeAspect="1"/>
          </p:cNvPicPr>
          <p:nvPr/>
        </p:nvPicPr>
        <p:blipFill>
          <a:blip r:embed="rId6"/>
          <a:stretch>
            <a:fillRect/>
          </a:stretch>
        </p:blipFill>
        <p:spPr>
          <a:xfrm>
            <a:off x="6128512" y="4820412"/>
            <a:ext cx="290576" cy="290576"/>
          </a:xfrm>
          <a:prstGeom prst="rect">
            <a:avLst/>
          </a:prstGeom>
        </p:spPr>
      </p:pic>
      <p:sp>
        <p:nvSpPr>
          <p:cNvPr id="49" name="TextBox 48"/>
          <p:cNvSpPr txBox="1"/>
          <p:nvPr/>
        </p:nvSpPr>
        <p:spPr>
          <a:xfrm>
            <a:off x="6756400" y="4521200"/>
            <a:ext cx="4622800" cy="2794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Built for resilience, not consumer cost</a:t>
            </a:r>
          </a:p>
        </p:txBody>
      </p:sp>
      <p:sp>
        <p:nvSpPr>
          <p:cNvPr id="50" name="TextBox 49"/>
          <p:cNvSpPr txBox="1"/>
          <p:nvPr/>
        </p:nvSpPr>
        <p:spPr>
          <a:xfrm>
            <a:off x="6756400" y="4826000"/>
            <a:ext cx="4622800" cy="609600"/>
          </a:xfrm>
          <a:prstGeom prst="rect">
            <a:avLst/>
          </a:prstGeom>
          <a:noFill/>
        </p:spPr>
        <p:txBody>
          <a:bodyPr wrap="square" lIns="0" rIns="0" tIns="0" bIns="0" anchor="t">
            <a:spAutoFit/>
          </a:bodyPr>
          <a:lstStyle/>
          <a:p>
            <a:pPr algn="l">
              <a:lnSpc>
                <a:spcPct val="120000"/>
              </a:lnSpc>
              <a:spcAft>
                <a:spcPts val="0"/>
              </a:spcAft>
            </a:pPr>
            <a:r>
              <a:rPr sz="1100" b="0">
                <a:solidFill>
                  <a:srgbClr val="55607A"/>
                </a:solidFill>
                <a:latin typeface="Segoe UI"/>
              </a:rPr>
              <a:t>Sites carry long backup power (72 h at 450connect) and priority for mission-critical traffic.</a:t>
            </a:r>
          </a:p>
        </p:txBody>
      </p:sp>
      <p:sp>
        <p:nvSpPr>
          <p:cNvPr id="51" name="Rectangle 50"/>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info_navy.png"/>
          <p:cNvPicPr>
            <a:picLocks noChangeAspect="1"/>
          </p:cNvPicPr>
          <p:nvPr/>
        </p:nvPicPr>
        <p:blipFill>
          <a:blip r:embed="rId7"/>
          <a:stretch>
            <a:fillRect/>
          </a:stretch>
        </p:blipFill>
        <p:spPr>
          <a:xfrm>
            <a:off x="812800" y="5918200"/>
            <a:ext cx="254000" cy="254000"/>
          </a:xfrm>
          <a:prstGeom prst="rect">
            <a:avLst/>
          </a:prstGeom>
        </p:spPr>
      </p:pic>
      <p:sp>
        <p:nvSpPr>
          <p:cNvPr id="53" name="TextBox 52"/>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Market signal:   </a:t>
            </a:r>
            <a:r>
              <a:rPr sz="1250" b="0">
                <a:solidFill>
                  <a:srgbClr val="16213E"/>
                </a:solidFill>
                <a:latin typeface="Segoe UI"/>
              </a:rPr>
              <a:t>Norway’s ice began moving its 450 MHz consumer users to industrial service in 2024.</a:t>
            </a:r>
          </a:p>
        </p:txBody>
      </p:sp>
      <p:sp>
        <p:nvSpPr>
          <p:cNvPr id="54" name="TextBox 53"/>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3GPP LTE / NR channel bandwidths; Bundesnetzagentur (Nov 2020, Mar 2021); 450 MHz Alliance, Equipment Report (May 2025) p4-p5; Annual Global Update (Dec 2025) p6-p9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450 MHZ</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05</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Reach every island, cross the mountains, stay up through the storm</a:t>
            </a:r>
          </a:p>
        </p:txBody>
      </p:sp>
      <p:sp>
        <p:nvSpPr>
          <p:cNvPr id="10" name="TextBox 9"/>
          <p:cNvSpPr txBox="1"/>
          <p:nvPr/>
        </p:nvSpPr>
        <p:spPr>
          <a:xfrm>
            <a:off x="609600" y="15494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THE PHILIPPINES NEEDS</a:t>
            </a:r>
          </a:p>
        </p:txBody>
      </p:sp>
      <p:sp>
        <p:nvSpPr>
          <p:cNvPr id="11" name="Rectangle 10"/>
          <p:cNvSpPr/>
          <p:nvPr/>
        </p:nvSpPr>
        <p:spPr>
          <a:xfrm>
            <a:off x="609600" y="18288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20828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waves_white.png"/>
          <p:cNvPicPr>
            <a:picLocks noChangeAspect="1"/>
          </p:cNvPicPr>
          <p:nvPr/>
        </p:nvPicPr>
        <p:blipFill>
          <a:blip r:embed="rId2"/>
          <a:stretch>
            <a:fillRect/>
          </a:stretch>
        </p:blipFill>
        <p:spPr>
          <a:xfrm>
            <a:off x="946912" y="2216912"/>
            <a:ext cx="290576" cy="290576"/>
          </a:xfrm>
          <a:prstGeom prst="rect">
            <a:avLst/>
          </a:prstGeom>
        </p:spPr>
      </p:pic>
      <p:sp>
        <p:nvSpPr>
          <p:cNvPr id="14" name="TextBox 13"/>
          <p:cNvSpPr txBox="1"/>
          <p:nvPr/>
        </p:nvSpPr>
        <p:spPr>
          <a:xfrm>
            <a:off x="1524000" y="19304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Reach far</a:t>
            </a:r>
          </a:p>
        </p:txBody>
      </p:sp>
      <p:sp>
        <p:nvSpPr>
          <p:cNvPr id="15" name="TextBox 14"/>
          <p:cNvSpPr txBox="1"/>
          <p:nvPr/>
        </p:nvSpPr>
        <p:spPr>
          <a:xfrm>
            <a:off x="1524000" y="22098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7,641 islands</a:t>
            </a:r>
          </a:p>
        </p:txBody>
      </p:sp>
      <p:pic>
        <p:nvPicPr>
          <p:cNvPr id="16" name="Picture 15" descr="arrow-right_green.png"/>
          <p:cNvPicPr>
            <a:picLocks noChangeAspect="1"/>
          </p:cNvPicPr>
          <p:nvPr/>
        </p:nvPicPr>
        <p:blipFill>
          <a:blip r:embed="rId3"/>
          <a:stretch>
            <a:fillRect/>
          </a:stretch>
        </p:blipFill>
        <p:spPr>
          <a:xfrm>
            <a:off x="1524000" y="2527300"/>
            <a:ext cx="152400" cy="152400"/>
          </a:xfrm>
          <a:prstGeom prst="rect">
            <a:avLst/>
          </a:prstGeom>
        </p:spPr>
      </p:pic>
      <p:sp>
        <p:nvSpPr>
          <p:cNvPr id="17" name="TextBox 16"/>
          <p:cNvSpPr txBox="1"/>
          <p:nvPr/>
        </p:nvSpPr>
        <p:spPr>
          <a:xfrm>
            <a:off x="1727200" y="24638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One site where mid-band needs 2.5–15×</a:t>
            </a:r>
          </a:p>
        </p:txBody>
      </p:sp>
      <p:sp>
        <p:nvSpPr>
          <p:cNvPr id="18" name="Rectangle 17"/>
          <p:cNvSpPr/>
          <p:nvPr/>
        </p:nvSpPr>
        <p:spPr>
          <a:xfrm>
            <a:off x="609600" y="29972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12800" y="3251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mountain_white.png"/>
          <p:cNvPicPr>
            <a:picLocks noChangeAspect="1"/>
          </p:cNvPicPr>
          <p:nvPr/>
        </p:nvPicPr>
        <p:blipFill>
          <a:blip r:embed="rId4"/>
          <a:stretch>
            <a:fillRect/>
          </a:stretch>
        </p:blipFill>
        <p:spPr>
          <a:xfrm>
            <a:off x="946912" y="3385312"/>
            <a:ext cx="290576" cy="290576"/>
          </a:xfrm>
          <a:prstGeom prst="rect">
            <a:avLst/>
          </a:prstGeom>
        </p:spPr>
      </p:pic>
      <p:sp>
        <p:nvSpPr>
          <p:cNvPr id="21" name="TextBox 20"/>
          <p:cNvSpPr txBox="1"/>
          <p:nvPr/>
        </p:nvSpPr>
        <p:spPr>
          <a:xfrm>
            <a:off x="1524000" y="30988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Cross rugged terrain</a:t>
            </a:r>
          </a:p>
        </p:txBody>
      </p:sp>
      <p:sp>
        <p:nvSpPr>
          <p:cNvPr id="22" name="TextBox 21"/>
          <p:cNvSpPr txBox="1"/>
          <p:nvPr/>
        </p:nvSpPr>
        <p:spPr>
          <a:xfrm>
            <a:off x="1524000" y="33782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Mountainous island interiors</a:t>
            </a:r>
          </a:p>
        </p:txBody>
      </p:sp>
      <p:pic>
        <p:nvPicPr>
          <p:cNvPr id="23" name="Picture 22" descr="arrow-right_green.png"/>
          <p:cNvPicPr>
            <a:picLocks noChangeAspect="1"/>
          </p:cNvPicPr>
          <p:nvPr/>
        </p:nvPicPr>
        <p:blipFill>
          <a:blip r:embed="rId3"/>
          <a:stretch>
            <a:fillRect/>
          </a:stretch>
        </p:blipFill>
        <p:spPr>
          <a:xfrm>
            <a:off x="1524000" y="3695700"/>
            <a:ext cx="152400" cy="152400"/>
          </a:xfrm>
          <a:prstGeom prst="rect">
            <a:avLst/>
          </a:prstGeom>
        </p:spPr>
      </p:pic>
      <p:sp>
        <p:nvSpPr>
          <p:cNvPr id="24" name="TextBox 23"/>
          <p:cNvSpPr txBox="1"/>
          <p:nvPr/>
        </p:nvSpPr>
        <p:spPr>
          <a:xfrm>
            <a:off x="1727200" y="36322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Bends over ridges and into valleys</a:t>
            </a:r>
          </a:p>
        </p:txBody>
      </p:sp>
      <p:sp>
        <p:nvSpPr>
          <p:cNvPr id="25" name="Rectangle 24"/>
          <p:cNvSpPr/>
          <p:nvPr/>
        </p:nvSpPr>
        <p:spPr>
          <a:xfrm>
            <a:off x="609600" y="4165600"/>
            <a:ext cx="3708400" cy="1066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44196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tornado_white.png"/>
          <p:cNvPicPr>
            <a:picLocks noChangeAspect="1"/>
          </p:cNvPicPr>
          <p:nvPr/>
        </p:nvPicPr>
        <p:blipFill>
          <a:blip r:embed="rId5"/>
          <a:stretch>
            <a:fillRect/>
          </a:stretch>
        </p:blipFill>
        <p:spPr>
          <a:xfrm>
            <a:off x="946912" y="4553712"/>
            <a:ext cx="290576" cy="290576"/>
          </a:xfrm>
          <a:prstGeom prst="rect">
            <a:avLst/>
          </a:prstGeom>
        </p:spPr>
      </p:pic>
      <p:sp>
        <p:nvSpPr>
          <p:cNvPr id="28" name="TextBox 27"/>
          <p:cNvSpPr txBox="1"/>
          <p:nvPr/>
        </p:nvSpPr>
        <p:spPr>
          <a:xfrm>
            <a:off x="1524000" y="4267200"/>
            <a:ext cx="2692400" cy="2794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Survive the storm</a:t>
            </a:r>
          </a:p>
        </p:txBody>
      </p:sp>
      <p:sp>
        <p:nvSpPr>
          <p:cNvPr id="29" name="TextBox 28"/>
          <p:cNvSpPr txBox="1"/>
          <p:nvPr/>
        </p:nvSpPr>
        <p:spPr>
          <a:xfrm>
            <a:off x="1524000" y="4546600"/>
            <a:ext cx="26924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#1 WorldRiskIndex  ·  ~20 cyclones a year</a:t>
            </a:r>
          </a:p>
        </p:txBody>
      </p:sp>
      <p:pic>
        <p:nvPicPr>
          <p:cNvPr id="30" name="Picture 29" descr="arrow-right_green.png"/>
          <p:cNvPicPr>
            <a:picLocks noChangeAspect="1"/>
          </p:cNvPicPr>
          <p:nvPr/>
        </p:nvPicPr>
        <p:blipFill>
          <a:blip r:embed="rId3"/>
          <a:stretch>
            <a:fillRect/>
          </a:stretch>
        </p:blipFill>
        <p:spPr>
          <a:xfrm>
            <a:off x="1524000" y="4864100"/>
            <a:ext cx="152400" cy="152400"/>
          </a:xfrm>
          <a:prstGeom prst="rect">
            <a:avLst/>
          </a:prstGeom>
        </p:spPr>
      </p:pic>
      <p:sp>
        <p:nvSpPr>
          <p:cNvPr id="31" name="TextBox 30"/>
          <p:cNvSpPr txBox="1"/>
          <p:nvPr/>
        </p:nvSpPr>
        <p:spPr>
          <a:xfrm>
            <a:off x="1727200" y="4800600"/>
            <a:ext cx="2514600" cy="304800"/>
          </a:xfrm>
          <a:prstGeom prst="rect">
            <a:avLst/>
          </a:prstGeom>
          <a:noFill/>
        </p:spPr>
        <p:txBody>
          <a:bodyPr wrap="square" lIns="0" rIns="0" tIns="0" bIns="0" anchor="ctr">
            <a:spAutoFit/>
          </a:bodyPr>
          <a:lstStyle/>
          <a:p>
            <a:pPr algn="l">
              <a:lnSpc>
                <a:spcPct val="110000"/>
              </a:lnSpc>
              <a:spcAft>
                <a:spcPts val="0"/>
              </a:spcAft>
            </a:pPr>
            <a:r>
              <a:rPr sz="1000" b="0">
                <a:solidFill>
                  <a:srgbClr val="7F9B00"/>
                </a:solidFill>
                <a:latin typeface="Segoe UI Semibold"/>
              </a:rPr>
              <a:t>Few sites, so backup power is affordable</a:t>
            </a:r>
          </a:p>
        </p:txBody>
      </p:sp>
      <p:sp>
        <p:nvSpPr>
          <p:cNvPr id="32" name="TextBox 31"/>
          <p:cNvSpPr txBox="1"/>
          <p:nvPr/>
        </p:nvSpPr>
        <p:spPr>
          <a:xfrm>
            <a:off x="4572000" y="15494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DELIVERS  ·  SAME SITE GRID</a:t>
            </a:r>
          </a:p>
        </p:txBody>
      </p:sp>
      <p:sp>
        <p:nvSpPr>
          <p:cNvPr id="33" name="Rectangle 32"/>
          <p:cNvSpPr/>
          <p:nvPr/>
        </p:nvSpPr>
        <p:spPr>
          <a:xfrm>
            <a:off x="4572000" y="1828800"/>
            <a:ext cx="2235200" cy="340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7F9B00"/>
                </a:solidFill>
                <a:latin typeface="Segoe UI Semibold"/>
              </a:rPr>
              <a:t>450 MHZ</a:t>
            </a:r>
          </a:p>
        </p:txBody>
      </p:sp>
      <p:pic>
        <p:nvPicPr>
          <p:cNvPr id="35" name="Picture 34" descr="waffle_24_0.png"/>
          <p:cNvPicPr>
            <a:picLocks noChangeAspect="1"/>
          </p:cNvPicPr>
          <p:nvPr/>
        </p:nvPicPr>
        <p:blipFill>
          <a:blip r:embed="rId6"/>
          <a:stretch>
            <a:fillRect/>
          </a:stretch>
        </p:blipFill>
        <p:spPr>
          <a:xfrm>
            <a:off x="4775200" y="2209800"/>
            <a:ext cx="1828800" cy="1828800"/>
          </a:xfrm>
          <a:prstGeom prst="rect">
            <a:avLst/>
          </a:prstGeom>
        </p:spPr>
      </p:pic>
      <p:sp>
        <p:nvSpPr>
          <p:cNvPr id="36" name="TextBox 35"/>
          <p:cNvSpPr txBox="1"/>
          <p:nvPr/>
        </p:nvSpPr>
        <p:spPr>
          <a:xfrm>
            <a:off x="45720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7F9B00"/>
                </a:solidFill>
                <a:latin typeface="Segoe UI Light"/>
              </a:rPr>
              <a:t>100%</a:t>
            </a:r>
          </a:p>
        </p:txBody>
      </p:sp>
      <p:sp>
        <p:nvSpPr>
          <p:cNvPr id="37" name="TextBox 36"/>
          <p:cNvSpPr txBox="1"/>
          <p:nvPr/>
        </p:nvSpPr>
        <p:spPr>
          <a:xfrm>
            <a:off x="45720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38" name="Connector 37"/>
          <p:cNvCxnSpPr/>
          <p:nvPr/>
        </p:nvCxnSpPr>
        <p:spPr>
          <a:xfrm>
            <a:off x="49530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5720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Baseline site grid</a:t>
            </a:r>
          </a:p>
        </p:txBody>
      </p:sp>
      <p:sp>
        <p:nvSpPr>
          <p:cNvPr id="40" name="Rectangle 39"/>
          <p:cNvSpPr/>
          <p:nvPr/>
        </p:nvSpPr>
        <p:spPr>
          <a:xfrm>
            <a:off x="69596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9596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740 MHZ</a:t>
            </a:r>
          </a:p>
        </p:txBody>
      </p:sp>
      <p:pic>
        <p:nvPicPr>
          <p:cNvPr id="42" name="Picture 41" descr="waffle_24_50.png"/>
          <p:cNvPicPr>
            <a:picLocks noChangeAspect="1"/>
          </p:cNvPicPr>
          <p:nvPr/>
        </p:nvPicPr>
        <p:blipFill>
          <a:blip r:embed="rId7"/>
          <a:stretch>
            <a:fillRect/>
          </a:stretch>
        </p:blipFill>
        <p:spPr>
          <a:xfrm>
            <a:off x="7162800" y="2209800"/>
            <a:ext cx="1828800" cy="1828800"/>
          </a:xfrm>
          <a:prstGeom prst="rect">
            <a:avLst/>
          </a:prstGeom>
        </p:spPr>
      </p:pic>
      <p:sp>
        <p:nvSpPr>
          <p:cNvPr id="43" name="TextBox 42"/>
          <p:cNvSpPr txBox="1"/>
          <p:nvPr/>
        </p:nvSpPr>
        <p:spPr>
          <a:xfrm>
            <a:off x="69596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91%</a:t>
            </a:r>
          </a:p>
        </p:txBody>
      </p:sp>
      <p:sp>
        <p:nvSpPr>
          <p:cNvPr id="44" name="TextBox 43"/>
          <p:cNvSpPr txBox="1"/>
          <p:nvPr/>
        </p:nvSpPr>
        <p:spPr>
          <a:xfrm>
            <a:off x="69596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45" name="Connector 44"/>
          <p:cNvCxnSpPr/>
          <p:nvPr/>
        </p:nvCxnSpPr>
        <p:spPr>
          <a:xfrm>
            <a:off x="73406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9596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2.5–3×  sites to close the gap</a:t>
            </a:r>
          </a:p>
        </p:txBody>
      </p:sp>
      <p:sp>
        <p:nvSpPr>
          <p:cNvPr id="47" name="Rectangle 46"/>
          <p:cNvSpPr/>
          <p:nvPr/>
        </p:nvSpPr>
        <p:spPr>
          <a:xfrm>
            <a:off x="9347200" y="1828800"/>
            <a:ext cx="2235200" cy="34036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347200" y="1955800"/>
            <a:ext cx="2235200" cy="177800"/>
          </a:xfrm>
          <a:prstGeom prst="rect">
            <a:avLst/>
          </a:prstGeom>
          <a:noFill/>
        </p:spPr>
        <p:txBody>
          <a:bodyPr wrap="square" lIns="0" rIns="0" tIns="0" bIns="0" anchor="t">
            <a:spAutoFit/>
          </a:bodyPr>
          <a:lstStyle/>
          <a:p>
            <a:pPr algn="ctr">
              <a:lnSpc>
                <a:spcPct val="120000"/>
              </a:lnSpc>
              <a:spcAft>
                <a:spcPts val="0"/>
              </a:spcAft>
            </a:pPr>
            <a:r>
              <a:rPr sz="1000" b="0" spc="120">
                <a:solidFill>
                  <a:srgbClr val="0B308E"/>
                </a:solidFill>
                <a:latin typeface="Segoe UI Semibold"/>
              </a:rPr>
              <a:t>2.35 GHZ</a:t>
            </a:r>
          </a:p>
        </p:txBody>
      </p:sp>
      <p:pic>
        <p:nvPicPr>
          <p:cNvPr id="49" name="Picture 48" descr="waffle_24_238.png"/>
          <p:cNvPicPr>
            <a:picLocks noChangeAspect="1"/>
          </p:cNvPicPr>
          <p:nvPr/>
        </p:nvPicPr>
        <p:blipFill>
          <a:blip r:embed="rId8"/>
          <a:stretch>
            <a:fillRect/>
          </a:stretch>
        </p:blipFill>
        <p:spPr>
          <a:xfrm>
            <a:off x="9550400" y="2209800"/>
            <a:ext cx="1828800" cy="1828800"/>
          </a:xfrm>
          <a:prstGeom prst="rect">
            <a:avLst/>
          </a:prstGeom>
        </p:spPr>
      </p:pic>
      <p:sp>
        <p:nvSpPr>
          <p:cNvPr id="50" name="TextBox 49"/>
          <p:cNvSpPr txBox="1"/>
          <p:nvPr/>
        </p:nvSpPr>
        <p:spPr>
          <a:xfrm>
            <a:off x="9347200" y="4089400"/>
            <a:ext cx="2235200" cy="457200"/>
          </a:xfrm>
          <a:prstGeom prst="rect">
            <a:avLst/>
          </a:prstGeom>
          <a:noFill/>
        </p:spPr>
        <p:txBody>
          <a:bodyPr wrap="square" lIns="0" rIns="0" tIns="0" bIns="0" anchor="ctr">
            <a:spAutoFit/>
          </a:bodyPr>
          <a:lstStyle/>
          <a:p>
            <a:pPr algn="ctr">
              <a:lnSpc>
                <a:spcPct val="120000"/>
              </a:lnSpc>
              <a:spcAft>
                <a:spcPts val="0"/>
              </a:spcAft>
            </a:pPr>
            <a:r>
              <a:rPr sz="2800" b="0">
                <a:solidFill>
                  <a:srgbClr val="0B308E"/>
                </a:solidFill>
                <a:latin typeface="Segoe UI Light"/>
              </a:rPr>
              <a:t>59%</a:t>
            </a:r>
          </a:p>
        </p:txBody>
      </p:sp>
      <p:sp>
        <p:nvSpPr>
          <p:cNvPr id="51" name="TextBox 50"/>
          <p:cNvSpPr txBox="1"/>
          <p:nvPr/>
        </p:nvSpPr>
        <p:spPr>
          <a:xfrm>
            <a:off x="9347200" y="4521200"/>
            <a:ext cx="2235200" cy="177800"/>
          </a:xfrm>
          <a:prstGeom prst="rect">
            <a:avLst/>
          </a:prstGeom>
          <a:noFill/>
        </p:spPr>
        <p:txBody>
          <a:bodyPr wrap="square" lIns="0" rIns="0" tIns="0" bIns="0" anchor="ctr">
            <a:spAutoFit/>
          </a:bodyPr>
          <a:lstStyle/>
          <a:p>
            <a:pPr algn="ctr">
              <a:lnSpc>
                <a:spcPct val="120000"/>
              </a:lnSpc>
              <a:spcAft>
                <a:spcPts val="0"/>
              </a:spcAft>
            </a:pPr>
            <a:r>
              <a:rPr sz="1050" b="0">
                <a:solidFill>
                  <a:srgbClr val="55607A"/>
                </a:solidFill>
                <a:latin typeface="Segoe UI"/>
              </a:rPr>
              <a:t>covered</a:t>
            </a:r>
          </a:p>
        </p:txBody>
      </p:sp>
      <p:cxnSp>
        <p:nvCxnSpPr>
          <p:cNvPr id="52" name="Connector 51"/>
          <p:cNvCxnSpPr/>
          <p:nvPr/>
        </p:nvCxnSpPr>
        <p:spPr>
          <a:xfrm>
            <a:off x="9728200" y="4775200"/>
            <a:ext cx="1473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347200" y="4826000"/>
            <a:ext cx="2235200" cy="228600"/>
          </a:xfrm>
          <a:prstGeom prst="rect">
            <a:avLst/>
          </a:prstGeom>
          <a:noFill/>
        </p:spPr>
        <p:txBody>
          <a:bodyPr wrap="square" lIns="0" rIns="0" tIns="0" bIns="0" anchor="ctr">
            <a:spAutoFit/>
          </a:bodyPr>
          <a:lstStyle/>
          <a:p>
            <a:pPr algn="ctr">
              <a:lnSpc>
                <a:spcPct val="120000"/>
              </a:lnSpc>
              <a:spcAft>
                <a:spcPts val="0"/>
              </a:spcAft>
            </a:pPr>
            <a:r>
              <a:rPr sz="1050" b="0">
                <a:solidFill>
                  <a:srgbClr val="0B308E"/>
                </a:solidFill>
                <a:latin typeface="Segoe UI Semibold"/>
              </a:rPr>
              <a:t>12–15×  sites to close the gap</a:t>
            </a:r>
          </a:p>
        </p:txBody>
      </p:sp>
      <p:sp>
        <p:nvSpPr>
          <p:cNvPr id="54" name="Rectangle 53"/>
          <p:cNvSpPr/>
          <p:nvPr/>
        </p:nvSpPr>
        <p:spPr>
          <a:xfrm>
            <a:off x="4572000" y="53975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477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covered</a:t>
            </a:r>
          </a:p>
        </p:txBody>
      </p:sp>
      <p:sp>
        <p:nvSpPr>
          <p:cNvPr id="56" name="Rectangle 55"/>
          <p:cNvSpPr/>
          <p:nvPr/>
        </p:nvSpPr>
        <p:spPr>
          <a:xfrm>
            <a:off x="5842000" y="5397500"/>
            <a:ext cx="127000" cy="1270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04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not covered</a:t>
            </a:r>
          </a:p>
        </p:txBody>
      </p:sp>
      <p:sp>
        <p:nvSpPr>
          <p:cNvPr id="58" name="Rectangle 57"/>
          <p:cNvSpPr/>
          <p:nvPr/>
        </p:nvSpPr>
        <p:spPr>
          <a:xfrm>
            <a:off x="7112000" y="53975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7315200" y="5359400"/>
            <a:ext cx="1016000" cy="203200"/>
          </a:xfrm>
          <a:prstGeom prst="rect">
            <a:avLst/>
          </a:prstGeom>
          <a:noFill/>
        </p:spPr>
        <p:txBody>
          <a:bodyPr wrap="square" lIns="0" rIns="0" tIns="0" bIns="0" anchor="ctr">
            <a:spAutoFit/>
          </a:bodyPr>
          <a:lstStyle/>
          <a:p>
            <a:pPr algn="l">
              <a:lnSpc>
                <a:spcPct val="120000"/>
              </a:lnSpc>
              <a:spcAft>
                <a:spcPts val="0"/>
              </a:spcAft>
            </a:pPr>
            <a:r>
              <a:rPr sz="1000" b="0">
                <a:solidFill>
                  <a:srgbClr val="55607A"/>
                </a:solidFill>
                <a:latin typeface="Segoe UI"/>
              </a:rPr>
              <a:t>site</a:t>
            </a:r>
          </a:p>
        </p:txBody>
      </p:sp>
      <p:sp>
        <p:nvSpPr>
          <p:cNvPr id="60" name="Rectangle 59"/>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1" name="Picture 60" descr="info_navy.png"/>
          <p:cNvPicPr>
            <a:picLocks noChangeAspect="1"/>
          </p:cNvPicPr>
          <p:nvPr/>
        </p:nvPicPr>
        <p:blipFill>
          <a:blip r:embed="rId9"/>
          <a:stretch>
            <a:fillRect/>
          </a:stretch>
        </p:blipFill>
        <p:spPr>
          <a:xfrm>
            <a:off x="812800" y="5867400"/>
            <a:ext cx="254000" cy="254000"/>
          </a:xfrm>
          <a:prstGeom prst="rect">
            <a:avLst/>
          </a:prstGeom>
        </p:spPr>
      </p:pic>
      <p:sp>
        <p:nvSpPr>
          <p:cNvPr id="62" name="TextBox 61"/>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Not a capacity layer:   </a:t>
            </a:r>
            <a:r>
              <a:rPr sz="1250" b="0">
                <a:solidFill>
                  <a:srgbClr val="16213E"/>
                </a:solidFill>
                <a:latin typeface="Segoe UI"/>
              </a:rPr>
              <a:t>3–5 MHz carries voice, telemetry and low-rate video, alongside 4G and 5G.</a:t>
            </a:r>
          </a:p>
        </p:txBody>
      </p:sp>
      <p:sp>
        <p:nvSpPr>
          <p:cNvPr id="63" name="TextBox 62"/>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NAMRIA; WorldRiskReport 2025; PAGASA; 450 MHz Alliance Brief (Jun 2022) p15, grid modelled at 410 MHz. Vs 410 MHz, 450 MHz adds ~1 dB path loss, 740 MHz ~7 dB (Hata).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01   WHY NOW</a:t>
            </a:r>
          </a:p>
        </p:txBody>
      </p:sp>
      <p:sp>
        <p:nvSpPr>
          <p:cNvPr id="4" name="Rectangle 3"/>
          <p:cNvSpPr/>
          <p:nvPr/>
        </p:nvSpPr>
        <p:spPr>
          <a:xfrm>
            <a:off x="96266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The band is mainstream, and utilities lead the way</a:t>
            </a:r>
          </a:p>
        </p:txBody>
      </p:sp>
      <p:pic>
        <p:nvPicPr>
          <p:cNvPr id="10" name="Picture 9" descr="worldmap_450.png"/>
          <p:cNvPicPr>
            <a:picLocks noChangeAspect="1"/>
          </p:cNvPicPr>
          <p:nvPr/>
        </p:nvPicPr>
        <p:blipFill>
          <a:blip r:embed="rId2"/>
          <a:stretch>
            <a:fillRect/>
          </a:stretch>
        </p:blipFill>
        <p:spPr>
          <a:xfrm>
            <a:off x="609600" y="1524000"/>
            <a:ext cx="7620000" cy="2547257"/>
          </a:xfrm>
          <a:prstGeom prst="rect">
            <a:avLst/>
          </a:prstGeom>
        </p:spPr>
      </p:pic>
      <p:sp>
        <p:nvSpPr>
          <p:cNvPr id="11" name="Rounded Rectangle 10"/>
          <p:cNvSpPr/>
          <p:nvPr/>
        </p:nvSpPr>
        <p:spPr>
          <a:xfrm>
            <a:off x="6199450" y="16655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99450" y="16655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Russia</a:t>
            </a:r>
          </a:p>
        </p:txBody>
      </p:sp>
      <p:sp>
        <p:nvSpPr>
          <p:cNvPr id="13" name="Rounded Rectangle 12"/>
          <p:cNvSpPr/>
          <p:nvPr/>
        </p:nvSpPr>
        <p:spPr>
          <a:xfrm>
            <a:off x="6395085" y="2275114"/>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95085" y="2275114"/>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China</a:t>
            </a:r>
          </a:p>
        </p:txBody>
      </p:sp>
      <p:sp>
        <p:nvSpPr>
          <p:cNvPr id="15" name="Rounded Rectangle 14"/>
          <p:cNvSpPr/>
          <p:nvPr/>
        </p:nvSpPr>
        <p:spPr>
          <a:xfrm>
            <a:off x="1888707" y="25146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888707" y="25146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Mexico</a:t>
            </a:r>
          </a:p>
        </p:txBody>
      </p:sp>
      <p:sp>
        <p:nvSpPr>
          <p:cNvPr id="17" name="Rounded Rectangle 16"/>
          <p:cNvSpPr/>
          <p:nvPr/>
        </p:nvSpPr>
        <p:spPr>
          <a:xfrm>
            <a:off x="3020822" y="3233057"/>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020822" y="3233057"/>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Brazil</a:t>
            </a:r>
          </a:p>
        </p:txBody>
      </p:sp>
      <p:sp>
        <p:nvSpPr>
          <p:cNvPr id="19" name="Rounded Rectangle 18"/>
          <p:cNvSpPr/>
          <p:nvPr/>
        </p:nvSpPr>
        <p:spPr>
          <a:xfrm>
            <a:off x="3043210" y="2862942"/>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43210" y="2862942"/>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Suriname</a:t>
            </a:r>
          </a:p>
        </p:txBody>
      </p:sp>
      <p:sp>
        <p:nvSpPr>
          <p:cNvPr id="21" name="Rounded Rectangle 20"/>
          <p:cNvSpPr/>
          <p:nvPr/>
        </p:nvSpPr>
        <p:spPr>
          <a:xfrm>
            <a:off x="2629861" y="3799114"/>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629861" y="3799114"/>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Argentina</a:t>
            </a:r>
          </a:p>
        </p:txBody>
      </p:sp>
      <p:sp>
        <p:nvSpPr>
          <p:cNvPr id="23" name="Rounded Rectangle 22"/>
          <p:cNvSpPr/>
          <p:nvPr/>
        </p:nvSpPr>
        <p:spPr>
          <a:xfrm>
            <a:off x="4327416" y="2296885"/>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327416" y="2296885"/>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Tunisia</a:t>
            </a:r>
          </a:p>
        </p:txBody>
      </p:sp>
      <p:sp>
        <p:nvSpPr>
          <p:cNvPr id="25" name="Rounded Rectangle 24"/>
          <p:cNvSpPr/>
          <p:nvPr/>
        </p:nvSpPr>
        <p:spPr>
          <a:xfrm>
            <a:off x="4283873" y="2808514"/>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283873" y="2808514"/>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Nigeria</a:t>
            </a:r>
          </a:p>
        </p:txBody>
      </p:sp>
      <p:sp>
        <p:nvSpPr>
          <p:cNvPr id="27" name="Rounded Rectangle 26"/>
          <p:cNvSpPr/>
          <p:nvPr/>
        </p:nvSpPr>
        <p:spPr>
          <a:xfrm>
            <a:off x="3934913" y="2928257"/>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934913" y="2928257"/>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Ghana</a:t>
            </a:r>
          </a:p>
        </p:txBody>
      </p:sp>
      <p:sp>
        <p:nvSpPr>
          <p:cNvPr id="29" name="Rounded Rectangle 28"/>
          <p:cNvSpPr/>
          <p:nvPr/>
        </p:nvSpPr>
        <p:spPr>
          <a:xfrm>
            <a:off x="5154113" y="3015342"/>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154113" y="3015342"/>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Kenya</a:t>
            </a:r>
          </a:p>
        </p:txBody>
      </p:sp>
      <p:sp>
        <p:nvSpPr>
          <p:cNvPr id="31" name="Rounded Rectangle 30"/>
          <p:cNvSpPr/>
          <p:nvPr/>
        </p:nvSpPr>
        <p:spPr>
          <a:xfrm>
            <a:off x="4501279" y="3265714"/>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01279" y="3265714"/>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Angola</a:t>
            </a:r>
          </a:p>
        </p:txBody>
      </p:sp>
      <p:sp>
        <p:nvSpPr>
          <p:cNvPr id="33" name="Rounded Rectangle 32"/>
          <p:cNvSpPr/>
          <p:nvPr/>
        </p:nvSpPr>
        <p:spPr>
          <a:xfrm>
            <a:off x="4436273" y="3483428"/>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436273" y="3483428"/>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Namibia</a:t>
            </a:r>
          </a:p>
        </p:txBody>
      </p:sp>
      <p:sp>
        <p:nvSpPr>
          <p:cNvPr id="35" name="Rounded Rectangle 34"/>
          <p:cNvSpPr/>
          <p:nvPr/>
        </p:nvSpPr>
        <p:spPr>
          <a:xfrm>
            <a:off x="4546672" y="3712028"/>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546672" y="3712028"/>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South Africa</a:t>
            </a:r>
          </a:p>
        </p:txBody>
      </p:sp>
      <p:sp>
        <p:nvSpPr>
          <p:cNvPr id="37" name="Rounded Rectangle 36"/>
          <p:cNvSpPr/>
          <p:nvPr/>
        </p:nvSpPr>
        <p:spPr>
          <a:xfrm>
            <a:off x="4960329" y="2514600"/>
            <a:ext cx="61671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960329" y="2514600"/>
            <a:ext cx="61671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Saudi Arabia</a:t>
            </a:r>
          </a:p>
        </p:txBody>
      </p:sp>
      <p:sp>
        <p:nvSpPr>
          <p:cNvPr id="39" name="Rounded Rectangle 38"/>
          <p:cNvSpPr/>
          <p:nvPr/>
        </p:nvSpPr>
        <p:spPr>
          <a:xfrm>
            <a:off x="5415987" y="2405742"/>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415987" y="2405742"/>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Bahrain</a:t>
            </a:r>
          </a:p>
        </p:txBody>
      </p:sp>
      <p:sp>
        <p:nvSpPr>
          <p:cNvPr id="41" name="Rounded Rectangle 40"/>
          <p:cNvSpPr/>
          <p:nvPr/>
        </p:nvSpPr>
        <p:spPr>
          <a:xfrm>
            <a:off x="5089416" y="2079171"/>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089416" y="2079171"/>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Armenia</a:t>
            </a:r>
          </a:p>
        </p:txBody>
      </p:sp>
      <p:sp>
        <p:nvSpPr>
          <p:cNvPr id="43" name="Rounded Rectangle 42"/>
          <p:cNvSpPr/>
          <p:nvPr/>
        </p:nvSpPr>
        <p:spPr>
          <a:xfrm>
            <a:off x="5634318" y="2906485"/>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634318" y="2906485"/>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Sri Lanka</a:t>
            </a:r>
          </a:p>
        </p:txBody>
      </p:sp>
      <p:sp>
        <p:nvSpPr>
          <p:cNvPr id="45" name="Rounded Rectangle 44"/>
          <p:cNvSpPr/>
          <p:nvPr/>
        </p:nvSpPr>
        <p:spPr>
          <a:xfrm>
            <a:off x="6221838" y="2645228"/>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221838" y="2645228"/>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Cambodia</a:t>
            </a:r>
          </a:p>
        </p:txBody>
      </p:sp>
      <p:sp>
        <p:nvSpPr>
          <p:cNvPr id="47" name="Rounded Rectangle 46"/>
          <p:cNvSpPr/>
          <p:nvPr/>
        </p:nvSpPr>
        <p:spPr>
          <a:xfrm>
            <a:off x="6112981" y="2819400"/>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112981" y="2819400"/>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Malaysia</a:t>
            </a:r>
          </a:p>
        </p:txBody>
      </p:sp>
      <p:sp>
        <p:nvSpPr>
          <p:cNvPr id="49" name="Rounded Rectangle 48"/>
          <p:cNvSpPr/>
          <p:nvPr/>
        </p:nvSpPr>
        <p:spPr>
          <a:xfrm>
            <a:off x="6113290" y="30806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113290" y="30806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Singapore</a:t>
            </a:r>
          </a:p>
        </p:txBody>
      </p:sp>
      <p:sp>
        <p:nvSpPr>
          <p:cNvPr id="51" name="Rounded Rectangle 50"/>
          <p:cNvSpPr/>
          <p:nvPr/>
        </p:nvSpPr>
        <p:spPr>
          <a:xfrm>
            <a:off x="6679347" y="3233057"/>
            <a:ext cx="487934"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679347" y="3233057"/>
            <a:ext cx="487934"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Indonesia</a:t>
            </a:r>
          </a:p>
        </p:txBody>
      </p:sp>
      <p:sp>
        <p:nvSpPr>
          <p:cNvPr id="53" name="Oval 52"/>
          <p:cNvSpPr/>
          <p:nvPr/>
        </p:nvSpPr>
        <p:spPr>
          <a:xfrm>
            <a:off x="6865257" y="2717800"/>
            <a:ext cx="203200" cy="203200"/>
          </a:xfrm>
          <a:prstGeom prst="ellipse">
            <a:avLst/>
          </a:prstGeom>
          <a:noFill/>
          <a:ln w="1905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54" name="Connector 53"/>
          <p:cNvCxnSpPr/>
          <p:nvPr/>
        </p:nvCxnSpPr>
        <p:spPr>
          <a:xfrm flipV="1">
            <a:off x="7055757" y="2616200"/>
            <a:ext cx="190500" cy="152400"/>
          </a:xfrm>
          <a:prstGeom prst="line">
            <a:avLst/>
          </a:prstGeom>
          <a:ln w="12700">
            <a:solidFill>
              <a:srgbClr val="F2B705"/>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7195457" y="2463800"/>
            <a:ext cx="1117600" cy="203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195457" y="2463800"/>
            <a:ext cx="1117600" cy="203200"/>
          </a:xfrm>
          <a:prstGeom prst="rect">
            <a:avLst/>
          </a:prstGeom>
          <a:noFill/>
        </p:spPr>
        <p:txBody>
          <a:bodyPr wrap="square" lIns="0" rIns="0" tIns="0" bIns="0" anchor="ctr">
            <a:spAutoFit/>
          </a:bodyPr>
          <a:lstStyle/>
          <a:p>
            <a:pPr algn="ctr">
              <a:lnSpc>
                <a:spcPct val="120000"/>
              </a:lnSpc>
              <a:spcAft>
                <a:spcPts val="0"/>
              </a:spcAft>
            </a:pPr>
            <a:r>
              <a:rPr sz="750" b="0">
                <a:solidFill>
                  <a:srgbClr val="16213E"/>
                </a:solidFill>
                <a:latin typeface="Segoe UI Semibold"/>
              </a:rPr>
              <a:t>Philippines · Globe</a:t>
            </a:r>
          </a:p>
        </p:txBody>
      </p:sp>
      <p:sp>
        <p:nvSpPr>
          <p:cNvPr id="57" name="Rounded Rectangle 56"/>
          <p:cNvSpPr/>
          <p:nvPr/>
        </p:nvSpPr>
        <p:spPr>
          <a:xfrm>
            <a:off x="7195457" y="2463800"/>
            <a:ext cx="1117600" cy="203200"/>
          </a:xfrm>
          <a:prstGeom prst="roundRect">
            <a:avLst/>
          </a:prstGeom>
          <a:no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8534400" y="1524000"/>
            <a:ext cx="3048000" cy="24384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9" name="Picture 58" descr="worldmap_eu.png"/>
          <p:cNvPicPr>
            <a:picLocks noChangeAspect="1"/>
          </p:cNvPicPr>
          <p:nvPr/>
        </p:nvPicPr>
        <p:blipFill>
          <a:blip r:embed="rId3"/>
          <a:stretch>
            <a:fillRect/>
          </a:stretch>
        </p:blipFill>
        <p:spPr>
          <a:xfrm>
            <a:off x="8534400" y="1524000"/>
            <a:ext cx="3048000" cy="2438400"/>
          </a:xfrm>
          <a:prstGeom prst="rect">
            <a:avLst/>
          </a:prstGeom>
        </p:spPr>
      </p:pic>
      <p:sp>
        <p:nvSpPr>
          <p:cNvPr id="60" name="Rounded Rectangle 59"/>
          <p:cNvSpPr/>
          <p:nvPr/>
        </p:nvSpPr>
        <p:spPr>
          <a:xfrm>
            <a:off x="8604292" y="26534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604292" y="26534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Ireland</a:t>
            </a:r>
          </a:p>
        </p:txBody>
      </p:sp>
      <p:sp>
        <p:nvSpPr>
          <p:cNvPr id="62" name="Rounded Rectangle 61"/>
          <p:cNvSpPr/>
          <p:nvPr/>
        </p:nvSpPr>
        <p:spPr>
          <a:xfrm>
            <a:off x="8952018" y="3547533"/>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8952018" y="3547533"/>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Spain</a:t>
            </a:r>
          </a:p>
        </p:txBody>
      </p:sp>
      <p:sp>
        <p:nvSpPr>
          <p:cNvPr id="64" name="Rounded Rectangle 63"/>
          <p:cNvSpPr/>
          <p:nvPr/>
        </p:nvSpPr>
        <p:spPr>
          <a:xfrm>
            <a:off x="9195773" y="2558626"/>
            <a:ext cx="57378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9195773" y="2558626"/>
            <a:ext cx="57378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Netherlands</a:t>
            </a:r>
          </a:p>
        </p:txBody>
      </p:sp>
      <p:sp>
        <p:nvSpPr>
          <p:cNvPr id="66" name="Rounded Rectangle 65"/>
          <p:cNvSpPr/>
          <p:nvPr/>
        </p:nvSpPr>
        <p:spPr>
          <a:xfrm>
            <a:off x="9857359" y="282956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9857359" y="282956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Germany</a:t>
            </a:r>
          </a:p>
        </p:txBody>
      </p:sp>
      <p:sp>
        <p:nvSpPr>
          <p:cNvPr id="68" name="Rounded Rectangle 67"/>
          <p:cNvSpPr/>
          <p:nvPr/>
        </p:nvSpPr>
        <p:spPr>
          <a:xfrm>
            <a:off x="9789625" y="2436706"/>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TextBox 68"/>
          <p:cNvSpPr txBox="1"/>
          <p:nvPr/>
        </p:nvSpPr>
        <p:spPr>
          <a:xfrm>
            <a:off x="9789625" y="2436706"/>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Denmark</a:t>
            </a:r>
          </a:p>
        </p:txBody>
      </p:sp>
      <p:sp>
        <p:nvSpPr>
          <p:cNvPr id="70" name="Rounded Rectangle 69"/>
          <p:cNvSpPr/>
          <p:nvPr/>
        </p:nvSpPr>
        <p:spPr>
          <a:xfrm>
            <a:off x="9743355" y="20574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9743355" y="20574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Norway</a:t>
            </a:r>
          </a:p>
        </p:txBody>
      </p:sp>
      <p:sp>
        <p:nvSpPr>
          <p:cNvPr id="72" name="Rounded Rectangle 71"/>
          <p:cNvSpPr/>
          <p:nvPr/>
        </p:nvSpPr>
        <p:spPr>
          <a:xfrm>
            <a:off x="10217488" y="1955800"/>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10217488" y="1955800"/>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Sweden</a:t>
            </a:r>
          </a:p>
        </p:txBody>
      </p:sp>
      <p:sp>
        <p:nvSpPr>
          <p:cNvPr id="74" name="Rounded Rectangle 73"/>
          <p:cNvSpPr/>
          <p:nvPr/>
        </p:nvSpPr>
        <p:spPr>
          <a:xfrm>
            <a:off x="10907225" y="1955800"/>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10907225" y="1955800"/>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Finland</a:t>
            </a:r>
          </a:p>
        </p:txBody>
      </p:sp>
      <p:sp>
        <p:nvSpPr>
          <p:cNvPr id="76" name="Rounded Rectangle 75"/>
          <p:cNvSpPr/>
          <p:nvPr/>
        </p:nvSpPr>
        <p:spPr>
          <a:xfrm>
            <a:off x="10488422" y="272118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10488422" y="272118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Poland</a:t>
            </a:r>
          </a:p>
        </p:txBody>
      </p:sp>
      <p:sp>
        <p:nvSpPr>
          <p:cNvPr id="78" name="Rounded Rectangle 77"/>
          <p:cNvSpPr/>
          <p:nvPr/>
        </p:nvSpPr>
        <p:spPr>
          <a:xfrm>
            <a:off x="10094425" y="301921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10094425" y="301921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Austria</a:t>
            </a:r>
          </a:p>
        </p:txBody>
      </p:sp>
      <p:sp>
        <p:nvSpPr>
          <p:cNvPr id="80" name="Rounded Rectangle 79"/>
          <p:cNvSpPr/>
          <p:nvPr/>
        </p:nvSpPr>
        <p:spPr>
          <a:xfrm>
            <a:off x="9869762" y="3188546"/>
            <a:ext cx="445008"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9869762" y="3188546"/>
            <a:ext cx="445008"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Slovenia</a:t>
            </a:r>
          </a:p>
        </p:txBody>
      </p:sp>
      <p:sp>
        <p:nvSpPr>
          <p:cNvPr id="82" name="Rounded Rectangle 81"/>
          <p:cNvSpPr/>
          <p:nvPr/>
        </p:nvSpPr>
        <p:spPr>
          <a:xfrm>
            <a:off x="10534692" y="3059853"/>
            <a:ext cx="402082"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10534692" y="3059853"/>
            <a:ext cx="402082"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Hungary</a:t>
            </a:r>
          </a:p>
        </p:txBody>
      </p:sp>
      <p:sp>
        <p:nvSpPr>
          <p:cNvPr id="84" name="Rounded Rectangle 83"/>
          <p:cNvSpPr/>
          <p:nvPr/>
        </p:nvSpPr>
        <p:spPr>
          <a:xfrm>
            <a:off x="10069618" y="3398520"/>
            <a:ext cx="316230"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10069618" y="3398520"/>
            <a:ext cx="316230"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Italy</a:t>
            </a:r>
          </a:p>
        </p:txBody>
      </p:sp>
      <p:sp>
        <p:nvSpPr>
          <p:cNvPr id="86" name="Rounded Rectangle 85"/>
          <p:cNvSpPr/>
          <p:nvPr/>
        </p:nvSpPr>
        <p:spPr>
          <a:xfrm>
            <a:off x="10657755" y="3594946"/>
            <a:ext cx="359156" cy="152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10657755" y="3594946"/>
            <a:ext cx="359156" cy="152400"/>
          </a:xfrm>
          <a:prstGeom prst="rect">
            <a:avLst/>
          </a:prstGeom>
          <a:noFill/>
        </p:spPr>
        <p:txBody>
          <a:bodyPr wrap="square" lIns="0" rIns="0" tIns="0" bIns="0" anchor="ctr">
            <a:spAutoFit/>
          </a:bodyPr>
          <a:lstStyle/>
          <a:p>
            <a:pPr algn="ctr">
              <a:lnSpc>
                <a:spcPct val="120000"/>
              </a:lnSpc>
              <a:spcAft>
                <a:spcPts val="0"/>
              </a:spcAft>
            </a:pPr>
            <a:r>
              <a:rPr sz="650" b="0">
                <a:solidFill>
                  <a:srgbClr val="16213E"/>
                </a:solidFill>
                <a:latin typeface="Segoe UI"/>
              </a:rPr>
              <a:t>Greece</a:t>
            </a:r>
          </a:p>
        </p:txBody>
      </p:sp>
      <p:sp>
        <p:nvSpPr>
          <p:cNvPr id="88" name="TextBox 87"/>
          <p:cNvSpPr txBox="1"/>
          <p:nvPr/>
        </p:nvSpPr>
        <p:spPr>
          <a:xfrm>
            <a:off x="8636000" y="1600200"/>
            <a:ext cx="1524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EUROPE</a:t>
            </a:r>
          </a:p>
        </p:txBody>
      </p:sp>
      <p:sp>
        <p:nvSpPr>
          <p:cNvPr id="89" name="Rectangle 88"/>
          <p:cNvSpPr/>
          <p:nvPr/>
        </p:nvSpPr>
        <p:spPr>
          <a:xfrm>
            <a:off x="609600" y="4140200"/>
            <a:ext cx="127000" cy="127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81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Utilities &amp; industry  14</a:t>
            </a:r>
          </a:p>
        </p:txBody>
      </p:sp>
      <p:sp>
        <p:nvSpPr>
          <p:cNvPr id="91" name="Rectangle 90"/>
          <p:cNvSpPr/>
          <p:nvPr/>
        </p:nvSpPr>
        <p:spPr>
          <a:xfrm>
            <a:off x="2799079" y="4140200"/>
            <a:ext cx="127000" cy="1270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2" name="TextBox 91"/>
          <p:cNvSpPr txBox="1"/>
          <p:nvPr/>
        </p:nvSpPr>
        <p:spPr>
          <a:xfrm>
            <a:off x="3002279"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Public safety  8</a:t>
            </a:r>
          </a:p>
        </p:txBody>
      </p:sp>
      <p:sp>
        <p:nvSpPr>
          <p:cNvPr id="93" name="Rectangle 92"/>
          <p:cNvSpPr/>
          <p:nvPr/>
        </p:nvSpPr>
        <p:spPr>
          <a:xfrm>
            <a:off x="4419600" y="4140200"/>
            <a:ext cx="127000" cy="1270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TextBox 93"/>
          <p:cNvSpPr txBox="1"/>
          <p:nvPr/>
        </p:nvSpPr>
        <p:spPr>
          <a:xfrm>
            <a:off x="462280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Rail  1</a:t>
            </a:r>
          </a:p>
        </p:txBody>
      </p:sp>
      <p:sp>
        <p:nvSpPr>
          <p:cNvPr id="95" name="Rectangle 94"/>
          <p:cNvSpPr/>
          <p:nvPr/>
        </p:nvSpPr>
        <p:spPr>
          <a:xfrm>
            <a:off x="5400040" y="4140200"/>
            <a:ext cx="127000" cy="127000"/>
          </a:xfrm>
          <a:prstGeom prst="rect">
            <a:avLst/>
          </a:prstGeom>
          <a:solidFill>
            <a:srgbClr val="5B86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6" name="TextBox 95"/>
          <p:cNvSpPr txBox="1"/>
          <p:nvPr/>
        </p:nvSpPr>
        <p:spPr>
          <a:xfrm>
            <a:off x="560324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Operator  12</a:t>
            </a:r>
          </a:p>
        </p:txBody>
      </p:sp>
      <p:sp>
        <p:nvSpPr>
          <p:cNvPr id="97" name="Rectangle 96"/>
          <p:cNvSpPr/>
          <p:nvPr/>
        </p:nvSpPr>
        <p:spPr>
          <a:xfrm>
            <a:off x="6736080" y="4140200"/>
            <a:ext cx="127000" cy="127000"/>
          </a:xfrm>
          <a:prstGeom prst="rect">
            <a:avLst/>
          </a:prstGeom>
          <a:solidFill>
            <a:srgbClr val="C3D2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TextBox 97"/>
          <p:cNvSpPr txBox="1"/>
          <p:nvPr/>
        </p:nvSpPr>
        <p:spPr>
          <a:xfrm>
            <a:off x="6939280" y="4076700"/>
            <a:ext cx="19050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Trial / consultation  17</a:t>
            </a:r>
          </a:p>
        </p:txBody>
      </p:sp>
      <p:sp>
        <p:nvSpPr>
          <p:cNvPr id="99" name="Rectangle 98"/>
          <p:cNvSpPr/>
          <p:nvPr/>
        </p:nvSpPr>
        <p:spPr>
          <a:xfrm>
            <a:off x="6096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8128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1" name="Picture 100" descr="globe_white.png"/>
          <p:cNvPicPr>
            <a:picLocks noChangeAspect="1"/>
          </p:cNvPicPr>
          <p:nvPr/>
        </p:nvPicPr>
        <p:blipFill>
          <a:blip r:embed="rId4"/>
          <a:stretch>
            <a:fillRect/>
          </a:stretch>
        </p:blipFill>
        <p:spPr>
          <a:xfrm>
            <a:off x="922528" y="4808728"/>
            <a:ext cx="237744" cy="237744"/>
          </a:xfrm>
          <a:prstGeom prst="rect">
            <a:avLst/>
          </a:prstGeom>
        </p:spPr>
      </p:pic>
      <p:sp>
        <p:nvSpPr>
          <p:cNvPr id="102" name="TextBox 101"/>
          <p:cNvSpPr txBox="1"/>
          <p:nvPr/>
        </p:nvSpPr>
        <p:spPr>
          <a:xfrm>
            <a:off x="13970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86%</a:t>
            </a:r>
          </a:p>
        </p:txBody>
      </p:sp>
      <p:sp>
        <p:nvSpPr>
          <p:cNvPr id="103" name="TextBox 102"/>
          <p:cNvSpPr txBox="1"/>
          <p:nvPr/>
        </p:nvSpPr>
        <p:spPr>
          <a:xfrm>
            <a:off x="25146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of people: allocated</a:t>
            </a:r>
          </a:p>
          <a:p>
            <a:pPr algn="l">
              <a:lnSpc>
                <a:spcPct val="115000"/>
              </a:lnSpc>
              <a:spcAft>
                <a:spcPts val="0"/>
              </a:spcAft>
            </a:pPr>
            <a:r>
              <a:rPr sz="1050" b="0">
                <a:solidFill>
                  <a:srgbClr val="55607A"/>
                </a:solidFill>
                <a:latin typeface="Segoe UI"/>
              </a:rPr>
              <a:t>or in consultation</a:t>
            </a:r>
          </a:p>
        </p:txBody>
      </p:sp>
      <p:sp>
        <p:nvSpPr>
          <p:cNvPr id="104" name="Rectangle 103"/>
          <p:cNvSpPr/>
          <p:nvPr/>
        </p:nvSpPr>
        <p:spPr>
          <a:xfrm>
            <a:off x="43688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45720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6" name="Picture 105" descr="radio-tower_white.png"/>
          <p:cNvPicPr>
            <a:picLocks noChangeAspect="1"/>
          </p:cNvPicPr>
          <p:nvPr/>
        </p:nvPicPr>
        <p:blipFill>
          <a:blip r:embed="rId5"/>
          <a:stretch>
            <a:fillRect/>
          </a:stretch>
        </p:blipFill>
        <p:spPr>
          <a:xfrm>
            <a:off x="4681728" y="4808728"/>
            <a:ext cx="237744" cy="237744"/>
          </a:xfrm>
          <a:prstGeom prst="rect">
            <a:avLst/>
          </a:prstGeom>
        </p:spPr>
      </p:pic>
      <p:sp>
        <p:nvSpPr>
          <p:cNvPr id="107" name="TextBox 106"/>
          <p:cNvSpPr txBox="1"/>
          <p:nvPr/>
        </p:nvSpPr>
        <p:spPr>
          <a:xfrm>
            <a:off x="51562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77 / 39</a:t>
            </a:r>
          </a:p>
        </p:txBody>
      </p:sp>
      <p:sp>
        <p:nvSpPr>
          <p:cNvPr id="108" name="TextBox 107"/>
          <p:cNvSpPr txBox="1"/>
          <p:nvPr/>
        </p:nvSpPr>
        <p:spPr>
          <a:xfrm>
            <a:off x="62738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countries with networks /</a:t>
            </a:r>
          </a:p>
          <a:p>
            <a:pPr algn="l">
              <a:lnSpc>
                <a:spcPct val="115000"/>
              </a:lnSpc>
              <a:spcAft>
                <a:spcPts val="0"/>
              </a:spcAft>
            </a:pPr>
            <a:r>
              <a:rPr sz="1050" b="0">
                <a:solidFill>
                  <a:srgbClr val="55607A"/>
                </a:solidFill>
                <a:latin typeface="Segoe UI"/>
              </a:rPr>
              <a:t>already on LTE</a:t>
            </a:r>
          </a:p>
        </p:txBody>
      </p:sp>
      <p:sp>
        <p:nvSpPr>
          <p:cNvPr id="109" name="Rectangle 108"/>
          <p:cNvSpPr/>
          <p:nvPr/>
        </p:nvSpPr>
        <p:spPr>
          <a:xfrm>
            <a:off x="8128000" y="4470400"/>
            <a:ext cx="3454400" cy="914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Oval 109"/>
          <p:cNvSpPr/>
          <p:nvPr/>
        </p:nvSpPr>
        <p:spPr>
          <a:xfrm>
            <a:off x="8331200" y="46990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1" name="Picture 110" descr="trending-up_white.png"/>
          <p:cNvPicPr>
            <a:picLocks noChangeAspect="1"/>
          </p:cNvPicPr>
          <p:nvPr/>
        </p:nvPicPr>
        <p:blipFill>
          <a:blip r:embed="rId6"/>
          <a:stretch>
            <a:fillRect/>
          </a:stretch>
        </p:blipFill>
        <p:spPr>
          <a:xfrm>
            <a:off x="8440928" y="4808728"/>
            <a:ext cx="237744" cy="237744"/>
          </a:xfrm>
          <a:prstGeom prst="rect">
            <a:avLst/>
          </a:prstGeom>
        </p:spPr>
      </p:pic>
      <p:sp>
        <p:nvSpPr>
          <p:cNvPr id="112" name="TextBox 111"/>
          <p:cNvSpPr txBox="1"/>
          <p:nvPr/>
        </p:nvSpPr>
        <p:spPr>
          <a:xfrm>
            <a:off x="8915400" y="4470400"/>
            <a:ext cx="1143000" cy="914400"/>
          </a:xfrm>
          <a:prstGeom prst="rect">
            <a:avLst/>
          </a:prstGeom>
          <a:noFill/>
        </p:spPr>
        <p:txBody>
          <a:bodyPr wrap="square" lIns="0" rIns="0" tIns="0" bIns="0" anchor="ctr">
            <a:spAutoFit/>
          </a:bodyPr>
          <a:lstStyle/>
          <a:p>
            <a:pPr algn="l">
              <a:lnSpc>
                <a:spcPct val="120000"/>
              </a:lnSpc>
              <a:spcAft>
                <a:spcPts val="0"/>
              </a:spcAft>
            </a:pPr>
            <a:r>
              <a:rPr sz="2400" b="0">
                <a:solidFill>
                  <a:srgbClr val="0B308E"/>
                </a:solidFill>
                <a:latin typeface="Segoe UI Light"/>
              </a:rPr>
              <a:t>14M</a:t>
            </a:r>
          </a:p>
        </p:txBody>
      </p:sp>
      <p:sp>
        <p:nvSpPr>
          <p:cNvPr id="113" name="TextBox 112"/>
          <p:cNvSpPr txBox="1"/>
          <p:nvPr/>
        </p:nvSpPr>
        <p:spPr>
          <a:xfrm>
            <a:off x="10033000" y="4470400"/>
            <a:ext cx="1473200" cy="9144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sensor links by 2030,</a:t>
            </a:r>
          </a:p>
          <a:p>
            <a:pPr algn="l">
              <a:lnSpc>
                <a:spcPct val="115000"/>
              </a:lnSpc>
              <a:spcAft>
                <a:spcPts val="0"/>
              </a:spcAft>
            </a:pPr>
            <a:r>
              <a:rPr sz="1050" b="0">
                <a:solidFill>
                  <a:srgbClr val="55607A"/>
                </a:solidFill>
                <a:latin typeface="Segoe UI"/>
              </a:rPr>
              <a:t>plus 1.8M broadband</a:t>
            </a:r>
          </a:p>
        </p:txBody>
      </p:sp>
      <p:sp>
        <p:nvSpPr>
          <p:cNvPr id="114" name="Rectangle 113"/>
          <p:cNvSpPr/>
          <p:nvPr/>
        </p:nvSpPr>
        <p:spPr>
          <a:xfrm>
            <a:off x="609600" y="5562600"/>
            <a:ext cx="10972800" cy="431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5" name="Picture 114" descr="check_navy.png"/>
          <p:cNvPicPr>
            <a:picLocks noChangeAspect="1"/>
          </p:cNvPicPr>
          <p:nvPr/>
        </p:nvPicPr>
        <p:blipFill>
          <a:blip r:embed="rId7"/>
          <a:stretch>
            <a:fillRect/>
          </a:stretch>
        </p:blipFill>
        <p:spPr>
          <a:xfrm>
            <a:off x="812800" y="5651500"/>
            <a:ext cx="254000" cy="254000"/>
          </a:xfrm>
          <a:prstGeom prst="rect">
            <a:avLst/>
          </a:prstGeom>
        </p:spPr>
      </p:pic>
      <p:sp>
        <p:nvSpPr>
          <p:cNvPr id="116" name="TextBox 115"/>
          <p:cNvSpPr txBox="1"/>
          <p:nvPr/>
        </p:nvSpPr>
        <p:spPr>
          <a:xfrm>
            <a:off x="1219200" y="5562600"/>
            <a:ext cx="10160000" cy="4318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The common pattern:   </a:t>
            </a:r>
            <a:r>
              <a:rPr sz="1250" b="0">
                <a:solidFill>
                  <a:srgbClr val="16213E"/>
                </a:solidFill>
                <a:latin typeface="Segoe UI"/>
              </a:rPr>
              <a:t>one licensed operator per country; utilities are the largest user group</a:t>
            </a:r>
          </a:p>
        </p:txBody>
      </p:sp>
      <p:sp>
        <p:nvSpPr>
          <p:cNvPr id="117" name="TextBox 116"/>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p4, p6-p9 country updates, p11-p12; countries coloured by main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02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02</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Target industries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Who needs it, and who would pay first?</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197600" y="2540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77000" y="2717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9" name="Picture 18" descr="users_white.png"/>
          <p:cNvPicPr>
            <a:picLocks noChangeAspect="1"/>
          </p:cNvPicPr>
          <p:nvPr/>
        </p:nvPicPr>
        <p:blipFill>
          <a:blip r:embed="rId3"/>
          <a:stretch>
            <a:fillRect/>
          </a:stretch>
        </p:blipFill>
        <p:spPr>
          <a:xfrm>
            <a:off x="6598920" y="2839720"/>
            <a:ext cx="264160" cy="264160"/>
          </a:xfrm>
          <a:prstGeom prst="rect">
            <a:avLst/>
          </a:prstGeom>
        </p:spPr>
      </p:pic>
      <p:sp>
        <p:nvSpPr>
          <p:cNvPr id="20" name="Oval 19"/>
          <p:cNvSpPr/>
          <p:nvPr/>
        </p:nvSpPr>
        <p:spPr>
          <a:xfrm>
            <a:off x="6824980" y="2675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2" name="TextBox 21"/>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Target industries</a:t>
            </a:r>
          </a:p>
        </p:txBody>
      </p:sp>
      <p:sp>
        <p:nvSpPr>
          <p:cNvPr id="23" name="Rectangle 22"/>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WHO PAYS FIRST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Start with the utilities: they pay first and fit best</a:t>
            </a:r>
          </a:p>
        </p:txBody>
      </p:sp>
      <p:pic>
        <p:nvPicPr>
          <p:cNvPr id="10" name="Picture 9" descr="hand-coins_steel.png"/>
          <p:cNvPicPr>
            <a:picLocks noChangeAspect="1"/>
          </p:cNvPicPr>
          <p:nvPr/>
        </p:nvPicPr>
        <p:blipFill>
          <a:blip r:embed="rId2"/>
          <a:stretch>
            <a:fillRect/>
          </a:stretch>
        </p:blipFill>
        <p:spPr>
          <a:xfrm>
            <a:off x="4660900" y="1447800"/>
            <a:ext cx="228600" cy="228600"/>
          </a:xfrm>
          <a:prstGeom prst="rect">
            <a:avLst/>
          </a:prstGeom>
        </p:spPr>
      </p:pic>
      <p:sp>
        <p:nvSpPr>
          <p:cNvPr id="11" name="TextBox 10"/>
          <p:cNvSpPr txBox="1"/>
          <p:nvPr/>
        </p:nvSpPr>
        <p:spPr>
          <a:xfrm>
            <a:off x="4013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ABILITY TO PAY</a:t>
            </a:r>
          </a:p>
        </p:txBody>
      </p:sp>
      <p:pic>
        <p:nvPicPr>
          <p:cNvPr id="12" name="Picture 11" descr="target_steel.png"/>
          <p:cNvPicPr>
            <a:picLocks noChangeAspect="1"/>
          </p:cNvPicPr>
          <p:nvPr/>
        </p:nvPicPr>
        <p:blipFill>
          <a:blip r:embed="rId3"/>
          <a:stretch>
            <a:fillRect/>
          </a:stretch>
        </p:blipFill>
        <p:spPr>
          <a:xfrm>
            <a:off x="6184900" y="1447800"/>
            <a:ext cx="228600" cy="228600"/>
          </a:xfrm>
          <a:prstGeom prst="rect">
            <a:avLst/>
          </a:prstGeom>
        </p:spPr>
      </p:pic>
      <p:sp>
        <p:nvSpPr>
          <p:cNvPr id="13" name="TextBox 12"/>
          <p:cNvSpPr txBox="1"/>
          <p:nvPr/>
        </p:nvSpPr>
        <p:spPr>
          <a:xfrm>
            <a:off x="5537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FIT WITH 450</a:t>
            </a:r>
          </a:p>
        </p:txBody>
      </p:sp>
      <p:pic>
        <p:nvPicPr>
          <p:cNvPr id="14" name="Picture 13" descr="clock_steel.png"/>
          <p:cNvPicPr>
            <a:picLocks noChangeAspect="1"/>
          </p:cNvPicPr>
          <p:nvPr/>
        </p:nvPicPr>
        <p:blipFill>
          <a:blip r:embed="rId4"/>
          <a:stretch>
            <a:fillRect/>
          </a:stretch>
        </p:blipFill>
        <p:spPr>
          <a:xfrm>
            <a:off x="7708900" y="1447800"/>
            <a:ext cx="228600" cy="228600"/>
          </a:xfrm>
          <a:prstGeom prst="rect">
            <a:avLst/>
          </a:prstGeom>
        </p:spPr>
      </p:pic>
      <p:sp>
        <p:nvSpPr>
          <p:cNvPr id="15" name="TextBox 14"/>
          <p:cNvSpPr txBox="1"/>
          <p:nvPr/>
        </p:nvSpPr>
        <p:spPr>
          <a:xfrm>
            <a:off x="7061200" y="1727200"/>
            <a:ext cx="1524000" cy="177800"/>
          </a:xfrm>
          <a:prstGeom prst="rect">
            <a:avLst/>
          </a:prstGeom>
          <a:noFill/>
        </p:spPr>
        <p:txBody>
          <a:bodyPr wrap="square" lIns="0" rIns="0" tIns="0" bIns="0" anchor="t">
            <a:spAutoFit/>
          </a:bodyPr>
          <a:lstStyle/>
          <a:p>
            <a:pPr algn="ctr">
              <a:lnSpc>
                <a:spcPct val="120000"/>
              </a:lnSpc>
              <a:spcAft>
                <a:spcPts val="0"/>
              </a:spcAft>
            </a:pPr>
            <a:r>
              <a:rPr sz="800" b="0" spc="120">
                <a:solidFill>
                  <a:srgbClr val="55607A"/>
                </a:solidFill>
                <a:latin typeface="Segoe UI Semibold"/>
              </a:rPr>
              <a:t>SPEED TO REVENUE</a:t>
            </a:r>
          </a:p>
        </p:txBody>
      </p:sp>
      <p:sp>
        <p:nvSpPr>
          <p:cNvPr id="16" name="TextBox 15"/>
          <p:cNvSpPr txBox="1"/>
          <p:nvPr/>
        </p:nvSpPr>
        <p:spPr>
          <a:xfrm>
            <a:off x="8940800" y="1727200"/>
            <a:ext cx="2540000" cy="177800"/>
          </a:xfrm>
          <a:prstGeom prst="rect">
            <a:avLst/>
          </a:prstGeom>
          <a:noFill/>
        </p:spPr>
        <p:txBody>
          <a:bodyPr wrap="square" lIns="0" rIns="0" tIns="0" bIns="0" anchor="t">
            <a:spAutoFit/>
          </a:bodyPr>
          <a:lstStyle/>
          <a:p>
            <a:pPr algn="l">
              <a:lnSpc>
                <a:spcPct val="120000"/>
              </a:lnSpc>
              <a:spcAft>
                <a:spcPts val="0"/>
              </a:spcAft>
            </a:pPr>
            <a:r>
              <a:rPr sz="800" b="0" spc="120">
                <a:solidFill>
                  <a:srgbClr val="55607A"/>
                </a:solidFill>
                <a:latin typeface="Segoe UI Semibold"/>
              </a:rPr>
              <a:t>KEY POINT</a:t>
            </a:r>
          </a:p>
        </p:txBody>
      </p:sp>
      <p:sp>
        <p:nvSpPr>
          <p:cNvPr id="17" name="Rectangle 16"/>
          <p:cNvSpPr/>
          <p:nvPr/>
        </p:nvSpPr>
        <p:spPr>
          <a:xfrm>
            <a:off x="609600" y="1981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11200" y="198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1</a:t>
            </a:r>
          </a:p>
        </p:txBody>
      </p:sp>
      <p:sp>
        <p:nvSpPr>
          <p:cNvPr id="19" name="Oval 18"/>
          <p:cNvSpPr/>
          <p:nvPr/>
        </p:nvSpPr>
        <p:spPr>
          <a:xfrm>
            <a:off x="1219200" y="2070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0" name="Picture 19" descr="zap_white.png"/>
          <p:cNvPicPr>
            <a:picLocks noChangeAspect="1"/>
          </p:cNvPicPr>
          <p:nvPr/>
        </p:nvPicPr>
        <p:blipFill>
          <a:blip r:embed="rId5"/>
          <a:stretch>
            <a:fillRect/>
          </a:stretch>
        </p:blipFill>
        <p:spPr>
          <a:xfrm>
            <a:off x="1310640" y="2161540"/>
            <a:ext cx="198120" cy="198120"/>
          </a:xfrm>
          <a:prstGeom prst="rect">
            <a:avLst/>
          </a:prstGeom>
        </p:spPr>
      </p:pic>
      <p:sp>
        <p:nvSpPr>
          <p:cNvPr id="21" name="TextBox 20"/>
          <p:cNvSpPr txBox="1"/>
          <p:nvPr/>
        </p:nvSpPr>
        <p:spPr>
          <a:xfrm>
            <a:off x="1778000" y="198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Power</a:t>
            </a:r>
          </a:p>
        </p:txBody>
      </p:sp>
      <p:sp>
        <p:nvSpPr>
          <p:cNvPr id="22" name="Oval 21"/>
          <p:cNvSpPr/>
          <p:nvPr/>
        </p:nvSpPr>
        <p:spPr>
          <a:xfrm>
            <a:off x="4508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711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4914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6032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235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438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5565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77597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7962900" y="2197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940800" y="198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Proven anchor abroad</a:t>
            </a:r>
          </a:p>
        </p:txBody>
      </p:sp>
      <p:sp>
        <p:nvSpPr>
          <p:cNvPr id="32" name="Rectangle 31"/>
          <p:cNvSpPr/>
          <p:nvPr/>
        </p:nvSpPr>
        <p:spPr>
          <a:xfrm>
            <a:off x="609600" y="2616200"/>
            <a:ext cx="10972800" cy="558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11200" y="261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7F9B00"/>
                </a:solidFill>
                <a:latin typeface="Segoe UI Light"/>
              </a:rPr>
              <a:t>2</a:t>
            </a:r>
          </a:p>
        </p:txBody>
      </p:sp>
      <p:sp>
        <p:nvSpPr>
          <p:cNvPr id="34" name="Oval 33"/>
          <p:cNvSpPr/>
          <p:nvPr/>
        </p:nvSpPr>
        <p:spPr>
          <a:xfrm>
            <a:off x="1219200" y="2705100"/>
            <a:ext cx="381000" cy="381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5" name="Picture 34" descr="droplets_white.png"/>
          <p:cNvPicPr>
            <a:picLocks noChangeAspect="1"/>
          </p:cNvPicPr>
          <p:nvPr/>
        </p:nvPicPr>
        <p:blipFill>
          <a:blip r:embed="rId6"/>
          <a:stretch>
            <a:fillRect/>
          </a:stretch>
        </p:blipFill>
        <p:spPr>
          <a:xfrm>
            <a:off x="1310640" y="2796540"/>
            <a:ext cx="198120" cy="198120"/>
          </a:xfrm>
          <a:prstGeom prst="rect">
            <a:avLst/>
          </a:prstGeom>
        </p:spPr>
      </p:pic>
      <p:sp>
        <p:nvSpPr>
          <p:cNvPr id="36" name="TextBox 35"/>
          <p:cNvSpPr txBox="1"/>
          <p:nvPr/>
        </p:nvSpPr>
        <p:spPr>
          <a:xfrm>
            <a:off x="1778000" y="261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Water</a:t>
            </a:r>
          </a:p>
        </p:txBody>
      </p:sp>
      <p:sp>
        <p:nvSpPr>
          <p:cNvPr id="37" name="Oval 36"/>
          <p:cNvSpPr/>
          <p:nvPr/>
        </p:nvSpPr>
        <p:spPr>
          <a:xfrm>
            <a:off x="4508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4711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Oval 38"/>
          <p:cNvSpPr/>
          <p:nvPr/>
        </p:nvSpPr>
        <p:spPr>
          <a:xfrm>
            <a:off x="4914900" y="283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6032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6235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6438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Oval 42"/>
          <p:cNvSpPr/>
          <p:nvPr/>
        </p:nvSpPr>
        <p:spPr>
          <a:xfrm>
            <a:off x="75565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Oval 43"/>
          <p:cNvSpPr/>
          <p:nvPr/>
        </p:nvSpPr>
        <p:spPr>
          <a:xfrm>
            <a:off x="77597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7962900" y="2832100"/>
            <a:ext cx="127000" cy="127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940800" y="261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Same sites as power</a:t>
            </a:r>
          </a:p>
        </p:txBody>
      </p:sp>
      <p:sp>
        <p:nvSpPr>
          <p:cNvPr id="47" name="Rectangle 46"/>
          <p:cNvSpPr/>
          <p:nvPr/>
        </p:nvSpPr>
        <p:spPr>
          <a:xfrm>
            <a:off x="609600" y="325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11200" y="325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3</a:t>
            </a:r>
          </a:p>
        </p:txBody>
      </p:sp>
      <p:sp>
        <p:nvSpPr>
          <p:cNvPr id="49" name="Oval 48"/>
          <p:cNvSpPr/>
          <p:nvPr/>
        </p:nvSpPr>
        <p:spPr>
          <a:xfrm>
            <a:off x="1219200" y="334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0" name="Picture 49" descr="siren_white.png"/>
          <p:cNvPicPr>
            <a:picLocks noChangeAspect="1"/>
          </p:cNvPicPr>
          <p:nvPr/>
        </p:nvPicPr>
        <p:blipFill>
          <a:blip r:embed="rId7"/>
          <a:stretch>
            <a:fillRect/>
          </a:stretch>
        </p:blipFill>
        <p:spPr>
          <a:xfrm>
            <a:off x="1310640" y="3431540"/>
            <a:ext cx="198120" cy="198120"/>
          </a:xfrm>
          <a:prstGeom prst="rect">
            <a:avLst/>
          </a:prstGeom>
        </p:spPr>
      </p:pic>
      <p:sp>
        <p:nvSpPr>
          <p:cNvPr id="51" name="TextBox 50"/>
          <p:cNvSpPr txBox="1"/>
          <p:nvPr/>
        </p:nvSpPr>
        <p:spPr>
          <a:xfrm>
            <a:off x="1778000" y="325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Emergency</a:t>
            </a:r>
          </a:p>
        </p:txBody>
      </p:sp>
      <p:sp>
        <p:nvSpPr>
          <p:cNvPr id="52" name="Oval 51"/>
          <p:cNvSpPr/>
          <p:nvPr/>
        </p:nvSpPr>
        <p:spPr>
          <a:xfrm>
            <a:off x="4508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Oval 52"/>
          <p:cNvSpPr/>
          <p:nvPr/>
        </p:nvSpPr>
        <p:spPr>
          <a:xfrm>
            <a:off x="4711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Oval 53"/>
          <p:cNvSpPr/>
          <p:nvPr/>
        </p:nvSpPr>
        <p:spPr>
          <a:xfrm>
            <a:off x="4914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Oval 54"/>
          <p:cNvSpPr/>
          <p:nvPr/>
        </p:nvSpPr>
        <p:spPr>
          <a:xfrm>
            <a:off x="6032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Oval 55"/>
          <p:cNvSpPr/>
          <p:nvPr/>
        </p:nvSpPr>
        <p:spPr>
          <a:xfrm>
            <a:off x="6235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Oval 56"/>
          <p:cNvSpPr/>
          <p:nvPr/>
        </p:nvSpPr>
        <p:spPr>
          <a:xfrm>
            <a:off x="64389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Oval 57"/>
          <p:cNvSpPr/>
          <p:nvPr/>
        </p:nvSpPr>
        <p:spPr>
          <a:xfrm>
            <a:off x="75565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Oval 58"/>
          <p:cNvSpPr/>
          <p:nvPr/>
        </p:nvSpPr>
        <p:spPr>
          <a:xfrm>
            <a:off x="7759700" y="346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Oval 59"/>
          <p:cNvSpPr/>
          <p:nvPr/>
        </p:nvSpPr>
        <p:spPr>
          <a:xfrm>
            <a:off x="7962900" y="346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8940800" y="325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Typhoon readiness</a:t>
            </a:r>
          </a:p>
        </p:txBody>
      </p:sp>
      <p:sp>
        <p:nvSpPr>
          <p:cNvPr id="62" name="Rectangle 61"/>
          <p:cNvSpPr/>
          <p:nvPr/>
        </p:nvSpPr>
        <p:spPr>
          <a:xfrm>
            <a:off x="609600" y="388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11200" y="388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4</a:t>
            </a:r>
          </a:p>
        </p:txBody>
      </p:sp>
      <p:sp>
        <p:nvSpPr>
          <p:cNvPr id="64" name="Oval 63"/>
          <p:cNvSpPr/>
          <p:nvPr/>
        </p:nvSpPr>
        <p:spPr>
          <a:xfrm>
            <a:off x="1219200" y="397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5" name="Picture 64" descr="shield_white.png"/>
          <p:cNvPicPr>
            <a:picLocks noChangeAspect="1"/>
          </p:cNvPicPr>
          <p:nvPr/>
        </p:nvPicPr>
        <p:blipFill>
          <a:blip r:embed="rId8"/>
          <a:stretch>
            <a:fillRect/>
          </a:stretch>
        </p:blipFill>
        <p:spPr>
          <a:xfrm>
            <a:off x="1310640" y="4066540"/>
            <a:ext cx="198120" cy="198120"/>
          </a:xfrm>
          <a:prstGeom prst="rect">
            <a:avLst/>
          </a:prstGeom>
        </p:spPr>
      </p:pic>
      <p:sp>
        <p:nvSpPr>
          <p:cNvPr id="66" name="TextBox 65"/>
          <p:cNvSpPr txBox="1"/>
          <p:nvPr/>
        </p:nvSpPr>
        <p:spPr>
          <a:xfrm>
            <a:off x="1778000" y="388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Police</a:t>
            </a:r>
          </a:p>
        </p:txBody>
      </p:sp>
      <p:sp>
        <p:nvSpPr>
          <p:cNvPr id="67" name="Oval 66"/>
          <p:cNvSpPr/>
          <p:nvPr/>
        </p:nvSpPr>
        <p:spPr>
          <a:xfrm>
            <a:off x="4508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Oval 67"/>
          <p:cNvSpPr/>
          <p:nvPr/>
        </p:nvSpPr>
        <p:spPr>
          <a:xfrm>
            <a:off x="4711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9" name="Oval 68"/>
          <p:cNvSpPr/>
          <p:nvPr/>
        </p:nvSpPr>
        <p:spPr>
          <a:xfrm>
            <a:off x="49149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Oval 69"/>
          <p:cNvSpPr/>
          <p:nvPr/>
        </p:nvSpPr>
        <p:spPr>
          <a:xfrm>
            <a:off x="6032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Oval 70"/>
          <p:cNvSpPr/>
          <p:nvPr/>
        </p:nvSpPr>
        <p:spPr>
          <a:xfrm>
            <a:off x="62357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Oval 71"/>
          <p:cNvSpPr/>
          <p:nvPr/>
        </p:nvSpPr>
        <p:spPr>
          <a:xfrm>
            <a:off x="6438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Oval 72"/>
          <p:cNvSpPr/>
          <p:nvPr/>
        </p:nvSpPr>
        <p:spPr>
          <a:xfrm>
            <a:off x="7556500" y="410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Oval 73"/>
          <p:cNvSpPr/>
          <p:nvPr/>
        </p:nvSpPr>
        <p:spPr>
          <a:xfrm>
            <a:off x="77597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Oval 74"/>
          <p:cNvSpPr/>
          <p:nvPr/>
        </p:nvSpPr>
        <p:spPr>
          <a:xfrm>
            <a:off x="7962900" y="410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8940800" y="388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Interoperate, not replace</a:t>
            </a:r>
          </a:p>
        </p:txBody>
      </p:sp>
      <p:sp>
        <p:nvSpPr>
          <p:cNvPr id="77" name="Rectangle 76"/>
          <p:cNvSpPr/>
          <p:nvPr/>
        </p:nvSpPr>
        <p:spPr>
          <a:xfrm>
            <a:off x="609600" y="4521200"/>
            <a:ext cx="109728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711200" y="4521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5</a:t>
            </a:r>
          </a:p>
        </p:txBody>
      </p:sp>
      <p:sp>
        <p:nvSpPr>
          <p:cNvPr id="79" name="Oval 78"/>
          <p:cNvSpPr/>
          <p:nvPr/>
        </p:nvSpPr>
        <p:spPr>
          <a:xfrm>
            <a:off x="1219200" y="4610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80" name="Picture 79" descr="train-front_white.png"/>
          <p:cNvPicPr>
            <a:picLocks noChangeAspect="1"/>
          </p:cNvPicPr>
          <p:nvPr/>
        </p:nvPicPr>
        <p:blipFill>
          <a:blip r:embed="rId9"/>
          <a:stretch>
            <a:fillRect/>
          </a:stretch>
        </p:blipFill>
        <p:spPr>
          <a:xfrm>
            <a:off x="1310640" y="4701540"/>
            <a:ext cx="198120" cy="198120"/>
          </a:xfrm>
          <a:prstGeom prst="rect">
            <a:avLst/>
          </a:prstGeom>
        </p:spPr>
      </p:pic>
      <p:sp>
        <p:nvSpPr>
          <p:cNvPr id="81" name="TextBox 80"/>
          <p:cNvSpPr txBox="1"/>
          <p:nvPr/>
        </p:nvSpPr>
        <p:spPr>
          <a:xfrm>
            <a:off x="1778000" y="4521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Rail</a:t>
            </a:r>
          </a:p>
        </p:txBody>
      </p:sp>
      <p:sp>
        <p:nvSpPr>
          <p:cNvPr id="82" name="Oval 81"/>
          <p:cNvSpPr/>
          <p:nvPr/>
        </p:nvSpPr>
        <p:spPr>
          <a:xfrm>
            <a:off x="4508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Oval 82"/>
          <p:cNvSpPr/>
          <p:nvPr/>
        </p:nvSpPr>
        <p:spPr>
          <a:xfrm>
            <a:off x="4711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4" name="Oval 83"/>
          <p:cNvSpPr/>
          <p:nvPr/>
        </p:nvSpPr>
        <p:spPr>
          <a:xfrm>
            <a:off x="4914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Oval 84"/>
          <p:cNvSpPr/>
          <p:nvPr/>
        </p:nvSpPr>
        <p:spPr>
          <a:xfrm>
            <a:off x="6032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6" name="Oval 85"/>
          <p:cNvSpPr/>
          <p:nvPr/>
        </p:nvSpPr>
        <p:spPr>
          <a:xfrm>
            <a:off x="62357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Oval 86"/>
          <p:cNvSpPr/>
          <p:nvPr/>
        </p:nvSpPr>
        <p:spPr>
          <a:xfrm>
            <a:off x="64389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8" name="Oval 87"/>
          <p:cNvSpPr/>
          <p:nvPr/>
        </p:nvSpPr>
        <p:spPr>
          <a:xfrm>
            <a:off x="7556500" y="4737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Oval 88"/>
          <p:cNvSpPr/>
          <p:nvPr/>
        </p:nvSpPr>
        <p:spPr>
          <a:xfrm>
            <a:off x="77597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Oval 89"/>
          <p:cNvSpPr/>
          <p:nvPr/>
        </p:nvSpPr>
        <p:spPr>
          <a:xfrm>
            <a:off x="7962900" y="4737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8940800" y="4521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Long project cycles</a:t>
            </a:r>
          </a:p>
        </p:txBody>
      </p:sp>
      <p:sp>
        <p:nvSpPr>
          <p:cNvPr id="92" name="Rectangle 91"/>
          <p:cNvSpPr/>
          <p:nvPr/>
        </p:nvSpPr>
        <p:spPr>
          <a:xfrm>
            <a:off x="609600" y="5156200"/>
            <a:ext cx="10972800" cy="5588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711200" y="5156200"/>
            <a:ext cx="381000" cy="558800"/>
          </a:xfrm>
          <a:prstGeom prst="rect">
            <a:avLst/>
          </a:prstGeom>
          <a:noFill/>
        </p:spPr>
        <p:txBody>
          <a:bodyPr wrap="square" lIns="0" rIns="0" tIns="0" bIns="0" anchor="ctr">
            <a:spAutoFit/>
          </a:bodyPr>
          <a:lstStyle/>
          <a:p>
            <a:pPr algn="ctr">
              <a:lnSpc>
                <a:spcPct val="120000"/>
              </a:lnSpc>
              <a:spcAft>
                <a:spcPts val="0"/>
              </a:spcAft>
            </a:pPr>
            <a:r>
              <a:rPr sz="2000" b="0">
                <a:solidFill>
                  <a:srgbClr val="93A0B4"/>
                </a:solidFill>
                <a:latin typeface="Segoe UI Light"/>
              </a:rPr>
              <a:t>6</a:t>
            </a:r>
          </a:p>
        </p:txBody>
      </p:sp>
      <p:sp>
        <p:nvSpPr>
          <p:cNvPr id="94" name="Oval 93"/>
          <p:cNvSpPr/>
          <p:nvPr/>
        </p:nvSpPr>
        <p:spPr>
          <a:xfrm>
            <a:off x="1219200" y="5245100"/>
            <a:ext cx="381000" cy="381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95" name="Picture 94" descr="ship_white.png"/>
          <p:cNvPicPr>
            <a:picLocks noChangeAspect="1"/>
          </p:cNvPicPr>
          <p:nvPr/>
        </p:nvPicPr>
        <p:blipFill>
          <a:blip r:embed="rId10"/>
          <a:stretch>
            <a:fillRect/>
          </a:stretch>
        </p:blipFill>
        <p:spPr>
          <a:xfrm>
            <a:off x="1310640" y="5336540"/>
            <a:ext cx="198120" cy="198120"/>
          </a:xfrm>
          <a:prstGeom prst="rect">
            <a:avLst/>
          </a:prstGeom>
        </p:spPr>
      </p:pic>
      <p:sp>
        <p:nvSpPr>
          <p:cNvPr id="96" name="TextBox 95"/>
          <p:cNvSpPr txBox="1"/>
          <p:nvPr/>
        </p:nvSpPr>
        <p:spPr>
          <a:xfrm>
            <a:off x="1778000" y="5156200"/>
            <a:ext cx="2032000" cy="5588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Port</a:t>
            </a:r>
          </a:p>
        </p:txBody>
      </p:sp>
      <p:sp>
        <p:nvSpPr>
          <p:cNvPr id="97" name="Oval 96"/>
          <p:cNvSpPr/>
          <p:nvPr/>
        </p:nvSpPr>
        <p:spPr>
          <a:xfrm>
            <a:off x="4508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Oval 97"/>
          <p:cNvSpPr/>
          <p:nvPr/>
        </p:nvSpPr>
        <p:spPr>
          <a:xfrm>
            <a:off x="4711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9" name="Oval 98"/>
          <p:cNvSpPr/>
          <p:nvPr/>
        </p:nvSpPr>
        <p:spPr>
          <a:xfrm>
            <a:off x="4914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0" name="Oval 99"/>
          <p:cNvSpPr/>
          <p:nvPr/>
        </p:nvSpPr>
        <p:spPr>
          <a:xfrm>
            <a:off x="6032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Oval 100"/>
          <p:cNvSpPr/>
          <p:nvPr/>
        </p:nvSpPr>
        <p:spPr>
          <a:xfrm>
            <a:off x="6235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Oval 101"/>
          <p:cNvSpPr/>
          <p:nvPr/>
        </p:nvSpPr>
        <p:spPr>
          <a:xfrm>
            <a:off x="6438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Oval 102"/>
          <p:cNvSpPr/>
          <p:nvPr/>
        </p:nvSpPr>
        <p:spPr>
          <a:xfrm>
            <a:off x="75565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Oval 103"/>
          <p:cNvSpPr/>
          <p:nvPr/>
        </p:nvSpPr>
        <p:spPr>
          <a:xfrm>
            <a:off x="7759700" y="5372100"/>
            <a:ext cx="127000" cy="1270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Oval 104"/>
          <p:cNvSpPr/>
          <p:nvPr/>
        </p:nvSpPr>
        <p:spPr>
          <a:xfrm>
            <a:off x="7962900" y="5372100"/>
            <a:ext cx="127000" cy="127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TextBox 105"/>
          <p:cNvSpPr txBox="1"/>
          <p:nvPr/>
        </p:nvSpPr>
        <p:spPr>
          <a:xfrm>
            <a:off x="8940800" y="5156200"/>
            <a:ext cx="2540000" cy="558800"/>
          </a:xfrm>
          <a:prstGeom prst="rect">
            <a:avLst/>
          </a:prstGeom>
          <a:noFill/>
        </p:spPr>
        <p:txBody>
          <a:bodyPr wrap="square" lIns="0" rIns="0" tIns="0" bIns="0" anchor="ctr">
            <a:spAutoFit/>
          </a:bodyPr>
          <a:lstStyle/>
          <a:p>
            <a:pPr algn="l">
              <a:lnSpc>
                <a:spcPct val="120000"/>
              </a:lnSpc>
              <a:spcAft>
                <a:spcPts val="0"/>
              </a:spcAft>
            </a:pPr>
            <a:r>
              <a:rPr sz="1200" b="0">
                <a:solidFill>
                  <a:srgbClr val="16213E"/>
                </a:solidFill>
                <a:latin typeface="Segoe UI"/>
              </a:rPr>
              <a:t>No 450 MHz precedent yet</a:t>
            </a:r>
          </a:p>
        </p:txBody>
      </p:sp>
      <p:pic>
        <p:nvPicPr>
          <p:cNvPr id="107" name="Picture 106" descr="check_green.png"/>
          <p:cNvPicPr>
            <a:picLocks noChangeAspect="1"/>
          </p:cNvPicPr>
          <p:nvPr/>
        </p:nvPicPr>
        <p:blipFill>
          <a:blip r:embed="rId11"/>
          <a:stretch>
            <a:fillRect/>
          </a:stretch>
        </p:blipFill>
        <p:spPr>
          <a:xfrm>
            <a:off x="609600" y="5892800"/>
            <a:ext cx="203200" cy="203200"/>
          </a:xfrm>
          <a:prstGeom prst="rect">
            <a:avLst/>
          </a:prstGeom>
        </p:spPr>
      </p:pic>
      <p:sp>
        <p:nvSpPr>
          <p:cNvPr id="108" name="TextBox 107"/>
          <p:cNvSpPr txBox="1"/>
          <p:nvPr/>
        </p:nvSpPr>
        <p:spPr>
          <a:xfrm>
            <a:off x="914400" y="5842000"/>
            <a:ext cx="7620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Green rows: the anchor customers</a:t>
            </a:r>
          </a:p>
        </p:txBody>
      </p:sp>
      <p:sp>
        <p:nvSpPr>
          <p:cNvPr id="109" name="TextBox 108"/>
          <p:cNvSpPr txBox="1"/>
          <p:nvPr/>
        </p:nvSpPr>
        <p:spPr>
          <a:xfrm>
            <a:off x="914400" y="6096000"/>
            <a:ext cx="8890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Our reading, to be tested with Globe</a:t>
            </a:r>
          </a:p>
        </p:txBody>
      </p:sp>
      <p:sp>
        <p:nvSpPr>
          <p:cNvPr id="110" name="TextBox 109"/>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assessment; 450 MHz Alliance, Annual Global Update (Dec 2025) p8-p9; LWUA NRW data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1 OF 6  ·  POWER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09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Power anchors the network, as it does in Germany and Malaysia</a:t>
            </a:r>
          </a:p>
        </p:txBody>
      </p:sp>
      <p:pic>
        <p:nvPicPr>
          <p:cNvPr id="10" name="Picture 9" descr="v6_13015b8219.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za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121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electric cooperatives</a:t>
            </a:r>
          </a:p>
          <a:p>
            <a:pPr algn="l">
              <a:lnSpc>
                <a:spcPct val="115000"/>
              </a:lnSpc>
              <a:spcAft>
                <a:spcPts val="0"/>
              </a:spcAft>
            </a:pPr>
            <a:r>
              <a:rPr sz="1200" b="0">
                <a:solidFill>
                  <a:srgbClr val="55607A"/>
                </a:solidFill>
                <a:latin typeface="Segoe UI"/>
              </a:rPr>
              <a:t>under NEA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1.4M</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consumers cut off</a:t>
            </a:r>
          </a:p>
          <a:p>
            <a:pPr algn="l">
              <a:lnSpc>
                <a:spcPct val="115000"/>
              </a:lnSpc>
              <a:spcAft>
                <a:spcPts val="0"/>
              </a:spcAft>
            </a:pPr>
            <a:r>
              <a:rPr sz="1200" b="0">
                <a:solidFill>
                  <a:srgbClr val="55607A"/>
                </a:solidFill>
                <a:latin typeface="Segoe UI"/>
              </a:rPr>
              <a:t>by Typhoon Tino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cpu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SCADA &amp;</a:t>
            </a:r>
          </a:p>
          <a:p>
            <a:pPr algn="l">
              <a:lnSpc>
                <a:spcPct val="115000"/>
              </a:lnSpc>
              <a:spcAft>
                <a:spcPts val="0"/>
              </a:spcAft>
            </a:pPr>
            <a:r>
              <a:rPr sz="1250" b="0">
                <a:solidFill>
                  <a:srgbClr val="0B308E"/>
                </a:solidFill>
                <a:latin typeface="Segoe UI Semibold"/>
              </a:rPr>
              <a:t>feeder automation</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radi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Push-to-talk</a:t>
            </a:r>
          </a:p>
          <a:p>
            <a:pPr algn="l">
              <a:lnSpc>
                <a:spcPct val="115000"/>
              </a:lnSpc>
              <a:spcAft>
                <a:spcPts val="0"/>
              </a:spcAft>
            </a:pPr>
            <a:r>
              <a:rPr sz="1250" b="0">
                <a:solidFill>
                  <a:srgbClr val="0B308E"/>
                </a:solidFill>
                <a:latin typeface="Segoe UI Semibold"/>
              </a:rPr>
              <a:t>for line crews</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Smart meters,</a:t>
            </a:r>
          </a:p>
          <a:p>
            <a:pPr algn="l">
              <a:lnSpc>
                <a:spcPct val="115000"/>
              </a:lnSpc>
              <a:spcAft>
                <a:spcPts val="0"/>
              </a:spcAft>
            </a:pPr>
            <a:r>
              <a:rPr sz="1250" b="0">
                <a:solidFill>
                  <a:srgbClr val="0B308E"/>
                </a:solidFill>
                <a:latin typeface="Segoe UI Semibold"/>
              </a:rPr>
              <a:t>deep indoors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Germany  450connect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B72  ·  90%+ area</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Malaysia  TNB</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4 areas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 package</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SCADA O&amp;M</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NEA; Department of Energy (5 Nov 2025); 450 MHz Alliance, RFI for devices (2025) p5, Annual Global Update (Dec 2025) p8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2 OF 6  ·  WATER</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10</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Water: find the losses instead of estimating them</a:t>
            </a:r>
          </a:p>
        </p:txBody>
      </p:sp>
      <p:pic>
        <p:nvPicPr>
          <p:cNvPr id="10" name="Picture 9" descr="v6_5f9dad8d68.jpg"/>
          <p:cNvPicPr>
            <a:picLocks noChangeAspect="1"/>
          </p:cNvPicPr>
          <p:nvPr/>
        </p:nvPicPr>
        <p:blipFill>
          <a:blip r:embed="rId2"/>
          <a:srcRect t="11853" b="1185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droplets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532</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water districts</a:t>
            </a:r>
          </a:p>
          <a:p>
            <a:pPr algn="l">
              <a:lnSpc>
                <a:spcPct val="115000"/>
              </a:lnSpc>
              <a:spcAft>
                <a:spcPts val="0"/>
              </a:spcAft>
            </a:pPr>
            <a:r>
              <a:rPr sz="1200" b="0">
                <a:solidFill>
                  <a:srgbClr val="55607A"/>
                </a:solidFill>
                <a:latin typeface="Segoe UI"/>
              </a:rPr>
              <a:t>under LWUA</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149</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kept losses within</a:t>
            </a:r>
          </a:p>
          <a:p>
            <a:pPr algn="l">
              <a:lnSpc>
                <a:spcPct val="115000"/>
              </a:lnSpc>
              <a:spcAft>
                <a:spcPts val="0"/>
              </a:spcAft>
            </a:pPr>
            <a:r>
              <a:rPr sz="1200" b="0">
                <a:solidFill>
                  <a:srgbClr val="55607A"/>
                </a:solidFill>
                <a:latin typeface="Segoe UI"/>
              </a:rPr>
              <a:t>the 20% limit</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gau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Meters that</a:t>
            </a:r>
          </a:p>
          <a:p>
            <a:pPr algn="l">
              <a:lnSpc>
                <a:spcPct val="115000"/>
              </a:lnSpc>
              <a:spcAft>
                <a:spcPts val="0"/>
              </a:spcAft>
            </a:pPr>
            <a:r>
              <a:rPr sz="1250" b="0">
                <a:solidFill>
                  <a:srgbClr val="0B308E"/>
                </a:solidFill>
                <a:latin typeface="Segoe UI Semibold"/>
              </a:rPr>
              <a:t>report</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activity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Pressure sensing,</a:t>
            </a:r>
          </a:p>
          <a:p>
            <a:pPr algn="l">
              <a:lnSpc>
                <a:spcPct val="115000"/>
              </a:lnSpc>
              <a:spcAft>
                <a:spcPts val="0"/>
              </a:spcAft>
            </a:pPr>
            <a:r>
              <a:rPr sz="1250" b="0">
                <a:solidFill>
                  <a:srgbClr val="0B308E"/>
                </a:solidFill>
                <a:latin typeface="Segoe UI Semibold"/>
              </a:rPr>
              <a:t>leak location</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pu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Pump &amp; reservoir</a:t>
            </a:r>
          </a:p>
          <a:p>
            <a:pPr algn="l">
              <a:lnSpc>
                <a:spcPct val="115000"/>
              </a:lnSpc>
              <a:spcAft>
                <a:spcPts val="0"/>
              </a:spcAft>
            </a:pPr>
            <a:r>
              <a:rPr sz="1250" b="0">
                <a:solidFill>
                  <a:srgbClr val="0B308E"/>
                </a:solidFill>
                <a:latin typeface="Segoe UI Semibold"/>
              </a:rPr>
              <a:t>telemetry</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Bahrain  EWA</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water-meter network</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Kenya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band reserved for utilities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IoT per meter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Telemetry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LWUA NRW data, end-2025 (reported Aug 2026); 450 MHz Alliance, Annual Global Update (Dec 2025) p6, p8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3 OF 6  ·  EMERGENCY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Emergency: the layer that has to survive the storm</a:t>
            </a:r>
          </a:p>
        </p:txBody>
      </p:sp>
      <p:pic>
        <p:nvPicPr>
          <p:cNvPr id="10" name="Picture 9" descr="v6_4589fbbd86.jpg"/>
          <p:cNvPicPr>
            <a:picLocks noChangeAspect="1"/>
          </p:cNvPicPr>
          <p:nvPr/>
        </p:nvPicPr>
        <p:blipFill>
          <a:blip r:embed="rId2"/>
          <a:srcRect b="2283"/>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iren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#1</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WorldRiskIndex</a:t>
            </a:r>
          </a:p>
          <a:p>
            <a:pPr algn="l">
              <a:lnSpc>
                <a:spcPct val="115000"/>
              </a:lnSpc>
              <a:spcAft>
                <a:spcPts val="0"/>
              </a:spcAft>
            </a:pPr>
            <a:r>
              <a:rPr sz="1200" b="0">
                <a:solidFill>
                  <a:srgbClr val="55607A"/>
                </a:solidFill>
                <a:latin typeface="Segoe UI"/>
              </a:rPr>
              <a:t>2025</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4000" b="0">
                <a:solidFill>
                  <a:srgbClr val="0B308E"/>
                </a:solidFill>
                <a:latin typeface="Segoe UI Light"/>
              </a:rPr>
              <a:t>~20</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tropical cyclones</a:t>
            </a:r>
          </a:p>
          <a:p>
            <a:pPr algn="l">
              <a:lnSpc>
                <a:spcPct val="115000"/>
              </a:lnSpc>
              <a:spcAft>
                <a:spcPts val="0"/>
              </a:spcAft>
            </a:pPr>
            <a:r>
              <a:rPr sz="1200" b="0">
                <a:solidFill>
                  <a:srgbClr val="55607A"/>
                </a:solidFill>
                <a:latin typeface="Segoe UI"/>
              </a:rPr>
              <a:t>a year</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package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Deployed</a:t>
            </a:r>
          </a:p>
          <a:p>
            <a:pPr algn="l">
              <a:lnSpc>
                <a:spcPct val="115000"/>
              </a:lnSpc>
              <a:spcAft>
                <a:spcPts val="0"/>
              </a:spcAft>
            </a:pPr>
            <a:r>
              <a:rPr sz="1250" b="0">
                <a:solidFill>
                  <a:srgbClr val="0B308E"/>
                </a:solidFill>
                <a:latin typeface="Segoe UI Semibold"/>
              </a:rPr>
              <a:t>within hours</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atellite-dish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Satellite</a:t>
            </a:r>
          </a:p>
          <a:p>
            <a:pPr algn="l">
              <a:lnSpc>
                <a:spcPct val="115000"/>
              </a:lnSpc>
              <a:spcAft>
                <a:spcPts val="0"/>
              </a:spcAft>
            </a:pPr>
            <a:r>
              <a:rPr sz="1250" b="0">
                <a:solidFill>
                  <a:srgbClr val="0B308E"/>
                </a:solidFill>
                <a:latin typeface="Segoe UI Semibold"/>
              </a:rPr>
              <a:t>backhaul</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user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Field command</a:t>
            </a:r>
          </a:p>
          <a:p>
            <a:pPr algn="l">
              <a:lnSpc>
                <a:spcPct val="115000"/>
              </a:lnSpc>
              <a:spcAft>
                <a:spcPts val="0"/>
              </a:spcAft>
            </a:pPr>
            <a:r>
              <a:rPr sz="1250" b="0">
                <a:solidFill>
                  <a:srgbClr val="0B308E"/>
                </a:solidFill>
                <a:latin typeface="Segoe UI Semibold"/>
              </a:rPr>
              <a:t>post</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Indonesia  SeaTelSat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over satellite</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E-pack200</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rapid-deployment kit</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Readiness retainer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Standby kits</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service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WorldRiskReport 2025; PAGASA; 450 MHz Alliance, RFI for devices (2025) p5; Hytera product documentation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4 OF 6  ·  POLICE</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12</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Police: one group call across the agencies</a:t>
            </a:r>
          </a:p>
        </p:txBody>
      </p:sp>
      <p:pic>
        <p:nvPicPr>
          <p:cNvPr id="10" name="Picture 9" descr="v6_6c17f9f128.jpg"/>
          <p:cNvPicPr>
            <a:picLocks noChangeAspect="1"/>
          </p:cNvPicPr>
          <p:nvPr/>
        </p:nvPicPr>
        <p:blipFill>
          <a:blip r:embed="rId2"/>
          <a:srcRect b="1915"/>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eld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Interop</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with DMR and TETRA</a:t>
            </a:r>
          </a:p>
          <a:p>
            <a:pPr algn="l">
              <a:lnSpc>
                <a:spcPct val="115000"/>
              </a:lnSpc>
              <a:spcAft>
                <a:spcPts val="0"/>
              </a:spcAft>
            </a:pPr>
            <a:r>
              <a:rPr sz="1200" b="0">
                <a:solidFill>
                  <a:srgbClr val="55607A"/>
                </a:solidFill>
                <a:latin typeface="Segoe UI"/>
              </a:rPr>
              <a:t>already in service</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Priority</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when the public</a:t>
            </a:r>
          </a:p>
          <a:p>
            <a:pPr algn="l">
              <a:lnSpc>
                <a:spcPct val="115000"/>
              </a:lnSpc>
              <a:spcAft>
                <a:spcPts val="0"/>
              </a:spcAft>
            </a:pPr>
            <a:r>
              <a:rPr sz="1200" b="0">
                <a:solidFill>
                  <a:srgbClr val="55607A"/>
                </a:solidFill>
                <a:latin typeface="Segoe UI"/>
              </a:rPr>
              <a:t>network congests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Cross-agency</a:t>
            </a:r>
          </a:p>
          <a:p>
            <a:pPr algn="l">
              <a:lnSpc>
                <a:spcPct val="115000"/>
              </a:lnSpc>
              <a:spcAft>
                <a:spcPts val="0"/>
              </a:spcAft>
            </a:pPr>
            <a:r>
              <a:rPr sz="1250" b="0">
                <a:solidFill>
                  <a:srgbClr val="0B308E"/>
                </a:solidFill>
                <a:latin typeface="Segoe UI Semibold"/>
              </a:rPr>
              <a:t>group call</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Live video</a:t>
            </a:r>
          </a:p>
          <a:p>
            <a:pPr algn="l">
              <a:lnSpc>
                <a:spcPct val="115000"/>
              </a:lnSpc>
              <a:spcAft>
                <a:spcPts val="0"/>
              </a:spcAft>
            </a:pPr>
            <a:r>
              <a:rPr sz="1250" b="0">
                <a:solidFill>
                  <a:srgbClr val="0B308E"/>
                </a:solidFill>
                <a:latin typeface="Segoe UI Semibold"/>
              </a:rPr>
              <a:t>from the scene</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network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DMR / TETRA</a:t>
            </a:r>
          </a:p>
          <a:p>
            <a:pPr algn="l">
              <a:lnSpc>
                <a:spcPct val="115000"/>
              </a:lnSpc>
              <a:spcAft>
                <a:spcPts val="0"/>
              </a:spcAft>
            </a:pPr>
            <a:r>
              <a:rPr sz="1250" b="0">
                <a:solidFill>
                  <a:srgbClr val="0B308E"/>
                </a:solidFill>
                <a:latin typeface="Segoe UI Semibold"/>
              </a:rPr>
              <a:t>interworking</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Singapore</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Russia  Rostelecom</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  public safety</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Integration</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p8-p9; Hytera public-safety references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5 OF 6  ·  RAIL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13</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Rail: coverage that follows the track, not the towns</a:t>
            </a:r>
          </a:p>
        </p:txBody>
      </p:sp>
      <p:pic>
        <p:nvPicPr>
          <p:cNvPr id="10" name="Picture 9" descr="v6_8b437e2f48.jpg"/>
          <p:cNvPicPr>
            <a:picLocks noChangeAspect="1"/>
          </p:cNvPicPr>
          <p:nvPr/>
        </p:nvPicPr>
        <p:blipFill>
          <a:blip r:embed="rId2"/>
          <a:srcRect t="530" b="1053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train-front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Corridor</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coverage, including</a:t>
            </a:r>
          </a:p>
          <a:p>
            <a:pPr algn="l">
              <a:lnSpc>
                <a:spcPct val="115000"/>
              </a:lnSpc>
              <a:spcAft>
                <a:spcPts val="0"/>
              </a:spcAft>
            </a:pPr>
            <a:r>
              <a:rPr sz="1200" b="0">
                <a:solidFill>
                  <a:srgbClr val="55607A"/>
                </a:solidFill>
                <a:latin typeface="Segoe UI"/>
              </a:rPr>
              <a:t>cuttings and tunnels</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Train</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ground voice,</a:t>
            </a:r>
          </a:p>
          <a:p>
            <a:pPr algn="l">
              <a:lnSpc>
                <a:spcPct val="115000"/>
              </a:lnSpc>
              <a:spcAft>
                <a:spcPts val="0"/>
              </a:spcAft>
            </a:pPr>
            <a:r>
              <a:rPr sz="1200" b="0">
                <a:solidFill>
                  <a:srgbClr val="55607A"/>
                </a:solidFill>
                <a:latin typeface="Segoe UI"/>
              </a:rPr>
              <a:t>data and video</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Dispatch</a:t>
            </a:r>
          </a:p>
          <a:p>
            <a:pPr algn="l">
              <a:lnSpc>
                <a:spcPct val="115000"/>
              </a:lnSpc>
              <a:spcAft>
                <a:spcPts val="0"/>
              </a:spcAft>
            </a:pPr>
            <a:r>
              <a:rPr sz="1250" b="0">
                <a:solidFill>
                  <a:srgbClr val="0B308E"/>
                </a:solidFill>
                <a:latin typeface="Segoe UI Semibold"/>
              </a:rPr>
              <a:t>along the line</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video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On-board</a:t>
            </a:r>
          </a:p>
          <a:p>
            <a:pPr algn="l">
              <a:lnSpc>
                <a:spcPct val="115000"/>
              </a:lnSpc>
              <a:spcAft>
                <a:spcPts val="0"/>
              </a:spcAft>
            </a:pPr>
            <a:r>
              <a:rPr sz="1250" b="0">
                <a:solidFill>
                  <a:srgbClr val="0B308E"/>
                </a:solidFill>
                <a:latin typeface="Segoe UI Semibold"/>
              </a:rPr>
              <a:t>video</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able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One network,</a:t>
            </a:r>
          </a:p>
          <a:p>
            <a:pPr algn="l">
              <a:lnSpc>
                <a:spcPct val="115000"/>
              </a:lnSpc>
              <a:spcAft>
                <a:spcPts val="0"/>
              </a:spcAft>
            </a:pPr>
            <a:r>
              <a:rPr sz="1250" b="0">
                <a:solidFill>
                  <a:srgbClr val="0B308E"/>
                </a:solidFill>
                <a:latin typeface="Segoe UI Semibold"/>
              </a:rPr>
              <a:t>not a private one</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South Africa  Transnet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B31 for rail</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Hytera  Sri Lanka</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MCS on 9 lines</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Devices as service</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p6; Hytera showroom briefing L211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02   PRIORITY 6 OF 6  ·  PORT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14</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Port: the case rests on coverage over open water</a:t>
            </a:r>
          </a:p>
        </p:txBody>
      </p:sp>
      <p:pic>
        <p:nvPicPr>
          <p:cNvPr id="10" name="Picture 9" descr="v6_b6694edb9e.jpg"/>
          <p:cNvPicPr>
            <a:picLocks noChangeAspect="1"/>
          </p:cNvPicPr>
          <p:nvPr/>
        </p:nvPicPr>
        <p:blipFill>
          <a:blip r:embed="rId2"/>
          <a:srcRect l="6800" r="6800"/>
          <a:stretch>
            <a:fillRect/>
          </a:stretch>
        </p:blipFill>
        <p:spPr>
          <a:xfrm>
            <a:off x="609600" y="1549400"/>
            <a:ext cx="4876800" cy="3175000"/>
          </a:xfrm>
          <a:prstGeom prst="rect">
            <a:avLst/>
          </a:prstGeom>
        </p:spPr>
      </p:pic>
      <p:sp>
        <p:nvSpPr>
          <p:cNvPr id="11" name="Oval 10"/>
          <p:cNvSpPr/>
          <p:nvPr/>
        </p:nvSpPr>
        <p:spPr>
          <a:xfrm>
            <a:off x="787400" y="1727200"/>
            <a:ext cx="558800" cy="558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hip_white.png"/>
          <p:cNvPicPr>
            <a:picLocks noChangeAspect="1"/>
          </p:cNvPicPr>
          <p:nvPr/>
        </p:nvPicPr>
        <p:blipFill>
          <a:blip r:embed="rId3"/>
          <a:stretch>
            <a:fillRect/>
          </a:stretch>
        </p:blipFill>
        <p:spPr>
          <a:xfrm>
            <a:off x="921512" y="1861312"/>
            <a:ext cx="290576" cy="290576"/>
          </a:xfrm>
          <a:prstGeom prst="rect">
            <a:avLst/>
          </a:prstGeom>
        </p:spPr>
      </p:pic>
      <p:sp>
        <p:nvSpPr>
          <p:cNvPr id="13" name="TextBox 12"/>
          <p:cNvSpPr txBox="1"/>
          <p:nvPr/>
        </p:nvSpPr>
        <p:spPr>
          <a:xfrm>
            <a:off x="609600" y="4775200"/>
            <a:ext cx="4876800" cy="1524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Illustrative imagery</a:t>
            </a:r>
          </a:p>
        </p:txBody>
      </p:sp>
      <p:sp>
        <p:nvSpPr>
          <p:cNvPr id="14" name="TextBox 13"/>
          <p:cNvSpPr txBox="1"/>
          <p:nvPr/>
        </p:nvSpPr>
        <p:spPr>
          <a:xfrm>
            <a:off x="57912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Quay</a:t>
            </a:r>
          </a:p>
        </p:txBody>
      </p:sp>
      <p:sp>
        <p:nvSpPr>
          <p:cNvPr id="15" name="TextBox 14"/>
          <p:cNvSpPr txBox="1"/>
          <p:nvPr/>
        </p:nvSpPr>
        <p:spPr>
          <a:xfrm>
            <a:off x="57912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to open sea on</a:t>
            </a:r>
          </a:p>
          <a:p>
            <a:pPr algn="l">
              <a:lnSpc>
                <a:spcPct val="115000"/>
              </a:lnSpc>
              <a:spcAft>
                <a:spcPts val="0"/>
              </a:spcAft>
            </a:pPr>
            <a:r>
              <a:rPr sz="1200" b="0">
                <a:solidFill>
                  <a:srgbClr val="55607A"/>
                </a:solidFill>
                <a:latin typeface="Segoe UI"/>
              </a:rPr>
              <a:t>one group call</a:t>
            </a:r>
          </a:p>
        </p:txBody>
      </p:sp>
      <p:sp>
        <p:nvSpPr>
          <p:cNvPr id="16" name="TextBox 15"/>
          <p:cNvSpPr txBox="1"/>
          <p:nvPr/>
        </p:nvSpPr>
        <p:spPr>
          <a:xfrm>
            <a:off x="8686800" y="1473200"/>
            <a:ext cx="2794000" cy="635000"/>
          </a:xfrm>
          <a:prstGeom prst="rect">
            <a:avLst/>
          </a:prstGeom>
          <a:noFill/>
        </p:spPr>
        <p:txBody>
          <a:bodyPr wrap="square" lIns="0" rIns="0" tIns="0" bIns="0" anchor="b">
            <a:spAutoFit/>
          </a:bodyPr>
          <a:lstStyle/>
          <a:p>
            <a:pPr algn="l">
              <a:lnSpc>
                <a:spcPct val="120000"/>
              </a:lnSpc>
              <a:spcAft>
                <a:spcPts val="0"/>
              </a:spcAft>
            </a:pPr>
            <a:r>
              <a:rPr sz="3000" b="0">
                <a:solidFill>
                  <a:srgbClr val="0B308E"/>
                </a:solidFill>
                <a:latin typeface="Segoe UI Light"/>
              </a:rPr>
              <a:t>Coastal</a:t>
            </a:r>
          </a:p>
        </p:txBody>
      </p:sp>
      <p:sp>
        <p:nvSpPr>
          <p:cNvPr id="17" name="TextBox 16"/>
          <p:cNvSpPr txBox="1"/>
          <p:nvPr/>
        </p:nvSpPr>
        <p:spPr>
          <a:xfrm>
            <a:off x="8686800" y="2159000"/>
            <a:ext cx="2794000" cy="457200"/>
          </a:xfrm>
          <a:prstGeom prst="rect">
            <a:avLst/>
          </a:prstGeom>
          <a:noFill/>
        </p:spPr>
        <p:txBody>
          <a:bodyPr wrap="square" lIns="0" rIns="0" tIns="0" bIns="0" anchor="t">
            <a:spAutoFit/>
          </a:bodyPr>
          <a:lstStyle/>
          <a:p>
            <a:pPr algn="l">
              <a:lnSpc>
                <a:spcPct val="115000"/>
              </a:lnSpc>
              <a:spcAft>
                <a:spcPts val="0"/>
              </a:spcAft>
            </a:pPr>
            <a:r>
              <a:rPr sz="1200" b="0">
                <a:solidFill>
                  <a:srgbClr val="55607A"/>
                </a:solidFill>
                <a:latin typeface="Segoe UI"/>
              </a:rPr>
              <a:t>sites also serve</a:t>
            </a:r>
          </a:p>
          <a:p>
            <a:pPr algn="l">
              <a:lnSpc>
                <a:spcPct val="115000"/>
              </a:lnSpc>
              <a:spcAft>
                <a:spcPts val="0"/>
              </a:spcAft>
            </a:pPr>
            <a:r>
              <a:rPr sz="1200" b="0">
                <a:solidFill>
                  <a:srgbClr val="55607A"/>
                </a:solidFill>
                <a:latin typeface="Segoe UI"/>
              </a:rPr>
              <a:t>island communities</a:t>
            </a:r>
          </a:p>
        </p:txBody>
      </p:sp>
      <p:cxnSp>
        <p:nvCxnSpPr>
          <p:cNvPr id="18" name="Connector 17"/>
          <p:cNvCxnSpPr/>
          <p:nvPr/>
        </p:nvCxnSpPr>
        <p:spPr>
          <a:xfrm>
            <a:off x="5791200" y="2743200"/>
            <a:ext cx="57912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1200" y="28956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WHAT 450 MHZ DOES</a:t>
            </a:r>
          </a:p>
        </p:txBody>
      </p:sp>
      <p:sp>
        <p:nvSpPr>
          <p:cNvPr id="20" name="Rectangle 19"/>
          <p:cNvSpPr/>
          <p:nvPr/>
        </p:nvSpPr>
        <p:spPr>
          <a:xfrm>
            <a:off x="57912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_navy.png"/>
          <p:cNvPicPr>
            <a:picLocks noChangeAspect="1"/>
          </p:cNvPicPr>
          <p:nvPr/>
        </p:nvPicPr>
        <p:blipFill>
          <a:blip r:embed="rId4"/>
          <a:stretch>
            <a:fillRect/>
          </a:stretch>
        </p:blipFill>
        <p:spPr>
          <a:xfrm>
            <a:off x="5994400" y="3378200"/>
            <a:ext cx="431800" cy="431800"/>
          </a:xfrm>
          <a:prstGeom prst="rect">
            <a:avLst/>
          </a:prstGeom>
        </p:spPr>
      </p:pic>
      <p:sp>
        <p:nvSpPr>
          <p:cNvPr id="22" name="TextBox 21"/>
          <p:cNvSpPr txBox="1"/>
          <p:nvPr/>
        </p:nvSpPr>
        <p:spPr>
          <a:xfrm>
            <a:off x="59944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Quay</a:t>
            </a:r>
          </a:p>
          <a:p>
            <a:pPr algn="l">
              <a:lnSpc>
                <a:spcPct val="115000"/>
              </a:lnSpc>
              <a:spcAft>
                <a:spcPts val="0"/>
              </a:spcAft>
            </a:pPr>
            <a:r>
              <a:rPr sz="1250" b="0">
                <a:solidFill>
                  <a:srgbClr val="0B308E"/>
                </a:solidFill>
                <a:latin typeface="Segoe UI Semibold"/>
              </a:rPr>
              <a:t>dispatch</a:t>
            </a:r>
          </a:p>
        </p:txBody>
      </p:sp>
      <p:sp>
        <p:nvSpPr>
          <p:cNvPr id="23" name="Rectangle 22"/>
          <p:cNvSpPr/>
          <p:nvPr/>
        </p:nvSpPr>
        <p:spPr>
          <a:xfrm>
            <a:off x="77724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ship_navy.png"/>
          <p:cNvPicPr>
            <a:picLocks noChangeAspect="1"/>
          </p:cNvPicPr>
          <p:nvPr/>
        </p:nvPicPr>
        <p:blipFill>
          <a:blip r:embed="rId5"/>
          <a:stretch>
            <a:fillRect/>
          </a:stretch>
        </p:blipFill>
        <p:spPr>
          <a:xfrm>
            <a:off x="7975600" y="3378200"/>
            <a:ext cx="431800" cy="431800"/>
          </a:xfrm>
          <a:prstGeom prst="rect">
            <a:avLst/>
          </a:prstGeom>
        </p:spPr>
      </p:pic>
      <p:sp>
        <p:nvSpPr>
          <p:cNvPr id="25" name="TextBox 24"/>
          <p:cNvSpPr txBox="1"/>
          <p:nvPr/>
        </p:nvSpPr>
        <p:spPr>
          <a:xfrm>
            <a:off x="79756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Ship-to-shore</a:t>
            </a:r>
          </a:p>
          <a:p>
            <a:pPr algn="l">
              <a:lnSpc>
                <a:spcPct val="115000"/>
              </a:lnSpc>
              <a:spcAft>
                <a:spcPts val="0"/>
              </a:spcAft>
            </a:pPr>
            <a:r>
              <a:rPr sz="1250" b="0">
                <a:solidFill>
                  <a:srgbClr val="0B308E"/>
                </a:solidFill>
                <a:latin typeface="Segoe UI Semibold"/>
              </a:rPr>
              <a:t>voice &amp; data</a:t>
            </a:r>
          </a:p>
        </p:txBody>
      </p:sp>
      <p:sp>
        <p:nvSpPr>
          <p:cNvPr id="26" name="Rectangle 25"/>
          <p:cNvSpPr/>
          <p:nvPr/>
        </p:nvSpPr>
        <p:spPr>
          <a:xfrm>
            <a:off x="9753600" y="3175000"/>
            <a:ext cx="1828800" cy="154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waves_navy.png"/>
          <p:cNvPicPr>
            <a:picLocks noChangeAspect="1"/>
          </p:cNvPicPr>
          <p:nvPr/>
        </p:nvPicPr>
        <p:blipFill>
          <a:blip r:embed="rId6"/>
          <a:stretch>
            <a:fillRect/>
          </a:stretch>
        </p:blipFill>
        <p:spPr>
          <a:xfrm>
            <a:off x="9956800" y="3378200"/>
            <a:ext cx="431800" cy="431800"/>
          </a:xfrm>
          <a:prstGeom prst="rect">
            <a:avLst/>
          </a:prstGeom>
        </p:spPr>
      </p:pic>
      <p:sp>
        <p:nvSpPr>
          <p:cNvPr id="28" name="TextBox 27"/>
          <p:cNvSpPr txBox="1"/>
          <p:nvPr/>
        </p:nvSpPr>
        <p:spPr>
          <a:xfrm>
            <a:off x="9956800" y="3987800"/>
            <a:ext cx="1524000" cy="584200"/>
          </a:xfrm>
          <a:prstGeom prst="rect">
            <a:avLst/>
          </a:prstGeom>
          <a:noFill/>
        </p:spPr>
        <p:txBody>
          <a:bodyPr wrap="square" lIns="0" rIns="0" tIns="0" bIns="0" anchor="t">
            <a:spAutoFit/>
          </a:bodyPr>
          <a:lstStyle/>
          <a:p>
            <a:pPr algn="l">
              <a:lnSpc>
                <a:spcPct val="115000"/>
              </a:lnSpc>
              <a:spcAft>
                <a:spcPts val="0"/>
              </a:spcAft>
            </a:pPr>
            <a:r>
              <a:rPr sz="1250" b="0">
                <a:solidFill>
                  <a:srgbClr val="0B308E"/>
                </a:solidFill>
                <a:latin typeface="Segoe UI Semibold"/>
              </a:rPr>
              <a:t>Coast guard</a:t>
            </a:r>
          </a:p>
          <a:p>
            <a:pPr algn="l">
              <a:lnSpc>
                <a:spcPct val="115000"/>
              </a:lnSpc>
              <a:spcAft>
                <a:spcPts val="0"/>
              </a:spcAft>
            </a:pPr>
            <a:r>
              <a:rPr sz="1250" b="0">
                <a:solidFill>
                  <a:srgbClr val="0B308E"/>
                </a:solidFill>
                <a:latin typeface="Segoe UI Semibold"/>
              </a:rPr>
              <a:t>patrols</a:t>
            </a:r>
          </a:p>
        </p:txBody>
      </p:sp>
      <p:sp>
        <p:nvSpPr>
          <p:cNvPr id="29" name="Rectangle 28"/>
          <p:cNvSpPr/>
          <p:nvPr/>
        </p:nvSpPr>
        <p:spPr>
          <a:xfrm>
            <a:off x="609600" y="5029200"/>
            <a:ext cx="4876800" cy="1270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badge-check_navy.png"/>
          <p:cNvPicPr>
            <a:picLocks noChangeAspect="1"/>
          </p:cNvPicPr>
          <p:nvPr/>
        </p:nvPicPr>
        <p:blipFill>
          <a:blip r:embed="rId7"/>
          <a:stretch>
            <a:fillRect/>
          </a:stretch>
        </p:blipFill>
        <p:spPr>
          <a:xfrm>
            <a:off x="812800" y="5207000"/>
            <a:ext cx="304800" cy="304800"/>
          </a:xfrm>
          <a:prstGeom prst="rect">
            <a:avLst/>
          </a:prstGeom>
        </p:spPr>
      </p:pic>
      <p:sp>
        <p:nvSpPr>
          <p:cNvPr id="31" name="TextBox 30"/>
          <p:cNvSpPr txBox="1"/>
          <p:nvPr/>
        </p:nvSpPr>
        <p:spPr>
          <a:xfrm>
            <a:off x="12446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PROOF POINT</a:t>
            </a:r>
          </a:p>
        </p:txBody>
      </p:sp>
      <p:sp>
        <p:nvSpPr>
          <p:cNvPr id="32" name="TextBox 31"/>
          <p:cNvSpPr txBox="1"/>
          <p:nvPr/>
        </p:nvSpPr>
        <p:spPr>
          <a:xfrm>
            <a:off x="812800" y="56388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Precedent</a:t>
            </a:r>
          </a:p>
        </p:txBody>
      </p:sp>
      <p:sp>
        <p:nvSpPr>
          <p:cNvPr id="33" name="TextBox 32"/>
          <p:cNvSpPr txBox="1"/>
          <p:nvPr/>
        </p:nvSpPr>
        <p:spPr>
          <a:xfrm>
            <a:off x="3098800" y="56388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no 450 MHz port yet</a:t>
            </a:r>
          </a:p>
        </p:txBody>
      </p:sp>
      <p:sp>
        <p:nvSpPr>
          <p:cNvPr id="34" name="TextBox 33"/>
          <p:cNvSpPr txBox="1"/>
          <p:nvPr/>
        </p:nvSpPr>
        <p:spPr>
          <a:xfrm>
            <a:off x="812800" y="5943600"/>
            <a:ext cx="22352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Basis</a:t>
            </a:r>
          </a:p>
        </p:txBody>
      </p:sp>
      <p:sp>
        <p:nvSpPr>
          <p:cNvPr id="35" name="TextBox 34"/>
          <p:cNvSpPr txBox="1"/>
          <p:nvPr/>
        </p:nvSpPr>
        <p:spPr>
          <a:xfrm>
            <a:off x="3098800" y="5943600"/>
            <a:ext cx="2286000" cy="279400"/>
          </a:xfrm>
          <a:prstGeom prst="rect">
            <a:avLst/>
          </a:prstGeom>
          <a:noFill/>
        </p:spPr>
        <p:txBody>
          <a:bodyPr wrap="square" lIns="0" rIns="0" tIns="0" bIns="0" anchor="ctr">
            <a:spAutoFit/>
          </a:bodyPr>
          <a:lstStyle/>
          <a:p>
            <a:pPr algn="l">
              <a:lnSpc>
                <a:spcPct val="120000"/>
              </a:lnSpc>
              <a:spcAft>
                <a:spcPts val="0"/>
              </a:spcAft>
            </a:pPr>
            <a:r>
              <a:rPr sz="1200" b="0">
                <a:solidFill>
                  <a:srgbClr val="55607A"/>
                </a:solidFill>
                <a:latin typeface="Segoe UI"/>
              </a:rPr>
              <a:t>low-band reach over sea</a:t>
            </a:r>
          </a:p>
        </p:txBody>
      </p:sp>
      <p:sp>
        <p:nvSpPr>
          <p:cNvPr id="36" name="Rectangle 35"/>
          <p:cNvSpPr/>
          <p:nvPr/>
        </p:nvSpPr>
        <p:spPr>
          <a:xfrm>
            <a:off x="5791200" y="5029200"/>
            <a:ext cx="5791200" cy="1270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hand-coins_green.png"/>
          <p:cNvPicPr>
            <a:picLocks noChangeAspect="1"/>
          </p:cNvPicPr>
          <p:nvPr/>
        </p:nvPicPr>
        <p:blipFill>
          <a:blip r:embed="rId8"/>
          <a:stretch>
            <a:fillRect/>
          </a:stretch>
        </p:blipFill>
        <p:spPr>
          <a:xfrm>
            <a:off x="5994400" y="5207000"/>
            <a:ext cx="304800" cy="304800"/>
          </a:xfrm>
          <a:prstGeom prst="rect">
            <a:avLst/>
          </a:prstGeom>
        </p:spPr>
      </p:pic>
      <p:sp>
        <p:nvSpPr>
          <p:cNvPr id="38" name="TextBox 37"/>
          <p:cNvSpPr txBox="1"/>
          <p:nvPr/>
        </p:nvSpPr>
        <p:spPr>
          <a:xfrm>
            <a:off x="6426200" y="52070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WHAT GLOBE SELLS</a:t>
            </a:r>
          </a:p>
        </p:txBody>
      </p:sp>
      <p:sp>
        <p:nvSpPr>
          <p:cNvPr id="39" name="Rounded Rectangle 38"/>
          <p:cNvSpPr/>
          <p:nvPr/>
        </p:nvSpPr>
        <p:spPr>
          <a:xfrm>
            <a:off x="5994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994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MCX per user</a:t>
            </a:r>
          </a:p>
        </p:txBody>
      </p:sp>
      <p:sp>
        <p:nvSpPr>
          <p:cNvPr id="41" name="Rounded Rectangle 40"/>
          <p:cNvSpPr/>
          <p:nvPr/>
        </p:nvSpPr>
        <p:spPr>
          <a:xfrm>
            <a:off x="78359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78359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Capacity</a:t>
            </a:r>
          </a:p>
        </p:txBody>
      </p:sp>
      <p:sp>
        <p:nvSpPr>
          <p:cNvPr id="43" name="Rounded Rectangle 42"/>
          <p:cNvSpPr/>
          <p:nvPr/>
        </p:nvSpPr>
        <p:spPr>
          <a:xfrm>
            <a:off x="9677400" y="5664200"/>
            <a:ext cx="1701800" cy="431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677400" y="5664200"/>
            <a:ext cx="1701800" cy="431800"/>
          </a:xfrm>
          <a:prstGeom prst="rect">
            <a:avLst/>
          </a:prstGeom>
          <a:noFill/>
        </p:spPr>
        <p:txBody>
          <a:bodyPr wrap="square" lIns="0" rIns="0" tIns="0" bIns="0" anchor="ctr">
            <a:spAutoFit/>
          </a:bodyPr>
          <a:lstStyle/>
          <a:p>
            <a:pPr algn="ctr">
              <a:lnSpc>
                <a:spcPct val="120000"/>
              </a:lnSpc>
              <a:spcAft>
                <a:spcPts val="0"/>
              </a:spcAft>
            </a:pPr>
            <a:r>
              <a:rPr sz="1200" b="0">
                <a:solidFill>
                  <a:srgbClr val="7F9B00"/>
                </a:solidFill>
                <a:latin typeface="Segoe UI Semibold"/>
              </a:rPr>
              <a:t>Coastal coverage</a:t>
            </a:r>
          </a:p>
        </p:txBody>
      </p:sp>
      <p:sp>
        <p:nvSpPr>
          <p:cNvPr id="45" name="TextBox 4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reports (no port deployment listed); Hytera transport and maritime references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03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03</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Reference cases</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is it built, and where does it run today?</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197600" y="3556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477000" y="3733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globe_white.png"/>
          <p:cNvPicPr>
            <a:picLocks noChangeAspect="1"/>
          </p:cNvPicPr>
          <p:nvPr/>
        </p:nvPicPr>
        <p:blipFill>
          <a:blip r:embed="rId4"/>
          <a:stretch>
            <a:fillRect/>
          </a:stretch>
        </p:blipFill>
        <p:spPr>
          <a:xfrm>
            <a:off x="6598920" y="3855720"/>
            <a:ext cx="264160" cy="264160"/>
          </a:xfrm>
          <a:prstGeom prst="rect">
            <a:avLst/>
          </a:prstGeom>
        </p:spPr>
      </p:pic>
      <p:sp>
        <p:nvSpPr>
          <p:cNvPr id="26" name="Oval 25"/>
          <p:cNvSpPr/>
          <p:nvPr/>
        </p:nvSpPr>
        <p:spPr>
          <a:xfrm>
            <a:off x="6824980" y="3691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8" name="TextBox 27"/>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Reference cases</a:t>
            </a:r>
          </a:p>
        </p:txBody>
      </p:sp>
      <p:sp>
        <p:nvSpPr>
          <p:cNvPr id="29" name="Rectangle 28"/>
          <p:cNvSpPr/>
          <p:nvPr/>
        </p:nvSpPr>
        <p:spPr>
          <a:xfrm>
            <a:off x="6197600" y="4572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steel.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HOW IT IS BUILT</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16</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One build serves all six industries; only terminals and apps change</a:t>
            </a:r>
          </a:p>
        </p:txBody>
      </p:sp>
      <p:sp>
        <p:nvSpPr>
          <p:cNvPr id="10" name="Rectangle 9"/>
          <p:cNvSpPr/>
          <p:nvPr/>
        </p:nvSpPr>
        <p:spPr>
          <a:xfrm>
            <a:off x="6096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martphone_white.png"/>
          <p:cNvPicPr>
            <a:picLocks noChangeAspect="1"/>
          </p:cNvPicPr>
          <p:nvPr/>
        </p:nvPicPr>
        <p:blipFill>
          <a:blip r:embed="rId2"/>
          <a:stretch>
            <a:fillRect/>
          </a:stretch>
        </p:blipFill>
        <p:spPr>
          <a:xfrm>
            <a:off x="812800" y="1663700"/>
            <a:ext cx="279400" cy="279400"/>
          </a:xfrm>
          <a:prstGeom prst="rect">
            <a:avLst/>
          </a:prstGeom>
        </p:spPr>
      </p:pic>
      <p:sp>
        <p:nvSpPr>
          <p:cNvPr id="12" name="TextBox 11"/>
          <p:cNvSpPr txBox="1"/>
          <p:nvPr/>
        </p:nvSpPr>
        <p:spPr>
          <a:xfrm>
            <a:off x="12192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Terminal</a:t>
            </a:r>
          </a:p>
        </p:txBody>
      </p:sp>
      <p:sp>
        <p:nvSpPr>
          <p:cNvPr id="13" name="Rectangle 12"/>
          <p:cNvSpPr/>
          <p:nvPr/>
        </p:nvSpPr>
        <p:spPr>
          <a:xfrm>
            <a:off x="6096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128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 name="Picture 14" descr="a_d6e477498b.png"/>
          <p:cNvPicPr>
            <a:picLocks noChangeAspect="1"/>
          </p:cNvPicPr>
          <p:nvPr/>
        </p:nvPicPr>
        <p:blipFill>
          <a:blip r:embed="rId3"/>
          <a:stretch>
            <a:fillRect/>
          </a:stretch>
        </p:blipFill>
        <p:spPr>
          <a:xfrm>
            <a:off x="1496591" y="2235200"/>
            <a:ext cx="1680416" cy="1346200"/>
          </a:xfrm>
          <a:prstGeom prst="rect">
            <a:avLst/>
          </a:prstGeom>
        </p:spPr>
      </p:pic>
      <p:sp>
        <p:nvSpPr>
          <p:cNvPr id="16" name="Rectangle 15"/>
          <p:cNvSpPr/>
          <p:nvPr/>
        </p:nvSpPr>
        <p:spPr>
          <a:xfrm>
            <a:off x="8128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906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PNC660 450M</a:t>
            </a:r>
          </a:p>
        </p:txBody>
      </p:sp>
      <p:sp>
        <p:nvSpPr>
          <p:cNvPr id="18" name="TextBox 17"/>
          <p:cNvSpPr txBox="1"/>
          <p:nvPr/>
        </p:nvSpPr>
        <p:spPr>
          <a:xfrm>
            <a:off x="24384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handheld</a:t>
            </a:r>
          </a:p>
        </p:txBody>
      </p:sp>
      <p:sp>
        <p:nvSpPr>
          <p:cNvPr id="19" name="Rectangle 18"/>
          <p:cNvSpPr/>
          <p:nvPr/>
        </p:nvSpPr>
        <p:spPr>
          <a:xfrm>
            <a:off x="8128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906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MNC650 450M</a:t>
            </a:r>
          </a:p>
        </p:txBody>
      </p:sp>
      <p:sp>
        <p:nvSpPr>
          <p:cNvPr id="21" name="TextBox 20"/>
          <p:cNvSpPr txBox="1"/>
          <p:nvPr/>
        </p:nvSpPr>
        <p:spPr>
          <a:xfrm>
            <a:off x="24384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vehicle radio</a:t>
            </a:r>
          </a:p>
        </p:txBody>
      </p:sp>
      <p:sp>
        <p:nvSpPr>
          <p:cNvPr id="22" name="Rectangle 21"/>
          <p:cNvSpPr/>
          <p:nvPr/>
        </p:nvSpPr>
        <p:spPr>
          <a:xfrm>
            <a:off x="8128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906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P70 5G+450M</a:t>
            </a:r>
          </a:p>
        </p:txBody>
      </p:sp>
      <p:sp>
        <p:nvSpPr>
          <p:cNvPr id="24" name="TextBox 23"/>
          <p:cNvSpPr txBox="1"/>
          <p:nvPr/>
        </p:nvSpPr>
        <p:spPr>
          <a:xfrm>
            <a:off x="24384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2026 Q4</a:t>
            </a:r>
          </a:p>
        </p:txBody>
      </p:sp>
      <p:sp>
        <p:nvSpPr>
          <p:cNvPr id="25" name="Rectangle 24"/>
          <p:cNvSpPr/>
          <p:nvPr/>
        </p:nvSpPr>
        <p:spPr>
          <a:xfrm>
            <a:off x="8128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906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PNC660Ex</a:t>
            </a:r>
          </a:p>
        </p:txBody>
      </p:sp>
      <p:sp>
        <p:nvSpPr>
          <p:cNvPr id="27" name="TextBox 26"/>
          <p:cNvSpPr txBox="1"/>
          <p:nvPr/>
        </p:nvSpPr>
        <p:spPr>
          <a:xfrm>
            <a:off x="24384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ATEX, 2027 Q2</a:t>
            </a:r>
          </a:p>
        </p:txBody>
      </p:sp>
      <p:pic>
        <p:nvPicPr>
          <p:cNvPr id="28" name="Picture 27" descr="arrow-right_steel.png"/>
          <p:cNvPicPr>
            <a:picLocks noChangeAspect="1"/>
          </p:cNvPicPr>
          <p:nvPr/>
        </p:nvPicPr>
        <p:blipFill>
          <a:blip r:embed="rId4"/>
          <a:stretch>
            <a:fillRect/>
          </a:stretch>
        </p:blipFill>
        <p:spPr>
          <a:xfrm>
            <a:off x="4089400" y="3302000"/>
            <a:ext cx="254000" cy="254000"/>
          </a:xfrm>
          <a:prstGeom prst="rect">
            <a:avLst/>
          </a:prstGeom>
        </p:spPr>
      </p:pic>
      <p:sp>
        <p:nvSpPr>
          <p:cNvPr id="29" name="Rectangle 28"/>
          <p:cNvSpPr/>
          <p:nvPr/>
        </p:nvSpPr>
        <p:spPr>
          <a:xfrm>
            <a:off x="43688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radio-tower_white.png"/>
          <p:cNvPicPr>
            <a:picLocks noChangeAspect="1"/>
          </p:cNvPicPr>
          <p:nvPr/>
        </p:nvPicPr>
        <p:blipFill>
          <a:blip r:embed="rId5"/>
          <a:stretch>
            <a:fillRect/>
          </a:stretch>
        </p:blipFill>
        <p:spPr>
          <a:xfrm>
            <a:off x="4572000" y="1663700"/>
            <a:ext cx="279400" cy="279400"/>
          </a:xfrm>
          <a:prstGeom prst="rect">
            <a:avLst/>
          </a:prstGeom>
        </p:spPr>
      </p:pic>
      <p:sp>
        <p:nvSpPr>
          <p:cNvPr id="31" name="TextBox 30"/>
          <p:cNvSpPr txBox="1"/>
          <p:nvPr/>
        </p:nvSpPr>
        <p:spPr>
          <a:xfrm>
            <a:off x="49784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Network</a:t>
            </a:r>
          </a:p>
        </p:txBody>
      </p:sp>
      <p:sp>
        <p:nvSpPr>
          <p:cNvPr id="32" name="Rectangle 31"/>
          <p:cNvSpPr/>
          <p:nvPr/>
        </p:nvSpPr>
        <p:spPr>
          <a:xfrm>
            <a:off x="43688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45720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4" name="Picture 33" descr="a_c40f559451.png"/>
          <p:cNvPicPr>
            <a:picLocks noChangeAspect="1"/>
          </p:cNvPicPr>
          <p:nvPr/>
        </p:nvPicPr>
        <p:blipFill>
          <a:blip r:embed="rId6"/>
          <a:stretch>
            <a:fillRect/>
          </a:stretch>
        </p:blipFill>
        <p:spPr>
          <a:xfrm>
            <a:off x="4984966" y="2235200"/>
            <a:ext cx="698066" cy="1092200"/>
          </a:xfrm>
          <a:prstGeom prst="rect">
            <a:avLst/>
          </a:prstGeom>
        </p:spPr>
      </p:pic>
      <p:sp>
        <p:nvSpPr>
          <p:cNvPr id="35" name="TextBox 34"/>
          <p:cNvSpPr txBox="1"/>
          <p:nvPr/>
        </p:nvSpPr>
        <p:spPr>
          <a:xfrm>
            <a:off x="4572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Fixed site  ·  RRU5800M</a:t>
            </a:r>
          </a:p>
        </p:txBody>
      </p:sp>
      <p:pic>
        <p:nvPicPr>
          <p:cNvPr id="36" name="Picture 35" descr="a_81c7398aec.png"/>
          <p:cNvPicPr>
            <a:picLocks noChangeAspect="1"/>
          </p:cNvPicPr>
          <p:nvPr/>
        </p:nvPicPr>
        <p:blipFill>
          <a:blip r:embed="rId7"/>
          <a:stretch>
            <a:fillRect/>
          </a:stretch>
        </p:blipFill>
        <p:spPr>
          <a:xfrm>
            <a:off x="6452325" y="2235200"/>
            <a:ext cx="811348" cy="1092199"/>
          </a:xfrm>
          <a:prstGeom prst="rect">
            <a:avLst/>
          </a:prstGeom>
        </p:spPr>
      </p:pic>
      <p:sp>
        <p:nvSpPr>
          <p:cNvPr id="37" name="TextBox 36"/>
          <p:cNvSpPr txBox="1"/>
          <p:nvPr/>
        </p:nvSpPr>
        <p:spPr>
          <a:xfrm>
            <a:off x="6096000" y="3378200"/>
            <a:ext cx="1524000" cy="203200"/>
          </a:xfrm>
          <a:prstGeom prst="rect">
            <a:avLst/>
          </a:prstGeom>
          <a:noFill/>
        </p:spPr>
        <p:txBody>
          <a:bodyPr wrap="square" lIns="0" rIns="0" tIns="0" bIns="0" anchor="ctr">
            <a:spAutoFit/>
          </a:bodyPr>
          <a:lstStyle/>
          <a:p>
            <a:pPr algn="ctr">
              <a:lnSpc>
                <a:spcPct val="120000"/>
              </a:lnSpc>
              <a:spcAft>
                <a:spcPts val="0"/>
              </a:spcAft>
            </a:pPr>
            <a:r>
              <a:rPr sz="900" b="0">
                <a:solidFill>
                  <a:srgbClr val="55607A"/>
                </a:solidFill>
                <a:latin typeface="Segoe UI Semibold"/>
              </a:rPr>
              <a:t>Mobile site  ·  iBS3800</a:t>
            </a:r>
          </a:p>
        </p:txBody>
      </p:sp>
      <p:cxnSp>
        <p:nvCxnSpPr>
          <p:cNvPr id="38" name="Connector 37"/>
          <p:cNvCxnSpPr/>
          <p:nvPr/>
        </p:nvCxnSpPr>
        <p:spPr>
          <a:xfrm>
            <a:off x="6096000" y="2311400"/>
            <a:ext cx="0" cy="119380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45720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7498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RRU5800M</a:t>
            </a:r>
          </a:p>
        </p:txBody>
      </p:sp>
      <p:sp>
        <p:nvSpPr>
          <p:cNvPr id="41" name="TextBox 40"/>
          <p:cNvSpPr txBox="1"/>
          <p:nvPr/>
        </p:nvSpPr>
        <p:spPr>
          <a:xfrm>
            <a:off x="61976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on tower, Band 31</a:t>
            </a:r>
          </a:p>
        </p:txBody>
      </p:sp>
      <p:sp>
        <p:nvSpPr>
          <p:cNvPr id="42" name="Rectangle 41"/>
          <p:cNvSpPr/>
          <p:nvPr/>
        </p:nvSpPr>
        <p:spPr>
          <a:xfrm>
            <a:off x="45720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7498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BBU5801M</a:t>
            </a:r>
          </a:p>
        </p:txBody>
      </p:sp>
      <p:sp>
        <p:nvSpPr>
          <p:cNvPr id="44" name="TextBox 43"/>
          <p:cNvSpPr txBox="1"/>
          <p:nvPr/>
        </p:nvSpPr>
        <p:spPr>
          <a:xfrm>
            <a:off x="61976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baseband in shelter</a:t>
            </a:r>
          </a:p>
        </p:txBody>
      </p:sp>
      <p:sp>
        <p:nvSpPr>
          <p:cNvPr id="45" name="Rectangle 44"/>
          <p:cNvSpPr/>
          <p:nvPr/>
        </p:nvSpPr>
        <p:spPr>
          <a:xfrm>
            <a:off x="45720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7498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iBS3800</a:t>
            </a:r>
          </a:p>
        </p:txBody>
      </p:sp>
      <p:sp>
        <p:nvSpPr>
          <p:cNvPr id="47" name="TextBox 46"/>
          <p:cNvSpPr txBox="1"/>
          <p:nvPr/>
        </p:nvSpPr>
        <p:spPr>
          <a:xfrm>
            <a:off x="61976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mobile, Band 31</a:t>
            </a:r>
          </a:p>
        </p:txBody>
      </p:sp>
      <p:sp>
        <p:nvSpPr>
          <p:cNvPr id="48" name="Rectangle 47"/>
          <p:cNvSpPr/>
          <p:nvPr/>
        </p:nvSpPr>
        <p:spPr>
          <a:xfrm>
            <a:off x="45720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47498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Core</a:t>
            </a:r>
          </a:p>
        </p:txBody>
      </p:sp>
      <p:sp>
        <p:nvSpPr>
          <p:cNvPr id="50" name="TextBox 49"/>
          <p:cNvSpPr txBox="1"/>
          <p:nvPr/>
        </p:nvSpPr>
        <p:spPr>
          <a:xfrm>
            <a:off x="61976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private or shared</a:t>
            </a:r>
          </a:p>
        </p:txBody>
      </p:sp>
      <p:pic>
        <p:nvPicPr>
          <p:cNvPr id="51" name="Picture 50" descr="arrow-right_steel.png"/>
          <p:cNvPicPr>
            <a:picLocks noChangeAspect="1"/>
          </p:cNvPicPr>
          <p:nvPr/>
        </p:nvPicPr>
        <p:blipFill>
          <a:blip r:embed="rId4"/>
          <a:stretch>
            <a:fillRect/>
          </a:stretch>
        </p:blipFill>
        <p:spPr>
          <a:xfrm>
            <a:off x="7848600" y="3302000"/>
            <a:ext cx="254000" cy="254000"/>
          </a:xfrm>
          <a:prstGeom prst="rect">
            <a:avLst/>
          </a:prstGeom>
        </p:spPr>
      </p:pic>
      <p:sp>
        <p:nvSpPr>
          <p:cNvPr id="52" name="Rectangle 51"/>
          <p:cNvSpPr/>
          <p:nvPr/>
        </p:nvSpPr>
        <p:spPr>
          <a:xfrm>
            <a:off x="8128000" y="1549400"/>
            <a:ext cx="3454400" cy="508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3" name="Picture 52" descr="layers_white.png"/>
          <p:cNvPicPr>
            <a:picLocks noChangeAspect="1"/>
          </p:cNvPicPr>
          <p:nvPr/>
        </p:nvPicPr>
        <p:blipFill>
          <a:blip r:embed="rId8"/>
          <a:stretch>
            <a:fillRect/>
          </a:stretch>
        </p:blipFill>
        <p:spPr>
          <a:xfrm>
            <a:off x="8331200" y="1663700"/>
            <a:ext cx="279400" cy="279400"/>
          </a:xfrm>
          <a:prstGeom prst="rect">
            <a:avLst/>
          </a:prstGeom>
        </p:spPr>
      </p:pic>
      <p:sp>
        <p:nvSpPr>
          <p:cNvPr id="54" name="TextBox 53"/>
          <p:cNvSpPr txBox="1"/>
          <p:nvPr/>
        </p:nvSpPr>
        <p:spPr>
          <a:xfrm>
            <a:off x="8737600" y="1549400"/>
            <a:ext cx="2540000" cy="508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Application</a:t>
            </a:r>
          </a:p>
        </p:txBody>
      </p:sp>
      <p:sp>
        <p:nvSpPr>
          <p:cNvPr id="55" name="Rectangle 54"/>
          <p:cNvSpPr/>
          <p:nvPr/>
        </p:nvSpPr>
        <p:spPr>
          <a:xfrm>
            <a:off x="8128000" y="2057400"/>
            <a:ext cx="3454400" cy="2819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8331200" y="2184400"/>
            <a:ext cx="3048000" cy="1447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7" name="Picture 56" descr="a_5f06b6905c.png"/>
          <p:cNvPicPr>
            <a:picLocks noChangeAspect="1"/>
          </p:cNvPicPr>
          <p:nvPr/>
        </p:nvPicPr>
        <p:blipFill>
          <a:blip r:embed="rId9"/>
          <a:stretch>
            <a:fillRect/>
          </a:stretch>
        </p:blipFill>
        <p:spPr>
          <a:xfrm>
            <a:off x="8407400" y="2251964"/>
            <a:ext cx="2895600" cy="1312672"/>
          </a:xfrm>
          <a:prstGeom prst="rect">
            <a:avLst/>
          </a:prstGeom>
        </p:spPr>
      </p:pic>
      <p:sp>
        <p:nvSpPr>
          <p:cNvPr id="58" name="Rectangle 57"/>
          <p:cNvSpPr/>
          <p:nvPr/>
        </p:nvSpPr>
        <p:spPr>
          <a:xfrm>
            <a:off x="8331200" y="38354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509000" y="37338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MCS</a:t>
            </a:r>
          </a:p>
        </p:txBody>
      </p:sp>
      <p:sp>
        <p:nvSpPr>
          <p:cNvPr id="60" name="TextBox 59"/>
          <p:cNvSpPr txBox="1"/>
          <p:nvPr/>
        </p:nvSpPr>
        <p:spPr>
          <a:xfrm>
            <a:off x="9956800" y="37338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PTT · video · data</a:t>
            </a:r>
          </a:p>
        </p:txBody>
      </p:sp>
      <p:sp>
        <p:nvSpPr>
          <p:cNvPr id="61" name="Rectangle 60"/>
          <p:cNvSpPr/>
          <p:nvPr/>
        </p:nvSpPr>
        <p:spPr>
          <a:xfrm>
            <a:off x="8331200" y="41148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8509000" y="40132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Dispatch</a:t>
            </a:r>
          </a:p>
        </p:txBody>
      </p:sp>
      <p:sp>
        <p:nvSpPr>
          <p:cNvPr id="63" name="TextBox 62"/>
          <p:cNvSpPr txBox="1"/>
          <p:nvPr/>
        </p:nvSpPr>
        <p:spPr>
          <a:xfrm>
            <a:off x="9956800" y="40132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voice, video, GIS</a:t>
            </a:r>
          </a:p>
        </p:txBody>
      </p:sp>
      <p:sp>
        <p:nvSpPr>
          <p:cNvPr id="64" name="Rectangle 63"/>
          <p:cNvSpPr/>
          <p:nvPr/>
        </p:nvSpPr>
        <p:spPr>
          <a:xfrm>
            <a:off x="8331200" y="43942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8509000" y="42926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Recording</a:t>
            </a:r>
          </a:p>
        </p:txBody>
      </p:sp>
      <p:sp>
        <p:nvSpPr>
          <p:cNvPr id="66" name="TextBox 65"/>
          <p:cNvSpPr txBox="1"/>
          <p:nvPr/>
        </p:nvSpPr>
        <p:spPr>
          <a:xfrm>
            <a:off x="9956800" y="42926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playback</a:t>
            </a:r>
          </a:p>
        </p:txBody>
      </p:sp>
      <p:sp>
        <p:nvSpPr>
          <p:cNvPr id="67" name="Rectangle 66"/>
          <p:cNvSpPr/>
          <p:nvPr/>
        </p:nvSpPr>
        <p:spPr>
          <a:xfrm>
            <a:off x="8331200" y="4673600"/>
            <a:ext cx="762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8509000" y="4572000"/>
            <a:ext cx="1422400" cy="279400"/>
          </a:xfrm>
          <a:prstGeom prst="rect">
            <a:avLst/>
          </a:prstGeom>
          <a:noFill/>
        </p:spPr>
        <p:txBody>
          <a:bodyPr wrap="square" lIns="0" rIns="0" tIns="0" bIns="0" anchor="ctr">
            <a:spAutoFit/>
          </a:bodyPr>
          <a:lstStyle/>
          <a:p>
            <a:pPr algn="l">
              <a:lnSpc>
                <a:spcPct val="120000"/>
              </a:lnSpc>
              <a:spcAft>
                <a:spcPts val="0"/>
              </a:spcAft>
            </a:pPr>
            <a:r>
              <a:rPr sz="1200" b="0">
                <a:solidFill>
                  <a:srgbClr val="0B308E"/>
                </a:solidFill>
                <a:latin typeface="Segoe UI Semibold"/>
              </a:rPr>
              <a:t>Device mgmt</a:t>
            </a:r>
          </a:p>
        </p:txBody>
      </p:sp>
      <p:sp>
        <p:nvSpPr>
          <p:cNvPr id="69" name="TextBox 68"/>
          <p:cNvSpPr txBox="1"/>
          <p:nvPr/>
        </p:nvSpPr>
        <p:spPr>
          <a:xfrm>
            <a:off x="9956800" y="4572000"/>
            <a:ext cx="1422400" cy="279400"/>
          </a:xfrm>
          <a:prstGeom prst="rect">
            <a:avLst/>
          </a:prstGeom>
          <a:noFill/>
        </p:spPr>
        <p:txBody>
          <a:bodyPr wrap="square" lIns="0" rIns="0" tIns="0" bIns="0" anchor="ctr">
            <a:spAutoFit/>
          </a:bodyPr>
          <a:lstStyle/>
          <a:p>
            <a:pPr algn="l">
              <a:lnSpc>
                <a:spcPct val="120000"/>
              </a:lnSpc>
              <a:spcAft>
                <a:spcPts val="0"/>
              </a:spcAft>
            </a:pPr>
            <a:r>
              <a:rPr sz="1100" b="0">
                <a:solidFill>
                  <a:srgbClr val="55607A"/>
                </a:solidFill>
                <a:latin typeface="Segoe UI"/>
              </a:rPr>
              <a:t>zero-touch</a:t>
            </a:r>
          </a:p>
        </p:txBody>
      </p:sp>
      <p:sp>
        <p:nvSpPr>
          <p:cNvPr id="70" name="Rectangle 69"/>
          <p:cNvSpPr/>
          <p:nvPr/>
        </p:nvSpPr>
        <p:spPr>
          <a:xfrm>
            <a:off x="609600" y="5080000"/>
            <a:ext cx="5334000" cy="12192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1" name="Picture 70" descr="check_green.png"/>
          <p:cNvPicPr>
            <a:picLocks noChangeAspect="1"/>
          </p:cNvPicPr>
          <p:nvPr/>
        </p:nvPicPr>
        <p:blipFill>
          <a:blip r:embed="rId10"/>
          <a:stretch>
            <a:fillRect/>
          </a:stretch>
        </p:blipFill>
        <p:spPr>
          <a:xfrm>
            <a:off x="812800" y="5257800"/>
            <a:ext cx="304800" cy="304800"/>
          </a:xfrm>
          <a:prstGeom prst="rect">
            <a:avLst/>
          </a:prstGeom>
        </p:spPr>
      </p:pic>
      <p:sp>
        <p:nvSpPr>
          <p:cNvPr id="72" name="TextBox 71"/>
          <p:cNvSpPr txBox="1"/>
          <p:nvPr/>
        </p:nvSpPr>
        <p:spPr>
          <a:xfrm>
            <a:off x="12446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MCS</a:t>
            </a:r>
          </a:p>
        </p:txBody>
      </p:sp>
      <p:sp>
        <p:nvSpPr>
          <p:cNvPr id="73" name="TextBox 72"/>
          <p:cNvSpPr txBox="1"/>
          <p:nvPr/>
        </p:nvSpPr>
        <p:spPr>
          <a:xfrm>
            <a:off x="8128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 3GPP standard: runs on any LTE or 5G radio</a:t>
            </a:r>
          </a:p>
        </p:txBody>
      </p:sp>
      <p:sp>
        <p:nvSpPr>
          <p:cNvPr id="74" name="Rectangle 73"/>
          <p:cNvSpPr/>
          <p:nvPr/>
        </p:nvSpPr>
        <p:spPr>
          <a:xfrm>
            <a:off x="6248400" y="5080000"/>
            <a:ext cx="5334000" cy="1219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5" name="Picture 74" descr="badge-check_navy.png"/>
          <p:cNvPicPr>
            <a:picLocks noChangeAspect="1"/>
          </p:cNvPicPr>
          <p:nvPr/>
        </p:nvPicPr>
        <p:blipFill>
          <a:blip r:embed="rId11"/>
          <a:stretch>
            <a:fillRect/>
          </a:stretch>
        </p:blipFill>
        <p:spPr>
          <a:xfrm>
            <a:off x="6451600" y="5257800"/>
            <a:ext cx="304800" cy="304800"/>
          </a:xfrm>
          <a:prstGeom prst="rect">
            <a:avLst/>
          </a:prstGeom>
        </p:spPr>
      </p:pic>
      <p:sp>
        <p:nvSpPr>
          <p:cNvPr id="76" name="TextBox 75"/>
          <p:cNvSpPr txBox="1"/>
          <p:nvPr/>
        </p:nvSpPr>
        <p:spPr>
          <a:xfrm>
            <a:off x="6883400" y="5257800"/>
            <a:ext cx="7620000" cy="3048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a:t>
            </a:r>
          </a:p>
        </p:txBody>
      </p:sp>
      <p:sp>
        <p:nvSpPr>
          <p:cNvPr id="77" name="TextBox 76"/>
          <p:cNvSpPr txBox="1"/>
          <p:nvPr/>
        </p:nvSpPr>
        <p:spPr>
          <a:xfrm>
            <a:off x="6451600" y="5664200"/>
            <a:ext cx="4927600" cy="508000"/>
          </a:xfrm>
          <a:prstGeom prst="rect">
            <a:avLst/>
          </a:prstGeom>
          <a:noFill/>
        </p:spPr>
        <p:txBody>
          <a:bodyPr wrap="square" lIns="0" rIns="0" tIns="0" bIns="0" anchor="t">
            <a:spAutoFit/>
          </a:bodyPr>
          <a:lstStyle/>
          <a:p>
            <a:pPr algn="l">
              <a:lnSpc>
                <a:spcPct val="120000"/>
              </a:lnSpc>
              <a:spcAft>
                <a:spcPts val="0"/>
              </a:spcAft>
            </a:pPr>
            <a:r>
              <a:rPr sz="1250" b="0">
                <a:solidFill>
                  <a:srgbClr val="16213E"/>
                </a:solidFill>
                <a:latin typeface="Segoe UI"/>
              </a:rPr>
              <a:t>Alliance-listed device and eNB supplier; 450connect whitelisted</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450M Roadmap; RRU5800M Product Description V3.5.01 §6.5; iBS3800 Product Description V3.0; MNC650 EU DoC (B31/B72); HyTalk MC V6.1; Alliance Equipment Report (May 2025) p5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ECOSYSTEM AND COMPATIBILITY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17</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A 450 MHz Alliance member, built to plug into the network Globe runs</a:t>
            </a:r>
          </a:p>
        </p:txBody>
      </p:sp>
      <p:sp>
        <p:nvSpPr>
          <p:cNvPr id="10" name="TextBox 9"/>
          <p:cNvSpPr txBox="1"/>
          <p:nvPr/>
        </p:nvSpPr>
        <p:spPr>
          <a:xfrm>
            <a:off x="609600" y="1549400"/>
            <a:ext cx="4826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IN THE 450 MHZ ECOSYSTEM</a:t>
            </a:r>
          </a:p>
        </p:txBody>
      </p:sp>
      <p:sp>
        <p:nvSpPr>
          <p:cNvPr id="11" name="Rectangle 10"/>
          <p:cNvSpPr/>
          <p:nvPr/>
        </p:nvSpPr>
        <p:spPr>
          <a:xfrm>
            <a:off x="609600" y="1828800"/>
            <a:ext cx="4876800" cy="6604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12800" y="1943100"/>
            <a:ext cx="431800" cy="4318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badge-check_white.png"/>
          <p:cNvPicPr>
            <a:picLocks noChangeAspect="1"/>
          </p:cNvPicPr>
          <p:nvPr/>
        </p:nvPicPr>
        <p:blipFill>
          <a:blip r:embed="rId2"/>
          <a:stretch>
            <a:fillRect/>
          </a:stretch>
        </p:blipFill>
        <p:spPr>
          <a:xfrm>
            <a:off x="916432" y="2046732"/>
            <a:ext cx="224536" cy="224536"/>
          </a:xfrm>
          <a:prstGeom prst="rect">
            <a:avLst/>
          </a:prstGeom>
        </p:spPr>
      </p:pic>
      <p:sp>
        <p:nvSpPr>
          <p:cNvPr id="14" name="TextBox 13"/>
          <p:cNvSpPr txBox="1"/>
          <p:nvPr/>
        </p:nvSpPr>
        <p:spPr>
          <a:xfrm>
            <a:off x="1422400" y="19050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450 MHz Alliance member</a:t>
            </a:r>
          </a:p>
        </p:txBody>
      </p:sp>
      <p:sp>
        <p:nvSpPr>
          <p:cNvPr id="15" name="TextBox 14"/>
          <p:cNvSpPr txBox="1"/>
          <p:nvPr/>
        </p:nvSpPr>
        <p:spPr>
          <a:xfrm>
            <a:off x="1422400" y="21717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Joined August 2024</a:t>
            </a:r>
          </a:p>
        </p:txBody>
      </p:sp>
      <p:sp>
        <p:nvSpPr>
          <p:cNvPr id="16" name="Rectangle 15"/>
          <p:cNvSpPr/>
          <p:nvPr/>
        </p:nvSpPr>
        <p:spPr>
          <a:xfrm>
            <a:off x="609600" y="25654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12800" y="26797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smartphone_white.png"/>
          <p:cNvPicPr>
            <a:picLocks noChangeAspect="1"/>
          </p:cNvPicPr>
          <p:nvPr/>
        </p:nvPicPr>
        <p:blipFill>
          <a:blip r:embed="rId3"/>
          <a:stretch>
            <a:fillRect/>
          </a:stretch>
        </p:blipFill>
        <p:spPr>
          <a:xfrm>
            <a:off x="916432" y="2783332"/>
            <a:ext cx="224536" cy="224536"/>
          </a:xfrm>
          <a:prstGeom prst="rect">
            <a:avLst/>
          </a:prstGeom>
        </p:spPr>
      </p:pic>
      <p:sp>
        <p:nvSpPr>
          <p:cNvPr id="19" name="TextBox 18"/>
          <p:cNvSpPr txBox="1"/>
          <p:nvPr/>
        </p:nvSpPr>
        <p:spPr>
          <a:xfrm>
            <a:off x="1422400" y="26416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Alliance device supplier list</a:t>
            </a:r>
          </a:p>
        </p:txBody>
      </p:sp>
      <p:sp>
        <p:nvSpPr>
          <p:cNvPr id="20" name="TextBox 19"/>
          <p:cNvSpPr txBox="1"/>
          <p:nvPr/>
        </p:nvSpPr>
        <p:spPr>
          <a:xfrm>
            <a:off x="1422400" y="29083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Equipment Report 2025</a:t>
            </a:r>
          </a:p>
        </p:txBody>
      </p:sp>
      <p:sp>
        <p:nvSpPr>
          <p:cNvPr id="21" name="Rectangle 20"/>
          <p:cNvSpPr/>
          <p:nvPr/>
        </p:nvSpPr>
        <p:spPr>
          <a:xfrm>
            <a:off x="609600" y="33020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12800" y="34163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radio-tower_white.png"/>
          <p:cNvPicPr>
            <a:picLocks noChangeAspect="1"/>
          </p:cNvPicPr>
          <p:nvPr/>
        </p:nvPicPr>
        <p:blipFill>
          <a:blip r:embed="rId4"/>
          <a:stretch>
            <a:fillRect/>
          </a:stretch>
        </p:blipFill>
        <p:spPr>
          <a:xfrm>
            <a:off x="916432" y="3519932"/>
            <a:ext cx="224536" cy="224536"/>
          </a:xfrm>
          <a:prstGeom prst="rect">
            <a:avLst/>
          </a:prstGeom>
        </p:spPr>
      </p:pic>
      <p:sp>
        <p:nvSpPr>
          <p:cNvPr id="24" name="TextBox 23"/>
          <p:cNvSpPr txBox="1"/>
          <p:nvPr/>
        </p:nvSpPr>
        <p:spPr>
          <a:xfrm>
            <a:off x="1422400" y="33782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Alliance macro eNB supplier list</a:t>
            </a:r>
          </a:p>
        </p:txBody>
      </p:sp>
      <p:sp>
        <p:nvSpPr>
          <p:cNvPr id="25" name="TextBox 24"/>
          <p:cNvSpPr txBox="1"/>
          <p:nvPr/>
        </p:nvSpPr>
        <p:spPr>
          <a:xfrm>
            <a:off x="1422400" y="36449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Equipment Report 2025</a:t>
            </a:r>
          </a:p>
        </p:txBody>
      </p:sp>
      <p:sp>
        <p:nvSpPr>
          <p:cNvPr id="26" name="Rectangle 25"/>
          <p:cNvSpPr/>
          <p:nvPr/>
        </p:nvSpPr>
        <p:spPr>
          <a:xfrm>
            <a:off x="609600" y="40386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812800" y="41529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8" name="Picture 27" descr="check_white.png"/>
          <p:cNvPicPr>
            <a:picLocks noChangeAspect="1"/>
          </p:cNvPicPr>
          <p:nvPr/>
        </p:nvPicPr>
        <p:blipFill>
          <a:blip r:embed="rId5"/>
          <a:stretch>
            <a:fillRect/>
          </a:stretch>
        </p:blipFill>
        <p:spPr>
          <a:xfrm>
            <a:off x="916432" y="4256532"/>
            <a:ext cx="224536" cy="224536"/>
          </a:xfrm>
          <a:prstGeom prst="rect">
            <a:avLst/>
          </a:prstGeom>
        </p:spPr>
      </p:pic>
      <p:sp>
        <p:nvSpPr>
          <p:cNvPr id="29" name="TextBox 28"/>
          <p:cNvSpPr txBox="1"/>
          <p:nvPr/>
        </p:nvSpPr>
        <p:spPr>
          <a:xfrm>
            <a:off x="1422400" y="41148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Operator-accepted terminal</a:t>
            </a:r>
          </a:p>
        </p:txBody>
      </p:sp>
      <p:sp>
        <p:nvSpPr>
          <p:cNvPr id="30" name="TextBox 29"/>
          <p:cNvSpPr txBox="1"/>
          <p:nvPr/>
        </p:nvSpPr>
        <p:spPr>
          <a:xfrm>
            <a:off x="1422400" y="43815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450connect whitelist, Germany</a:t>
            </a:r>
          </a:p>
        </p:txBody>
      </p:sp>
      <p:sp>
        <p:nvSpPr>
          <p:cNvPr id="31" name="Rectangle 30"/>
          <p:cNvSpPr/>
          <p:nvPr/>
        </p:nvSpPr>
        <p:spPr>
          <a:xfrm>
            <a:off x="609600" y="4775200"/>
            <a:ext cx="4876800" cy="660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12800" y="4889500"/>
            <a:ext cx="431800" cy="4318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3" name="Picture 32" descr="layers_white.png"/>
          <p:cNvPicPr>
            <a:picLocks noChangeAspect="1"/>
          </p:cNvPicPr>
          <p:nvPr/>
        </p:nvPicPr>
        <p:blipFill>
          <a:blip r:embed="rId6"/>
          <a:stretch>
            <a:fillRect/>
          </a:stretch>
        </p:blipFill>
        <p:spPr>
          <a:xfrm>
            <a:off x="916432" y="4993132"/>
            <a:ext cx="224536" cy="224536"/>
          </a:xfrm>
          <a:prstGeom prst="rect">
            <a:avLst/>
          </a:prstGeom>
        </p:spPr>
      </p:pic>
      <p:sp>
        <p:nvSpPr>
          <p:cNvPr id="34" name="TextBox 33"/>
          <p:cNvSpPr txBox="1"/>
          <p:nvPr/>
        </p:nvSpPr>
        <p:spPr>
          <a:xfrm>
            <a:off x="1422400" y="4851400"/>
            <a:ext cx="3937000" cy="2794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Band 31 and Band 72 portfolio</a:t>
            </a:r>
          </a:p>
        </p:txBody>
      </p:sp>
      <p:sp>
        <p:nvSpPr>
          <p:cNvPr id="35" name="TextBox 34"/>
          <p:cNvSpPr txBox="1"/>
          <p:nvPr/>
        </p:nvSpPr>
        <p:spPr>
          <a:xfrm>
            <a:off x="1422400" y="5118100"/>
            <a:ext cx="3937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Terminals, eNB and MCS platform</a:t>
            </a:r>
          </a:p>
        </p:txBody>
      </p:sp>
      <p:sp>
        <p:nvSpPr>
          <p:cNvPr id="36" name="TextBox 35"/>
          <p:cNvSpPr txBox="1"/>
          <p:nvPr/>
        </p:nvSpPr>
        <p:spPr>
          <a:xfrm>
            <a:off x="5791200" y="1549400"/>
            <a:ext cx="5791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COMPATIBLE BY DESIGN  ·  3GPP STANDARD INTERFACES</a:t>
            </a:r>
          </a:p>
        </p:txBody>
      </p:sp>
      <p:sp>
        <p:nvSpPr>
          <p:cNvPr id="37" name="Rectangle 36"/>
          <p:cNvSpPr/>
          <p:nvPr/>
        </p:nvSpPr>
        <p:spPr>
          <a:xfrm>
            <a:off x="5791200" y="18288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8" name="Picture 37" descr="smartphone_white.png"/>
          <p:cNvPicPr>
            <a:picLocks noChangeAspect="1"/>
          </p:cNvPicPr>
          <p:nvPr/>
        </p:nvPicPr>
        <p:blipFill>
          <a:blip r:embed="rId3"/>
          <a:stretch>
            <a:fillRect/>
          </a:stretch>
        </p:blipFill>
        <p:spPr>
          <a:xfrm>
            <a:off x="5943600" y="2057400"/>
            <a:ext cx="304800" cy="304800"/>
          </a:xfrm>
          <a:prstGeom prst="rect">
            <a:avLst/>
          </a:prstGeom>
        </p:spPr>
      </p:pic>
      <p:sp>
        <p:nvSpPr>
          <p:cNvPr id="39" name="TextBox 38"/>
          <p:cNvSpPr txBox="1"/>
          <p:nvPr/>
        </p:nvSpPr>
        <p:spPr>
          <a:xfrm>
            <a:off x="6350000" y="18288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terminals</a:t>
            </a:r>
          </a:p>
        </p:txBody>
      </p:sp>
      <p:cxnSp>
        <p:nvCxnSpPr>
          <p:cNvPr id="40" name="Connector 39"/>
          <p:cNvCxnSpPr/>
          <p:nvPr/>
        </p:nvCxnSpPr>
        <p:spPr>
          <a:xfrm>
            <a:off x="7924800" y="22098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178800" y="20701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178800" y="20701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LTE Uu</a:t>
            </a:r>
          </a:p>
        </p:txBody>
      </p:sp>
      <p:sp>
        <p:nvSpPr>
          <p:cNvPr id="43" name="Rectangle 42"/>
          <p:cNvSpPr/>
          <p:nvPr/>
        </p:nvSpPr>
        <p:spPr>
          <a:xfrm>
            <a:off x="5791200" y="27432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4" name="Picture 43" descr="radio-tower_white.png"/>
          <p:cNvPicPr>
            <a:picLocks noChangeAspect="1"/>
          </p:cNvPicPr>
          <p:nvPr/>
        </p:nvPicPr>
        <p:blipFill>
          <a:blip r:embed="rId4"/>
          <a:stretch>
            <a:fillRect/>
          </a:stretch>
        </p:blipFill>
        <p:spPr>
          <a:xfrm>
            <a:off x="5943600" y="2971800"/>
            <a:ext cx="304800" cy="304800"/>
          </a:xfrm>
          <a:prstGeom prst="rect">
            <a:avLst/>
          </a:prstGeom>
        </p:spPr>
      </p:pic>
      <p:sp>
        <p:nvSpPr>
          <p:cNvPr id="45" name="TextBox 44"/>
          <p:cNvSpPr txBox="1"/>
          <p:nvPr/>
        </p:nvSpPr>
        <p:spPr>
          <a:xfrm>
            <a:off x="6350000" y="27432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450 MHz eNB</a:t>
            </a:r>
          </a:p>
        </p:txBody>
      </p:sp>
      <p:cxnSp>
        <p:nvCxnSpPr>
          <p:cNvPr id="46" name="Connector 45"/>
          <p:cNvCxnSpPr/>
          <p:nvPr/>
        </p:nvCxnSpPr>
        <p:spPr>
          <a:xfrm>
            <a:off x="7924800" y="31242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8178800" y="29845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178800" y="29845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S1</a:t>
            </a:r>
          </a:p>
        </p:txBody>
      </p:sp>
      <p:sp>
        <p:nvSpPr>
          <p:cNvPr id="49" name="Rectangle 48"/>
          <p:cNvSpPr/>
          <p:nvPr/>
        </p:nvSpPr>
        <p:spPr>
          <a:xfrm>
            <a:off x="5791200" y="3657600"/>
            <a:ext cx="2133600" cy="762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0" name="Picture 49" descr="layers_white.png"/>
          <p:cNvPicPr>
            <a:picLocks noChangeAspect="1"/>
          </p:cNvPicPr>
          <p:nvPr/>
        </p:nvPicPr>
        <p:blipFill>
          <a:blip r:embed="rId6"/>
          <a:stretch>
            <a:fillRect/>
          </a:stretch>
        </p:blipFill>
        <p:spPr>
          <a:xfrm>
            <a:off x="5943600" y="3886200"/>
            <a:ext cx="304800" cy="304800"/>
          </a:xfrm>
          <a:prstGeom prst="rect">
            <a:avLst/>
          </a:prstGeom>
        </p:spPr>
      </p:pic>
      <p:sp>
        <p:nvSpPr>
          <p:cNvPr id="51" name="TextBox 50"/>
          <p:cNvSpPr txBox="1"/>
          <p:nvPr/>
        </p:nvSpPr>
        <p:spPr>
          <a:xfrm>
            <a:off x="6350000" y="3657600"/>
            <a:ext cx="1498600" cy="762000"/>
          </a:xfrm>
          <a:prstGeom prst="rect">
            <a:avLst/>
          </a:prstGeom>
          <a:noFill/>
        </p:spPr>
        <p:txBody>
          <a:bodyPr wrap="square" lIns="0" rIns="0" tIns="0" bIns="0" anchor="ctr">
            <a:spAutoFit/>
          </a:bodyPr>
          <a:lstStyle/>
          <a:p>
            <a:pPr algn="l">
              <a:lnSpc>
                <a:spcPct val="110000"/>
              </a:lnSpc>
              <a:spcAft>
                <a:spcPts val="0"/>
              </a:spcAft>
            </a:pPr>
            <a:r>
              <a:rPr sz="1150" b="0">
                <a:solidFill>
                  <a:srgbClr val="FFFFFF"/>
                </a:solidFill>
                <a:latin typeface="Segoe UI Semibold"/>
              </a:rPr>
              <a:t>Hytera MCS platform</a:t>
            </a:r>
          </a:p>
        </p:txBody>
      </p:sp>
      <p:cxnSp>
        <p:nvCxnSpPr>
          <p:cNvPr id="52" name="Connector 51"/>
          <p:cNvCxnSpPr/>
          <p:nvPr/>
        </p:nvCxnSpPr>
        <p:spPr>
          <a:xfrm>
            <a:off x="7924800" y="4038600"/>
            <a:ext cx="1524000" cy="0"/>
          </a:xfrm>
          <a:prstGeom prst="line">
            <a:avLst/>
          </a:prstGeom>
          <a:ln w="15875">
            <a:solidFill>
              <a:srgbClr val="3A5BA8"/>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178800" y="3898900"/>
            <a:ext cx="1016000" cy="279400"/>
          </a:xfrm>
          <a:prstGeom prst="round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178800" y="3898900"/>
            <a:ext cx="1016000" cy="279400"/>
          </a:xfrm>
          <a:prstGeom prst="rect">
            <a:avLst/>
          </a:prstGeom>
          <a:noFill/>
        </p:spPr>
        <p:txBody>
          <a:bodyPr wrap="square" lIns="0" rIns="0" tIns="0" bIns="0" anchor="ctr">
            <a:spAutoFit/>
          </a:bodyPr>
          <a:lstStyle/>
          <a:p>
            <a:pPr algn="ctr">
              <a:lnSpc>
                <a:spcPct val="120000"/>
              </a:lnSpc>
              <a:spcAft>
                <a:spcPts val="0"/>
              </a:spcAft>
            </a:pPr>
            <a:r>
              <a:rPr sz="950" b="0">
                <a:solidFill>
                  <a:srgbClr val="0B308E"/>
                </a:solidFill>
                <a:latin typeface="Segoe UI Semibold"/>
              </a:rPr>
              <a:t>SIP / MCX</a:t>
            </a:r>
          </a:p>
        </p:txBody>
      </p:sp>
      <p:sp>
        <p:nvSpPr>
          <p:cNvPr id="55" name="Rectangle 54"/>
          <p:cNvSpPr/>
          <p:nvPr/>
        </p:nvSpPr>
        <p:spPr>
          <a:xfrm>
            <a:off x="9448800" y="1828800"/>
            <a:ext cx="2133600" cy="2590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9448800" y="1828800"/>
            <a:ext cx="2133600" cy="508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7" name="Picture 56" descr="server_green.png"/>
          <p:cNvPicPr>
            <a:picLocks noChangeAspect="1"/>
          </p:cNvPicPr>
          <p:nvPr/>
        </p:nvPicPr>
        <p:blipFill>
          <a:blip r:embed="rId7"/>
          <a:stretch>
            <a:fillRect/>
          </a:stretch>
        </p:blipFill>
        <p:spPr>
          <a:xfrm>
            <a:off x="9652000" y="2057400"/>
            <a:ext cx="381000" cy="381000"/>
          </a:xfrm>
          <a:prstGeom prst="rect">
            <a:avLst/>
          </a:prstGeom>
        </p:spPr>
      </p:pic>
      <p:sp>
        <p:nvSpPr>
          <p:cNvPr id="58" name="TextBox 57"/>
          <p:cNvSpPr txBox="1"/>
          <p:nvPr/>
        </p:nvSpPr>
        <p:spPr>
          <a:xfrm>
            <a:off x="9652000" y="2514600"/>
            <a:ext cx="1778000" cy="508000"/>
          </a:xfrm>
          <a:prstGeom prst="rect">
            <a:avLst/>
          </a:prstGeom>
          <a:noFill/>
        </p:spPr>
        <p:txBody>
          <a:bodyPr wrap="square" lIns="0" rIns="0" tIns="0" bIns="0" anchor="t">
            <a:spAutoFit/>
          </a:bodyPr>
          <a:lstStyle/>
          <a:p>
            <a:pPr algn="l">
              <a:lnSpc>
                <a:spcPct val="110000"/>
              </a:lnSpc>
              <a:spcAft>
                <a:spcPts val="0"/>
              </a:spcAft>
            </a:pPr>
            <a:r>
              <a:rPr sz="1300" b="0">
                <a:solidFill>
                  <a:srgbClr val="0B308E"/>
                </a:solidFill>
                <a:latin typeface="Segoe UI Semibold"/>
              </a:rPr>
              <a:t>Globe’s existing core</a:t>
            </a:r>
          </a:p>
        </p:txBody>
      </p:sp>
      <p:sp>
        <p:nvSpPr>
          <p:cNvPr id="59" name="TextBox 58"/>
          <p:cNvSpPr txBox="1"/>
          <p:nvPr/>
        </p:nvSpPr>
        <p:spPr>
          <a:xfrm>
            <a:off x="9652000" y="3022600"/>
            <a:ext cx="1778000" cy="2286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EPC / 5GC from</a:t>
            </a:r>
          </a:p>
        </p:txBody>
      </p:sp>
      <p:pic>
        <p:nvPicPr>
          <p:cNvPr id="60" name="Picture 59" descr="check_green.png"/>
          <p:cNvPicPr>
            <a:picLocks noChangeAspect="1"/>
          </p:cNvPicPr>
          <p:nvPr/>
        </p:nvPicPr>
        <p:blipFill>
          <a:blip r:embed="rId8"/>
          <a:stretch>
            <a:fillRect/>
          </a:stretch>
        </p:blipFill>
        <p:spPr>
          <a:xfrm>
            <a:off x="9652000" y="3327400"/>
            <a:ext cx="152400" cy="152400"/>
          </a:xfrm>
          <a:prstGeom prst="rect">
            <a:avLst/>
          </a:prstGeom>
        </p:spPr>
      </p:pic>
      <p:sp>
        <p:nvSpPr>
          <p:cNvPr id="61" name="TextBox 60"/>
          <p:cNvSpPr txBox="1"/>
          <p:nvPr/>
        </p:nvSpPr>
        <p:spPr>
          <a:xfrm>
            <a:off x="9880600" y="3276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Huawei</a:t>
            </a:r>
          </a:p>
        </p:txBody>
      </p:sp>
      <p:pic>
        <p:nvPicPr>
          <p:cNvPr id="62" name="Picture 61" descr="check_green.png"/>
          <p:cNvPicPr>
            <a:picLocks noChangeAspect="1"/>
          </p:cNvPicPr>
          <p:nvPr/>
        </p:nvPicPr>
        <p:blipFill>
          <a:blip r:embed="rId8"/>
          <a:stretch>
            <a:fillRect/>
          </a:stretch>
        </p:blipFill>
        <p:spPr>
          <a:xfrm>
            <a:off x="9652000" y="3581400"/>
            <a:ext cx="152400" cy="152400"/>
          </a:xfrm>
          <a:prstGeom prst="rect">
            <a:avLst/>
          </a:prstGeom>
        </p:spPr>
      </p:pic>
      <p:sp>
        <p:nvSpPr>
          <p:cNvPr id="63" name="TextBox 62"/>
          <p:cNvSpPr txBox="1"/>
          <p:nvPr/>
        </p:nvSpPr>
        <p:spPr>
          <a:xfrm>
            <a:off x="9880600" y="3530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ZTE</a:t>
            </a:r>
          </a:p>
        </p:txBody>
      </p:sp>
      <p:pic>
        <p:nvPicPr>
          <p:cNvPr id="64" name="Picture 63" descr="check_green.png"/>
          <p:cNvPicPr>
            <a:picLocks noChangeAspect="1"/>
          </p:cNvPicPr>
          <p:nvPr/>
        </p:nvPicPr>
        <p:blipFill>
          <a:blip r:embed="rId8"/>
          <a:stretch>
            <a:fillRect/>
          </a:stretch>
        </p:blipFill>
        <p:spPr>
          <a:xfrm>
            <a:off x="9652000" y="3835400"/>
            <a:ext cx="152400" cy="152400"/>
          </a:xfrm>
          <a:prstGeom prst="rect">
            <a:avLst/>
          </a:prstGeom>
        </p:spPr>
      </p:pic>
      <p:sp>
        <p:nvSpPr>
          <p:cNvPr id="65" name="TextBox 64"/>
          <p:cNvSpPr txBox="1"/>
          <p:nvPr/>
        </p:nvSpPr>
        <p:spPr>
          <a:xfrm>
            <a:off x="9880600" y="3784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Nokia</a:t>
            </a:r>
          </a:p>
        </p:txBody>
      </p:sp>
      <p:pic>
        <p:nvPicPr>
          <p:cNvPr id="66" name="Picture 65" descr="check_green.png"/>
          <p:cNvPicPr>
            <a:picLocks noChangeAspect="1"/>
          </p:cNvPicPr>
          <p:nvPr/>
        </p:nvPicPr>
        <p:blipFill>
          <a:blip r:embed="rId8"/>
          <a:stretch>
            <a:fillRect/>
          </a:stretch>
        </p:blipFill>
        <p:spPr>
          <a:xfrm>
            <a:off x="9652000" y="4089400"/>
            <a:ext cx="152400" cy="152400"/>
          </a:xfrm>
          <a:prstGeom prst="rect">
            <a:avLst/>
          </a:prstGeom>
        </p:spPr>
      </p:pic>
      <p:sp>
        <p:nvSpPr>
          <p:cNvPr id="67" name="TextBox 66"/>
          <p:cNvSpPr txBox="1"/>
          <p:nvPr/>
        </p:nvSpPr>
        <p:spPr>
          <a:xfrm>
            <a:off x="9880600" y="4038600"/>
            <a:ext cx="1524000" cy="254000"/>
          </a:xfrm>
          <a:prstGeom prst="rect">
            <a:avLst/>
          </a:prstGeom>
          <a:noFill/>
        </p:spPr>
        <p:txBody>
          <a:bodyPr wrap="square" lIns="0" rIns="0" tIns="0" bIns="0" anchor="ctr">
            <a:spAutoFit/>
          </a:bodyPr>
          <a:lstStyle/>
          <a:p>
            <a:pPr algn="l">
              <a:lnSpc>
                <a:spcPct val="120000"/>
              </a:lnSpc>
              <a:spcAft>
                <a:spcPts val="0"/>
              </a:spcAft>
            </a:pPr>
            <a:r>
              <a:rPr sz="1150" b="0">
                <a:solidFill>
                  <a:srgbClr val="16213E"/>
                </a:solidFill>
                <a:latin typeface="Segoe UI Semibold"/>
              </a:rPr>
              <a:t>Ericsson</a:t>
            </a:r>
          </a:p>
        </p:txBody>
      </p:sp>
      <p:sp>
        <p:nvSpPr>
          <p:cNvPr id="68" name="Rectangle 67"/>
          <p:cNvSpPr/>
          <p:nvPr/>
        </p:nvSpPr>
        <p:spPr>
          <a:xfrm>
            <a:off x="5791200" y="4597400"/>
            <a:ext cx="5791200" cy="8382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9" name="Picture 68" descr="network_navy.png"/>
          <p:cNvPicPr>
            <a:picLocks noChangeAspect="1"/>
          </p:cNvPicPr>
          <p:nvPr/>
        </p:nvPicPr>
        <p:blipFill>
          <a:blip r:embed="rId9"/>
          <a:stretch>
            <a:fillRect/>
          </a:stretch>
        </p:blipFill>
        <p:spPr>
          <a:xfrm>
            <a:off x="5994400" y="4826000"/>
            <a:ext cx="381000" cy="381000"/>
          </a:xfrm>
          <a:prstGeom prst="rect">
            <a:avLst/>
          </a:prstGeom>
        </p:spPr>
      </p:pic>
      <p:sp>
        <p:nvSpPr>
          <p:cNvPr id="70" name="TextBox 69"/>
          <p:cNvSpPr txBox="1"/>
          <p:nvPr/>
        </p:nvSpPr>
        <p:spPr>
          <a:xfrm>
            <a:off x="6527800" y="4673600"/>
            <a:ext cx="4876800" cy="381000"/>
          </a:xfrm>
          <a:prstGeom prst="rect">
            <a:avLst/>
          </a:prstGeom>
          <a:noFill/>
        </p:spPr>
        <p:txBody>
          <a:bodyPr wrap="square" lIns="0" rIns="0" tIns="0" bIns="0" anchor="ctr">
            <a:spAutoFit/>
          </a:bodyPr>
          <a:lstStyle/>
          <a:p>
            <a:pPr algn="l">
              <a:lnSpc>
                <a:spcPct val="120000"/>
              </a:lnSpc>
              <a:spcAft>
                <a:spcPts val="0"/>
              </a:spcAft>
            </a:pPr>
            <a:r>
              <a:rPr sz="1300" b="0">
                <a:solidFill>
                  <a:srgbClr val="0B308E"/>
                </a:solidFill>
                <a:latin typeface="Segoe UI Semibold"/>
              </a:rPr>
              <a:t>Multi-vendor by standard</a:t>
            </a:r>
          </a:p>
        </p:txBody>
      </p:sp>
      <p:sp>
        <p:nvSpPr>
          <p:cNvPr id="71" name="TextBox 70"/>
          <p:cNvSpPr txBox="1"/>
          <p:nvPr/>
        </p:nvSpPr>
        <p:spPr>
          <a:xfrm>
            <a:off x="6527800" y="5003800"/>
            <a:ext cx="4876800" cy="381000"/>
          </a:xfrm>
          <a:prstGeom prst="rect">
            <a:avLst/>
          </a:prstGeom>
          <a:noFill/>
        </p:spPr>
        <p:txBody>
          <a:bodyPr wrap="square" lIns="0" rIns="0" tIns="0" bIns="0" anchor="ctr">
            <a:spAutoFit/>
          </a:bodyPr>
          <a:lstStyle/>
          <a:p>
            <a:pPr algn="l">
              <a:lnSpc>
                <a:spcPct val="115000"/>
              </a:lnSpc>
              <a:spcAft>
                <a:spcPts val="0"/>
              </a:spcAft>
            </a:pPr>
            <a:r>
              <a:rPr sz="1050" b="0">
                <a:solidFill>
                  <a:srgbClr val="55607A"/>
                </a:solidFill>
                <a:latin typeface="Segoe UI"/>
              </a:rPr>
              <a:t>The Alliance’s eNB list itself spans Ericsson, Huawei, Hytera, Nokia and ZTE.</a:t>
            </a:r>
          </a:p>
        </p:txBody>
      </p:sp>
      <p:sp>
        <p:nvSpPr>
          <p:cNvPr id="72" name="Rectangle 71"/>
          <p:cNvSpPr/>
          <p:nvPr/>
        </p:nvSpPr>
        <p:spPr>
          <a:xfrm>
            <a:off x="609600" y="57404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73" name="Picture 72" descr="handshake_navy.png"/>
          <p:cNvPicPr>
            <a:picLocks noChangeAspect="1"/>
          </p:cNvPicPr>
          <p:nvPr/>
        </p:nvPicPr>
        <p:blipFill>
          <a:blip r:embed="rId10"/>
          <a:stretch>
            <a:fillRect/>
          </a:stretch>
        </p:blipFill>
        <p:spPr>
          <a:xfrm>
            <a:off x="812800" y="5867400"/>
            <a:ext cx="254000" cy="254000"/>
          </a:xfrm>
          <a:prstGeom prst="rect">
            <a:avLst/>
          </a:prstGeom>
        </p:spPr>
      </p:pic>
      <p:sp>
        <p:nvSpPr>
          <p:cNvPr id="74" name="TextBox 73"/>
          <p:cNvSpPr txBox="1"/>
          <p:nvPr/>
        </p:nvSpPr>
        <p:spPr>
          <a:xfrm>
            <a:off x="1219200" y="57404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add Hytera radio and terminals without replacing the core you run today. Interoperability is verified per project.</a:t>
            </a:r>
          </a:p>
        </p:txBody>
      </p:sp>
      <p:sp>
        <p:nvSpPr>
          <p:cNvPr id="75" name="TextBox 7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news release (Aug 2024); 450 MHz Alliance, Equipment Report (May 2025) p5 §4.1-4.2; 450connect whitelist; 3GPP TS 36.300 / 36.413 / 23.280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  ·  GERMANY</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18</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450connect: one nationwide 450 MHz network, shared by Germany’s utilities</a:t>
            </a:r>
          </a:p>
        </p:txBody>
      </p:sp>
      <p:sp>
        <p:nvSpPr>
          <p:cNvPr id="10" name="Rectangle 9"/>
          <p:cNvSpPr/>
          <p:nvPr/>
        </p:nvSpPr>
        <p:spPr>
          <a:xfrm>
            <a:off x="609600" y="1549400"/>
            <a:ext cx="3429000" cy="40640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a_3d268c2bc1.png"/>
          <p:cNvPicPr>
            <a:picLocks noChangeAspect="1"/>
          </p:cNvPicPr>
          <p:nvPr/>
        </p:nvPicPr>
        <p:blipFill>
          <a:blip r:embed="rId2"/>
          <a:stretch>
            <a:fillRect/>
          </a:stretch>
        </p:blipFill>
        <p:spPr>
          <a:xfrm>
            <a:off x="1498600" y="1969507"/>
            <a:ext cx="2540000" cy="3426984"/>
          </a:xfrm>
          <a:prstGeom prst="rect">
            <a:avLst/>
          </a:prstGeom>
        </p:spPr>
      </p:pic>
      <p:sp>
        <p:nvSpPr>
          <p:cNvPr id="12" name="TextBox 11"/>
          <p:cNvSpPr txBox="1"/>
          <p:nvPr/>
        </p:nvSpPr>
        <p:spPr>
          <a:xfrm>
            <a:off x="889000" y="1828800"/>
            <a:ext cx="2794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8CC63F"/>
                </a:solidFill>
                <a:latin typeface="Segoe UI Semibold"/>
              </a:rPr>
              <a:t>COVERAGE</a:t>
            </a:r>
          </a:p>
        </p:txBody>
      </p:sp>
      <p:sp>
        <p:nvSpPr>
          <p:cNvPr id="13" name="TextBox 12"/>
          <p:cNvSpPr txBox="1"/>
          <p:nvPr/>
        </p:nvSpPr>
        <p:spPr>
          <a:xfrm>
            <a:off x="863600" y="2489200"/>
            <a:ext cx="3048000" cy="1016000"/>
          </a:xfrm>
          <a:prstGeom prst="rect">
            <a:avLst/>
          </a:prstGeom>
          <a:noFill/>
        </p:spPr>
        <p:txBody>
          <a:bodyPr wrap="square" lIns="0" rIns="0" tIns="0" bIns="0" anchor="ctr">
            <a:spAutoFit/>
          </a:bodyPr>
          <a:lstStyle/>
          <a:p>
            <a:pPr algn="l">
              <a:lnSpc>
                <a:spcPct val="120000"/>
              </a:lnSpc>
              <a:spcAft>
                <a:spcPts val="0"/>
              </a:spcAft>
            </a:pPr>
            <a:r>
              <a:rPr sz="6000" b="0">
                <a:solidFill>
                  <a:srgbClr val="FFFFFF"/>
                </a:solidFill>
                <a:latin typeface="Segoe UI Light"/>
              </a:rPr>
              <a:t>90%+</a:t>
            </a:r>
          </a:p>
        </p:txBody>
      </p:sp>
      <p:sp>
        <p:nvSpPr>
          <p:cNvPr id="14" name="TextBox 13"/>
          <p:cNvSpPr txBox="1"/>
          <p:nvPr/>
        </p:nvSpPr>
        <p:spPr>
          <a:xfrm>
            <a:off x="889000" y="3505200"/>
            <a:ext cx="2921000" cy="508000"/>
          </a:xfrm>
          <a:prstGeom prst="rect">
            <a:avLst/>
          </a:prstGeom>
          <a:noFill/>
        </p:spPr>
        <p:txBody>
          <a:bodyPr wrap="square" lIns="0" rIns="0" tIns="0" bIns="0" anchor="t">
            <a:spAutoFit/>
          </a:bodyPr>
          <a:lstStyle/>
          <a:p>
            <a:pPr algn="l">
              <a:lnSpc>
                <a:spcPct val="120000"/>
              </a:lnSpc>
              <a:spcAft>
                <a:spcPts val="0"/>
              </a:spcAft>
            </a:pPr>
            <a:r>
              <a:rPr sz="1250" b="0">
                <a:solidFill>
                  <a:srgbClr val="DCE5F3"/>
                </a:solidFill>
                <a:latin typeface="Segoe UI"/>
              </a:rPr>
              <a:t>of Germany’s area by Q4 2025,</a:t>
            </a:r>
          </a:p>
          <a:p>
            <a:pPr algn="l">
              <a:lnSpc>
                <a:spcPct val="120000"/>
              </a:lnSpc>
              <a:spcAft>
                <a:spcPts val="0"/>
              </a:spcAft>
            </a:pPr>
            <a:r>
              <a:rPr sz="1250" b="0">
                <a:solidFill>
                  <a:srgbClr val="DCE5F3"/>
                </a:solidFill>
                <a:latin typeface="Segoe UI"/>
              </a:rPr>
              <a:t>up from 30% in Q1 2025</a:t>
            </a:r>
          </a:p>
        </p:txBody>
      </p:sp>
      <p:sp>
        <p:nvSpPr>
          <p:cNvPr id="15" name="Rounded Rectangle 14"/>
          <p:cNvSpPr/>
          <p:nvPr/>
        </p:nvSpPr>
        <p:spPr>
          <a:xfrm>
            <a:off x="889000" y="5105400"/>
            <a:ext cx="1625600" cy="304800"/>
          </a:xfrm>
          <a:prstGeom prst="round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89000" y="5105400"/>
            <a:ext cx="1625600" cy="304800"/>
          </a:xfrm>
          <a:prstGeom prst="rect">
            <a:avLst/>
          </a:prstGeom>
          <a:noFill/>
        </p:spPr>
        <p:txBody>
          <a:bodyPr wrap="square" lIns="0" rIns="0" tIns="0" bIns="0" anchor="ctr">
            <a:spAutoFit/>
          </a:bodyPr>
          <a:lstStyle/>
          <a:p>
            <a:pPr algn="ctr">
              <a:lnSpc>
                <a:spcPct val="120000"/>
              </a:lnSpc>
              <a:spcAft>
                <a:spcPts val="0"/>
              </a:spcAft>
            </a:pPr>
            <a:r>
              <a:rPr sz="1000" b="0">
                <a:solidFill>
                  <a:srgbClr val="0B308E"/>
                </a:solidFill>
                <a:latin typeface="Segoe UI Semibold"/>
              </a:rPr>
              <a:t>B72 · 2×4.74 MHz</a:t>
            </a:r>
          </a:p>
        </p:txBody>
      </p:sp>
      <p:sp>
        <p:nvSpPr>
          <p:cNvPr id="17" name="Rounded Rectangle 16"/>
          <p:cNvSpPr/>
          <p:nvPr/>
        </p:nvSpPr>
        <p:spPr>
          <a:xfrm>
            <a:off x="2616200" y="5105400"/>
            <a:ext cx="1168400" cy="304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616200" y="5105400"/>
            <a:ext cx="1168400" cy="304800"/>
          </a:xfrm>
          <a:prstGeom prst="rect">
            <a:avLst/>
          </a:prstGeom>
          <a:noFill/>
        </p:spPr>
        <p:txBody>
          <a:bodyPr wrap="square" lIns="0" rIns="0" tIns="0" bIns="0" anchor="ctr">
            <a:spAutoFit/>
          </a:bodyPr>
          <a:lstStyle/>
          <a:p>
            <a:pPr algn="ctr">
              <a:lnSpc>
                <a:spcPct val="120000"/>
              </a:lnSpc>
              <a:spcAft>
                <a:spcPts val="0"/>
              </a:spcAft>
            </a:pPr>
            <a:r>
              <a:rPr sz="1000" b="0">
                <a:solidFill>
                  <a:srgbClr val="0B308E"/>
                </a:solidFill>
                <a:latin typeface="Segoe UI Semibold"/>
              </a:rPr>
              <a:t>To 2040</a:t>
            </a:r>
          </a:p>
        </p:txBody>
      </p:sp>
      <p:sp>
        <p:nvSpPr>
          <p:cNvPr id="19" name="Rectangle 18"/>
          <p:cNvSpPr/>
          <p:nvPr/>
        </p:nvSpPr>
        <p:spPr>
          <a:xfrm>
            <a:off x="4343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4546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radio-tower_white.png"/>
          <p:cNvPicPr>
            <a:picLocks noChangeAspect="1"/>
          </p:cNvPicPr>
          <p:nvPr/>
        </p:nvPicPr>
        <p:blipFill>
          <a:blip r:embed="rId3"/>
          <a:stretch>
            <a:fillRect/>
          </a:stretch>
        </p:blipFill>
        <p:spPr>
          <a:xfrm>
            <a:off x="4656328" y="1900427"/>
            <a:ext cx="237744" cy="237744"/>
          </a:xfrm>
          <a:prstGeom prst="rect">
            <a:avLst/>
          </a:prstGeom>
        </p:spPr>
      </p:pic>
      <p:sp>
        <p:nvSpPr>
          <p:cNvPr id="22" name="TextBox 21"/>
          <p:cNvSpPr txBox="1"/>
          <p:nvPr/>
        </p:nvSpPr>
        <p:spPr>
          <a:xfrm>
            <a:off x="5156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1,000+</a:t>
            </a:r>
          </a:p>
        </p:txBody>
      </p:sp>
      <p:sp>
        <p:nvSpPr>
          <p:cNvPr id="23" name="TextBox 22"/>
          <p:cNvSpPr txBox="1"/>
          <p:nvPr/>
        </p:nvSpPr>
        <p:spPr>
          <a:xfrm>
            <a:off x="5156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sites live (Oct 2025), ~1,600 planned</a:t>
            </a:r>
          </a:p>
        </p:txBody>
      </p:sp>
      <p:sp>
        <p:nvSpPr>
          <p:cNvPr id="24" name="Rectangle 23"/>
          <p:cNvSpPr/>
          <p:nvPr/>
        </p:nvSpPr>
        <p:spPr>
          <a:xfrm>
            <a:off x="8026400" y="15494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8229600" y="17907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6" name="Picture 25" descr="cpu_white.png"/>
          <p:cNvPicPr>
            <a:picLocks noChangeAspect="1"/>
          </p:cNvPicPr>
          <p:nvPr/>
        </p:nvPicPr>
        <p:blipFill>
          <a:blip r:embed="rId4"/>
          <a:stretch>
            <a:fillRect/>
          </a:stretch>
        </p:blipFill>
        <p:spPr>
          <a:xfrm>
            <a:off x="8339328" y="1900427"/>
            <a:ext cx="237744" cy="237744"/>
          </a:xfrm>
          <a:prstGeom prst="rect">
            <a:avLst/>
          </a:prstGeom>
        </p:spPr>
      </p:pic>
      <p:sp>
        <p:nvSpPr>
          <p:cNvPr id="27" name="TextBox 26"/>
          <p:cNvSpPr txBox="1"/>
          <p:nvPr/>
        </p:nvSpPr>
        <p:spPr>
          <a:xfrm>
            <a:off x="8839200" y="16510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10,000+</a:t>
            </a:r>
          </a:p>
        </p:txBody>
      </p:sp>
      <p:sp>
        <p:nvSpPr>
          <p:cNvPr id="28" name="TextBox 27"/>
          <p:cNvSpPr txBox="1"/>
          <p:nvPr/>
        </p:nvSpPr>
        <p:spPr>
          <a:xfrm>
            <a:off x="8839200" y="20574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substations connected (Feb 2026)</a:t>
            </a:r>
          </a:p>
        </p:txBody>
      </p:sp>
      <p:sp>
        <p:nvSpPr>
          <p:cNvPr id="29" name="Rectangle 28"/>
          <p:cNvSpPr/>
          <p:nvPr/>
        </p:nvSpPr>
        <p:spPr>
          <a:xfrm>
            <a:off x="4343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546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users_white.png"/>
          <p:cNvPicPr>
            <a:picLocks noChangeAspect="1"/>
          </p:cNvPicPr>
          <p:nvPr/>
        </p:nvPicPr>
        <p:blipFill>
          <a:blip r:embed="rId5"/>
          <a:stretch>
            <a:fillRect/>
          </a:stretch>
        </p:blipFill>
        <p:spPr>
          <a:xfrm>
            <a:off x="4656328" y="2941828"/>
            <a:ext cx="237744" cy="237744"/>
          </a:xfrm>
          <a:prstGeom prst="rect">
            <a:avLst/>
          </a:prstGeom>
        </p:spPr>
      </p:pic>
      <p:sp>
        <p:nvSpPr>
          <p:cNvPr id="32" name="TextBox 31"/>
          <p:cNvSpPr txBox="1"/>
          <p:nvPr/>
        </p:nvSpPr>
        <p:spPr>
          <a:xfrm>
            <a:off x="5156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70+</a:t>
            </a:r>
          </a:p>
        </p:txBody>
      </p:sp>
      <p:sp>
        <p:nvSpPr>
          <p:cNvPr id="33" name="TextBox 32"/>
          <p:cNvSpPr txBox="1"/>
          <p:nvPr/>
        </p:nvSpPr>
        <p:spPr>
          <a:xfrm>
            <a:off x="5156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energy and water utilities behind it, via 4 equal shareholders</a:t>
            </a:r>
          </a:p>
        </p:txBody>
      </p:sp>
      <p:sp>
        <p:nvSpPr>
          <p:cNvPr id="34" name="Rectangle 33"/>
          <p:cNvSpPr/>
          <p:nvPr/>
        </p:nvSpPr>
        <p:spPr>
          <a:xfrm>
            <a:off x="8026400" y="25908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29600" y="28321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zap_white.png"/>
          <p:cNvPicPr>
            <a:picLocks noChangeAspect="1"/>
          </p:cNvPicPr>
          <p:nvPr/>
        </p:nvPicPr>
        <p:blipFill>
          <a:blip r:embed="rId6"/>
          <a:stretch>
            <a:fillRect/>
          </a:stretch>
        </p:blipFill>
        <p:spPr>
          <a:xfrm>
            <a:off x="8339328" y="2941828"/>
            <a:ext cx="237744" cy="237744"/>
          </a:xfrm>
          <a:prstGeom prst="rect">
            <a:avLst/>
          </a:prstGeom>
        </p:spPr>
      </p:pic>
      <p:sp>
        <p:nvSpPr>
          <p:cNvPr id="37" name="TextBox 36"/>
          <p:cNvSpPr txBox="1"/>
          <p:nvPr/>
        </p:nvSpPr>
        <p:spPr>
          <a:xfrm>
            <a:off x="8839200" y="26924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72 h</a:t>
            </a:r>
          </a:p>
        </p:txBody>
      </p:sp>
      <p:sp>
        <p:nvSpPr>
          <p:cNvPr id="38" name="TextBox 37"/>
          <p:cNvSpPr txBox="1"/>
          <p:nvPr/>
        </p:nvSpPr>
        <p:spPr>
          <a:xfrm>
            <a:off x="8839200" y="30988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battery backup; data plus MCPTT voice with dispatch</a:t>
            </a:r>
          </a:p>
        </p:txBody>
      </p:sp>
      <p:sp>
        <p:nvSpPr>
          <p:cNvPr id="39" name="Rectangle 38"/>
          <p:cNvSpPr/>
          <p:nvPr/>
        </p:nvSpPr>
        <p:spPr>
          <a:xfrm>
            <a:off x="4343400" y="3632200"/>
            <a:ext cx="3556000" cy="939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4546600" y="3873500"/>
            <a:ext cx="457200" cy="4572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1" name="Picture 40" descr="server_white.png"/>
          <p:cNvPicPr>
            <a:picLocks noChangeAspect="1"/>
          </p:cNvPicPr>
          <p:nvPr/>
        </p:nvPicPr>
        <p:blipFill>
          <a:blip r:embed="rId7"/>
          <a:stretch>
            <a:fillRect/>
          </a:stretch>
        </p:blipFill>
        <p:spPr>
          <a:xfrm>
            <a:off x="4656328" y="3983228"/>
            <a:ext cx="237744" cy="237744"/>
          </a:xfrm>
          <a:prstGeom prst="rect">
            <a:avLst/>
          </a:prstGeom>
        </p:spPr>
      </p:pic>
      <p:sp>
        <p:nvSpPr>
          <p:cNvPr id="42" name="TextBox 41"/>
          <p:cNvSpPr txBox="1"/>
          <p:nvPr/>
        </p:nvSpPr>
        <p:spPr>
          <a:xfrm>
            <a:off x="5156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0B308E"/>
                </a:solidFill>
                <a:latin typeface="Segoe UI Light"/>
              </a:rPr>
              <a:t>Nokia</a:t>
            </a:r>
          </a:p>
        </p:txBody>
      </p:sp>
      <p:sp>
        <p:nvSpPr>
          <p:cNvPr id="43" name="TextBox 42"/>
          <p:cNvSpPr txBox="1"/>
          <p:nvPr/>
        </p:nvSpPr>
        <p:spPr>
          <a:xfrm>
            <a:off x="5156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radio, core, backhaul and power backup; O&amp;M to 2040</a:t>
            </a:r>
          </a:p>
        </p:txBody>
      </p:sp>
      <p:sp>
        <p:nvSpPr>
          <p:cNvPr id="44" name="Rectangle 43"/>
          <p:cNvSpPr/>
          <p:nvPr/>
        </p:nvSpPr>
        <p:spPr>
          <a:xfrm>
            <a:off x="8026400" y="3632200"/>
            <a:ext cx="3556000" cy="9398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8229600" y="3873500"/>
            <a:ext cx="457200" cy="4572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6" name="Picture 45" descr="smartphone_white.png"/>
          <p:cNvPicPr>
            <a:picLocks noChangeAspect="1"/>
          </p:cNvPicPr>
          <p:nvPr/>
        </p:nvPicPr>
        <p:blipFill>
          <a:blip r:embed="rId8"/>
          <a:stretch>
            <a:fillRect/>
          </a:stretch>
        </p:blipFill>
        <p:spPr>
          <a:xfrm>
            <a:off x="8339328" y="3983228"/>
            <a:ext cx="237744" cy="237744"/>
          </a:xfrm>
          <a:prstGeom prst="rect">
            <a:avLst/>
          </a:prstGeom>
        </p:spPr>
      </p:pic>
      <p:sp>
        <p:nvSpPr>
          <p:cNvPr id="47" name="TextBox 46"/>
          <p:cNvSpPr txBox="1"/>
          <p:nvPr/>
        </p:nvSpPr>
        <p:spPr>
          <a:xfrm>
            <a:off x="8839200" y="3733800"/>
            <a:ext cx="2616200" cy="406400"/>
          </a:xfrm>
          <a:prstGeom prst="rect">
            <a:avLst/>
          </a:prstGeom>
          <a:noFill/>
        </p:spPr>
        <p:txBody>
          <a:bodyPr wrap="square" lIns="0" rIns="0" tIns="0" bIns="0" anchor="ctr">
            <a:spAutoFit/>
          </a:bodyPr>
          <a:lstStyle/>
          <a:p>
            <a:pPr algn="l">
              <a:lnSpc>
                <a:spcPct val="120000"/>
              </a:lnSpc>
              <a:spcAft>
                <a:spcPts val="0"/>
              </a:spcAft>
            </a:pPr>
            <a:r>
              <a:rPr sz="2200" b="0">
                <a:solidFill>
                  <a:srgbClr val="7F9B00"/>
                </a:solidFill>
                <a:latin typeface="Segoe UI Light"/>
              </a:rPr>
              <a:t>PNC660</a:t>
            </a:r>
          </a:p>
        </p:txBody>
      </p:sp>
      <p:sp>
        <p:nvSpPr>
          <p:cNvPr id="48" name="TextBox 47"/>
          <p:cNvSpPr txBox="1"/>
          <p:nvPr/>
        </p:nvSpPr>
        <p:spPr>
          <a:xfrm>
            <a:off x="8839200" y="4140200"/>
            <a:ext cx="2616200" cy="355600"/>
          </a:xfrm>
          <a:prstGeom prst="rect">
            <a:avLst/>
          </a:prstGeom>
          <a:noFill/>
        </p:spPr>
        <p:txBody>
          <a:bodyPr wrap="square" lIns="0" rIns="0" tIns="0" bIns="0" anchor="ctr">
            <a:spAutoFit/>
          </a:bodyPr>
          <a:lstStyle/>
          <a:p>
            <a:pPr algn="l">
              <a:lnSpc>
                <a:spcPct val="110000"/>
              </a:lnSpc>
              <a:spcAft>
                <a:spcPts val="0"/>
              </a:spcAft>
            </a:pPr>
            <a:r>
              <a:rPr sz="1000" b="0">
                <a:solidFill>
                  <a:srgbClr val="55607A"/>
                </a:solidFill>
                <a:latin typeface="Segoe UI"/>
              </a:rPr>
              <a:t>Hytera handheld whitelisted (announced MWC 2026)</a:t>
            </a:r>
          </a:p>
        </p:txBody>
      </p:sp>
      <p:sp>
        <p:nvSpPr>
          <p:cNvPr id="49" name="TextBox 48"/>
          <p:cNvSpPr txBox="1"/>
          <p:nvPr/>
        </p:nvSpPr>
        <p:spPr>
          <a:xfrm>
            <a:off x="4343400" y="47498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FROM LICENCE TO NETWORK</a:t>
            </a:r>
          </a:p>
        </p:txBody>
      </p:sp>
      <p:sp>
        <p:nvSpPr>
          <p:cNvPr id="50" name="Rectangle 49"/>
          <p:cNvSpPr/>
          <p:nvPr/>
        </p:nvSpPr>
        <p:spPr>
          <a:xfrm>
            <a:off x="43434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4704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Nov 2020</a:t>
            </a:r>
          </a:p>
        </p:txBody>
      </p:sp>
      <p:sp>
        <p:nvSpPr>
          <p:cNvPr id="52" name="TextBox 51"/>
          <p:cNvSpPr txBox="1"/>
          <p:nvPr/>
        </p:nvSpPr>
        <p:spPr>
          <a:xfrm>
            <a:off x="44704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Band reserved for energy &amp; water</a:t>
            </a:r>
          </a:p>
        </p:txBody>
      </p:sp>
      <p:sp>
        <p:nvSpPr>
          <p:cNvPr id="53" name="Rectangle 52"/>
          <p:cNvSpPr/>
          <p:nvPr/>
        </p:nvSpPr>
        <p:spPr>
          <a:xfrm>
            <a:off x="61595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2865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Mar 2021</a:t>
            </a:r>
          </a:p>
        </p:txBody>
      </p:sp>
      <p:sp>
        <p:nvSpPr>
          <p:cNvPr id="55" name="TextBox 54"/>
          <p:cNvSpPr txBox="1"/>
          <p:nvPr/>
        </p:nvSpPr>
        <p:spPr>
          <a:xfrm>
            <a:off x="62865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Licence awarded</a:t>
            </a:r>
          </a:p>
        </p:txBody>
      </p:sp>
      <p:sp>
        <p:nvSpPr>
          <p:cNvPr id="56" name="Rectangle 55"/>
          <p:cNvSpPr/>
          <p:nvPr/>
        </p:nvSpPr>
        <p:spPr>
          <a:xfrm>
            <a:off x="79756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81026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Oct 2025</a:t>
            </a:r>
          </a:p>
        </p:txBody>
      </p:sp>
      <p:sp>
        <p:nvSpPr>
          <p:cNvPr id="58" name="TextBox 57"/>
          <p:cNvSpPr txBox="1"/>
          <p:nvPr/>
        </p:nvSpPr>
        <p:spPr>
          <a:xfrm>
            <a:off x="81026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1,000 sites, 90% area</a:t>
            </a:r>
          </a:p>
        </p:txBody>
      </p:sp>
      <p:sp>
        <p:nvSpPr>
          <p:cNvPr id="59" name="Rectangle 58"/>
          <p:cNvSpPr/>
          <p:nvPr/>
        </p:nvSpPr>
        <p:spPr>
          <a:xfrm>
            <a:off x="9791700" y="5054600"/>
            <a:ext cx="1714500" cy="5588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9918700" y="5080000"/>
            <a:ext cx="1524000" cy="2286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2026</a:t>
            </a:r>
          </a:p>
        </p:txBody>
      </p:sp>
      <p:sp>
        <p:nvSpPr>
          <p:cNvPr id="61" name="TextBox 60"/>
          <p:cNvSpPr txBox="1"/>
          <p:nvPr/>
        </p:nvSpPr>
        <p:spPr>
          <a:xfrm>
            <a:off x="9918700" y="5308600"/>
            <a:ext cx="1524000" cy="279400"/>
          </a:xfrm>
          <a:prstGeom prst="rect">
            <a:avLst/>
          </a:prstGeom>
          <a:noFill/>
        </p:spPr>
        <p:txBody>
          <a:bodyPr wrap="square" lIns="0" rIns="0" tIns="0" bIns="0" anchor="ctr">
            <a:spAutoFit/>
          </a:bodyPr>
          <a:lstStyle/>
          <a:p>
            <a:pPr algn="l">
              <a:lnSpc>
                <a:spcPct val="105000"/>
              </a:lnSpc>
              <a:spcAft>
                <a:spcPts val="0"/>
              </a:spcAft>
            </a:pPr>
            <a:r>
              <a:rPr sz="950" b="0">
                <a:solidFill>
                  <a:srgbClr val="16213E"/>
                </a:solidFill>
                <a:latin typeface="Segoe UI"/>
              </a:rPr>
              <a:t>Nationwide target</a:t>
            </a:r>
          </a:p>
        </p:txBody>
      </p:sp>
      <p:sp>
        <p:nvSpPr>
          <p:cNvPr id="62" name="Rectangle 61"/>
          <p:cNvSpPr/>
          <p:nvPr/>
        </p:nvSpPr>
        <p:spPr>
          <a:xfrm>
            <a:off x="609600" y="57912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3" name="Picture 62" descr="check_navy.png"/>
          <p:cNvPicPr>
            <a:picLocks noChangeAspect="1"/>
          </p:cNvPicPr>
          <p:nvPr/>
        </p:nvPicPr>
        <p:blipFill>
          <a:blip r:embed="rId9"/>
          <a:stretch>
            <a:fillRect/>
          </a:stretch>
        </p:blipFill>
        <p:spPr>
          <a:xfrm>
            <a:off x="812800" y="5918200"/>
            <a:ext cx="254000" cy="254000"/>
          </a:xfrm>
          <a:prstGeom prst="rect">
            <a:avLst/>
          </a:prstGeom>
        </p:spPr>
      </p:pic>
      <p:sp>
        <p:nvSpPr>
          <p:cNvPr id="64" name="TextBox 63"/>
          <p:cNvSpPr txBox="1"/>
          <p:nvPr/>
        </p:nvSpPr>
        <p:spPr>
          <a:xfrm>
            <a:off x="1219200" y="57912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For Globe:   </a:t>
            </a:r>
            <a:r>
              <a:rPr sz="1250" b="0">
                <a:solidFill>
                  <a:srgbClr val="16213E"/>
                </a:solidFill>
                <a:latin typeface="Segoe UI"/>
              </a:rPr>
              <a:t>one operator, one network, many utility customers — and no consumer service.</a:t>
            </a:r>
          </a:p>
        </p:txBody>
      </p:sp>
      <p:sp>
        <p:nvSpPr>
          <p:cNvPr id="65" name="TextBox 64"/>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Bundesnetzagentur (Mar 2021); Nokia (Feb 2022); 450connect press releases (Feb 2025, Oct 2025, Feb 2026); 50komma2 (Feb 2026); Hytera MWC 2026 announcement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03   REFERENCES</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19</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Three 450 MHz networks, three national mission-critical deployments</a:t>
            </a:r>
          </a:p>
        </p:txBody>
      </p:sp>
      <p:pic>
        <p:nvPicPr>
          <p:cNvPr id="10" name="Picture 9" descr="radio-tower_green.png"/>
          <p:cNvPicPr>
            <a:picLocks noChangeAspect="1"/>
          </p:cNvPicPr>
          <p:nvPr/>
        </p:nvPicPr>
        <p:blipFill>
          <a:blip r:embed="rId2"/>
          <a:stretch>
            <a:fillRect/>
          </a:stretch>
        </p:blipFill>
        <p:spPr>
          <a:xfrm>
            <a:off x="609600" y="1549400"/>
            <a:ext cx="228600" cy="228600"/>
          </a:xfrm>
          <a:prstGeom prst="rect">
            <a:avLst/>
          </a:prstGeom>
        </p:spPr>
      </p:pic>
      <p:sp>
        <p:nvSpPr>
          <p:cNvPr id="11" name="TextBox 10"/>
          <p:cNvSpPr txBox="1"/>
          <p:nvPr/>
        </p:nvSpPr>
        <p:spPr>
          <a:xfrm>
            <a:off x="965200" y="15494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450 MHZ NETWORKS  ·  OPERATOR NETWORKS</a:t>
            </a:r>
          </a:p>
        </p:txBody>
      </p:sp>
      <p:sp>
        <p:nvSpPr>
          <p:cNvPr id="12" name="Rectangle 11"/>
          <p:cNvSpPr/>
          <p:nvPr/>
        </p:nvSpPr>
        <p:spPr>
          <a:xfrm>
            <a:off x="6096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096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4" name="Picture 13" descr="loc_germany.png"/>
          <p:cNvPicPr>
            <a:picLocks noChangeAspect="1"/>
          </p:cNvPicPr>
          <p:nvPr/>
        </p:nvPicPr>
        <p:blipFill>
          <a:blip r:embed="rId3"/>
          <a:stretch>
            <a:fillRect/>
          </a:stretch>
        </p:blipFill>
        <p:spPr>
          <a:xfrm>
            <a:off x="609600" y="1854200"/>
            <a:ext cx="1320800" cy="1905000"/>
          </a:xfrm>
          <a:prstGeom prst="rect">
            <a:avLst/>
          </a:prstGeom>
        </p:spPr>
      </p:pic>
      <p:sp>
        <p:nvSpPr>
          <p:cNvPr id="15" name="TextBox 14"/>
          <p:cNvSpPr txBox="1"/>
          <p:nvPr/>
        </p:nvSpPr>
        <p:spPr>
          <a:xfrm>
            <a:off x="21082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GERMANY</a:t>
            </a:r>
          </a:p>
        </p:txBody>
      </p:sp>
      <p:sp>
        <p:nvSpPr>
          <p:cNvPr id="16" name="TextBox 15"/>
          <p:cNvSpPr txBox="1"/>
          <p:nvPr/>
        </p:nvSpPr>
        <p:spPr>
          <a:xfrm>
            <a:off x="21082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450connect</a:t>
            </a:r>
          </a:p>
        </p:txBody>
      </p:sp>
      <p:sp>
        <p:nvSpPr>
          <p:cNvPr id="17" name="TextBox 16"/>
          <p:cNvSpPr txBox="1"/>
          <p:nvPr/>
        </p:nvSpPr>
        <p:spPr>
          <a:xfrm>
            <a:off x="21082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B72</a:t>
            </a:r>
          </a:p>
        </p:txBody>
      </p:sp>
      <p:sp>
        <p:nvSpPr>
          <p:cNvPr id="18" name="TextBox 17"/>
          <p:cNvSpPr txBox="1"/>
          <p:nvPr/>
        </p:nvSpPr>
        <p:spPr>
          <a:xfrm>
            <a:off x="21082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national utility network</a:t>
            </a:r>
          </a:p>
        </p:txBody>
      </p:sp>
      <p:pic>
        <p:nvPicPr>
          <p:cNvPr id="19" name="Picture 18" descr="check_green.png"/>
          <p:cNvPicPr>
            <a:picLocks noChangeAspect="1"/>
          </p:cNvPicPr>
          <p:nvPr/>
        </p:nvPicPr>
        <p:blipFill>
          <a:blip r:embed="rId4"/>
          <a:stretch>
            <a:fillRect/>
          </a:stretch>
        </p:blipFill>
        <p:spPr>
          <a:xfrm>
            <a:off x="2108200" y="3251200"/>
            <a:ext cx="152400" cy="152400"/>
          </a:xfrm>
          <a:prstGeom prst="rect">
            <a:avLst/>
          </a:prstGeom>
        </p:spPr>
      </p:pic>
      <p:sp>
        <p:nvSpPr>
          <p:cNvPr id="20" name="TextBox 19"/>
          <p:cNvSpPr txBox="1"/>
          <p:nvPr/>
        </p:nvSpPr>
        <p:spPr>
          <a:xfrm>
            <a:off x="23368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90%+ area (Q4 2025)</a:t>
            </a:r>
          </a:p>
        </p:txBody>
      </p:sp>
      <p:pic>
        <p:nvPicPr>
          <p:cNvPr id="21" name="Picture 20" descr="check_green.png"/>
          <p:cNvPicPr>
            <a:picLocks noChangeAspect="1"/>
          </p:cNvPicPr>
          <p:nvPr/>
        </p:nvPicPr>
        <p:blipFill>
          <a:blip r:embed="rId4"/>
          <a:stretch>
            <a:fillRect/>
          </a:stretch>
        </p:blipFill>
        <p:spPr>
          <a:xfrm>
            <a:off x="2108200" y="3505200"/>
            <a:ext cx="152400" cy="152400"/>
          </a:xfrm>
          <a:prstGeom prst="rect">
            <a:avLst/>
          </a:prstGeom>
        </p:spPr>
      </p:pic>
      <p:sp>
        <p:nvSpPr>
          <p:cNvPr id="22" name="TextBox 21"/>
          <p:cNvSpPr txBox="1"/>
          <p:nvPr/>
        </p:nvSpPr>
        <p:spPr>
          <a:xfrm>
            <a:off x="23368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PNC660 whitelisted</a:t>
            </a:r>
          </a:p>
        </p:txBody>
      </p:sp>
      <p:sp>
        <p:nvSpPr>
          <p:cNvPr id="23" name="Rectangle 22"/>
          <p:cNvSpPr/>
          <p:nvPr/>
        </p:nvSpPr>
        <p:spPr>
          <a:xfrm>
            <a:off x="43688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3688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5" name="Picture 24" descr="loc_malaysia.png"/>
          <p:cNvPicPr>
            <a:picLocks noChangeAspect="1"/>
          </p:cNvPicPr>
          <p:nvPr/>
        </p:nvPicPr>
        <p:blipFill>
          <a:blip r:embed="rId5"/>
          <a:stretch>
            <a:fillRect/>
          </a:stretch>
        </p:blipFill>
        <p:spPr>
          <a:xfrm>
            <a:off x="4368800" y="1854200"/>
            <a:ext cx="1320800" cy="1905000"/>
          </a:xfrm>
          <a:prstGeom prst="rect">
            <a:avLst/>
          </a:prstGeom>
        </p:spPr>
      </p:pic>
      <p:sp>
        <p:nvSpPr>
          <p:cNvPr id="26" name="TextBox 25"/>
          <p:cNvSpPr txBox="1"/>
          <p:nvPr/>
        </p:nvSpPr>
        <p:spPr>
          <a:xfrm>
            <a:off x="58674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MALAYSIA</a:t>
            </a:r>
          </a:p>
        </p:txBody>
      </p:sp>
      <p:sp>
        <p:nvSpPr>
          <p:cNvPr id="27" name="TextBox 26"/>
          <p:cNvSpPr txBox="1"/>
          <p:nvPr/>
        </p:nvSpPr>
        <p:spPr>
          <a:xfrm>
            <a:off x="58674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TNB</a:t>
            </a:r>
          </a:p>
        </p:txBody>
      </p:sp>
      <p:sp>
        <p:nvSpPr>
          <p:cNvPr id="28" name="TextBox 27"/>
          <p:cNvSpPr txBox="1"/>
          <p:nvPr/>
        </p:nvSpPr>
        <p:spPr>
          <a:xfrm>
            <a:off x="58674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29" name="TextBox 28"/>
          <p:cNvSpPr txBox="1"/>
          <p:nvPr/>
        </p:nvSpPr>
        <p:spPr>
          <a:xfrm>
            <a:off x="58674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utility network</a:t>
            </a:r>
          </a:p>
        </p:txBody>
      </p:sp>
      <p:pic>
        <p:nvPicPr>
          <p:cNvPr id="30" name="Picture 29" descr="check_green.png"/>
          <p:cNvPicPr>
            <a:picLocks noChangeAspect="1"/>
          </p:cNvPicPr>
          <p:nvPr/>
        </p:nvPicPr>
        <p:blipFill>
          <a:blip r:embed="rId4"/>
          <a:stretch>
            <a:fillRect/>
          </a:stretch>
        </p:blipFill>
        <p:spPr>
          <a:xfrm>
            <a:off x="5867400" y="3251200"/>
            <a:ext cx="152400" cy="152400"/>
          </a:xfrm>
          <a:prstGeom prst="rect">
            <a:avLst/>
          </a:prstGeom>
        </p:spPr>
      </p:pic>
      <p:sp>
        <p:nvSpPr>
          <p:cNvPr id="31" name="TextBox 30"/>
          <p:cNvSpPr txBox="1"/>
          <p:nvPr/>
        </p:nvSpPr>
        <p:spPr>
          <a:xfrm>
            <a:off x="60960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1: 4 areas</a:t>
            </a:r>
          </a:p>
        </p:txBody>
      </p:sp>
      <p:pic>
        <p:nvPicPr>
          <p:cNvPr id="32" name="Picture 31" descr="check_green.png"/>
          <p:cNvPicPr>
            <a:picLocks noChangeAspect="1"/>
          </p:cNvPicPr>
          <p:nvPr/>
        </p:nvPicPr>
        <p:blipFill>
          <a:blip r:embed="rId4"/>
          <a:stretch>
            <a:fillRect/>
          </a:stretch>
        </p:blipFill>
        <p:spPr>
          <a:xfrm>
            <a:off x="5867400" y="3505200"/>
            <a:ext cx="152400" cy="152400"/>
          </a:xfrm>
          <a:prstGeom prst="rect">
            <a:avLst/>
          </a:prstGeom>
        </p:spPr>
      </p:pic>
      <p:sp>
        <p:nvSpPr>
          <p:cNvPr id="33" name="TextBox 32"/>
          <p:cNvSpPr txBox="1"/>
          <p:nvPr/>
        </p:nvSpPr>
        <p:spPr>
          <a:xfrm>
            <a:off x="60960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Phase 2 tendering</a:t>
            </a:r>
          </a:p>
        </p:txBody>
      </p:sp>
      <p:sp>
        <p:nvSpPr>
          <p:cNvPr id="34" name="Rectangle 33"/>
          <p:cNvSpPr/>
          <p:nvPr/>
        </p:nvSpPr>
        <p:spPr>
          <a:xfrm>
            <a:off x="8128000" y="1854200"/>
            <a:ext cx="3454400" cy="19050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128000" y="1854200"/>
            <a:ext cx="1320800" cy="190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loc_singapore.png"/>
          <p:cNvPicPr>
            <a:picLocks noChangeAspect="1"/>
          </p:cNvPicPr>
          <p:nvPr/>
        </p:nvPicPr>
        <p:blipFill>
          <a:blip r:embed="rId6"/>
          <a:stretch>
            <a:fillRect/>
          </a:stretch>
        </p:blipFill>
        <p:spPr>
          <a:xfrm>
            <a:off x="8128000" y="1854200"/>
            <a:ext cx="1320800" cy="1905000"/>
          </a:xfrm>
          <a:prstGeom prst="rect">
            <a:avLst/>
          </a:prstGeom>
        </p:spPr>
      </p:pic>
      <p:sp>
        <p:nvSpPr>
          <p:cNvPr id="37" name="TextBox 36"/>
          <p:cNvSpPr txBox="1"/>
          <p:nvPr/>
        </p:nvSpPr>
        <p:spPr>
          <a:xfrm>
            <a:off x="9626600" y="20066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SINGAPORE</a:t>
            </a:r>
          </a:p>
        </p:txBody>
      </p:sp>
      <p:sp>
        <p:nvSpPr>
          <p:cNvPr id="38" name="TextBox 37"/>
          <p:cNvSpPr txBox="1"/>
          <p:nvPr/>
        </p:nvSpPr>
        <p:spPr>
          <a:xfrm>
            <a:off x="9626600" y="22098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Public safety</a:t>
            </a:r>
          </a:p>
        </p:txBody>
      </p:sp>
      <p:sp>
        <p:nvSpPr>
          <p:cNvPr id="39" name="TextBox 38"/>
          <p:cNvSpPr txBox="1"/>
          <p:nvPr/>
        </p:nvSpPr>
        <p:spPr>
          <a:xfrm>
            <a:off x="9626600" y="24892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7F9B00"/>
                </a:solidFill>
                <a:latin typeface="Segoe UI Light"/>
              </a:rPr>
              <a:t>B31</a:t>
            </a:r>
          </a:p>
        </p:txBody>
      </p:sp>
      <p:sp>
        <p:nvSpPr>
          <p:cNvPr id="40" name="TextBox 39"/>
          <p:cNvSpPr txBox="1"/>
          <p:nvPr/>
        </p:nvSpPr>
        <p:spPr>
          <a:xfrm>
            <a:off x="9626600" y="29210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public safety network</a:t>
            </a:r>
          </a:p>
        </p:txBody>
      </p:sp>
      <p:pic>
        <p:nvPicPr>
          <p:cNvPr id="41" name="Picture 40" descr="check_green.png"/>
          <p:cNvPicPr>
            <a:picLocks noChangeAspect="1"/>
          </p:cNvPicPr>
          <p:nvPr/>
        </p:nvPicPr>
        <p:blipFill>
          <a:blip r:embed="rId4"/>
          <a:stretch>
            <a:fillRect/>
          </a:stretch>
        </p:blipFill>
        <p:spPr>
          <a:xfrm>
            <a:off x="9626600" y="3251200"/>
            <a:ext cx="152400" cy="152400"/>
          </a:xfrm>
          <a:prstGeom prst="rect">
            <a:avLst/>
          </a:prstGeom>
        </p:spPr>
      </p:pic>
      <p:sp>
        <p:nvSpPr>
          <p:cNvPr id="42" name="TextBox 41"/>
          <p:cNvSpPr txBox="1"/>
          <p:nvPr/>
        </p:nvSpPr>
        <p:spPr>
          <a:xfrm>
            <a:off x="9855200" y="3200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In service</a:t>
            </a:r>
          </a:p>
        </p:txBody>
      </p:sp>
      <p:pic>
        <p:nvPicPr>
          <p:cNvPr id="43" name="Picture 42" descr="check_green.png"/>
          <p:cNvPicPr>
            <a:picLocks noChangeAspect="1"/>
          </p:cNvPicPr>
          <p:nvPr/>
        </p:nvPicPr>
        <p:blipFill>
          <a:blip r:embed="rId4"/>
          <a:stretch>
            <a:fillRect/>
          </a:stretch>
        </p:blipFill>
        <p:spPr>
          <a:xfrm>
            <a:off x="9626600" y="3505200"/>
            <a:ext cx="152400" cy="152400"/>
          </a:xfrm>
          <a:prstGeom prst="rect">
            <a:avLst/>
          </a:prstGeom>
        </p:spPr>
      </p:pic>
      <p:sp>
        <p:nvSpPr>
          <p:cNvPr id="44" name="TextBox 43"/>
          <p:cNvSpPr txBox="1"/>
          <p:nvPr/>
        </p:nvSpPr>
        <p:spPr>
          <a:xfrm>
            <a:off x="9855200" y="34544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Same band as PH</a:t>
            </a:r>
          </a:p>
        </p:txBody>
      </p:sp>
      <p:pic>
        <p:nvPicPr>
          <p:cNvPr id="45" name="Picture 44" descr="layers_navy.png"/>
          <p:cNvPicPr>
            <a:picLocks noChangeAspect="1"/>
          </p:cNvPicPr>
          <p:nvPr/>
        </p:nvPicPr>
        <p:blipFill>
          <a:blip r:embed="rId7"/>
          <a:stretch>
            <a:fillRect/>
          </a:stretch>
        </p:blipFill>
        <p:spPr>
          <a:xfrm>
            <a:off x="609600" y="3911600"/>
            <a:ext cx="228600" cy="228600"/>
          </a:xfrm>
          <a:prstGeom prst="rect">
            <a:avLst/>
          </a:prstGeom>
        </p:spPr>
      </p:pic>
      <p:sp>
        <p:nvSpPr>
          <p:cNvPr id="46" name="TextBox 45"/>
          <p:cNvSpPr txBox="1"/>
          <p:nvPr/>
        </p:nvSpPr>
        <p:spPr>
          <a:xfrm>
            <a:off x="965200" y="3911600"/>
            <a:ext cx="7620000" cy="228600"/>
          </a:xfrm>
          <a:prstGeom prst="rect">
            <a:avLst/>
          </a:prstGeom>
          <a:noFill/>
        </p:spPr>
        <p:txBody>
          <a:bodyPr wrap="square" lIns="0" rIns="0" tIns="0" bIns="0" anchor="ctr">
            <a:spAutoFit/>
          </a:bodyPr>
          <a:lstStyle/>
          <a:p>
            <a:pPr algn="l">
              <a:lnSpc>
                <a:spcPct val="120000"/>
              </a:lnSpc>
              <a:spcAft>
                <a:spcPts val="0"/>
              </a:spcAft>
            </a:pPr>
            <a:r>
              <a:rPr sz="900" b="0" spc="120">
                <a:solidFill>
                  <a:srgbClr val="0B308E"/>
                </a:solidFill>
                <a:latin typeface="Segoe UI Semibold"/>
              </a:rPr>
              <a:t>HYTERA MISSION-CRITICAL DEPLOYMENTS AT NATIONAL SCALE</a:t>
            </a:r>
          </a:p>
        </p:txBody>
      </p:sp>
      <p:sp>
        <p:nvSpPr>
          <p:cNvPr id="47" name="Rectangle 46"/>
          <p:cNvSpPr/>
          <p:nvPr/>
        </p:nvSpPr>
        <p:spPr>
          <a:xfrm>
            <a:off x="6096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8" name="Picture 47" descr="v6_4c49d82c37.jpg"/>
          <p:cNvPicPr>
            <a:picLocks noChangeAspect="1"/>
          </p:cNvPicPr>
          <p:nvPr/>
        </p:nvPicPr>
        <p:blipFill>
          <a:blip r:embed="rId8"/>
          <a:srcRect l="30500" r="30500"/>
          <a:stretch>
            <a:fillRect/>
          </a:stretch>
        </p:blipFill>
        <p:spPr>
          <a:xfrm>
            <a:off x="609600" y="4216400"/>
            <a:ext cx="1320800" cy="1905000"/>
          </a:xfrm>
          <a:prstGeom prst="rect">
            <a:avLst/>
          </a:prstGeom>
        </p:spPr>
      </p:pic>
      <p:sp>
        <p:nvSpPr>
          <p:cNvPr id="49" name="TextBox 48"/>
          <p:cNvSpPr txBox="1"/>
          <p:nvPr/>
        </p:nvSpPr>
        <p:spPr>
          <a:xfrm>
            <a:off x="21082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SRI LANKA</a:t>
            </a:r>
          </a:p>
        </p:txBody>
      </p:sp>
      <p:sp>
        <p:nvSpPr>
          <p:cNvPr id="50" name="TextBox 49"/>
          <p:cNvSpPr txBox="1"/>
          <p:nvPr/>
        </p:nvSpPr>
        <p:spPr>
          <a:xfrm>
            <a:off x="21082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Railways</a:t>
            </a:r>
          </a:p>
        </p:txBody>
      </p:sp>
      <p:sp>
        <p:nvSpPr>
          <p:cNvPr id="51" name="TextBox 50"/>
          <p:cNvSpPr txBox="1"/>
          <p:nvPr/>
        </p:nvSpPr>
        <p:spPr>
          <a:xfrm>
            <a:off x="21082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1,950+</a:t>
            </a:r>
          </a:p>
        </p:txBody>
      </p:sp>
      <p:sp>
        <p:nvSpPr>
          <p:cNvPr id="52" name="TextBox 51"/>
          <p:cNvSpPr txBox="1"/>
          <p:nvPr/>
        </p:nvSpPr>
        <p:spPr>
          <a:xfrm>
            <a:off x="21082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53" name="Picture 52" descr="check_green.png"/>
          <p:cNvPicPr>
            <a:picLocks noChangeAspect="1"/>
          </p:cNvPicPr>
          <p:nvPr/>
        </p:nvPicPr>
        <p:blipFill>
          <a:blip r:embed="rId4"/>
          <a:stretch>
            <a:fillRect/>
          </a:stretch>
        </p:blipFill>
        <p:spPr>
          <a:xfrm>
            <a:off x="2108200" y="5613400"/>
            <a:ext cx="152400" cy="152400"/>
          </a:xfrm>
          <a:prstGeom prst="rect">
            <a:avLst/>
          </a:prstGeom>
        </p:spPr>
      </p:pic>
      <p:sp>
        <p:nvSpPr>
          <p:cNvPr id="54" name="TextBox 53"/>
          <p:cNvSpPr txBox="1"/>
          <p:nvPr/>
        </p:nvSpPr>
        <p:spPr>
          <a:xfrm>
            <a:off x="23368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9 lines, 403 stations</a:t>
            </a:r>
          </a:p>
        </p:txBody>
      </p:sp>
      <p:pic>
        <p:nvPicPr>
          <p:cNvPr id="55" name="Picture 54" descr="check_green.png"/>
          <p:cNvPicPr>
            <a:picLocks noChangeAspect="1"/>
          </p:cNvPicPr>
          <p:nvPr/>
        </p:nvPicPr>
        <p:blipFill>
          <a:blip r:embed="rId4"/>
          <a:stretch>
            <a:fillRect/>
          </a:stretch>
        </p:blipFill>
        <p:spPr>
          <a:xfrm>
            <a:off x="2108200" y="5867400"/>
            <a:ext cx="152400" cy="152400"/>
          </a:xfrm>
          <a:prstGeom prst="rect">
            <a:avLst/>
          </a:prstGeom>
        </p:spPr>
      </p:pic>
      <p:sp>
        <p:nvSpPr>
          <p:cNvPr id="56" name="TextBox 55"/>
          <p:cNvSpPr txBox="1"/>
          <p:nvPr/>
        </p:nvSpPr>
        <p:spPr>
          <a:xfrm>
            <a:off x="23368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Dialog: 450 licence</a:t>
            </a:r>
          </a:p>
        </p:txBody>
      </p:sp>
      <p:sp>
        <p:nvSpPr>
          <p:cNvPr id="57" name="Rectangle 56"/>
          <p:cNvSpPr/>
          <p:nvPr/>
        </p:nvSpPr>
        <p:spPr>
          <a:xfrm>
            <a:off x="43688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8" name="Picture 57" descr="v6_9add975c86.jpg"/>
          <p:cNvPicPr>
            <a:picLocks noChangeAspect="1"/>
          </p:cNvPicPr>
          <p:nvPr/>
        </p:nvPicPr>
        <p:blipFill>
          <a:blip r:embed="rId9"/>
          <a:srcRect t="33" b="33"/>
          <a:stretch>
            <a:fillRect/>
          </a:stretch>
        </p:blipFill>
        <p:spPr>
          <a:xfrm>
            <a:off x="4368800" y="4216400"/>
            <a:ext cx="1320800" cy="1905000"/>
          </a:xfrm>
          <a:prstGeom prst="rect">
            <a:avLst/>
          </a:prstGeom>
        </p:spPr>
      </p:pic>
      <p:sp>
        <p:nvSpPr>
          <p:cNvPr id="59" name="TextBox 58"/>
          <p:cNvSpPr txBox="1"/>
          <p:nvPr/>
        </p:nvSpPr>
        <p:spPr>
          <a:xfrm>
            <a:off x="58674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HONG KONG</a:t>
            </a:r>
          </a:p>
        </p:txBody>
      </p:sp>
      <p:sp>
        <p:nvSpPr>
          <p:cNvPr id="60" name="TextBox 59"/>
          <p:cNvSpPr txBox="1"/>
          <p:nvPr/>
        </p:nvSpPr>
        <p:spPr>
          <a:xfrm>
            <a:off x="58674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Light Rail</a:t>
            </a:r>
          </a:p>
        </p:txBody>
      </p:sp>
      <p:sp>
        <p:nvSpPr>
          <p:cNvPr id="61" name="TextBox 60"/>
          <p:cNvSpPr txBox="1"/>
          <p:nvPr/>
        </p:nvSpPr>
        <p:spPr>
          <a:xfrm>
            <a:off x="58674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810</a:t>
            </a:r>
          </a:p>
        </p:txBody>
      </p:sp>
      <p:sp>
        <p:nvSpPr>
          <p:cNvPr id="62" name="TextBox 61"/>
          <p:cNvSpPr txBox="1"/>
          <p:nvPr/>
        </p:nvSpPr>
        <p:spPr>
          <a:xfrm>
            <a:off x="58674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MCS terminals</a:t>
            </a:r>
          </a:p>
        </p:txBody>
      </p:sp>
      <p:pic>
        <p:nvPicPr>
          <p:cNvPr id="63" name="Picture 62" descr="check_green.png"/>
          <p:cNvPicPr>
            <a:picLocks noChangeAspect="1"/>
          </p:cNvPicPr>
          <p:nvPr/>
        </p:nvPicPr>
        <p:blipFill>
          <a:blip r:embed="rId4"/>
          <a:stretch>
            <a:fillRect/>
          </a:stretch>
        </p:blipFill>
        <p:spPr>
          <a:xfrm>
            <a:off x="5867400" y="5613400"/>
            <a:ext cx="152400" cy="152400"/>
          </a:xfrm>
          <a:prstGeom prst="rect">
            <a:avLst/>
          </a:prstGeom>
        </p:spPr>
      </p:pic>
      <p:sp>
        <p:nvSpPr>
          <p:cNvPr id="64" name="TextBox 63"/>
          <p:cNvSpPr txBox="1"/>
          <p:nvPr/>
        </p:nvSpPr>
        <p:spPr>
          <a:xfrm>
            <a:off x="60960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1st railway MCS on 5G</a:t>
            </a:r>
          </a:p>
        </p:txBody>
      </p:sp>
      <p:pic>
        <p:nvPicPr>
          <p:cNvPr id="65" name="Picture 64" descr="check_green.png"/>
          <p:cNvPicPr>
            <a:picLocks noChangeAspect="1"/>
          </p:cNvPicPr>
          <p:nvPr/>
        </p:nvPicPr>
        <p:blipFill>
          <a:blip r:embed="rId4"/>
          <a:stretch>
            <a:fillRect/>
          </a:stretch>
        </p:blipFill>
        <p:spPr>
          <a:xfrm>
            <a:off x="5867400" y="5867400"/>
            <a:ext cx="152400" cy="152400"/>
          </a:xfrm>
          <a:prstGeom prst="rect">
            <a:avLst/>
          </a:prstGeom>
        </p:spPr>
      </p:pic>
      <p:sp>
        <p:nvSpPr>
          <p:cNvPr id="66" name="TextBox 65"/>
          <p:cNvSpPr txBox="1"/>
          <p:nvPr/>
        </p:nvSpPr>
        <p:spPr>
          <a:xfrm>
            <a:off x="60960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Replaced TETRA</a:t>
            </a:r>
          </a:p>
        </p:txBody>
      </p:sp>
      <p:sp>
        <p:nvSpPr>
          <p:cNvPr id="67" name="Rectangle 66"/>
          <p:cNvSpPr/>
          <p:nvPr/>
        </p:nvSpPr>
        <p:spPr>
          <a:xfrm>
            <a:off x="8128000" y="4216400"/>
            <a:ext cx="3454400" cy="19050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8" name="Picture 67" descr="v6_0316e38593.jpg"/>
          <p:cNvPicPr>
            <a:picLocks noChangeAspect="1"/>
          </p:cNvPicPr>
          <p:nvPr/>
        </p:nvPicPr>
        <p:blipFill>
          <a:blip r:embed="rId10"/>
          <a:srcRect l="24000" r="24000"/>
          <a:stretch>
            <a:fillRect/>
          </a:stretch>
        </p:blipFill>
        <p:spPr>
          <a:xfrm>
            <a:off x="8128000" y="4216400"/>
            <a:ext cx="1320800" cy="1905000"/>
          </a:xfrm>
          <a:prstGeom prst="rect">
            <a:avLst/>
          </a:prstGeom>
        </p:spPr>
      </p:pic>
      <p:sp>
        <p:nvSpPr>
          <p:cNvPr id="69" name="TextBox 68"/>
          <p:cNvSpPr txBox="1"/>
          <p:nvPr/>
        </p:nvSpPr>
        <p:spPr>
          <a:xfrm>
            <a:off x="9626600" y="4368800"/>
            <a:ext cx="18542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0B308E"/>
                </a:solidFill>
                <a:latin typeface="Segoe UI Semibold"/>
              </a:rPr>
              <a:t>PAPUA NEW GUINEA</a:t>
            </a:r>
          </a:p>
        </p:txBody>
      </p:sp>
      <p:sp>
        <p:nvSpPr>
          <p:cNvPr id="70" name="TextBox 69"/>
          <p:cNvSpPr txBox="1"/>
          <p:nvPr/>
        </p:nvSpPr>
        <p:spPr>
          <a:xfrm>
            <a:off x="9626600" y="4572000"/>
            <a:ext cx="1854200" cy="254000"/>
          </a:xfrm>
          <a:prstGeom prst="rect">
            <a:avLst/>
          </a:prstGeom>
          <a:noFill/>
        </p:spPr>
        <p:txBody>
          <a:bodyPr wrap="square" lIns="0" rIns="0" tIns="0" bIns="0" anchor="ctr">
            <a:spAutoFit/>
          </a:bodyPr>
          <a:lstStyle/>
          <a:p>
            <a:pPr algn="l">
              <a:lnSpc>
                <a:spcPct val="120000"/>
              </a:lnSpc>
              <a:spcAft>
                <a:spcPts val="0"/>
              </a:spcAft>
            </a:pPr>
            <a:r>
              <a:rPr sz="1350" b="0">
                <a:solidFill>
                  <a:srgbClr val="0B308E"/>
                </a:solidFill>
                <a:latin typeface="Segoe UI Semibold"/>
              </a:rPr>
              <a:t>Police HQ</a:t>
            </a:r>
          </a:p>
        </p:txBody>
      </p:sp>
      <p:sp>
        <p:nvSpPr>
          <p:cNvPr id="71" name="TextBox 70"/>
          <p:cNvSpPr txBox="1"/>
          <p:nvPr/>
        </p:nvSpPr>
        <p:spPr>
          <a:xfrm>
            <a:off x="9626600" y="4851400"/>
            <a:ext cx="1854200" cy="431800"/>
          </a:xfrm>
          <a:prstGeom prst="rect">
            <a:avLst/>
          </a:prstGeom>
          <a:noFill/>
        </p:spPr>
        <p:txBody>
          <a:bodyPr wrap="square" lIns="0" rIns="0" tIns="0" bIns="0" anchor="ctr">
            <a:spAutoFit/>
          </a:bodyPr>
          <a:lstStyle/>
          <a:p>
            <a:pPr algn="l">
              <a:lnSpc>
                <a:spcPct val="120000"/>
              </a:lnSpc>
              <a:spcAft>
                <a:spcPts val="0"/>
              </a:spcAft>
            </a:pPr>
            <a:r>
              <a:rPr sz="2600" b="0">
                <a:solidFill>
                  <a:srgbClr val="0B308E"/>
                </a:solidFill>
                <a:latin typeface="Segoe UI Light"/>
              </a:rPr>
              <a:t>3,000</a:t>
            </a:r>
          </a:p>
        </p:txBody>
      </p:sp>
      <p:sp>
        <p:nvSpPr>
          <p:cNvPr id="72" name="TextBox 71"/>
          <p:cNvSpPr txBox="1"/>
          <p:nvPr/>
        </p:nvSpPr>
        <p:spPr>
          <a:xfrm>
            <a:off x="9626600" y="5283200"/>
            <a:ext cx="1854200" cy="203200"/>
          </a:xfrm>
          <a:prstGeom prst="rect">
            <a:avLst/>
          </a:prstGeom>
          <a:noFill/>
        </p:spPr>
        <p:txBody>
          <a:bodyPr wrap="square" lIns="0" rIns="0" tIns="0" bIns="0" anchor="ctr">
            <a:spAutoFit/>
          </a:bodyPr>
          <a:lstStyle/>
          <a:p>
            <a:pPr algn="l">
              <a:lnSpc>
                <a:spcPct val="120000"/>
              </a:lnSpc>
              <a:spcAft>
                <a:spcPts val="0"/>
              </a:spcAft>
            </a:pPr>
            <a:r>
              <a:rPr sz="1050" b="0">
                <a:solidFill>
                  <a:srgbClr val="55607A"/>
                </a:solidFill>
                <a:latin typeface="Segoe UI"/>
              </a:rPr>
              <a:t>officers served</a:t>
            </a:r>
          </a:p>
        </p:txBody>
      </p:sp>
      <p:pic>
        <p:nvPicPr>
          <p:cNvPr id="73" name="Picture 72" descr="check_green.png"/>
          <p:cNvPicPr>
            <a:picLocks noChangeAspect="1"/>
          </p:cNvPicPr>
          <p:nvPr/>
        </p:nvPicPr>
        <p:blipFill>
          <a:blip r:embed="rId4"/>
          <a:stretch>
            <a:fillRect/>
          </a:stretch>
        </p:blipFill>
        <p:spPr>
          <a:xfrm>
            <a:off x="9626600" y="5613400"/>
            <a:ext cx="152400" cy="152400"/>
          </a:xfrm>
          <a:prstGeom prst="rect">
            <a:avLst/>
          </a:prstGeom>
        </p:spPr>
      </p:pic>
      <p:sp>
        <p:nvSpPr>
          <p:cNvPr id="74" name="TextBox 73"/>
          <p:cNvSpPr txBox="1"/>
          <p:nvPr/>
        </p:nvSpPr>
        <p:spPr>
          <a:xfrm>
            <a:off x="9855200" y="5562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APEC security</a:t>
            </a:r>
          </a:p>
        </p:txBody>
      </p:sp>
      <p:pic>
        <p:nvPicPr>
          <p:cNvPr id="75" name="Picture 74" descr="check_green.png"/>
          <p:cNvPicPr>
            <a:picLocks noChangeAspect="1"/>
          </p:cNvPicPr>
          <p:nvPr/>
        </p:nvPicPr>
        <p:blipFill>
          <a:blip r:embed="rId4"/>
          <a:stretch>
            <a:fillRect/>
          </a:stretch>
        </p:blipFill>
        <p:spPr>
          <a:xfrm>
            <a:off x="9626600" y="5867400"/>
            <a:ext cx="152400" cy="152400"/>
          </a:xfrm>
          <a:prstGeom prst="rect">
            <a:avLst/>
          </a:prstGeom>
        </p:spPr>
      </p:pic>
      <p:sp>
        <p:nvSpPr>
          <p:cNvPr id="76" name="TextBox 75"/>
          <p:cNvSpPr txBox="1"/>
          <p:nvPr/>
        </p:nvSpPr>
        <p:spPr>
          <a:xfrm>
            <a:off x="9855200" y="5816600"/>
            <a:ext cx="1625600" cy="254000"/>
          </a:xfrm>
          <a:prstGeom prst="rect">
            <a:avLst/>
          </a:prstGeom>
          <a:noFill/>
        </p:spPr>
        <p:txBody>
          <a:bodyPr wrap="square" lIns="0" rIns="0" tIns="0" bIns="0" anchor="ctr">
            <a:spAutoFit/>
          </a:bodyPr>
          <a:lstStyle/>
          <a:p>
            <a:pPr algn="l">
              <a:lnSpc>
                <a:spcPct val="120000"/>
              </a:lnSpc>
              <a:spcAft>
                <a:spcPts val="0"/>
              </a:spcAft>
            </a:pPr>
            <a:r>
              <a:rPr sz="1050" b="0">
                <a:solidFill>
                  <a:srgbClr val="16213E"/>
                </a:solidFill>
                <a:latin typeface="Segoe UI"/>
              </a:rPr>
              <a:t>60 s dispatch</a:t>
            </a:r>
          </a:p>
        </p:txBody>
      </p:sp>
      <p:sp>
        <p:nvSpPr>
          <p:cNvPr id="77" name="TextBox 76"/>
          <p:cNvSpPr txBox="1"/>
          <p:nvPr/>
        </p:nvSpPr>
        <p:spPr>
          <a:xfrm>
            <a:off x="609600" y="6172200"/>
            <a:ext cx="10972800" cy="177800"/>
          </a:xfrm>
          <a:prstGeom prst="rect">
            <a:avLst/>
          </a:prstGeom>
          <a:noFill/>
        </p:spPr>
        <p:txBody>
          <a:bodyPr wrap="square" lIns="0" rIns="0" tIns="0" bIns="0" anchor="t">
            <a:spAutoFit/>
          </a:bodyPr>
          <a:lstStyle/>
          <a:p>
            <a:pPr algn="l">
              <a:lnSpc>
                <a:spcPct val="120000"/>
              </a:lnSpc>
              <a:spcAft>
                <a:spcPts val="0"/>
              </a:spcAft>
            </a:pPr>
            <a:r>
              <a:rPr sz="800" b="0">
                <a:solidFill>
                  <a:srgbClr val="93A0B4"/>
                </a:solidFill>
                <a:latin typeface="Segoe UI"/>
              </a:rPr>
              <a:t>Top row: operator networks; Hytera’s link is the 450connect whitelist. PNG photo is illustrative.</a:t>
            </a:r>
          </a:p>
        </p:txBody>
      </p:sp>
      <p:sp>
        <p:nvSpPr>
          <p:cNvPr id="78" name="TextBox 7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450 MHz Alliance, Annual Global Update (Dec 2025) p7-p9; RFI for devices (2025) p5; 450connect whitelist; Hytera showroom briefing L170, L211; PNG case records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63600" y="1524000"/>
            <a:ext cx="381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CHAPTER 04 OF 04</a:t>
            </a:r>
          </a:p>
        </p:txBody>
      </p:sp>
      <p:sp>
        <p:nvSpPr>
          <p:cNvPr id="6" name="TextBox 5"/>
          <p:cNvSpPr txBox="1"/>
          <p:nvPr/>
        </p:nvSpPr>
        <p:spPr>
          <a:xfrm>
            <a:off x="787400" y="1727200"/>
            <a:ext cx="4826000" cy="1905000"/>
          </a:xfrm>
          <a:prstGeom prst="rect">
            <a:avLst/>
          </a:prstGeom>
          <a:noFill/>
        </p:spPr>
        <p:txBody>
          <a:bodyPr wrap="square" lIns="0" rIns="0" tIns="0" bIns="0" anchor="ctr">
            <a:spAutoFit/>
          </a:bodyPr>
          <a:lstStyle/>
          <a:p>
            <a:pPr algn="l">
              <a:lnSpc>
                <a:spcPct val="120000"/>
              </a:lnSpc>
              <a:spcAft>
                <a:spcPts val="0"/>
              </a:spcAft>
            </a:pPr>
            <a:r>
              <a:rPr sz="13000" b="0">
                <a:solidFill>
                  <a:srgbClr val="0B308E"/>
                </a:solidFill>
                <a:latin typeface="Segoe UI Light"/>
              </a:rPr>
              <a:t>04</a:t>
            </a:r>
          </a:p>
        </p:txBody>
      </p:sp>
      <p:sp>
        <p:nvSpPr>
          <p:cNvPr id="7" name="Rectangle 6"/>
          <p:cNvSpPr/>
          <p:nvPr/>
        </p:nvSpPr>
        <p:spPr>
          <a:xfrm>
            <a:off x="863600" y="3759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63600" y="3987800"/>
            <a:ext cx="4826000" cy="558800"/>
          </a:xfrm>
          <a:prstGeom prst="rect">
            <a:avLst/>
          </a:prstGeom>
          <a:noFill/>
        </p:spPr>
        <p:txBody>
          <a:bodyPr wrap="square" lIns="0" rIns="0" tIns="0" bIns="0" anchor="ctr">
            <a:spAutoFit/>
          </a:bodyPr>
          <a:lstStyle/>
          <a:p>
            <a:pPr algn="l">
              <a:lnSpc>
                <a:spcPct val="120000"/>
              </a:lnSpc>
              <a:spcAft>
                <a:spcPts val="0"/>
              </a:spcAft>
            </a:pPr>
            <a:r>
              <a:rPr sz="3000" b="0">
                <a:solidFill>
                  <a:srgbClr val="0B308E"/>
                </a:solidFill>
                <a:latin typeface="Segoe UI Semibold"/>
              </a:rPr>
              <a:t>Business model</a:t>
            </a:r>
          </a:p>
        </p:txBody>
      </p:sp>
      <p:sp>
        <p:nvSpPr>
          <p:cNvPr id="9" name="TextBox 8"/>
          <p:cNvSpPr txBox="1"/>
          <p:nvPr/>
        </p:nvSpPr>
        <p:spPr>
          <a:xfrm>
            <a:off x="863600" y="4572000"/>
            <a:ext cx="4826000" cy="558800"/>
          </a:xfrm>
          <a:prstGeom prst="rect">
            <a:avLst/>
          </a:prstGeom>
          <a:noFill/>
        </p:spPr>
        <p:txBody>
          <a:bodyPr wrap="square" lIns="0" rIns="0" tIns="0" bIns="0" anchor="t">
            <a:spAutoFit/>
          </a:bodyPr>
          <a:lstStyle/>
          <a:p>
            <a:pPr algn="l">
              <a:lnSpc>
                <a:spcPct val="125000"/>
              </a:lnSpc>
              <a:spcAft>
                <a:spcPts val="0"/>
              </a:spcAft>
            </a:pPr>
            <a:r>
              <a:rPr sz="1500" b="0">
                <a:solidFill>
                  <a:srgbClr val="55607A"/>
                </a:solidFill>
                <a:latin typeface="Segoe UI"/>
              </a:rPr>
              <a:t>How could the network pay for itself?</a:t>
            </a:r>
          </a:p>
        </p:txBody>
      </p:sp>
      <p:sp>
        <p:nvSpPr>
          <p:cNvPr id="10" name="Rectangle 9"/>
          <p:cNvSpPr/>
          <p:nvPr/>
        </p:nvSpPr>
        <p:spPr>
          <a:xfrm>
            <a:off x="6197600" y="1524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477000" y="1701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radio-tower_steel.png"/>
          <p:cNvPicPr>
            <a:picLocks noChangeAspect="1"/>
          </p:cNvPicPr>
          <p:nvPr/>
        </p:nvPicPr>
        <p:blipFill>
          <a:blip r:embed="rId2"/>
          <a:stretch>
            <a:fillRect/>
          </a:stretch>
        </p:blipFill>
        <p:spPr>
          <a:xfrm>
            <a:off x="6598920" y="1823720"/>
            <a:ext cx="264160" cy="264160"/>
          </a:xfrm>
          <a:prstGeom prst="rect">
            <a:avLst/>
          </a:prstGeom>
        </p:spPr>
      </p:pic>
      <p:sp>
        <p:nvSpPr>
          <p:cNvPr id="13" name="Oval 12"/>
          <p:cNvSpPr/>
          <p:nvPr/>
        </p:nvSpPr>
        <p:spPr>
          <a:xfrm>
            <a:off x="6824980" y="1659127"/>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824980" y="1659127"/>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01</a:t>
            </a:r>
          </a:p>
        </p:txBody>
      </p:sp>
      <p:sp>
        <p:nvSpPr>
          <p:cNvPr id="15" name="TextBox 14"/>
          <p:cNvSpPr txBox="1"/>
          <p:nvPr/>
        </p:nvSpPr>
        <p:spPr>
          <a:xfrm>
            <a:off x="7289800" y="1524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450 MHz advantages</a:t>
            </a:r>
          </a:p>
        </p:txBody>
      </p:sp>
      <p:sp>
        <p:nvSpPr>
          <p:cNvPr id="16" name="Rectangle 15"/>
          <p:cNvSpPr/>
          <p:nvPr/>
        </p:nvSpPr>
        <p:spPr>
          <a:xfrm>
            <a:off x="6197600" y="2540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477000" y="2717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users_steel.png"/>
          <p:cNvPicPr>
            <a:picLocks noChangeAspect="1"/>
          </p:cNvPicPr>
          <p:nvPr/>
        </p:nvPicPr>
        <p:blipFill>
          <a:blip r:embed="rId3"/>
          <a:stretch>
            <a:fillRect/>
          </a:stretch>
        </p:blipFill>
        <p:spPr>
          <a:xfrm>
            <a:off x="6598920" y="2839720"/>
            <a:ext cx="264160" cy="264160"/>
          </a:xfrm>
          <a:prstGeom prst="rect">
            <a:avLst/>
          </a:prstGeom>
        </p:spPr>
      </p:pic>
      <p:sp>
        <p:nvSpPr>
          <p:cNvPr id="19" name="Oval 18"/>
          <p:cNvSpPr/>
          <p:nvPr/>
        </p:nvSpPr>
        <p:spPr>
          <a:xfrm>
            <a:off x="6824980" y="2675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4980" y="2675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02</a:t>
            </a:r>
          </a:p>
        </p:txBody>
      </p:sp>
      <p:sp>
        <p:nvSpPr>
          <p:cNvPr id="21" name="TextBox 20"/>
          <p:cNvSpPr txBox="1"/>
          <p:nvPr/>
        </p:nvSpPr>
        <p:spPr>
          <a:xfrm>
            <a:off x="7289800" y="2540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Target industries</a:t>
            </a:r>
          </a:p>
        </p:txBody>
      </p:sp>
      <p:sp>
        <p:nvSpPr>
          <p:cNvPr id="22" name="Rectangle 21"/>
          <p:cNvSpPr/>
          <p:nvPr/>
        </p:nvSpPr>
        <p:spPr>
          <a:xfrm>
            <a:off x="6197600" y="3556000"/>
            <a:ext cx="5384800" cy="8636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477000" y="3733800"/>
            <a:ext cx="508000" cy="508000"/>
          </a:xfrm>
          <a:prstGeom prst="ellipse">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globe_steel.png"/>
          <p:cNvPicPr>
            <a:picLocks noChangeAspect="1"/>
          </p:cNvPicPr>
          <p:nvPr/>
        </p:nvPicPr>
        <p:blipFill>
          <a:blip r:embed="rId4"/>
          <a:stretch>
            <a:fillRect/>
          </a:stretch>
        </p:blipFill>
        <p:spPr>
          <a:xfrm>
            <a:off x="6598920" y="3855720"/>
            <a:ext cx="264160" cy="264160"/>
          </a:xfrm>
          <a:prstGeom prst="rect">
            <a:avLst/>
          </a:prstGeom>
        </p:spPr>
      </p:pic>
      <p:sp>
        <p:nvSpPr>
          <p:cNvPr id="25" name="Oval 24"/>
          <p:cNvSpPr/>
          <p:nvPr/>
        </p:nvSpPr>
        <p:spPr>
          <a:xfrm>
            <a:off x="6824980" y="3691128"/>
            <a:ext cx="213360" cy="213360"/>
          </a:xfrm>
          <a:prstGeom prst="ellipse">
            <a:avLst/>
          </a:prstGeom>
          <a:solidFill>
            <a:srgbClr val="93A0B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824980" y="3691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03</a:t>
            </a:r>
          </a:p>
        </p:txBody>
      </p:sp>
      <p:sp>
        <p:nvSpPr>
          <p:cNvPr id="27" name="TextBox 26"/>
          <p:cNvSpPr txBox="1"/>
          <p:nvPr/>
        </p:nvSpPr>
        <p:spPr>
          <a:xfrm>
            <a:off x="7289800" y="3556000"/>
            <a:ext cx="4064000" cy="863600"/>
          </a:xfrm>
          <a:prstGeom prst="rect">
            <a:avLst/>
          </a:prstGeom>
          <a:noFill/>
        </p:spPr>
        <p:txBody>
          <a:bodyPr wrap="square" lIns="0" rIns="0" tIns="0" bIns="0" anchor="ctr">
            <a:spAutoFit/>
          </a:bodyPr>
          <a:lstStyle/>
          <a:p>
            <a:pPr algn="l">
              <a:lnSpc>
                <a:spcPct val="120000"/>
              </a:lnSpc>
              <a:spcAft>
                <a:spcPts val="0"/>
              </a:spcAft>
            </a:pPr>
            <a:r>
              <a:rPr sz="1400" b="0">
                <a:solidFill>
                  <a:srgbClr val="93A0B4"/>
                </a:solidFill>
                <a:latin typeface="Segoe UI Semibold"/>
              </a:rPr>
              <a:t>Reference cases</a:t>
            </a:r>
          </a:p>
        </p:txBody>
      </p:sp>
      <p:sp>
        <p:nvSpPr>
          <p:cNvPr id="28" name="Rectangle 27"/>
          <p:cNvSpPr/>
          <p:nvPr/>
        </p:nvSpPr>
        <p:spPr>
          <a:xfrm>
            <a:off x="6197600" y="4572000"/>
            <a:ext cx="5384800" cy="863600"/>
          </a:xfrm>
          <a:prstGeom prst="rect">
            <a:avLst/>
          </a:prstGeom>
          <a:solidFill>
            <a:srgbClr val="F1F6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97600" y="4572000"/>
            <a:ext cx="50800" cy="8636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77000" y="4749800"/>
            <a:ext cx="508000" cy="5080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1" name="Picture 30" descr="coins_white.png"/>
          <p:cNvPicPr>
            <a:picLocks noChangeAspect="1"/>
          </p:cNvPicPr>
          <p:nvPr/>
        </p:nvPicPr>
        <p:blipFill>
          <a:blip r:embed="rId5"/>
          <a:stretch>
            <a:fillRect/>
          </a:stretch>
        </p:blipFill>
        <p:spPr>
          <a:xfrm>
            <a:off x="6598920" y="4871720"/>
            <a:ext cx="264160" cy="264160"/>
          </a:xfrm>
          <a:prstGeom prst="rect">
            <a:avLst/>
          </a:prstGeom>
        </p:spPr>
      </p:pic>
      <p:sp>
        <p:nvSpPr>
          <p:cNvPr id="32" name="Oval 31"/>
          <p:cNvSpPr/>
          <p:nvPr/>
        </p:nvSpPr>
        <p:spPr>
          <a:xfrm>
            <a:off x="6824980" y="4707128"/>
            <a:ext cx="213360" cy="213360"/>
          </a:xfrm>
          <a:prstGeom prst="ellipse">
            <a:avLst/>
          </a:prstGeom>
          <a:solidFill>
            <a:srgbClr val="0B308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4980" y="4707128"/>
            <a:ext cx="213360" cy="213360"/>
          </a:xfrm>
          <a:prstGeom prst="rect">
            <a:avLst/>
          </a:prstGeom>
          <a:noFill/>
        </p:spPr>
        <p:txBody>
          <a:bodyPr wrap="square" lIns="0" rIns="0" tIns="0" bIns="0" anchor="ctr">
            <a:spAutoFit/>
          </a:bodyPr>
          <a:lstStyle/>
          <a:p>
            <a:pPr algn="ctr">
              <a:lnSpc>
                <a:spcPct val="120000"/>
              </a:lnSpc>
              <a:spcAft>
                <a:spcPts val="0"/>
              </a:spcAft>
            </a:pPr>
            <a:r>
              <a:rPr sz="840" b="0">
                <a:solidFill>
                  <a:srgbClr val="FFFFFF"/>
                </a:solidFill>
                <a:latin typeface="Segoe UI Semibold"/>
              </a:rPr>
              <a:t>04</a:t>
            </a:r>
          </a:p>
        </p:txBody>
      </p:sp>
      <p:sp>
        <p:nvSpPr>
          <p:cNvPr id="34" name="TextBox 33"/>
          <p:cNvSpPr txBox="1"/>
          <p:nvPr/>
        </p:nvSpPr>
        <p:spPr>
          <a:xfrm>
            <a:off x="7289800" y="4572000"/>
            <a:ext cx="4064000" cy="863600"/>
          </a:xfrm>
          <a:prstGeom prst="rect">
            <a:avLst/>
          </a:prstGeom>
          <a:noFill/>
        </p:spPr>
        <p:txBody>
          <a:bodyPr wrap="square" lIns="0" rIns="0" tIns="0" bIns="0" anchor="ctr">
            <a:spAutoFit/>
          </a:bodyPr>
          <a:lstStyle/>
          <a:p>
            <a:pPr algn="l">
              <a:lnSpc>
                <a:spcPct val="120000"/>
              </a:lnSpc>
              <a:spcAft>
                <a:spcPts val="0"/>
              </a:spcAft>
            </a:pPr>
            <a:r>
              <a:rPr sz="1700" b="0">
                <a:solidFill>
                  <a:srgbClr val="0B308E"/>
                </a:solidFill>
                <a:latin typeface="Segoe UI Semibold"/>
              </a:rPr>
              <a:t>Business model</a:t>
            </a:r>
          </a:p>
        </p:txBody>
      </p:sp>
      <p:sp>
        <p:nvSpPr>
          <p:cNvPr id="35" name="TextBox 34"/>
          <p:cNvSpPr txBox="1"/>
          <p:nvPr/>
        </p:nvSpPr>
        <p:spPr>
          <a:xfrm>
            <a:off x="11201400" y="63500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09600" y="279400"/>
            <a:ext cx="7620000" cy="203200"/>
          </a:xfrm>
          <a:prstGeom prst="rect">
            <a:avLst/>
          </a:prstGeom>
          <a:noFill/>
        </p:spPr>
        <p:txBody>
          <a:bodyPr wrap="square" lIns="0" rIns="0" tIns="0" bIns="0" anchor="ctr">
            <a:spAutoFit/>
          </a:bodyPr>
          <a:lstStyle/>
          <a:p>
            <a:pPr algn="l">
              <a:lnSpc>
                <a:spcPct val="120000"/>
              </a:lnSpc>
              <a:spcAft>
                <a:spcPts val="0"/>
              </a:spcAft>
            </a:pPr>
            <a:r>
              <a:rPr sz="900" b="0" spc="120">
                <a:solidFill>
                  <a:srgbClr val="7F9B00"/>
                </a:solidFill>
                <a:latin typeface="Segoe UI Semibold"/>
              </a:rPr>
              <a:t>04   BUSINESS MODEL</a:t>
            </a:r>
          </a:p>
        </p:txBody>
      </p:sp>
      <p:sp>
        <p:nvSpPr>
          <p:cNvPr id="4" name="Rectangle 3"/>
          <p:cNvSpPr/>
          <p:nvPr/>
        </p:nvSpPr>
        <p:spPr>
          <a:xfrm>
            <a:off x="96266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99822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0337800" y="361950"/>
            <a:ext cx="304800" cy="38100"/>
          </a:xfrm>
          <a:prstGeom prst="rect">
            <a:avLst/>
          </a:prstGeom>
          <a:solidFill>
            <a:srgbClr val="DCE5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0693400" y="361950"/>
            <a:ext cx="304800" cy="381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201400" y="279400"/>
            <a:ext cx="381000" cy="203200"/>
          </a:xfrm>
          <a:prstGeom prst="rect">
            <a:avLst/>
          </a:prstGeom>
          <a:noFill/>
        </p:spPr>
        <p:txBody>
          <a:bodyPr wrap="square" lIns="0" rIns="0" tIns="0" bIns="0" anchor="ctr">
            <a:spAutoFit/>
          </a:bodyPr>
          <a:lstStyle/>
          <a:p>
            <a:pPr algn="r">
              <a:lnSpc>
                <a:spcPct val="120000"/>
              </a:lnSpc>
              <a:spcAft>
                <a:spcPts val="0"/>
              </a:spcAft>
            </a:pPr>
            <a:r>
              <a:rPr sz="1100" b="0">
                <a:solidFill>
                  <a:srgbClr val="0B308E"/>
                </a:solidFill>
                <a:latin typeface="Segoe UI Semibold"/>
              </a:rPr>
              <a:t>21</a:t>
            </a:r>
          </a:p>
        </p:txBody>
      </p:sp>
      <p:sp>
        <p:nvSpPr>
          <p:cNvPr id="9" name="TextBox 8"/>
          <p:cNvSpPr txBox="1"/>
          <p:nvPr/>
        </p:nvSpPr>
        <p:spPr>
          <a:xfrm>
            <a:off x="609600" y="508000"/>
            <a:ext cx="10972800" cy="889000"/>
          </a:xfrm>
          <a:prstGeom prst="rect">
            <a:avLst/>
          </a:prstGeom>
          <a:noFill/>
        </p:spPr>
        <p:txBody>
          <a:bodyPr wrap="square" lIns="0" rIns="0" tIns="0" bIns="0" anchor="ctr">
            <a:spAutoFit/>
          </a:bodyPr>
          <a:lstStyle/>
          <a:p>
            <a:pPr algn="l">
              <a:lnSpc>
                <a:spcPct val="105000"/>
              </a:lnSpc>
              <a:spcAft>
                <a:spcPts val="0"/>
              </a:spcAft>
            </a:pPr>
            <a:r>
              <a:rPr sz="2200" b="0">
                <a:solidFill>
                  <a:srgbClr val="0B308E"/>
                </a:solidFill>
                <a:latin typeface="Segoe UI Semibold"/>
              </a:rPr>
              <a:t>Utilities fund the coverage; every other industry builds on it</a:t>
            </a:r>
          </a:p>
        </p:txBody>
      </p:sp>
      <p:sp>
        <p:nvSpPr>
          <p:cNvPr id="10" name="Rectangle 9"/>
          <p:cNvSpPr/>
          <p:nvPr/>
        </p:nvSpPr>
        <p:spPr>
          <a:xfrm>
            <a:off x="609600" y="1549400"/>
            <a:ext cx="3352800" cy="965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package_white.png"/>
          <p:cNvPicPr>
            <a:picLocks noChangeAspect="1"/>
          </p:cNvPicPr>
          <p:nvPr/>
        </p:nvPicPr>
        <p:blipFill>
          <a:blip r:embed="rId2"/>
          <a:stretch>
            <a:fillRect/>
          </a:stretch>
        </p:blipFill>
        <p:spPr>
          <a:xfrm>
            <a:off x="812800" y="1778000"/>
            <a:ext cx="508000" cy="508000"/>
          </a:xfrm>
          <a:prstGeom prst="rect">
            <a:avLst/>
          </a:prstGeom>
        </p:spPr>
      </p:pic>
      <p:sp>
        <p:nvSpPr>
          <p:cNvPr id="12" name="TextBox 11"/>
          <p:cNvSpPr txBox="1"/>
          <p:nvPr/>
        </p:nvSpPr>
        <p:spPr>
          <a:xfrm>
            <a:off x="147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Hytera</a:t>
            </a:r>
          </a:p>
        </p:txBody>
      </p:sp>
      <p:sp>
        <p:nvSpPr>
          <p:cNvPr id="13" name="TextBox 12"/>
          <p:cNvSpPr txBox="1"/>
          <p:nvPr/>
        </p:nvSpPr>
        <p:spPr>
          <a:xfrm>
            <a:off x="147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Radio, terminals, platform</a:t>
            </a:r>
          </a:p>
        </p:txBody>
      </p:sp>
      <p:pic>
        <p:nvPicPr>
          <p:cNvPr id="14" name="Picture 13" descr="arrow-right_steel.png"/>
          <p:cNvPicPr>
            <a:picLocks noChangeAspect="1"/>
          </p:cNvPicPr>
          <p:nvPr/>
        </p:nvPicPr>
        <p:blipFill>
          <a:blip r:embed="rId3"/>
          <a:stretch>
            <a:fillRect/>
          </a:stretch>
        </p:blipFill>
        <p:spPr>
          <a:xfrm>
            <a:off x="4038600" y="1905000"/>
            <a:ext cx="304800" cy="304800"/>
          </a:xfrm>
          <a:prstGeom prst="rect">
            <a:avLst/>
          </a:prstGeom>
        </p:spPr>
      </p:pic>
      <p:sp>
        <p:nvSpPr>
          <p:cNvPr id="15" name="Rectangle 14"/>
          <p:cNvSpPr/>
          <p:nvPr/>
        </p:nvSpPr>
        <p:spPr>
          <a:xfrm>
            <a:off x="4419600" y="1549400"/>
            <a:ext cx="3352800" cy="965200"/>
          </a:xfrm>
          <a:prstGeom prst="rect">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radio-tower_white.png"/>
          <p:cNvPicPr>
            <a:picLocks noChangeAspect="1"/>
          </p:cNvPicPr>
          <p:nvPr/>
        </p:nvPicPr>
        <p:blipFill>
          <a:blip r:embed="rId4"/>
          <a:stretch>
            <a:fillRect/>
          </a:stretch>
        </p:blipFill>
        <p:spPr>
          <a:xfrm>
            <a:off x="4622800" y="1778000"/>
            <a:ext cx="508000" cy="508000"/>
          </a:xfrm>
          <a:prstGeom prst="rect">
            <a:avLst/>
          </a:prstGeom>
        </p:spPr>
      </p:pic>
      <p:sp>
        <p:nvSpPr>
          <p:cNvPr id="17" name="TextBox 16"/>
          <p:cNvSpPr txBox="1"/>
          <p:nvPr/>
        </p:nvSpPr>
        <p:spPr>
          <a:xfrm>
            <a:off x="528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Globe Telecom</a:t>
            </a:r>
          </a:p>
        </p:txBody>
      </p:sp>
      <p:sp>
        <p:nvSpPr>
          <p:cNvPr id="18" name="TextBox 17"/>
          <p:cNvSpPr txBox="1"/>
          <p:nvPr/>
        </p:nvSpPr>
        <p:spPr>
          <a:xfrm>
            <a:off x="528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FFFFFF"/>
                </a:solidFill>
                <a:latin typeface="Segoe UI"/>
              </a:rPr>
              <a:t>Spectrum, network, customers</a:t>
            </a:r>
          </a:p>
        </p:txBody>
      </p:sp>
      <p:pic>
        <p:nvPicPr>
          <p:cNvPr id="19" name="Picture 18" descr="arrow-right_steel.png"/>
          <p:cNvPicPr>
            <a:picLocks noChangeAspect="1"/>
          </p:cNvPicPr>
          <p:nvPr/>
        </p:nvPicPr>
        <p:blipFill>
          <a:blip r:embed="rId3"/>
          <a:stretch>
            <a:fillRect/>
          </a:stretch>
        </p:blipFill>
        <p:spPr>
          <a:xfrm>
            <a:off x="7848600" y="1905000"/>
            <a:ext cx="304800" cy="304800"/>
          </a:xfrm>
          <a:prstGeom prst="rect">
            <a:avLst/>
          </a:prstGeom>
        </p:spPr>
      </p:pic>
      <p:sp>
        <p:nvSpPr>
          <p:cNvPr id="20" name="Rectangle 19"/>
          <p:cNvSpPr/>
          <p:nvPr/>
        </p:nvSpPr>
        <p:spPr>
          <a:xfrm>
            <a:off x="8229600" y="1549400"/>
            <a:ext cx="3352800" cy="965200"/>
          </a:xfrm>
          <a:prstGeom prst="rect">
            <a:avLst/>
          </a:prstGeom>
          <a:solidFill>
            <a:srgbClr val="3A5B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building-2_white.png"/>
          <p:cNvPicPr>
            <a:picLocks noChangeAspect="1"/>
          </p:cNvPicPr>
          <p:nvPr/>
        </p:nvPicPr>
        <p:blipFill>
          <a:blip r:embed="rId5"/>
          <a:stretch>
            <a:fillRect/>
          </a:stretch>
        </p:blipFill>
        <p:spPr>
          <a:xfrm>
            <a:off x="8432800" y="1778000"/>
            <a:ext cx="508000" cy="508000"/>
          </a:xfrm>
          <a:prstGeom prst="rect">
            <a:avLst/>
          </a:prstGeom>
        </p:spPr>
      </p:pic>
      <p:sp>
        <p:nvSpPr>
          <p:cNvPr id="22" name="TextBox 21"/>
          <p:cNvSpPr txBox="1"/>
          <p:nvPr/>
        </p:nvSpPr>
        <p:spPr>
          <a:xfrm>
            <a:off x="9093200" y="1651000"/>
            <a:ext cx="2362200" cy="381000"/>
          </a:xfrm>
          <a:prstGeom prst="rect">
            <a:avLst/>
          </a:prstGeom>
          <a:noFill/>
        </p:spPr>
        <p:txBody>
          <a:bodyPr wrap="square" lIns="0" rIns="0" tIns="0" bIns="0" anchor="ctr">
            <a:spAutoFit/>
          </a:bodyPr>
          <a:lstStyle/>
          <a:p>
            <a:pPr algn="l">
              <a:lnSpc>
                <a:spcPct val="120000"/>
              </a:lnSpc>
              <a:spcAft>
                <a:spcPts val="0"/>
              </a:spcAft>
            </a:pPr>
            <a:r>
              <a:rPr sz="1500" b="0">
                <a:solidFill>
                  <a:srgbClr val="FFFFFF"/>
                </a:solidFill>
                <a:latin typeface="Segoe UI Semibold"/>
              </a:rPr>
              <a:t>Anchor customers</a:t>
            </a:r>
          </a:p>
        </p:txBody>
      </p:sp>
      <p:sp>
        <p:nvSpPr>
          <p:cNvPr id="23" name="TextBox 22"/>
          <p:cNvSpPr txBox="1"/>
          <p:nvPr/>
        </p:nvSpPr>
        <p:spPr>
          <a:xfrm>
            <a:off x="9093200" y="2006600"/>
            <a:ext cx="2362200" cy="355600"/>
          </a:xfrm>
          <a:prstGeom prst="rect">
            <a:avLst/>
          </a:prstGeom>
          <a:noFill/>
        </p:spPr>
        <p:txBody>
          <a:bodyPr wrap="square" lIns="0" rIns="0" tIns="0" bIns="0" anchor="ctr">
            <a:spAutoFit/>
          </a:bodyPr>
          <a:lstStyle/>
          <a:p>
            <a:pPr algn="l">
              <a:lnSpc>
                <a:spcPct val="120000"/>
              </a:lnSpc>
              <a:spcAft>
                <a:spcPts val="0"/>
              </a:spcAft>
            </a:pPr>
            <a:r>
              <a:rPr sz="1200" b="0">
                <a:solidFill>
                  <a:srgbClr val="DCE5F3"/>
                </a:solidFill>
                <a:latin typeface="Segoe UI"/>
              </a:rPr>
              <a:t>Contract capacity first</a:t>
            </a:r>
          </a:p>
        </p:txBody>
      </p:sp>
      <p:sp>
        <p:nvSpPr>
          <p:cNvPr id="24" name="TextBox 23"/>
          <p:cNvSpPr txBox="1"/>
          <p:nvPr/>
        </p:nvSpPr>
        <p:spPr>
          <a:xfrm>
            <a:off x="609600" y="2743200"/>
            <a:ext cx="5080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SIX REVENUE LINES  ·  AND WHO BUYS THEM</a:t>
            </a:r>
          </a:p>
        </p:txBody>
      </p:sp>
      <p:sp>
        <p:nvSpPr>
          <p:cNvPr id="25" name="Rectangle 24"/>
          <p:cNvSpPr/>
          <p:nvPr/>
        </p:nvSpPr>
        <p:spPr>
          <a:xfrm>
            <a:off x="6096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812800" y="3340100"/>
            <a:ext cx="533400" cy="533400"/>
          </a:xfrm>
          <a:prstGeom prst="ellipse">
            <a:avLst/>
          </a:prstGeom>
          <a:solidFill>
            <a:srgbClr val="7F9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gauge_white.png"/>
          <p:cNvPicPr>
            <a:picLocks noChangeAspect="1"/>
          </p:cNvPicPr>
          <p:nvPr/>
        </p:nvPicPr>
        <p:blipFill>
          <a:blip r:embed="rId6"/>
          <a:stretch>
            <a:fillRect/>
          </a:stretch>
        </p:blipFill>
        <p:spPr>
          <a:xfrm>
            <a:off x="940816" y="3468116"/>
            <a:ext cx="277368" cy="277368"/>
          </a:xfrm>
          <a:prstGeom prst="rect">
            <a:avLst/>
          </a:prstGeom>
        </p:spPr>
      </p:pic>
      <p:sp>
        <p:nvSpPr>
          <p:cNvPr id="28" name="TextBox 27"/>
          <p:cNvSpPr txBox="1"/>
          <p:nvPr/>
        </p:nvSpPr>
        <p:spPr>
          <a:xfrm>
            <a:off x="15240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IoT connectivity</a:t>
            </a:r>
          </a:p>
        </p:txBody>
      </p:sp>
      <p:sp>
        <p:nvSpPr>
          <p:cNvPr id="29" name="TextBox 28"/>
          <p:cNvSpPr txBox="1"/>
          <p:nvPr/>
        </p:nvSpPr>
        <p:spPr>
          <a:xfrm>
            <a:off x="15240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30" name="Rectangle 29"/>
          <p:cNvSpPr/>
          <p:nvPr/>
        </p:nvSpPr>
        <p:spPr>
          <a:xfrm>
            <a:off x="43688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5720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2" name="Picture 31" descr="radio_white.png"/>
          <p:cNvPicPr>
            <a:picLocks noChangeAspect="1"/>
          </p:cNvPicPr>
          <p:nvPr/>
        </p:nvPicPr>
        <p:blipFill>
          <a:blip r:embed="rId7"/>
          <a:stretch>
            <a:fillRect/>
          </a:stretch>
        </p:blipFill>
        <p:spPr>
          <a:xfrm>
            <a:off x="4700016" y="3468116"/>
            <a:ext cx="277368" cy="277368"/>
          </a:xfrm>
          <a:prstGeom prst="rect">
            <a:avLst/>
          </a:prstGeom>
        </p:spPr>
      </p:pic>
      <p:sp>
        <p:nvSpPr>
          <p:cNvPr id="33" name="TextBox 32"/>
          <p:cNvSpPr txBox="1"/>
          <p:nvPr/>
        </p:nvSpPr>
        <p:spPr>
          <a:xfrm>
            <a:off x="52832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MCX as a service</a:t>
            </a:r>
          </a:p>
        </p:txBody>
      </p:sp>
      <p:sp>
        <p:nvSpPr>
          <p:cNvPr id="34" name="TextBox 33"/>
          <p:cNvSpPr txBox="1"/>
          <p:nvPr/>
        </p:nvSpPr>
        <p:spPr>
          <a:xfrm>
            <a:off x="52832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  ·  Port</a:t>
            </a:r>
          </a:p>
        </p:txBody>
      </p:sp>
      <p:sp>
        <p:nvSpPr>
          <p:cNvPr id="35" name="Rectangle 34"/>
          <p:cNvSpPr/>
          <p:nvPr/>
        </p:nvSpPr>
        <p:spPr>
          <a:xfrm>
            <a:off x="8128000" y="30226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331200" y="33401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layers_white.png"/>
          <p:cNvPicPr>
            <a:picLocks noChangeAspect="1"/>
          </p:cNvPicPr>
          <p:nvPr/>
        </p:nvPicPr>
        <p:blipFill>
          <a:blip r:embed="rId8"/>
          <a:stretch>
            <a:fillRect/>
          </a:stretch>
        </p:blipFill>
        <p:spPr>
          <a:xfrm>
            <a:off x="8459216" y="3468116"/>
            <a:ext cx="277368" cy="277368"/>
          </a:xfrm>
          <a:prstGeom prst="rect">
            <a:avLst/>
          </a:prstGeom>
        </p:spPr>
      </p:pic>
      <p:sp>
        <p:nvSpPr>
          <p:cNvPr id="38" name="TextBox 37"/>
          <p:cNvSpPr txBox="1"/>
          <p:nvPr/>
        </p:nvSpPr>
        <p:spPr>
          <a:xfrm>
            <a:off x="9042400" y="32512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Capacity packages</a:t>
            </a:r>
          </a:p>
        </p:txBody>
      </p:sp>
      <p:sp>
        <p:nvSpPr>
          <p:cNvPr id="39" name="TextBox 38"/>
          <p:cNvSpPr txBox="1"/>
          <p:nvPr/>
        </p:nvSpPr>
        <p:spPr>
          <a:xfrm>
            <a:off x="9042400" y="36068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Port</a:t>
            </a:r>
          </a:p>
        </p:txBody>
      </p:sp>
      <p:sp>
        <p:nvSpPr>
          <p:cNvPr id="40" name="Rectangle 39"/>
          <p:cNvSpPr/>
          <p:nvPr/>
        </p:nvSpPr>
        <p:spPr>
          <a:xfrm>
            <a:off x="6096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Oval 40"/>
          <p:cNvSpPr/>
          <p:nvPr/>
        </p:nvSpPr>
        <p:spPr>
          <a:xfrm>
            <a:off x="8128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2" name="Picture 41" descr="smartphone_white.png"/>
          <p:cNvPicPr>
            <a:picLocks noChangeAspect="1"/>
          </p:cNvPicPr>
          <p:nvPr/>
        </p:nvPicPr>
        <p:blipFill>
          <a:blip r:embed="rId9"/>
          <a:stretch>
            <a:fillRect/>
          </a:stretch>
        </p:blipFill>
        <p:spPr>
          <a:xfrm>
            <a:off x="940816" y="4788916"/>
            <a:ext cx="277368" cy="277368"/>
          </a:xfrm>
          <a:prstGeom prst="rect">
            <a:avLst/>
          </a:prstGeom>
        </p:spPr>
      </p:pic>
      <p:sp>
        <p:nvSpPr>
          <p:cNvPr id="43" name="TextBox 42"/>
          <p:cNvSpPr txBox="1"/>
          <p:nvPr/>
        </p:nvSpPr>
        <p:spPr>
          <a:xfrm>
            <a:off x="15240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Devices as a service</a:t>
            </a:r>
          </a:p>
        </p:txBody>
      </p:sp>
      <p:sp>
        <p:nvSpPr>
          <p:cNvPr id="44" name="TextBox 43"/>
          <p:cNvSpPr txBox="1"/>
          <p:nvPr/>
        </p:nvSpPr>
        <p:spPr>
          <a:xfrm>
            <a:off x="15240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Police  ·  Rail</a:t>
            </a:r>
          </a:p>
        </p:txBody>
      </p:sp>
      <p:sp>
        <p:nvSpPr>
          <p:cNvPr id="45" name="Rectangle 44"/>
          <p:cNvSpPr/>
          <p:nvPr/>
        </p:nvSpPr>
        <p:spPr>
          <a:xfrm>
            <a:off x="43688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Oval 45"/>
          <p:cNvSpPr/>
          <p:nvPr/>
        </p:nvSpPr>
        <p:spPr>
          <a:xfrm>
            <a:off x="45720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47" name="Picture 46" descr="cpu_white.png"/>
          <p:cNvPicPr>
            <a:picLocks noChangeAspect="1"/>
          </p:cNvPicPr>
          <p:nvPr/>
        </p:nvPicPr>
        <p:blipFill>
          <a:blip r:embed="rId10"/>
          <a:stretch>
            <a:fillRect/>
          </a:stretch>
        </p:blipFill>
        <p:spPr>
          <a:xfrm>
            <a:off x="4700016" y="4788916"/>
            <a:ext cx="277368" cy="277368"/>
          </a:xfrm>
          <a:prstGeom prst="rect">
            <a:avLst/>
          </a:prstGeom>
        </p:spPr>
      </p:pic>
      <p:sp>
        <p:nvSpPr>
          <p:cNvPr id="48" name="TextBox 47"/>
          <p:cNvSpPr txBox="1"/>
          <p:nvPr/>
        </p:nvSpPr>
        <p:spPr>
          <a:xfrm>
            <a:off x="52832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Integration &amp; O&amp;M</a:t>
            </a:r>
          </a:p>
        </p:txBody>
      </p:sp>
      <p:sp>
        <p:nvSpPr>
          <p:cNvPr id="49" name="TextBox 48"/>
          <p:cNvSpPr txBox="1"/>
          <p:nvPr/>
        </p:nvSpPr>
        <p:spPr>
          <a:xfrm>
            <a:off x="52832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Power  ·  Water</a:t>
            </a:r>
          </a:p>
        </p:txBody>
      </p:sp>
      <p:sp>
        <p:nvSpPr>
          <p:cNvPr id="50" name="Rectangle 49"/>
          <p:cNvSpPr/>
          <p:nvPr/>
        </p:nvSpPr>
        <p:spPr>
          <a:xfrm>
            <a:off x="8128000" y="4343400"/>
            <a:ext cx="3454400" cy="1168400"/>
          </a:xfrm>
          <a:prstGeom prst="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Oval 50"/>
          <p:cNvSpPr/>
          <p:nvPr/>
        </p:nvSpPr>
        <p:spPr>
          <a:xfrm>
            <a:off x="8331200" y="4660900"/>
            <a:ext cx="533400" cy="533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2" name="Picture 51" descr="siren_white.png"/>
          <p:cNvPicPr>
            <a:picLocks noChangeAspect="1"/>
          </p:cNvPicPr>
          <p:nvPr/>
        </p:nvPicPr>
        <p:blipFill>
          <a:blip r:embed="rId11"/>
          <a:stretch>
            <a:fillRect/>
          </a:stretch>
        </p:blipFill>
        <p:spPr>
          <a:xfrm>
            <a:off x="8459216" y="4788916"/>
            <a:ext cx="277368" cy="277368"/>
          </a:xfrm>
          <a:prstGeom prst="rect">
            <a:avLst/>
          </a:prstGeom>
        </p:spPr>
      </p:pic>
      <p:sp>
        <p:nvSpPr>
          <p:cNvPr id="53" name="TextBox 52"/>
          <p:cNvSpPr txBox="1"/>
          <p:nvPr/>
        </p:nvSpPr>
        <p:spPr>
          <a:xfrm>
            <a:off x="9042400" y="4572000"/>
            <a:ext cx="2413000" cy="355600"/>
          </a:xfrm>
          <a:prstGeom prst="rect">
            <a:avLst/>
          </a:prstGeom>
          <a:noFill/>
        </p:spPr>
        <p:txBody>
          <a:bodyPr wrap="square" lIns="0" rIns="0" tIns="0" bIns="0" anchor="ctr">
            <a:spAutoFit/>
          </a:bodyPr>
          <a:lstStyle/>
          <a:p>
            <a:pPr algn="l">
              <a:lnSpc>
                <a:spcPct val="120000"/>
              </a:lnSpc>
              <a:spcAft>
                <a:spcPts val="0"/>
              </a:spcAft>
            </a:pPr>
            <a:r>
              <a:rPr sz="1400" b="0">
                <a:solidFill>
                  <a:srgbClr val="0B308E"/>
                </a:solidFill>
                <a:latin typeface="Segoe UI Semibold"/>
              </a:rPr>
              <a:t>Emergency readiness</a:t>
            </a:r>
          </a:p>
        </p:txBody>
      </p:sp>
      <p:sp>
        <p:nvSpPr>
          <p:cNvPr id="54" name="TextBox 53"/>
          <p:cNvSpPr txBox="1"/>
          <p:nvPr/>
        </p:nvSpPr>
        <p:spPr>
          <a:xfrm>
            <a:off x="9042400" y="4927600"/>
            <a:ext cx="2413000" cy="330200"/>
          </a:xfrm>
          <a:prstGeom prst="rect">
            <a:avLst/>
          </a:prstGeom>
          <a:noFill/>
        </p:spPr>
        <p:txBody>
          <a:bodyPr wrap="square" lIns="0" rIns="0" tIns="0" bIns="0" anchor="ctr">
            <a:spAutoFit/>
          </a:bodyPr>
          <a:lstStyle/>
          <a:p>
            <a:pPr algn="l">
              <a:lnSpc>
                <a:spcPct val="120000"/>
              </a:lnSpc>
              <a:spcAft>
                <a:spcPts val="0"/>
              </a:spcAft>
            </a:pPr>
            <a:r>
              <a:rPr sz="1200" b="0">
                <a:solidFill>
                  <a:srgbClr val="7F9B00"/>
                </a:solidFill>
                <a:latin typeface="Segoe UI"/>
              </a:rPr>
              <a:t>Emergency</a:t>
            </a:r>
          </a:p>
        </p:txBody>
      </p:sp>
      <p:sp>
        <p:nvSpPr>
          <p:cNvPr id="55" name="Rectangle 54"/>
          <p:cNvSpPr/>
          <p:nvPr/>
        </p:nvSpPr>
        <p:spPr>
          <a:xfrm>
            <a:off x="609600" y="5816600"/>
            <a:ext cx="10972800" cy="50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56" name="Picture 55" descr="info_navy.png"/>
          <p:cNvPicPr>
            <a:picLocks noChangeAspect="1"/>
          </p:cNvPicPr>
          <p:nvPr/>
        </p:nvPicPr>
        <p:blipFill>
          <a:blip r:embed="rId12"/>
          <a:stretch>
            <a:fillRect/>
          </a:stretch>
        </p:blipFill>
        <p:spPr>
          <a:xfrm>
            <a:off x="812800" y="5943600"/>
            <a:ext cx="254000" cy="254000"/>
          </a:xfrm>
          <a:prstGeom prst="rect">
            <a:avLst/>
          </a:prstGeom>
        </p:spPr>
      </p:pic>
      <p:sp>
        <p:nvSpPr>
          <p:cNvPr id="57" name="TextBox 56"/>
          <p:cNvSpPr txBox="1"/>
          <p:nvPr/>
        </p:nvSpPr>
        <p:spPr>
          <a:xfrm>
            <a:off x="1219200" y="5816600"/>
            <a:ext cx="10160000" cy="508000"/>
          </a:xfrm>
          <a:prstGeom prst="rect">
            <a:avLst/>
          </a:prstGeom>
          <a:noFill/>
        </p:spPr>
        <p:txBody>
          <a:bodyPr wrap="square" lIns="0" rIns="0" tIns="0" bIns="0" anchor="ctr">
            <a:spAutoFit/>
          </a:bodyPr>
          <a:lstStyle/>
          <a:p>
            <a:pPr algn="l">
              <a:lnSpc>
                <a:spcPct val="130000"/>
              </a:lnSpc>
            </a:pPr>
            <a:r>
              <a:rPr sz="1250" b="0">
                <a:solidFill>
                  <a:srgbClr val="0B308E"/>
                </a:solidFill>
                <a:latin typeface="Segoe UI Semibold"/>
              </a:rPr>
              <a:t>Sign demand before the build:   </a:t>
            </a:r>
            <a:r>
              <a:rPr sz="1250" b="0">
                <a:solidFill>
                  <a:srgbClr val="16213E"/>
                </a:solidFill>
                <a:latin typeface="Segoe UI"/>
              </a:rPr>
              <a:t>Portugal’s 450 MHz trial stalled on commercial terms, not technology</a:t>
            </a:r>
          </a:p>
        </p:txBody>
      </p:sp>
      <p:sp>
        <p:nvSpPr>
          <p:cNvPr id="58" name="TextBox 57"/>
          <p:cNvSpPr txBox="1"/>
          <p:nvPr/>
        </p:nvSpPr>
        <p:spPr>
          <a:xfrm>
            <a:off x="609600" y="6502400"/>
            <a:ext cx="10972800" cy="152400"/>
          </a:xfrm>
          <a:prstGeom prst="rect">
            <a:avLst/>
          </a:prstGeom>
          <a:noFill/>
        </p:spPr>
        <p:txBody>
          <a:bodyPr wrap="square" lIns="0" rIns="0" tIns="0" bIns="0" anchor="t">
            <a:spAutoFit/>
          </a:bodyPr>
          <a:lstStyle/>
          <a:p>
            <a:pPr algn="l">
              <a:lnSpc>
                <a:spcPct val="120000"/>
              </a:lnSpc>
              <a:spcAft>
                <a:spcPts val="0"/>
              </a:spcAft>
            </a:pPr>
            <a:r>
              <a:rPr sz="750" b="0">
                <a:solidFill>
                  <a:srgbClr val="93A0B4"/>
                </a:solidFill>
                <a:latin typeface="Segoe UI"/>
              </a:rPr>
              <a:t>Source: Hytera proposal; 450 MHz Alliance, Annual Global Update (Dec 2025) p9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2000" cy="762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0"/>
            <a:ext cx="4064000" cy="762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0" y="76200"/>
            <a:ext cx="76200" cy="6781800"/>
          </a:xfrm>
          <a:prstGeom prst="rect">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a_2b6cd945d1.png"/>
          <p:cNvPicPr>
            <a:picLocks noChangeAspect="1"/>
          </p:cNvPicPr>
          <p:nvPr/>
        </p:nvPicPr>
        <p:blipFill>
          <a:blip r:embed="rId2"/>
          <a:stretch>
            <a:fillRect/>
          </a:stretch>
        </p:blipFill>
        <p:spPr>
          <a:xfrm>
            <a:off x="10013244" y="431800"/>
            <a:ext cx="1284111" cy="508000"/>
          </a:xfrm>
          <a:prstGeom prst="rect">
            <a:avLst/>
          </a:prstGeom>
        </p:spPr>
      </p:pic>
      <p:sp>
        <p:nvSpPr>
          <p:cNvPr id="7" name="Oval 6"/>
          <p:cNvSpPr/>
          <p:nvPr/>
        </p:nvSpPr>
        <p:spPr>
          <a:xfrm>
            <a:off x="6959600" y="1626615"/>
            <a:ext cx="4470400" cy="4112768"/>
          </a:xfrm>
          <a:prstGeom prst="ellipse">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518400" y="2140712"/>
            <a:ext cx="3352800" cy="3084576"/>
          </a:xfrm>
          <a:prstGeom prst="ellipse">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8077200" y="2654808"/>
            <a:ext cx="2235200" cy="2056384"/>
          </a:xfrm>
          <a:prstGeom prst="ellipse">
            <a:avLst/>
          </a:prstGeom>
          <a:solidFill>
            <a:srgbClr val="DFE7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0" name="Picture 9" descr="a_64ddced7b1.png"/>
          <p:cNvPicPr>
            <a:picLocks noChangeAspect="1"/>
          </p:cNvPicPr>
          <p:nvPr/>
        </p:nvPicPr>
        <p:blipFill>
          <a:blip r:embed="rId3"/>
          <a:stretch>
            <a:fillRect/>
          </a:stretch>
        </p:blipFill>
        <p:spPr>
          <a:xfrm>
            <a:off x="8255000" y="2022122"/>
            <a:ext cx="2159000" cy="3118555"/>
          </a:xfrm>
          <a:prstGeom prst="rect">
            <a:avLst/>
          </a:prstGeom>
        </p:spPr>
      </p:pic>
      <p:pic>
        <p:nvPicPr>
          <p:cNvPr id="11" name="Picture 10" descr="a_7405c6dee5.png"/>
          <p:cNvPicPr>
            <a:picLocks noChangeAspect="1"/>
          </p:cNvPicPr>
          <p:nvPr/>
        </p:nvPicPr>
        <p:blipFill>
          <a:blip r:embed="rId4"/>
          <a:stretch>
            <a:fillRect/>
          </a:stretch>
        </p:blipFill>
        <p:spPr>
          <a:xfrm>
            <a:off x="6604000" y="2501900"/>
            <a:ext cx="2159000" cy="3022600"/>
          </a:xfrm>
          <a:prstGeom prst="rect">
            <a:avLst/>
          </a:prstGeom>
        </p:spPr>
      </p:pic>
      <p:cxnSp>
        <p:nvCxnSpPr>
          <p:cNvPr id="12" name="Connector 11"/>
          <p:cNvCxnSpPr/>
          <p:nvPr/>
        </p:nvCxnSpPr>
        <p:spPr>
          <a:xfrm>
            <a:off x="609600" y="5969000"/>
            <a:ext cx="10972800" cy="0"/>
          </a:xfrm>
          <a:prstGeom prst="line">
            <a:avLst/>
          </a:prstGeom>
          <a:ln w="9525">
            <a:solidFill>
              <a:srgbClr val="D6E0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3600" y="16002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HYTERA  ×  GLOBE TELECOM</a:t>
            </a:r>
          </a:p>
        </p:txBody>
      </p:sp>
      <p:sp>
        <p:nvSpPr>
          <p:cNvPr id="14" name="TextBox 13"/>
          <p:cNvSpPr txBox="1"/>
          <p:nvPr/>
        </p:nvSpPr>
        <p:spPr>
          <a:xfrm>
            <a:off x="863600" y="1905000"/>
            <a:ext cx="5588000" cy="762000"/>
          </a:xfrm>
          <a:prstGeom prst="rect">
            <a:avLst/>
          </a:prstGeom>
          <a:noFill/>
        </p:spPr>
        <p:txBody>
          <a:bodyPr wrap="square" lIns="0" rIns="0" tIns="0" bIns="0" anchor="t">
            <a:spAutoFit/>
          </a:bodyPr>
          <a:lstStyle/>
          <a:p>
            <a:pPr algn="l">
              <a:lnSpc>
                <a:spcPct val="120000"/>
              </a:lnSpc>
              <a:spcAft>
                <a:spcPts val="0"/>
              </a:spcAft>
            </a:pPr>
            <a:r>
              <a:rPr sz="4000" b="0">
                <a:solidFill>
                  <a:srgbClr val="0B308E"/>
                </a:solidFill>
                <a:latin typeface="Segoe UI Semibold"/>
              </a:rPr>
              <a:t>Thank you</a:t>
            </a:r>
          </a:p>
        </p:txBody>
      </p:sp>
      <p:sp>
        <p:nvSpPr>
          <p:cNvPr id="15" name="Rectangle 14"/>
          <p:cNvSpPr/>
          <p:nvPr/>
        </p:nvSpPr>
        <p:spPr>
          <a:xfrm>
            <a:off x="863600" y="2870200"/>
            <a:ext cx="812800" cy="50800"/>
          </a:xfrm>
          <a:prstGeom prst="rect">
            <a:avLst/>
          </a:prstGeom>
          <a:solidFill>
            <a:srgbClr val="8CC6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3600" y="3225800"/>
            <a:ext cx="5588000" cy="177800"/>
          </a:xfrm>
          <a:prstGeom prst="rect">
            <a:avLst/>
          </a:prstGeom>
          <a:noFill/>
        </p:spPr>
        <p:txBody>
          <a:bodyPr wrap="square" lIns="0" rIns="0" tIns="0" bIns="0" anchor="t">
            <a:spAutoFit/>
          </a:bodyPr>
          <a:lstStyle/>
          <a:p>
            <a:pPr algn="l">
              <a:lnSpc>
                <a:spcPct val="120000"/>
              </a:lnSpc>
              <a:spcAft>
                <a:spcPts val="0"/>
              </a:spcAft>
            </a:pPr>
            <a:r>
              <a:rPr sz="900" b="0" spc="120">
                <a:solidFill>
                  <a:srgbClr val="7F9B00"/>
                </a:solidFill>
                <a:latin typeface="Segoe UI Semibold"/>
              </a:rPr>
              <a:t>FOR DISCUSSION</a:t>
            </a:r>
          </a:p>
        </p:txBody>
      </p:sp>
      <p:sp>
        <p:nvSpPr>
          <p:cNvPr id="17" name="Oval 16"/>
          <p:cNvSpPr/>
          <p:nvPr/>
        </p:nvSpPr>
        <p:spPr>
          <a:xfrm>
            <a:off x="863600" y="35306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radio-tower_white.png"/>
          <p:cNvPicPr>
            <a:picLocks noChangeAspect="1"/>
          </p:cNvPicPr>
          <p:nvPr/>
        </p:nvPicPr>
        <p:blipFill>
          <a:blip r:embed="rId5"/>
          <a:stretch>
            <a:fillRect/>
          </a:stretch>
        </p:blipFill>
        <p:spPr>
          <a:xfrm>
            <a:off x="961136" y="3628136"/>
            <a:ext cx="211328" cy="211328"/>
          </a:xfrm>
          <a:prstGeom prst="rect">
            <a:avLst/>
          </a:prstGeom>
        </p:spPr>
      </p:pic>
      <p:sp>
        <p:nvSpPr>
          <p:cNvPr id="19" name="TextBox 18"/>
          <p:cNvSpPr txBox="1"/>
          <p:nvPr/>
        </p:nvSpPr>
        <p:spPr>
          <a:xfrm>
            <a:off x="1422400" y="35306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Band and bandwidth</a:t>
            </a:r>
          </a:p>
        </p:txBody>
      </p:sp>
      <p:sp>
        <p:nvSpPr>
          <p:cNvPr id="20" name="Oval 19"/>
          <p:cNvSpPr/>
          <p:nvPr/>
        </p:nvSpPr>
        <p:spPr>
          <a:xfrm>
            <a:off x="863600" y="40894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users_white.png"/>
          <p:cNvPicPr>
            <a:picLocks noChangeAspect="1"/>
          </p:cNvPicPr>
          <p:nvPr/>
        </p:nvPicPr>
        <p:blipFill>
          <a:blip r:embed="rId6"/>
          <a:stretch>
            <a:fillRect/>
          </a:stretch>
        </p:blipFill>
        <p:spPr>
          <a:xfrm>
            <a:off x="961136" y="4186936"/>
            <a:ext cx="211328" cy="211328"/>
          </a:xfrm>
          <a:prstGeom prst="rect">
            <a:avLst/>
          </a:prstGeom>
        </p:spPr>
      </p:pic>
      <p:sp>
        <p:nvSpPr>
          <p:cNvPr id="22" name="TextBox 21"/>
          <p:cNvSpPr txBox="1"/>
          <p:nvPr/>
        </p:nvSpPr>
        <p:spPr>
          <a:xfrm>
            <a:off x="1422400" y="40894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Which industries matter most</a:t>
            </a:r>
          </a:p>
        </p:txBody>
      </p:sp>
      <p:sp>
        <p:nvSpPr>
          <p:cNvPr id="23" name="Oval 22"/>
          <p:cNvSpPr/>
          <p:nvPr/>
        </p:nvSpPr>
        <p:spPr>
          <a:xfrm>
            <a:off x="863600" y="4648200"/>
            <a:ext cx="406400" cy="406400"/>
          </a:xfrm>
          <a:prstGeom prst="ellipse">
            <a:avLst/>
          </a:prstGeom>
          <a:solidFill>
            <a:srgbClr val="0B308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map-pin_white.png"/>
          <p:cNvPicPr>
            <a:picLocks noChangeAspect="1"/>
          </p:cNvPicPr>
          <p:nvPr/>
        </p:nvPicPr>
        <p:blipFill>
          <a:blip r:embed="rId7"/>
          <a:stretch>
            <a:fillRect/>
          </a:stretch>
        </p:blipFill>
        <p:spPr>
          <a:xfrm>
            <a:off x="961136" y="4745736"/>
            <a:ext cx="211328" cy="211328"/>
          </a:xfrm>
          <a:prstGeom prst="rect">
            <a:avLst/>
          </a:prstGeom>
        </p:spPr>
      </p:pic>
      <p:sp>
        <p:nvSpPr>
          <p:cNvPr id="25" name="TextBox 24"/>
          <p:cNvSpPr txBox="1"/>
          <p:nvPr/>
        </p:nvSpPr>
        <p:spPr>
          <a:xfrm>
            <a:off x="1422400" y="4648200"/>
            <a:ext cx="4826000" cy="406400"/>
          </a:xfrm>
          <a:prstGeom prst="rect">
            <a:avLst/>
          </a:prstGeom>
          <a:noFill/>
        </p:spPr>
        <p:txBody>
          <a:bodyPr wrap="square" lIns="0" rIns="0" tIns="0" bIns="0" anchor="ctr">
            <a:spAutoFit/>
          </a:bodyPr>
          <a:lstStyle/>
          <a:p>
            <a:pPr algn="l">
              <a:lnSpc>
                <a:spcPct val="120000"/>
              </a:lnSpc>
              <a:spcAft>
                <a:spcPts val="0"/>
              </a:spcAft>
            </a:pPr>
            <a:r>
              <a:rPr sz="1500" b="0">
                <a:solidFill>
                  <a:srgbClr val="0B308E"/>
                </a:solidFill>
                <a:latin typeface="Segoe UI Semibold"/>
              </a:rPr>
              <a:t>Where coverage is needed first</a:t>
            </a:r>
          </a:p>
        </p:txBody>
      </p:sp>
      <p:sp>
        <p:nvSpPr>
          <p:cNvPr id="26" name="TextBox 25"/>
          <p:cNvSpPr txBox="1"/>
          <p:nvPr/>
        </p:nvSpPr>
        <p:spPr>
          <a:xfrm>
            <a:off x="609600" y="6070600"/>
            <a:ext cx="5334000" cy="304800"/>
          </a:xfrm>
          <a:prstGeom prst="rect">
            <a:avLst/>
          </a:prstGeom>
          <a:noFill/>
        </p:spPr>
        <p:txBody>
          <a:bodyPr wrap="square" lIns="0" rIns="0" tIns="0" bIns="0" anchor="ctr">
            <a:spAutoFit/>
          </a:bodyPr>
          <a:lstStyle/>
          <a:p>
            <a:pPr algn="l">
              <a:lnSpc>
                <a:spcPct val="120000"/>
              </a:lnSpc>
              <a:spcAft>
                <a:spcPts val="0"/>
              </a:spcAft>
            </a:pPr>
            <a:r>
              <a:rPr sz="1100" b="0">
                <a:solidFill>
                  <a:srgbClr val="7F9B00"/>
                </a:solidFill>
                <a:latin typeface="Segoe UI Semibold"/>
              </a:rPr>
              <a:t>Mission First  ·  Safety Always</a:t>
            </a:r>
          </a:p>
        </p:txBody>
      </p:sp>
      <p:sp>
        <p:nvSpPr>
          <p:cNvPr id="27" name="TextBox 26"/>
          <p:cNvSpPr txBox="1"/>
          <p:nvPr/>
        </p:nvSpPr>
        <p:spPr>
          <a:xfrm>
            <a:off x="6502400" y="6070600"/>
            <a:ext cx="5080000" cy="304800"/>
          </a:xfrm>
          <a:prstGeom prst="rect">
            <a:avLst/>
          </a:prstGeom>
          <a:noFill/>
        </p:spPr>
        <p:txBody>
          <a:bodyPr wrap="square" lIns="0" rIns="0" tIns="0" bIns="0" anchor="ctr">
            <a:spAutoFit/>
          </a:bodyPr>
          <a:lstStyle/>
          <a:p>
            <a:pPr algn="r">
              <a:lnSpc>
                <a:spcPct val="120000"/>
              </a:lnSpc>
              <a:spcAft>
                <a:spcPts val="0"/>
              </a:spcAft>
            </a:pPr>
            <a:r>
              <a:rPr sz="950" b="0">
                <a:solidFill>
                  <a:srgbClr val="93A0B4"/>
                </a:solidFill>
                <a:latin typeface="Segoe UI"/>
              </a:rPr>
              <a:t>Hytera Communications Corporation Limited</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3459</Words>
  <Application>Microsoft Macintosh PowerPoint</Application>
  <PresentationFormat>宽屏</PresentationFormat>
  <Paragraphs>390</Paragraphs>
  <Slides>17</Slides>
  <Notes>17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17</vt:i4>
      </vt:variant>
    </vt:vector>
  </HeadingPairs>
  <TitlesOfParts>
    <vt:vector size="21" baseType="lpstr">
      <vt:lpstr>等线</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stefan yu</dc:creator>
  <cp:lastModifiedBy>stefan yu</cp:lastModifiedBy>
  <cp:revision>1</cp:revision>
  <dcterms:created xsi:type="dcterms:W3CDTF">2026-10-10T01:12:47Z</dcterms:created>
  <dcterms:modified xsi:type="dcterms:W3CDTF">2026-10-10T01:38:43Z</dcterms:modified>
</cp:coreProperties>
</file>