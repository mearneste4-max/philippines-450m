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87603"/>
  </p:normalViewPr>
  <p:slideViewPr>
    <p:cSldViewPr snapToGrid="0">
      <p:cViewPr varScale="1">
        <p:scale>
          <a:sx n="110" d="100"/>
          <a:sy n="11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4660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47FDD-D38F-E8F5-8586-E9662854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90AE4-F9E4-5FD9-42AF-9099DFB8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CE86-5C68-32E7-D4E0-B2761B6C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EA70-862F-65FC-F764-9F45D4A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C33ED-5EBC-FA7B-0C38-EA39C46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37B1B-511C-D4F8-7DF7-64EC8B6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BE62D-2664-56CB-82C4-04C33D46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67FE-6C09-037E-14DD-381C54D5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96919-FD4A-9072-7E35-742516F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BDBD7-22AF-728F-B452-8AA3C2EF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0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9FEF-46D9-58A0-4123-77A3F86E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B04C57-B239-E772-614E-004D45A9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51A5B-944A-D7C3-E6C5-B7BA6FC4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9A231-E1D6-02E5-049E-13B6C93B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85DA2-F919-AB2D-F4AB-9744308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53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ECDE-D311-74B1-0F20-F87A6A7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9B88-FA6C-8ECF-D8A5-00CA3EDE0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993D3-8E45-B3B9-AB74-754EF2E7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EAE69-5CB6-4FFB-A05B-FAFE465F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7215C-0B7F-E4B7-5E41-E225FE47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1607B-F95D-FA9A-48D0-AB90D6E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B30D-EF98-9776-0E67-87371B2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8FDD7-C50E-7D11-4708-BD3BD048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05520-BEDD-DC89-EDB8-29A55A6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A41E8D-4EDE-E951-9249-16343C40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15438-E2BC-3C49-A770-61F2058F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69E29F-2CA3-451B-1588-22B05F1C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0C48-D0FC-01D7-EFB2-E342FFD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2CF963-EAD2-D222-FE32-733BFF92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A2317-4DD0-7705-8F0E-9C1AE46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0B3C6B-F1F3-8087-82E4-22E777BF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57A2B-3769-94B4-A8DA-143705D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69BBB-3D3E-D5C1-373C-4AEBE84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ED18-81E5-087C-CE7B-D43178BA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D668C-C643-0734-3F58-28ECB696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AAAD-C5EF-CB82-DA12-5DCCE44F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5AE71-64EC-7CAF-DCC1-AC7B7F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41FA-757E-CC97-7EBF-8640D3A5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92CD0-2012-EC24-D6A6-D8F0D623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89081-6ADA-73DD-0406-D90801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05348-185C-AEBE-DDBC-FA8F5835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4C1BA-03A9-E84F-1095-593ADDB3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37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98B2-5754-13F5-8B12-C9C8CBC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E2333-142C-3E91-91F4-A347E32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17102-E033-CDC0-B618-299CC91D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05AFF9-9891-A28B-4FBF-DFF53204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2270D-2426-270F-0336-B3337C39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58EA-4E08-6B21-F095-EE06B953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6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809F-C91F-7B47-8C12-D25BA362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A7382-0CA7-7D8B-83FF-08EF7612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417F5-F88C-8CA1-E9BC-7CAC37C4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4339F-FA6A-38A9-D527-0FDC93D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B572A-7476-7FB5-9791-802D508D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8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63993-AF72-23D1-D01C-F973643BA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46C64-EFAA-9A05-E2F3-ABC71945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B8B04-FC76-CEC2-9550-07C425AD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6A49-4F49-DA65-9C97-50D34FC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31544-F576-56EF-205E-90A98A61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02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10477059" y="327570"/>
            <a:ext cx="1306953" cy="520464"/>
            <a:chOff x="1739537" y="98099"/>
            <a:chExt cx="4612704" cy="1836902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65112" y="6498448"/>
            <a:ext cx="1555083" cy="1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4FF59C-D32E-291D-F4BC-2EBEDD3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CB62A-A28B-9E82-A3F3-AF5202CE4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780B2-EC77-5362-71CA-6DDF89EE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DEC29-7515-0103-604F-66D4083E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263E4-CC43-E1F8-6671-5541F77E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1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0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16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2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37.png"/><Relationship Id="rId4" Type="http://schemas.openxmlformats.org/officeDocument/2006/relationships/image" Target="../media/image45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3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39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8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16.png"/><Relationship Id="rId11" Type="http://schemas.openxmlformats.org/officeDocument/2006/relationships/image" Target="../media/image46.png"/><Relationship Id="rId1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68.png"/><Relationship Id="rId6" Type="http://schemas.openxmlformats.org/officeDocument/2006/relationships/image" Target="../media/image66.png"/><Relationship Id="rId7" Type="http://schemas.openxmlformats.org/officeDocument/2006/relationships/image" Target="../media/image69.png"/><Relationship Id="rId8" Type="http://schemas.openxmlformats.org/officeDocument/2006/relationships/image" Target="../media/image16.png"/><Relationship Id="rId9" Type="http://schemas.openxmlformats.org/officeDocument/2006/relationships/image" Target="../media/image56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71.png"/><Relationship Id="rId8" Type="http://schemas.openxmlformats.org/officeDocument/2006/relationships/image" Target="../media/image18.png"/><Relationship Id="rId9" Type="http://schemas.openxmlformats.org/officeDocument/2006/relationships/image" Target="../media/image32.png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0.png"/><Relationship Id="rId4" Type="http://schemas.openxmlformats.org/officeDocument/2006/relationships/image" Target="../media/image16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jpg"/><Relationship Id="rId9" Type="http://schemas.openxmlformats.org/officeDocument/2006/relationships/image" Target="../media/image77.jpg"/><Relationship Id="rId10" Type="http://schemas.openxmlformats.org/officeDocument/2006/relationships/image" Target="../media/image78.jpg"/><Relationship Id="rId1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63.png"/><Relationship Id="rId4" Type="http://schemas.openxmlformats.org/officeDocument/2006/relationships/image" Target="../media/image8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66.png"/><Relationship Id="rId9" Type="http://schemas.openxmlformats.org/officeDocument/2006/relationships/image" Target="../media/image18.png"/><Relationship Id="rId10" Type="http://schemas.openxmlformats.org/officeDocument/2006/relationships/image" Target="../media/image83.png"/><Relationship Id="rId11" Type="http://schemas.openxmlformats.org/officeDocument/2006/relationships/image" Target="../media/image38.png"/><Relationship Id="rId12" Type="http://schemas.openxmlformats.org/officeDocument/2006/relationships/image" Target="../media/image21.png"/><Relationship Id="rId1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84.png"/><Relationship Id="rId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7405c6de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501900"/>
            <a:ext cx="2159000" cy="30226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969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Exploring Application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Scenarios for a 450 MHz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Mission-Critical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37084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9624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Coverage and resilience for utilities,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public safety and 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Initial technical exchange  · 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Four questions for today’s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radio-tow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8" y="2050288"/>
            <a:ext cx="369824" cy="369824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2999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99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28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28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What can this band do that mid-band cannot?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3 –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322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888" y="2050288"/>
            <a:ext cx="369824" cy="369824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41193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93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22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22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322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322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Who needs it, and who would pay first?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22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7 – 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84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84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16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288" y="2050288"/>
            <a:ext cx="369824" cy="36982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9387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87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16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16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516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516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How is it built, and where does it run today?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16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15 – 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678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678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710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6" name="Picture 45" descr="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688" y="2050288"/>
            <a:ext cx="369824" cy="369824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97581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81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10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10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710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2710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How could the network pay for itself?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10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20 – 21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56388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5" name="Picture 54" descr="handshak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5765800"/>
            <a:ext cx="254000" cy="254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56388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An open discussion: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the spectrum is Globe’s; these are options to explore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01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What can this band do that mid-band cannot?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7600" y="1524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radio-tow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A scarce low band, best spent on B2B and B2G, not on consumer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WHY NOT CONSUMER: THE CHANNEL IS NARROW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54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450 MHz (Band 31 / 72)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070100"/>
            <a:ext cx="190500" cy="177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2044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≈ 2×5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62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One typical LTE carrier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578100"/>
            <a:ext cx="762000" cy="1778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3200" y="2552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20 MHz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870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One typical 5G carrier (3.5 GHz)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086100"/>
            <a:ext cx="3810000" cy="177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200" y="3060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100 MHz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403600"/>
            <a:ext cx="4876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One 450 MHz cell covers a very large area, so this narrow channel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is shared by far more users than a mid-band cell.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987800"/>
            <a:ext cx="2362200" cy="1651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987800"/>
            <a:ext cx="2362200" cy="50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14020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68400" y="41402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FITS: B2B AND B2G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4521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Power, water, oil &amp; gas, 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48514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Emergency and public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181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IoT, SCADA, MCPTT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4200" y="3987800"/>
            <a:ext cx="2362200" cy="165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987800"/>
            <a:ext cx="2362200" cy="50800"/>
          </a:xfrm>
          <a:prstGeom prst="rect">
            <a:avLst/>
          </a:prstGeom>
          <a:solidFill>
            <a:srgbClr val="55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info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414020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83000" y="41402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55607A"/>
                </a:solidFill>
                <a:latin typeface="Segoe UI Semibold"/>
              </a:rPr>
              <a:t>NOT FOR CONSUMERS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7400" y="4521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Smartphone internet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7400" y="48514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Video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7400" y="5181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Home broadband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1200" y="1549400"/>
            <a:ext cx="579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THREE MORE REASONS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185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94400" y="214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mart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512" y="2280412"/>
            <a:ext cx="290576" cy="2905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6400" y="198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No consumer handsets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6400" y="228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Mainstream smartphones do not support Band 31 or 72. Devices are routers, meters and rugged handhelds.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1200" y="312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94400" y="341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badge-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512" y="3550412"/>
            <a:ext cx="290576" cy="2905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6400" y="325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Licensed for critical infrastructure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0" y="355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Germany reserved the band for energy and water; Singapore for public safety; South Africa for rail.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91200" y="439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94400" y="468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8" name="Picture 47" descr="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512" y="4820412"/>
            <a:ext cx="290576" cy="29057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56400" y="452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Built for resilience, not consumer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0" y="482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Sites carry long backup power (72 h at 450connect) and priority for mission-critical traffic.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info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918200"/>
            <a:ext cx="254000" cy="254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19200" y="57912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Market signal: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Norway’s ice began moving its 450 MHz consumer users to industrial service in 2024.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3GPP LTE / NR channel bandwidths; Bundesnetzagentur (Nov 2020, Mar 2021); 450 MHz Alliance, Equipment Report (May 2025) p4-p5; Annual Global Update (Dec 2025) p6-p9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WHY 450 MHZ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Reach every island, cross the mountains, stay up through the storm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THE PHILIPPINES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288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20828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wav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12" y="2216912"/>
            <a:ext cx="290576" cy="290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4000" y="19304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Reach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22098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7,641 islands</a:t>
            </a:r>
          </a:p>
        </p:txBody>
      </p:sp>
      <p:pic>
        <p:nvPicPr>
          <p:cNvPr id="16" name="Picture 15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52730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27200" y="24638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One site where mid-band needs 2.5–15×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9972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2800" y="3251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mount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12" y="3385312"/>
            <a:ext cx="290576" cy="2905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4000" y="30988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Cross rugged terrain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33782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Mountainous island interiors</a:t>
            </a:r>
          </a:p>
        </p:txBody>
      </p:sp>
      <p:pic>
        <p:nvPicPr>
          <p:cNvPr id="23" name="Picture 22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69570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27200" y="36322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Bends over ridges and into valleys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1656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800" y="44196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tornad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12" y="4553712"/>
            <a:ext cx="290576" cy="2905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4000" y="42672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Survive the storm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45466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#1 WorldRiskIndex  ·  ~20 cyclones a year</a:t>
            </a:r>
          </a:p>
        </p:txBody>
      </p:sp>
      <p:pic>
        <p:nvPicPr>
          <p:cNvPr id="30" name="Picture 29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864100"/>
            <a:ext cx="1524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27200" y="48006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Few sites, so backup power is affordable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549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DELIVERS  ·  SAME SITE GRID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828800"/>
            <a:ext cx="2235200" cy="340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7F9B00"/>
                </a:solidFill>
                <a:latin typeface="Segoe UI Semibold"/>
              </a:rPr>
              <a:t>450 MHZ</a:t>
            </a:r>
          </a:p>
        </p:txBody>
      </p:sp>
      <p:pic>
        <p:nvPicPr>
          <p:cNvPr id="35" name="Picture 34" descr="waffle_24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2209800"/>
            <a:ext cx="182880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7F9B00"/>
                </a:solidFill>
                <a:latin typeface="Segoe UI Light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30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Baseline site grid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9600" y="1828800"/>
            <a:ext cx="2235200" cy="3403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96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740 MHZ</a:t>
            </a:r>
          </a:p>
        </p:txBody>
      </p:sp>
      <p:pic>
        <p:nvPicPr>
          <p:cNvPr id="42" name="Picture 41" descr="waffle_24_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00" y="2209800"/>
            <a:ext cx="1828800" cy="1828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596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0B308E"/>
                </a:solidFill>
                <a:latin typeface="Segoe UI Light"/>
              </a:rPr>
              <a:t>91%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96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406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596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2.5–3×  sites to close the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7200" y="1828800"/>
            <a:ext cx="2235200" cy="3403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472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2.35 GHZ</a:t>
            </a:r>
          </a:p>
        </p:txBody>
      </p:sp>
      <p:pic>
        <p:nvPicPr>
          <p:cNvPr id="49" name="Picture 48" descr="waffle_24_2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400" y="2209800"/>
            <a:ext cx="1828800" cy="1828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3472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0B308E"/>
                </a:solidFill>
                <a:latin typeface="Segoe UI Light"/>
              </a:rPr>
              <a:t>59%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72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282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3472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12–15×  sites to close the gap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5397500"/>
            <a:ext cx="127000" cy="127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7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0" y="5397500"/>
            <a:ext cx="127000" cy="1270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4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not covered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12000" y="5397500"/>
            <a:ext cx="127000" cy="127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site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Picture 60" descr="info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867400"/>
            <a:ext cx="254000" cy="254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19200" y="57404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Not a capacity layer: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3–5 MHz carries voice, telemetry and low-rate video, alongside 4G and 5G.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NAMRIA; WorldRiskReport 2025; PAGASA; 450 MHz Alliance Brief (Jun 2022) p15, grid modelled at 410 MHz. Vs 410 MHz, 450 MHz adds ~1 dB path loss, 740 MHz ~7 dB (Hata).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The band is mainstream, and utilities lead the way</a:t>
            </a:r>
          </a:p>
        </p:txBody>
      </p:sp>
      <p:pic>
        <p:nvPicPr>
          <p:cNvPr id="10" name="Picture 9" descr="worldmap_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7620000" cy="25472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450" y="1665514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450" y="1665514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Russia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5085" y="2275114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5085" y="2275114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China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8707" y="25146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8707" y="25146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Mexico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0822" y="3233057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0822" y="3233057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Brazil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3210" y="2862942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10" y="2862942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Suriname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9861" y="3799114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9861" y="3799114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Argentina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7416" y="2296885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7416" y="2296885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Tunisia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3873" y="2808514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3873" y="2808514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Nigeria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4913" y="2928257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4913" y="2928257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Ghana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54113" y="3015342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4113" y="3015342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Kenya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1279" y="3265714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1279" y="3265714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Angola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6273" y="3483428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6273" y="3483428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Namibia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46672" y="3712028"/>
            <a:ext cx="61671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6672" y="3712028"/>
            <a:ext cx="61671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South Africa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60329" y="2514600"/>
            <a:ext cx="61671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0329" y="2514600"/>
            <a:ext cx="61671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Saudi Arabia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15987" y="2405742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5987" y="2405742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Bahrain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89416" y="2079171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9416" y="2079171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Armenia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34318" y="2906485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4318" y="2906485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Sri Lanka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1838" y="2645228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1838" y="2645228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Cambodia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981" y="2819400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2981" y="2819400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Malaysia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13290" y="3080657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13290" y="3080657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Singapore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9347" y="3233057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9347" y="3233057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Indonesia</a:t>
            </a:r>
          </a:p>
        </p:txBody>
      </p:sp>
      <p:sp>
        <p:nvSpPr>
          <p:cNvPr id="53" name="Oval 52"/>
          <p:cNvSpPr/>
          <p:nvPr/>
        </p:nvSpPr>
        <p:spPr>
          <a:xfrm>
            <a:off x="6865257" y="2717800"/>
            <a:ext cx="203200" cy="203200"/>
          </a:xfrm>
          <a:prstGeom prst="ellipse">
            <a:avLst/>
          </a:prstGeom>
          <a:noFill/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7055757" y="2616200"/>
            <a:ext cx="190500" cy="152400"/>
          </a:xfrm>
          <a:prstGeom prst="line">
            <a:avLst/>
          </a:prstGeom>
          <a:ln w="127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195457" y="2463800"/>
            <a:ext cx="1117600" cy="20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5457" y="2463800"/>
            <a:ext cx="11176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16213E"/>
                </a:solidFill>
                <a:latin typeface="Segoe UI Semibold"/>
              </a:rPr>
              <a:t>Philippines · Globe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95457" y="2463800"/>
            <a:ext cx="1117600" cy="203200"/>
          </a:xfrm>
          <a:prstGeom prst="roundRect">
            <a:avLst/>
          </a:prstGeom>
          <a:noFill/>
          <a:ln w="127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34400" y="1524000"/>
            <a:ext cx="3048000" cy="24384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9" name="Picture 58" descr="worldmap_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524000"/>
            <a:ext cx="3048000" cy="243840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8604292" y="265345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04292" y="265345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Ireland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52018" y="3547533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2018" y="3547533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Spain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95773" y="2558626"/>
            <a:ext cx="57378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95773" y="2558626"/>
            <a:ext cx="57378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Netherlands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57359" y="2829560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57359" y="2829560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Germany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89625" y="2436706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9625" y="2436706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Denmark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43355" y="20574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43355" y="20574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Norway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17488" y="19558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17488" y="19558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Sweden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07225" y="1955800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07225" y="1955800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Finland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488422" y="2721186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88422" y="2721186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Poland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094425" y="301921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94425" y="301921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Austria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69762" y="3188546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69762" y="3188546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Slovenia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34692" y="305985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34692" y="305985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Hungary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69618" y="3398520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69618" y="3398520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Italy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657755" y="3594946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57755" y="3594946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Greece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36000" y="1600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EUROPE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600" y="4140200"/>
            <a:ext cx="127000" cy="127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280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Utilities &amp; industry  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99079" y="4140200"/>
            <a:ext cx="127000" cy="1270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02279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Public safety  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19600" y="4140200"/>
            <a:ext cx="127000" cy="127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2280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Rail  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00040" y="4140200"/>
            <a:ext cx="127000" cy="127000"/>
          </a:xfrm>
          <a:prstGeom prst="rect">
            <a:avLst/>
          </a:prstGeom>
          <a:solidFill>
            <a:srgbClr val="5B8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0324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Operator  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36080" y="4140200"/>
            <a:ext cx="127000" cy="127000"/>
          </a:xfrm>
          <a:prstGeom prst="rect">
            <a:avLst/>
          </a:prstGeom>
          <a:solidFill>
            <a:srgbClr val="C3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3928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Trial / consultation  17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96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28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1" name="Picture 100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28" y="4808728"/>
            <a:ext cx="237744" cy="23774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3970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86%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146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of people: allocated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or in consultation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688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5720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6" name="Picture 105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808728"/>
            <a:ext cx="237744" cy="23774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1562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77 / 39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738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countries with networks 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already on LTE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280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3312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1" name="Picture 110" descr="trending-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928" y="4808728"/>
            <a:ext cx="237744" cy="23774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9154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14M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330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sensor links by 2030,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plus 1.8M broadband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09600" y="5562600"/>
            <a:ext cx="10972800" cy="431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5" name="Picture 114" descr="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651500"/>
            <a:ext cx="254000" cy="2540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219200" y="55626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The common pattern: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one licensed operator per country; utilities are the largest user group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p4, p6-p9 country updates, p11-p12; countries coloured by main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02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Who needs it, and who would pay first?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7600" y="2540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WHO PAYS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Start with the utilities: they pay first and fit best</a:t>
            </a:r>
          </a:p>
        </p:txBody>
      </p:sp>
      <p:pic>
        <p:nvPicPr>
          <p:cNvPr id="10" name="Picture 9" descr="hand-coins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00" y="14478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3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ABILITY TO PAY</a:t>
            </a:r>
          </a:p>
        </p:txBody>
      </p:sp>
      <p:pic>
        <p:nvPicPr>
          <p:cNvPr id="12" name="Picture 11" descr="targe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14478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7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FIT WITH 450</a:t>
            </a:r>
          </a:p>
        </p:txBody>
      </p:sp>
      <p:pic>
        <p:nvPicPr>
          <p:cNvPr id="14" name="Picture 13" descr="clock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00" y="14478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1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SPEED TO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0800" y="17272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KEY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1981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198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219200" y="2070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" y="2161540"/>
            <a:ext cx="198120" cy="198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78000" y="198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Power</a:t>
            </a:r>
          </a:p>
        </p:txBody>
      </p:sp>
      <p:sp>
        <p:nvSpPr>
          <p:cNvPr id="22" name="Oval 21"/>
          <p:cNvSpPr/>
          <p:nvPr/>
        </p:nvSpPr>
        <p:spPr>
          <a:xfrm>
            <a:off x="4508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11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14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2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35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8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56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59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62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0800" y="198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Proven anchor abroad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2616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200" y="261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219200" y="2705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drople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" y="2796540"/>
            <a:ext cx="198120" cy="1981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78000" y="261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Water</a:t>
            </a:r>
          </a:p>
        </p:txBody>
      </p:sp>
      <p:sp>
        <p:nvSpPr>
          <p:cNvPr id="37" name="Oval 36"/>
          <p:cNvSpPr/>
          <p:nvPr/>
        </p:nvSpPr>
        <p:spPr>
          <a:xfrm>
            <a:off x="4508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11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4900" y="283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2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35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8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56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9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62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0800" y="261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Same sites as power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325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200" y="325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1219200" y="334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sir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0640" y="3431540"/>
            <a:ext cx="198120" cy="1981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78000" y="325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Emergency</a:t>
            </a:r>
          </a:p>
        </p:txBody>
      </p:sp>
      <p:sp>
        <p:nvSpPr>
          <p:cNvPr id="52" name="Oval 51"/>
          <p:cNvSpPr/>
          <p:nvPr/>
        </p:nvSpPr>
        <p:spPr>
          <a:xfrm>
            <a:off x="4508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11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14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2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35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389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56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9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62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40800" y="325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Typhoon readiness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388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200" y="388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4</a:t>
            </a:r>
          </a:p>
        </p:txBody>
      </p:sp>
      <p:sp>
        <p:nvSpPr>
          <p:cNvPr id="64" name="Oval 63"/>
          <p:cNvSpPr/>
          <p:nvPr/>
        </p:nvSpPr>
        <p:spPr>
          <a:xfrm>
            <a:off x="1219200" y="397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5" name="Picture 64" descr="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0640" y="4066540"/>
            <a:ext cx="198120" cy="1981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78000" y="388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Police</a:t>
            </a:r>
          </a:p>
        </p:txBody>
      </p:sp>
      <p:sp>
        <p:nvSpPr>
          <p:cNvPr id="67" name="Oval 66"/>
          <p:cNvSpPr/>
          <p:nvPr/>
        </p:nvSpPr>
        <p:spPr>
          <a:xfrm>
            <a:off x="4508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11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149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32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35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38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556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597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2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40800" y="388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Interoperate, not replace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600" y="452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1200" y="452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5</a:t>
            </a:r>
          </a:p>
        </p:txBody>
      </p:sp>
      <p:sp>
        <p:nvSpPr>
          <p:cNvPr id="79" name="Oval 78"/>
          <p:cNvSpPr/>
          <p:nvPr/>
        </p:nvSpPr>
        <p:spPr>
          <a:xfrm>
            <a:off x="1219200" y="461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0" name="Picture 79" descr="train-fron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" y="4701540"/>
            <a:ext cx="198120" cy="1981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778000" y="452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Rail</a:t>
            </a:r>
          </a:p>
        </p:txBody>
      </p:sp>
      <p:sp>
        <p:nvSpPr>
          <p:cNvPr id="82" name="Oval 81"/>
          <p:cNvSpPr/>
          <p:nvPr/>
        </p:nvSpPr>
        <p:spPr>
          <a:xfrm>
            <a:off x="4508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11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14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032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35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4389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556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597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62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40800" y="452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Long project cycles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515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1200" y="515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6</a:t>
            </a:r>
          </a:p>
        </p:txBody>
      </p:sp>
      <p:sp>
        <p:nvSpPr>
          <p:cNvPr id="94" name="Oval 93"/>
          <p:cNvSpPr/>
          <p:nvPr/>
        </p:nvSpPr>
        <p:spPr>
          <a:xfrm>
            <a:off x="1219200" y="524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5" name="Picture 94" descr="s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0640" y="5336540"/>
            <a:ext cx="198120" cy="1981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78000" y="515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Port</a:t>
            </a:r>
          </a:p>
        </p:txBody>
      </p:sp>
      <p:sp>
        <p:nvSpPr>
          <p:cNvPr id="97" name="Oval 96"/>
          <p:cNvSpPr/>
          <p:nvPr/>
        </p:nvSpPr>
        <p:spPr>
          <a:xfrm>
            <a:off x="4508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1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914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32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235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38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6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59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962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40800" y="515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No 450 MHz precedent yet</a:t>
            </a:r>
          </a:p>
        </p:txBody>
      </p:sp>
      <p:pic>
        <p:nvPicPr>
          <p:cNvPr id="107" name="Picture 106" descr="check_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892800"/>
            <a:ext cx="203200" cy="2032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14400" y="5842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Green rows: the anchor customers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6096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Our reading, to be tested with Globe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assessment; 450 MHz Alliance, Annual Global Update (Dec 2025) p8-p9; LWUA NRW data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1 OF 6  · 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Power anchors the network, as it does in Germany and Malaysia</a:t>
            </a:r>
          </a:p>
        </p:txBody>
      </p:sp>
      <p:pic>
        <p:nvPicPr>
          <p:cNvPr id="10" name="Picture 9" descr="v6_13015b8219.jpg"/>
          <p:cNvPicPr>
            <a:picLocks noChangeAspect="1"/>
          </p:cNvPicPr>
          <p:nvPr/>
        </p:nvPicPr>
        <p:blipFill>
          <a:blip r:embed="rId2"/>
          <a:srcRect l="6800" r="680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electric cooperatives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consumers cut off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by Typhoon Tino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SCADA 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feeder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radi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Push-to-talk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line crews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Smart meters,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deep indoors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Germany  450connect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B72  ·  &gt;95%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Malaysia  TNB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4 areas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 package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SCADA O&amp;M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NEA; Department of Energy (5 Nov 2025); 450 MHz Alliance, RFI for devices (2025) p5, Annual Global Update (Dec 2025) p8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2 OF 6  ·  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Water: find the losses instead of estimating them</a:t>
            </a:r>
          </a:p>
        </p:txBody>
      </p:sp>
      <p:pic>
        <p:nvPicPr>
          <p:cNvPr id="10" name="Picture 9" descr="v6_5f9dad8d68.jpg"/>
          <p:cNvPicPr>
            <a:picLocks noChangeAspect="1"/>
          </p:cNvPicPr>
          <p:nvPr/>
        </p:nvPicPr>
        <p:blipFill>
          <a:blip r:embed="rId2"/>
          <a:srcRect t="11853" b="1185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drople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 districts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LWUA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kept losses within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the 20% limit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gau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Meters that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ctivit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Pressure sensing,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leak 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pu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Pump &amp; reservoir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Bahrain  EWA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water-meter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Kenya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band reserved for utilities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Telemetry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LWUA NRW data, end-2025 (reported Aug 2026); 450 MHz Alliance, Annual Global Update (Dec 2025) p6, p8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3 OF 6  ·  EMERGENCY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Emergency: the layer that has to survive the storm</a:t>
            </a:r>
          </a:p>
        </p:txBody>
      </p:sp>
      <p:pic>
        <p:nvPicPr>
          <p:cNvPr id="10" name="Picture 9" descr="v6_4589fbbd86.jpg"/>
          <p:cNvPicPr>
            <a:picLocks noChangeAspect="1"/>
          </p:cNvPicPr>
          <p:nvPr/>
        </p:nvPicPr>
        <p:blipFill>
          <a:blip r:embed="rId2"/>
          <a:srcRect b="228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ir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WorldRiskIndex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tropical cyclones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 year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ack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Deployed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within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atellite-dis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Satellite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backhaul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us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Field command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Indonesia  SeaTelSat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over satellite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E-pack200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rapid-deployment kit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Readiness retainer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Standby kits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WorldRiskReport 2025; PAGASA; 450 MHz Alliance, RFI for devices (2025) p5; Hytera product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4 OF 6  ·  POLICE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Police: one group call across the agencies</a:t>
            </a:r>
          </a:p>
        </p:txBody>
      </p:sp>
      <p:pic>
        <p:nvPicPr>
          <p:cNvPr id="10" name="Picture 9" descr="v6_6c17f9f128.jpg"/>
          <p:cNvPicPr>
            <a:picLocks noChangeAspect="1"/>
          </p:cNvPicPr>
          <p:nvPr/>
        </p:nvPicPr>
        <p:blipFill>
          <a:blip r:embed="rId2"/>
          <a:srcRect b="1915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Interop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with DMR and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already in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when the public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network congests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Cross-agency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group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Live video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from the scene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networ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DMR /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interworking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Singapore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Russia  Rostelecom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p8-p9; Hytera public-safety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5 OF 6  ·  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Rail: coverage that follows the track, not the towns</a:t>
            </a:r>
          </a:p>
        </p:txBody>
      </p:sp>
      <p:pic>
        <p:nvPicPr>
          <p:cNvPr id="10" name="Picture 9" descr="v6_8b437e2f48.jpg"/>
          <p:cNvPicPr>
            <a:picLocks noChangeAspect="1"/>
          </p:cNvPicPr>
          <p:nvPr/>
        </p:nvPicPr>
        <p:blipFill>
          <a:blip r:embed="rId2"/>
          <a:srcRect t="530" b="1053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train-fro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Corridor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coverage, including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cuttings and tunnels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ground voice,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data and video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along the 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On-board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ab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One network,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not a private 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South Africa  Transnet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for 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Sri Lanka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MCS on 9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p6; Hytera showroom briefing L211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6 OF 6  ·  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Port: the case rests on coverage over open water</a:t>
            </a:r>
          </a:p>
        </p:txBody>
      </p:sp>
      <p:pic>
        <p:nvPicPr>
          <p:cNvPr id="10" name="Picture 9" descr="v6_b6694edb9e.jpg"/>
          <p:cNvPicPr>
            <a:picLocks noChangeAspect="1"/>
          </p:cNvPicPr>
          <p:nvPr/>
        </p:nvPicPr>
        <p:blipFill>
          <a:blip r:embed="rId2"/>
          <a:srcRect l="6800" r="680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Quay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open sea 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one group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Coastal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sites also serve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island communities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Quay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h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Ship-to-shore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voice &amp;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wave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Coast guard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patrols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Precedent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no 450 MHz port yet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low-band reach over sea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Coastal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 reports (no port deployment listed); Hytera transport and maritime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03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How is it built, and where does it run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HOW IT IS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One build serves all six industries; only terminals and apps 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smartpho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63700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a_d6e4774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591" y="2235200"/>
            <a:ext cx="1680416" cy="1346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128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PNC660 450M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handheld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MNC650 450M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vehicle radio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6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P70 5G+450M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4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2026 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6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4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ATEX, 2027 Q2</a:t>
            </a:r>
          </a:p>
        </p:txBody>
      </p:sp>
      <p:pic>
        <p:nvPicPr>
          <p:cNvPr id="28" name="Picture 27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302000"/>
            <a:ext cx="254000" cy="254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3688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63700"/>
            <a:ext cx="279400" cy="279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784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88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a_c40f5594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4966" y="2235200"/>
            <a:ext cx="698066" cy="1092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0" y="33782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5607A"/>
                </a:solidFill>
                <a:latin typeface="Segoe UI Semibold"/>
              </a:rPr>
              <a:t>Fixed site  ·  RRU5800M</a:t>
            </a:r>
          </a:p>
        </p:txBody>
      </p:sp>
      <p:pic>
        <p:nvPicPr>
          <p:cNvPr id="36" name="Picture 35" descr="a_81c7398a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325" y="2235200"/>
            <a:ext cx="811348" cy="10921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6000" y="33782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5607A"/>
                </a:solidFill>
                <a:latin typeface="Segoe UI Semibold"/>
              </a:rPr>
              <a:t>Mobile site  ·  iBS3800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0" y="2311400"/>
            <a:ext cx="0" cy="119380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5720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98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RRU5800M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76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on tower, Band 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98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BBU5801M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76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baseband in shelter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98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iBS3800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76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mobile, Band 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498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76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private or shared</a:t>
            </a:r>
          </a:p>
        </p:txBody>
      </p:sp>
      <p:pic>
        <p:nvPicPr>
          <p:cNvPr id="51" name="Picture 50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3302000"/>
            <a:ext cx="254000" cy="2540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1280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3" name="Picture 52" descr="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200" y="1663700"/>
            <a:ext cx="279400" cy="279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376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Application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80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312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a_5f06b690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400" y="2251964"/>
            <a:ext cx="2895600" cy="131267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83312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90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568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PTT · video ·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312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90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568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voice, video, GIS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12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90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Recording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568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playback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312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90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Device mgmt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568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zero-touch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080000"/>
            <a:ext cx="53340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1" name="Picture 70" descr="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5257800"/>
            <a:ext cx="304800" cy="304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244600" y="52578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MCS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28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 3GPP standard: runs on any LTE or 5G radio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48400" y="5080000"/>
            <a:ext cx="5334000" cy="1219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5" name="Picture 74" descr="badge-check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600" y="5257800"/>
            <a:ext cx="304800" cy="3048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83400" y="52578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HYTERA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516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Alliance-listed device and eNB supplier; 450connect whitelisted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450M Roadmap; RRU5800M Product Description V3.5.01 §6.5; iBS3800 Product Description V3.0; MNC650 EU DoC (B31/B72); HyTalk MC V6.1; Alliance Equipment Report (May 2025) p5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ECOSYSTEM AND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A 450 MHz Alliance member, built to plug into the network Globe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IN THE 450 MHZ ECOSYSTEM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28800"/>
            <a:ext cx="4876800" cy="6604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1943100"/>
            <a:ext cx="431800" cy="431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badge-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32" y="2046732"/>
            <a:ext cx="224536" cy="224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22400" y="19050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450 MHz Alliance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400" y="21717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Joined August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25654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2800" y="26797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32" y="2783332"/>
            <a:ext cx="224536" cy="224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26416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Alliance device supplier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400" y="29083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Equipment Report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3020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2800" y="34163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32" y="3519932"/>
            <a:ext cx="224536" cy="2245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22400" y="33782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Alliance macro eNB supplier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2400" y="36449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Equipment Report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0386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2800" y="41529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32" y="4256532"/>
            <a:ext cx="224536" cy="2245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22400" y="41148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Operator-accepted 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2400" y="43815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450connect whitelist, Germany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7752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2800" y="48895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432" y="4993132"/>
            <a:ext cx="224536" cy="2245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22400" y="48514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Band 31 and Band 72 portfolio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2400" y="51181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Terminals, eNB and MCS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200" y="1549400"/>
            <a:ext cx="579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COMPATIBLE BY DESIGN  ·  3GPP STANDARD INTERFACES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91200" y="18288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57400"/>
            <a:ext cx="304800" cy="30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0000" y="18288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terminals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24800" y="22098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178800" y="20701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8800" y="20701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LTE Uu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1200" y="27432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4" name="Picture 43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71800"/>
            <a:ext cx="304800" cy="304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50000" y="27432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450 MHz eNB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4800" y="31242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178800" y="29845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8800" y="29845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S1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91200" y="36576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886200"/>
            <a:ext cx="304800" cy="304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50000" y="36576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MCS platform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4800" y="40386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178800" y="38989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78800" y="38989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SIP / MCX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8800" y="1828800"/>
            <a:ext cx="2133600" cy="2590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48800" y="1828800"/>
            <a:ext cx="2133600" cy="50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server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0" y="2057400"/>
            <a:ext cx="381000" cy="381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652000" y="2514600"/>
            <a:ext cx="177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Globe’s existing 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52000" y="30226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EPC / 5GC from</a:t>
            </a:r>
          </a:p>
        </p:txBody>
      </p:sp>
      <p:pic>
        <p:nvPicPr>
          <p:cNvPr id="60" name="Picture 59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327400"/>
            <a:ext cx="152400" cy="1524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880600" y="3276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Huawei</a:t>
            </a:r>
          </a:p>
        </p:txBody>
      </p:sp>
      <p:pic>
        <p:nvPicPr>
          <p:cNvPr id="62" name="Picture 61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581400"/>
            <a:ext cx="152400" cy="1524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880600" y="3530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ZTE</a:t>
            </a:r>
          </a:p>
        </p:txBody>
      </p:sp>
      <p:pic>
        <p:nvPicPr>
          <p:cNvPr id="64" name="Picture 63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835400"/>
            <a:ext cx="152400" cy="1524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880600" y="3784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Nokia</a:t>
            </a:r>
          </a:p>
        </p:txBody>
      </p:sp>
      <p:pic>
        <p:nvPicPr>
          <p:cNvPr id="66" name="Picture 65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4089400"/>
            <a:ext cx="152400" cy="1524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880600" y="4038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Ericsson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91200" y="4597400"/>
            <a:ext cx="5791200" cy="838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9" name="Picture 68" descr="networ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4826000"/>
            <a:ext cx="381000" cy="38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27800" y="46736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Multi-vendor by standard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7800" y="50038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The Alliance’s eNB list itself spans Ericsson, Huawei, Hytera, Nokia and ZTE.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3" name="Picture 72" descr="handshak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5867400"/>
            <a:ext cx="254000" cy="254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219200" y="57404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Globe: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add Hytera radio and terminals without replacing the core you run today. Interoperability is verified per project.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news release (Aug 2024); 450 MHz Alliance, Equipment Report (May 2025) p5 §4.1-4.2; 450connect whitelist; 3GPP TS 36.300 / 36.413 / 23.280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REFERENCE  ·  GERMANY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450connect: one nationwide 450 MHz network, shared by Germany’s utilities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429000" cy="4064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loc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6400"/>
            <a:ext cx="2641600" cy="381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2800" y="5207000"/>
            <a:ext cx="1397000" cy="279400"/>
          </a:xfrm>
          <a:prstGeom prst="round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52070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 Semibold"/>
              </a:rPr>
              <a:t>Band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1400" y="5207000"/>
            <a:ext cx="1524000" cy="279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1400" y="52070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Licence to 2040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5494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46600" y="17907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radio-tow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28" y="1900427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56200" y="16510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~1,600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6200" y="20574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sites for nationwide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6400" y="15494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17907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900427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39200" y="16510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72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200" y="20574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battery backup at every site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5908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6600" y="28321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wav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328" y="294182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56200" y="26924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2×4.74 MHz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6200" y="30988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451.00–455.74 / 461.00–465.74 MHz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6400" y="25908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0" y="28321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2941828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39200" y="26924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4 × 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9200" y="30988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owned by utility groups incl. E.ON and Alliander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322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46600" y="38735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328" y="3983228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56200" y="37338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Nokia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6200" y="41402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radio, core, backhaul and power backup; O&amp;M to 2040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26400" y="3632200"/>
            <a:ext cx="3556000" cy="939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600" y="3873500"/>
            <a:ext cx="457200" cy="4572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smartpho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3983228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839200" y="37338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7F9B00"/>
                </a:solidFill>
                <a:latin typeface="Segoe UI Light"/>
              </a:rPr>
              <a:t>PNC660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9200" y="41402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Hytera handheld on the 450connect whitelist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47498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FROM LICENCE TO NETWORK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704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Nov 2020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04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Band reserved for energy &amp; water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595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65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Mar 2021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Licence awarded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56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26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Feb 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26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Nokia selected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917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187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End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87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Full operation 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0" name="Picture 59" descr="che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918200"/>
            <a:ext cx="254000" cy="254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19200" y="57912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Globe: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one operator, one network, many utility customers — and no consumer service.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Bundesnetzagentur press releases (Mar 2021); Nokia newsroom (Feb 2022); 450 MHz Alliance, RFI (2025) p5, Global Update (Dec 2025) p9; 450connect; Hytera whitelist certificate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Three 450 MHz networks, three national mission-critical deployments</a:t>
            </a:r>
          </a:p>
        </p:txBody>
      </p:sp>
      <p:pic>
        <p:nvPicPr>
          <p:cNvPr id="10" name="Picture 9" descr="radio-tower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94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5200" y="15494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450 MHZ NETWORKS  ·  OPERATOR NETWORKS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loc_germ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54200"/>
            <a:ext cx="1320800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82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82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450connect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82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82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national utility network</a:t>
            </a:r>
          </a:p>
        </p:txBody>
      </p:sp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3251200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368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&gt;95% coverage</a:t>
            </a:r>
          </a:p>
        </p:txBody>
      </p:sp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350520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368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PNC660 whitelisted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8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8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loc_malays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800" y="1854200"/>
            <a:ext cx="1320800" cy="1905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674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MALAYSIA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TNB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utility network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251200"/>
            <a:ext cx="1524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Phase 1: 4 areas</a:t>
            </a:r>
          </a:p>
        </p:txBody>
      </p:sp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505200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60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Phase 2 tendering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loc_singap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1854200"/>
            <a:ext cx="1320800" cy="1905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266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SINGAPORE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66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Public safety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66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66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public safety network</a:t>
            </a:r>
          </a:p>
        </p:txBody>
      </p:sp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3251200"/>
            <a:ext cx="15240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552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In service</a:t>
            </a:r>
          </a:p>
        </p:txBody>
      </p:sp>
      <p:pic>
        <p:nvPicPr>
          <p:cNvPr id="43" name="Picture 4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3505200"/>
            <a:ext cx="1524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552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Same band as PH</a:t>
            </a:r>
          </a:p>
        </p:txBody>
      </p:sp>
      <p:pic>
        <p:nvPicPr>
          <p:cNvPr id="45" name="Picture 44" descr="layer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11600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65200" y="3911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HYTERA MISSION-CRITICAL DEPLOYMENTS AT NATIONAL SCALE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8" name="Picture 47" descr="v6_4c49d82c37.jpg"/>
          <p:cNvPicPr>
            <a:picLocks noChangeAspect="1"/>
          </p:cNvPicPr>
          <p:nvPr/>
        </p:nvPicPr>
        <p:blipFill>
          <a:blip r:embed="rId8"/>
          <a:srcRect l="30500" r="30500"/>
          <a:stretch>
            <a:fillRect/>
          </a:stretch>
        </p:blipFill>
        <p:spPr>
          <a:xfrm>
            <a:off x="609600" y="4216400"/>
            <a:ext cx="1320800" cy="1905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1082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SRI LANKA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82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Railways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82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1,950+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82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MCS terminals</a:t>
            </a:r>
          </a:p>
        </p:txBody>
      </p:sp>
      <p:pic>
        <p:nvPicPr>
          <p:cNvPr id="53" name="Picture 5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5613400"/>
            <a:ext cx="152400" cy="152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3368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9 lines, 403 stations</a:t>
            </a:r>
          </a:p>
        </p:txBody>
      </p:sp>
      <p:pic>
        <p:nvPicPr>
          <p:cNvPr id="55" name="Picture 5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5867400"/>
            <a:ext cx="152400" cy="152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3368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Dialog: 450 licence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688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8" name="Picture 57" descr="v6_9add975c86.jpg"/>
          <p:cNvPicPr>
            <a:picLocks noChangeAspect="1"/>
          </p:cNvPicPr>
          <p:nvPr/>
        </p:nvPicPr>
        <p:blipFill>
          <a:blip r:embed="rId9"/>
          <a:srcRect t="33" b="33"/>
          <a:stretch>
            <a:fillRect/>
          </a:stretch>
        </p:blipFill>
        <p:spPr>
          <a:xfrm>
            <a:off x="4368800" y="4216400"/>
            <a:ext cx="1320800" cy="1905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674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HONG KONG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74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Light Rail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674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810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74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MCS terminals</a:t>
            </a:r>
          </a:p>
        </p:txBody>
      </p:sp>
      <p:pic>
        <p:nvPicPr>
          <p:cNvPr id="63" name="Picture 6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5613400"/>
            <a:ext cx="152400" cy="152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0960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1st railway MCS on 5G</a:t>
            </a:r>
          </a:p>
        </p:txBody>
      </p:sp>
      <p:pic>
        <p:nvPicPr>
          <p:cNvPr id="65" name="Picture 6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5867400"/>
            <a:ext cx="152400" cy="152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0960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Replaced TETRA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280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8" name="Picture 67" descr="v6_0316e38593.jpg"/>
          <p:cNvPicPr>
            <a:picLocks noChangeAspect="1"/>
          </p:cNvPicPr>
          <p:nvPr/>
        </p:nvPicPr>
        <p:blipFill>
          <a:blip r:embed="rId10"/>
          <a:srcRect l="24000" r="24000"/>
          <a:stretch>
            <a:fillRect/>
          </a:stretch>
        </p:blipFill>
        <p:spPr>
          <a:xfrm>
            <a:off x="8128000" y="4216400"/>
            <a:ext cx="1320800" cy="19050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6266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PAPUA NEW GUINEA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266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Police HQ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66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3,000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66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officers served</a:t>
            </a:r>
          </a:p>
        </p:txBody>
      </p:sp>
      <p:pic>
        <p:nvPicPr>
          <p:cNvPr id="73" name="Picture 7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5613400"/>
            <a:ext cx="152400" cy="152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8552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APEC security</a:t>
            </a:r>
          </a:p>
        </p:txBody>
      </p:sp>
      <p:pic>
        <p:nvPicPr>
          <p:cNvPr id="75" name="Picture 7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5867400"/>
            <a:ext cx="152400" cy="152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552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60 s dispatch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6172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Top row: operator networks; Hytera’s link is the 450connect whitelist. PNG photo is illustrative.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p7-p9; RFI for devices (2025) p5; 450connect whitelist; Hytera showroom briefing L170, L211; PNG case records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04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How could the network pay for itself?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04  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Utilities fund the coverage; every other industry builds on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35280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packa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78000"/>
            <a:ext cx="508000" cy="5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Hytera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Radio, terminals, platform</a:t>
            </a:r>
          </a:p>
        </p:txBody>
      </p:sp>
      <p:pic>
        <p:nvPicPr>
          <p:cNvPr id="14" name="Picture 13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05000"/>
            <a:ext cx="304800" cy="30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19600" y="1549400"/>
            <a:ext cx="3352800" cy="9652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1778000"/>
            <a:ext cx="508000" cy="50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8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Globe Telecom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Spectrum, network, customers</a:t>
            </a:r>
          </a:p>
        </p:txBody>
      </p:sp>
      <p:pic>
        <p:nvPicPr>
          <p:cNvPr id="19" name="Picture 18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905000"/>
            <a:ext cx="304800" cy="304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549400"/>
            <a:ext cx="3352800" cy="9652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building-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1778000"/>
            <a:ext cx="508000" cy="50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Anchor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Contract capacity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432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SIX REVENUE LINES  ·  AND WHO BUYS THEM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800" y="3340100"/>
            <a:ext cx="533400" cy="5334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16" y="3468116"/>
            <a:ext cx="277368" cy="2773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40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IoT connectivity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88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radi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68116"/>
            <a:ext cx="277368" cy="2773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832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MCX as a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32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  ·  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312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16" y="3468116"/>
            <a:ext cx="277368" cy="277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424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Capacity packages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24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28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Picture 41" descr="smartpho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16" y="4788916"/>
            <a:ext cx="277368" cy="2773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240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Devices as a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688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cpu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788916"/>
            <a:ext cx="277368" cy="27736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2832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Integration &amp; O&amp;M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32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312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sire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216" y="4788916"/>
            <a:ext cx="277368" cy="2773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424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Emergency readiness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24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Emergency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6" name="Picture 55" descr="info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5943600"/>
            <a:ext cx="254000" cy="254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19200" y="58166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Sign demand before the build: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Portugal’s 450 MHz trial stalled on commercial terms, not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proposal; 450 MHz Alliance, Annual Global Update (Dec 2025) p9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7405c6de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501900"/>
            <a:ext cx="2159000" cy="30226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58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Semibold"/>
              </a:rPr>
              <a:t>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2870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2258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FOR DISCUSSION</a:t>
            </a:r>
          </a:p>
        </p:txBody>
      </p:sp>
      <p:sp>
        <p:nvSpPr>
          <p:cNvPr id="17" name="Oval 16"/>
          <p:cNvSpPr/>
          <p:nvPr/>
        </p:nvSpPr>
        <p:spPr>
          <a:xfrm>
            <a:off x="863600" y="35306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36" y="3628136"/>
            <a:ext cx="211328" cy="21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35306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Band and bandwidth</a:t>
            </a:r>
          </a:p>
        </p:txBody>
      </p:sp>
      <p:sp>
        <p:nvSpPr>
          <p:cNvPr id="20" name="Oval 19"/>
          <p:cNvSpPr/>
          <p:nvPr/>
        </p:nvSpPr>
        <p:spPr>
          <a:xfrm>
            <a:off x="863600" y="40894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36" y="4186936"/>
            <a:ext cx="211328" cy="21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22400" y="40894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Which industries matter most</a:t>
            </a:r>
          </a:p>
        </p:txBody>
      </p:sp>
      <p:sp>
        <p:nvSpPr>
          <p:cNvPr id="23" name="Oval 22"/>
          <p:cNvSpPr/>
          <p:nvPr/>
        </p:nvSpPr>
        <p:spPr>
          <a:xfrm>
            <a:off x="863600" y="46482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map-p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" y="4745736"/>
            <a:ext cx="211328" cy="21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2400" y="46482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Where coverage is needed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Mission First  ·  Safety Always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3459</Words>
  <Application>Microsoft Macintosh PowerPoint</Application>
  <PresentationFormat>宽屏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yu</dc:creator>
  <cp:lastModifiedBy>stefan yu</cp:lastModifiedBy>
  <cp:revision>1</cp:revision>
  <dcterms:created xsi:type="dcterms:W3CDTF">2026-10-10T01:12:47Z</dcterms:created>
  <dcterms:modified xsi:type="dcterms:W3CDTF">2026-10-10T01:38:43Z</dcterms:modified>
</cp:coreProperties>
</file>