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6"/>
    <p:sldId id="269" r:id="rId5"/>
    <p:sldId id="270" r:id="rId4"/>
    <p:sldId id="271" r:id="rId3"/>
    <p:sldId id="272" r:id="rId2"/>
    <p:sldId id="273" r:id="rId24"/>
    <p:sldId id="274" r:id="rId25"/>
    <p:sldId id="275" r:id="rId26"/>
    <p:sldId id="276" r:id="rId27"/>
    <p:sldId id="277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4"/>
    <p:restoredTop sz="87603"/>
  </p:normalViewPr>
  <p:slideViewPr>
    <p:cSldViewPr snapToGrid="0">
      <p:cViewPr varScale="1">
        <p:scale>
          <a:sx n="110" d="100"/>
          <a:sy n="110" d="100"/>
        </p:scale>
        <p:origin x="8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7.xml"/><Relationship Id="rId3" Type="http://schemas.openxmlformats.org/officeDocument/2006/relationships/slide" Target="slides/slide16.xml"/><Relationship Id="rId4" Type="http://schemas.openxmlformats.org/officeDocument/2006/relationships/slide" Target="slides/slide15.xml"/><Relationship Id="rId5" Type="http://schemas.openxmlformats.org/officeDocument/2006/relationships/slide" Target="slides/slide14.xml"/><Relationship Id="rId6" Type="http://schemas.openxmlformats.org/officeDocument/2006/relationships/slide" Target="slides/slide1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Notes Placeholder"/>
          <p:cNvSpPr>
            <a:spLocks noGrp="1"/>
          </p:cNvSpPr>
          <p:nvPr>
            <p:ph type="body" sz="quarter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3846601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947FDD-D38F-E8F5-8586-E9662854F6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3190AE4-F9E4-5FD9-42AF-9099DFB806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44CE86-5C68-32E7-D4E0-B2761B6CF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46ACC-1619-E242-AD15-F336193CCCB6}" type="datetimeFigureOut">
              <a:rPr kumimoji="1" lang="zh-CN" altLang="en-US" smtClean="0"/>
              <a:t>2026/10/10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B1EA70-862F-65FC-F764-9F45D4A99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FC33ED-5EBC-FA7B-0C38-EA39C46DC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29A34-E785-A747-A39B-2C5BB758FEF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92845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537B1B-511C-D4F8-7DF7-64EC8B6C7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EBE62D-2664-56CB-82C4-04C33D46D3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5467FE-6C09-037E-14DD-381C54D5C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46ACC-1619-E242-AD15-F336193CCCB6}" type="datetimeFigureOut">
              <a:rPr kumimoji="1" lang="zh-CN" altLang="en-US" smtClean="0"/>
              <a:t>2026/10/10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396919-FD4A-9072-7E35-742516F97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7BDBD7-22AF-728F-B452-8AA3C2EF1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29A34-E785-A747-A39B-2C5BB758FEF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59003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3A9FEF-46D9-58A0-4123-77A3F86E5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3B04C57-B239-E772-614E-004D45A923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D51A5B-944A-D7C3-E6C5-B7BA6FC4A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46ACC-1619-E242-AD15-F336193CCCB6}" type="datetimeFigureOut">
              <a:rPr kumimoji="1" lang="zh-CN" altLang="en-US" smtClean="0"/>
              <a:t>2026/10/10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F9A231-E1D6-02E5-049E-13B6C93B3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785DA2-F919-AB2D-F4AB-974430820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29A34-E785-A747-A39B-2C5BB758FEF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64538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19ECDE-D311-74B1-0F20-F87A6A7A7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3C9B88-FA6C-8ECF-D8A5-00CA3EDE00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AC993D3-8E45-B3B9-AB74-754EF2E7E0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2EEAE69-5CB6-4FFB-A05B-FAFE465FA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46ACC-1619-E242-AD15-F336193CCCB6}" type="datetimeFigureOut">
              <a:rPr kumimoji="1" lang="zh-CN" altLang="en-US" smtClean="0"/>
              <a:t>2026/10/10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B47215C-0B7F-E4B7-5E41-E225FE479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CF1607B-F95D-FA9A-48D0-AB90D6EDA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29A34-E785-A747-A39B-2C5BB758FEF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59590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69B30D-EF98-9776-0E67-87371B217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7E8FDD7-C50E-7D11-4708-BD3BD0488D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3F05520-BEDD-DC89-EDB8-29A55A6881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8A41E8D-4EDE-E951-9249-16343C408D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3A15438-E2BC-3C49-A770-61F2058F0C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469E29F-2CA3-451B-1588-22B05F1C1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46ACC-1619-E242-AD15-F336193CCCB6}" type="datetimeFigureOut">
              <a:rPr kumimoji="1" lang="zh-CN" altLang="en-US" smtClean="0"/>
              <a:t>2026/10/10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D3E0C48-D0FC-01D7-EFB2-E342FFD1C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B2CF963-EAD2-D222-FE32-733BFF927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29A34-E785-A747-A39B-2C5BB758FEF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45172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9A2317-4DD0-7705-8F0E-9C1AE4689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80B3C6B-F1F3-8087-82E4-22E777BFA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46ACC-1619-E242-AD15-F336193CCCB6}" type="datetimeFigureOut">
              <a:rPr kumimoji="1" lang="zh-CN" altLang="en-US" smtClean="0"/>
              <a:t>2026/10/10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BE57A2B-3769-94B4-A8DA-143705DFD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6269BBB-3D3E-D5C1-373C-4AEBE84F8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29A34-E785-A747-A39B-2C5BB758FEF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73488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053ED18-81E5-087C-CE7B-D43178BA1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46ACC-1619-E242-AD15-F336193CCCB6}" type="datetimeFigureOut">
              <a:rPr kumimoji="1" lang="zh-CN" altLang="en-US" smtClean="0"/>
              <a:t>2026/10/10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2BD668C-C643-0734-3F58-28ECB6961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2FAAAAD-C5EF-CB82-DA12-5DCCE44FC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29A34-E785-A747-A39B-2C5BB758FEF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44561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75AE71-64EC-7CAF-DCC1-AC7B7F251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1341FA-757E-CC97-7EBF-8640D3A585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AD92CD0-2012-EC24-D6A6-D8F0D6235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589081-6ADA-73DD-0406-D90801775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46ACC-1619-E242-AD15-F336193CCCB6}" type="datetimeFigureOut">
              <a:rPr kumimoji="1" lang="zh-CN" altLang="en-US" smtClean="0"/>
              <a:t>2026/10/10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E305348-185C-AEBE-DDBC-FA8F58358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434C1BA-03A9-E84F-1095-593ADDB37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29A34-E785-A747-A39B-2C5BB758FEF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63744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5198B2-5754-13F5-8B12-C9C8CBC44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E5E2333-142C-3E91-91F4-A347E32A47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AE17102-E033-CDC0-B618-299CC91D40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F05AFF9-9891-A28B-4FBF-DFF532046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46ACC-1619-E242-AD15-F336193CCCB6}" type="datetimeFigureOut">
              <a:rPr kumimoji="1" lang="zh-CN" altLang="en-US" smtClean="0"/>
              <a:t>2026/10/10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942270D-2426-270F-0336-B3337C395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EA358EA-4E08-6B21-F095-EE06B9531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29A34-E785-A747-A39B-2C5BB758FEF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59614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CA809F-C91F-7B47-8C12-D25BA362A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04A7382-0CA7-7D8B-83FF-08EF76126F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9417F5-F88C-8CA1-E9BC-7CAC37C48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46ACC-1619-E242-AD15-F336193CCCB6}" type="datetimeFigureOut">
              <a:rPr kumimoji="1" lang="zh-CN" altLang="en-US" smtClean="0"/>
              <a:t>2026/10/10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24339F-FA6A-38A9-D527-0FDC93D8D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AB572A-7476-7FB5-9791-802D508D7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29A34-E785-A747-A39B-2C5BB758FEF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47280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FF63993-AF72-23D1-D01C-F973643BA6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1A46C64-EFAA-9A05-E2F3-ABC719457B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2B8B04-FC76-CEC2-9550-07C425ADE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46ACC-1619-E242-AD15-F336193CCCB6}" type="datetimeFigureOut">
              <a:rPr kumimoji="1" lang="zh-CN" altLang="en-US" smtClean="0"/>
              <a:t>2026/10/10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466A49-4F49-DA65-9C97-50D34FC9A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331544-F576-56EF-205E-90A98A61D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29A34-E785-A747-A39B-2C5BB758FEF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940279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F96E172E-41BA-F174-FF99-50C83FEBC3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-600" y="6136968"/>
            <a:ext cx="12193200" cy="721032"/>
          </a:xfrm>
          <a:prstGeom prst="rect">
            <a:avLst/>
          </a:prstGeom>
        </p:spPr>
      </p:pic>
      <p:grpSp>
        <p:nvGrpSpPr>
          <p:cNvPr id="7" name="图形 12">
            <a:extLst>
              <a:ext uri="{FF2B5EF4-FFF2-40B4-BE49-F238E27FC236}">
                <a16:creationId xmlns:a16="http://schemas.microsoft.com/office/drawing/2014/main" id="{1E6E911F-38F1-42B3-AAB8-57311022C81E}"/>
              </a:ext>
            </a:extLst>
          </p:cNvPr>
          <p:cNvGrpSpPr/>
          <p:nvPr userDrawn="1"/>
        </p:nvGrpSpPr>
        <p:grpSpPr>
          <a:xfrm>
            <a:off x="10477059" y="327570"/>
            <a:ext cx="1306953" cy="520464"/>
            <a:chOff x="1739537" y="98099"/>
            <a:chExt cx="4612704" cy="1836902"/>
          </a:xfrm>
        </p:grpSpPr>
        <p:sp>
          <p:nvSpPr>
            <p:cNvPr id="8" name="任意形状 7">
              <a:extLst>
                <a:ext uri="{FF2B5EF4-FFF2-40B4-BE49-F238E27FC236}">
                  <a16:creationId xmlns:a16="http://schemas.microsoft.com/office/drawing/2014/main" id="{1FF87494-65BD-1CE3-B49E-C51C092D8D37}"/>
                </a:ext>
              </a:extLst>
            </p:cNvPr>
            <p:cNvSpPr/>
            <p:nvPr/>
          </p:nvSpPr>
          <p:spPr>
            <a:xfrm>
              <a:off x="1739537" y="771564"/>
              <a:ext cx="650741" cy="894889"/>
            </a:xfrm>
            <a:custGeom>
              <a:avLst/>
              <a:gdLst>
                <a:gd name="connsiteX0" fmla="*/ 495249 w 650741"/>
                <a:gd name="connsiteY0" fmla="*/ 368834 h 894889"/>
                <a:gd name="connsiteX1" fmla="*/ 155316 w 650741"/>
                <a:gd name="connsiteY1" fmla="*/ 368834 h 894889"/>
                <a:gd name="connsiteX2" fmla="*/ 155316 w 650741"/>
                <a:gd name="connsiteY2" fmla="*/ 0 h 894889"/>
                <a:gd name="connsiteX3" fmla="*/ 0 w 650741"/>
                <a:gd name="connsiteY3" fmla="*/ 0 h 894889"/>
                <a:gd name="connsiteX4" fmla="*/ 0 w 650741"/>
                <a:gd name="connsiteY4" fmla="*/ 894890 h 894889"/>
                <a:gd name="connsiteX5" fmla="*/ 155316 w 650741"/>
                <a:gd name="connsiteY5" fmla="*/ 894890 h 894889"/>
                <a:gd name="connsiteX6" fmla="*/ 155316 w 650741"/>
                <a:gd name="connsiteY6" fmla="*/ 488856 h 894889"/>
                <a:gd name="connsiteX7" fmla="*/ 495249 w 650741"/>
                <a:gd name="connsiteY7" fmla="*/ 488856 h 894889"/>
                <a:gd name="connsiteX8" fmla="*/ 495249 w 650741"/>
                <a:gd name="connsiteY8" fmla="*/ 894890 h 894889"/>
                <a:gd name="connsiteX9" fmla="*/ 510839 w 650741"/>
                <a:gd name="connsiteY9" fmla="*/ 894890 h 894889"/>
                <a:gd name="connsiteX10" fmla="*/ 650742 w 650741"/>
                <a:gd name="connsiteY10" fmla="*/ 894890 h 894889"/>
                <a:gd name="connsiteX11" fmla="*/ 650742 w 650741"/>
                <a:gd name="connsiteY11" fmla="*/ 0 h 894889"/>
                <a:gd name="connsiteX12" fmla="*/ 495249 w 650741"/>
                <a:gd name="connsiteY12" fmla="*/ 0 h 894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0741" h="894889">
                  <a:moveTo>
                    <a:pt x="495249" y="368834"/>
                  </a:moveTo>
                  <a:lnTo>
                    <a:pt x="155316" y="368834"/>
                  </a:lnTo>
                  <a:lnTo>
                    <a:pt x="155316" y="0"/>
                  </a:lnTo>
                  <a:lnTo>
                    <a:pt x="0" y="0"/>
                  </a:lnTo>
                  <a:lnTo>
                    <a:pt x="0" y="894890"/>
                  </a:lnTo>
                  <a:lnTo>
                    <a:pt x="155316" y="894890"/>
                  </a:lnTo>
                  <a:lnTo>
                    <a:pt x="155316" y="488856"/>
                  </a:lnTo>
                  <a:lnTo>
                    <a:pt x="495249" y="488856"/>
                  </a:lnTo>
                  <a:lnTo>
                    <a:pt x="495249" y="894890"/>
                  </a:lnTo>
                  <a:lnTo>
                    <a:pt x="510839" y="894890"/>
                  </a:lnTo>
                  <a:lnTo>
                    <a:pt x="650742" y="894890"/>
                  </a:lnTo>
                  <a:lnTo>
                    <a:pt x="650742" y="0"/>
                  </a:lnTo>
                  <a:lnTo>
                    <a:pt x="495249" y="0"/>
                  </a:lnTo>
                  <a:close/>
                </a:path>
              </a:pathLst>
            </a:custGeom>
            <a:solidFill>
              <a:srgbClr val="656464"/>
            </a:soli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" name="任意形状 8">
              <a:extLst>
                <a:ext uri="{FF2B5EF4-FFF2-40B4-BE49-F238E27FC236}">
                  <a16:creationId xmlns:a16="http://schemas.microsoft.com/office/drawing/2014/main" id="{4F5D7A08-87FA-A7AA-66DC-CC3FFCCD16AF}"/>
                </a:ext>
              </a:extLst>
            </p:cNvPr>
            <p:cNvSpPr/>
            <p:nvPr/>
          </p:nvSpPr>
          <p:spPr>
            <a:xfrm>
              <a:off x="2459620" y="1005434"/>
              <a:ext cx="592694" cy="929567"/>
            </a:xfrm>
            <a:custGeom>
              <a:avLst/>
              <a:gdLst>
                <a:gd name="connsiteX0" fmla="*/ 436748 w 592694"/>
                <a:gd name="connsiteY0" fmla="*/ 12476 h 929567"/>
                <a:gd name="connsiteX1" fmla="*/ 310454 w 592694"/>
                <a:gd name="connsiteY1" fmla="*/ 485449 h 929567"/>
                <a:gd name="connsiteX2" fmla="*/ 161943 w 592694"/>
                <a:gd name="connsiteY2" fmla="*/ 11764 h 929567"/>
                <a:gd name="connsiteX3" fmla="*/ 158997 w 592694"/>
                <a:gd name="connsiteY3" fmla="*/ 0 h 929567"/>
                <a:gd name="connsiteX4" fmla="*/ 0 w 592694"/>
                <a:gd name="connsiteY4" fmla="*/ 0 h 929567"/>
                <a:gd name="connsiteX5" fmla="*/ 5002 w 592694"/>
                <a:gd name="connsiteY5" fmla="*/ 19361 h 929567"/>
                <a:gd name="connsiteX6" fmla="*/ 223669 w 592694"/>
                <a:gd name="connsiteY6" fmla="*/ 647854 h 929567"/>
                <a:gd name="connsiteX7" fmla="*/ 147979 w 592694"/>
                <a:gd name="connsiteY7" fmla="*/ 785362 h 929567"/>
                <a:gd name="connsiteX8" fmla="*/ 93871 w 592694"/>
                <a:gd name="connsiteY8" fmla="*/ 815643 h 929567"/>
                <a:gd name="connsiteX9" fmla="*/ 12975 w 592694"/>
                <a:gd name="connsiteY9" fmla="*/ 815643 h 929567"/>
                <a:gd name="connsiteX10" fmla="*/ 6806 w 592694"/>
                <a:gd name="connsiteY10" fmla="*/ 916128 h 929567"/>
                <a:gd name="connsiteX11" fmla="*/ 19348 w 592694"/>
                <a:gd name="connsiteY11" fmla="*/ 919258 h 929567"/>
                <a:gd name="connsiteX12" fmla="*/ 103087 w 592694"/>
                <a:gd name="connsiteY12" fmla="*/ 929567 h 929567"/>
                <a:gd name="connsiteX13" fmla="*/ 104889 w 592694"/>
                <a:gd name="connsiteY13" fmla="*/ 929567 h 929567"/>
                <a:gd name="connsiteX14" fmla="*/ 243016 w 592694"/>
                <a:gd name="connsiteY14" fmla="*/ 871489 h 929567"/>
                <a:gd name="connsiteX15" fmla="*/ 378346 w 592694"/>
                <a:gd name="connsiteY15" fmla="*/ 652078 h 929567"/>
                <a:gd name="connsiteX16" fmla="*/ 587872 w 592694"/>
                <a:gd name="connsiteY16" fmla="*/ 19287 h 929567"/>
                <a:gd name="connsiteX17" fmla="*/ 592695 w 592694"/>
                <a:gd name="connsiteY17" fmla="*/ 2 h 929567"/>
                <a:gd name="connsiteX18" fmla="*/ 439078 w 592694"/>
                <a:gd name="connsiteY18" fmla="*/ 2 h 929567"/>
                <a:gd name="connsiteX19" fmla="*/ 436748 w 592694"/>
                <a:gd name="connsiteY19" fmla="*/ 12478 h 929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92694" h="929567">
                  <a:moveTo>
                    <a:pt x="436748" y="12476"/>
                  </a:moveTo>
                  <a:cubicBezTo>
                    <a:pt x="404955" y="174421"/>
                    <a:pt x="360448" y="339438"/>
                    <a:pt x="310454" y="485449"/>
                  </a:cubicBezTo>
                  <a:cubicBezTo>
                    <a:pt x="255533" y="333879"/>
                    <a:pt x="204855" y="182322"/>
                    <a:pt x="161943" y="11764"/>
                  </a:cubicBezTo>
                  <a:lnTo>
                    <a:pt x="158997" y="0"/>
                  </a:lnTo>
                  <a:lnTo>
                    <a:pt x="0" y="0"/>
                  </a:lnTo>
                  <a:lnTo>
                    <a:pt x="5002" y="19361"/>
                  </a:lnTo>
                  <a:cubicBezTo>
                    <a:pt x="62158" y="239336"/>
                    <a:pt x="146988" y="470850"/>
                    <a:pt x="223669" y="647854"/>
                  </a:cubicBezTo>
                  <a:cubicBezTo>
                    <a:pt x="192133" y="717948"/>
                    <a:pt x="168114" y="761067"/>
                    <a:pt x="147979" y="785362"/>
                  </a:cubicBezTo>
                  <a:cubicBezTo>
                    <a:pt x="126752" y="810281"/>
                    <a:pt x="113296" y="815216"/>
                    <a:pt x="93871" y="815643"/>
                  </a:cubicBezTo>
                  <a:lnTo>
                    <a:pt x="12975" y="815643"/>
                  </a:lnTo>
                  <a:lnTo>
                    <a:pt x="6806" y="916128"/>
                  </a:lnTo>
                  <a:lnTo>
                    <a:pt x="19348" y="919258"/>
                  </a:lnTo>
                  <a:cubicBezTo>
                    <a:pt x="40043" y="924358"/>
                    <a:pt x="69597" y="929567"/>
                    <a:pt x="103087" y="929567"/>
                  </a:cubicBezTo>
                  <a:lnTo>
                    <a:pt x="104889" y="929567"/>
                  </a:lnTo>
                  <a:cubicBezTo>
                    <a:pt x="155951" y="929567"/>
                    <a:pt x="201171" y="913896"/>
                    <a:pt x="243016" y="871489"/>
                  </a:cubicBezTo>
                  <a:cubicBezTo>
                    <a:pt x="285545" y="828732"/>
                    <a:pt x="326678" y="760432"/>
                    <a:pt x="378346" y="652078"/>
                  </a:cubicBezTo>
                  <a:cubicBezTo>
                    <a:pt x="447061" y="509460"/>
                    <a:pt x="516553" y="303411"/>
                    <a:pt x="587872" y="19287"/>
                  </a:cubicBezTo>
                  <a:lnTo>
                    <a:pt x="592695" y="2"/>
                  </a:lnTo>
                  <a:lnTo>
                    <a:pt x="439078" y="2"/>
                  </a:lnTo>
                  <a:lnTo>
                    <a:pt x="436748" y="12478"/>
                  </a:lnTo>
                  <a:close/>
                </a:path>
              </a:pathLst>
            </a:custGeom>
            <a:solidFill>
              <a:srgbClr val="656464"/>
            </a:soli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" name="任意形状 9">
              <a:extLst>
                <a:ext uri="{FF2B5EF4-FFF2-40B4-BE49-F238E27FC236}">
                  <a16:creationId xmlns:a16="http://schemas.microsoft.com/office/drawing/2014/main" id="{50E9FEE1-E93A-F1E5-E543-3E55DCA60665}"/>
                </a:ext>
              </a:extLst>
            </p:cNvPr>
            <p:cNvSpPr/>
            <p:nvPr/>
          </p:nvSpPr>
          <p:spPr>
            <a:xfrm>
              <a:off x="3117596" y="822326"/>
              <a:ext cx="394925" cy="853987"/>
            </a:xfrm>
            <a:custGeom>
              <a:avLst/>
              <a:gdLst>
                <a:gd name="connsiteX0" fmla="*/ 263816 w 394925"/>
                <a:gd name="connsiteY0" fmla="*/ 726822 h 853987"/>
                <a:gd name="connsiteX1" fmla="*/ 245453 w 394925"/>
                <a:gd name="connsiteY1" fmla="*/ 649176 h 853987"/>
                <a:gd name="connsiteX2" fmla="*/ 245453 w 394925"/>
                <a:gd name="connsiteY2" fmla="*/ 292104 h 853987"/>
                <a:gd name="connsiteX3" fmla="*/ 394859 w 394925"/>
                <a:gd name="connsiteY3" fmla="*/ 292104 h 853987"/>
                <a:gd name="connsiteX4" fmla="*/ 394859 w 394925"/>
                <a:gd name="connsiteY4" fmla="*/ 183108 h 853987"/>
                <a:gd name="connsiteX5" fmla="*/ 245453 w 394925"/>
                <a:gd name="connsiteY5" fmla="*/ 183108 h 853987"/>
                <a:gd name="connsiteX6" fmla="*/ 245453 w 394925"/>
                <a:gd name="connsiteY6" fmla="*/ 0 h 853987"/>
                <a:gd name="connsiteX7" fmla="*/ 122994 w 394925"/>
                <a:gd name="connsiteY7" fmla="*/ 0 h 853987"/>
                <a:gd name="connsiteX8" fmla="*/ 94329 w 394925"/>
                <a:gd name="connsiteY8" fmla="*/ 183108 h 853987"/>
                <a:gd name="connsiteX9" fmla="*/ 0 w 394925"/>
                <a:gd name="connsiteY9" fmla="*/ 183108 h 853987"/>
                <a:gd name="connsiteX10" fmla="*/ 0 w 394925"/>
                <a:gd name="connsiteY10" fmla="*/ 292104 h 853987"/>
                <a:gd name="connsiteX11" fmla="*/ 93695 w 394925"/>
                <a:gd name="connsiteY11" fmla="*/ 292104 h 853987"/>
                <a:gd name="connsiteX12" fmla="*/ 93695 w 394925"/>
                <a:gd name="connsiteY12" fmla="*/ 678954 h 853987"/>
                <a:gd name="connsiteX13" fmla="*/ 144573 w 394925"/>
                <a:gd name="connsiteY13" fmla="*/ 818311 h 853987"/>
                <a:gd name="connsiteX14" fmla="*/ 272215 w 394925"/>
                <a:gd name="connsiteY14" fmla="*/ 853988 h 853987"/>
                <a:gd name="connsiteX15" fmla="*/ 382840 w 394925"/>
                <a:gd name="connsiteY15" fmla="*/ 842420 h 853987"/>
                <a:gd name="connsiteX16" fmla="*/ 394925 w 394925"/>
                <a:gd name="connsiteY16" fmla="*/ 839750 h 853987"/>
                <a:gd name="connsiteX17" fmla="*/ 394925 w 394925"/>
                <a:gd name="connsiteY17" fmla="*/ 740162 h 853987"/>
                <a:gd name="connsiteX18" fmla="*/ 324985 w 394925"/>
                <a:gd name="connsiteY18" fmla="*/ 740162 h 853987"/>
                <a:gd name="connsiteX19" fmla="*/ 263816 w 394925"/>
                <a:gd name="connsiteY19" fmla="*/ 726822 h 853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94925" h="853987">
                  <a:moveTo>
                    <a:pt x="263816" y="726822"/>
                  </a:moveTo>
                  <a:cubicBezTo>
                    <a:pt x="253426" y="717574"/>
                    <a:pt x="245354" y="695621"/>
                    <a:pt x="245453" y="649176"/>
                  </a:cubicBezTo>
                  <a:lnTo>
                    <a:pt x="245453" y="292104"/>
                  </a:lnTo>
                  <a:lnTo>
                    <a:pt x="394859" y="292104"/>
                  </a:lnTo>
                  <a:lnTo>
                    <a:pt x="394859" y="183108"/>
                  </a:lnTo>
                  <a:lnTo>
                    <a:pt x="245453" y="183108"/>
                  </a:lnTo>
                  <a:lnTo>
                    <a:pt x="245453" y="0"/>
                  </a:lnTo>
                  <a:lnTo>
                    <a:pt x="122994" y="0"/>
                  </a:lnTo>
                  <a:lnTo>
                    <a:pt x="94329" y="183108"/>
                  </a:lnTo>
                  <a:lnTo>
                    <a:pt x="0" y="183108"/>
                  </a:lnTo>
                  <a:lnTo>
                    <a:pt x="0" y="292104"/>
                  </a:lnTo>
                  <a:lnTo>
                    <a:pt x="93695" y="292104"/>
                  </a:lnTo>
                  <a:lnTo>
                    <a:pt x="93695" y="678954"/>
                  </a:lnTo>
                  <a:cubicBezTo>
                    <a:pt x="93618" y="745010"/>
                    <a:pt x="111270" y="790722"/>
                    <a:pt x="144573" y="818311"/>
                  </a:cubicBezTo>
                  <a:cubicBezTo>
                    <a:pt x="177820" y="845922"/>
                    <a:pt x="222322" y="853911"/>
                    <a:pt x="272215" y="853988"/>
                  </a:cubicBezTo>
                  <a:cubicBezTo>
                    <a:pt x="312790" y="853911"/>
                    <a:pt x="354175" y="848975"/>
                    <a:pt x="382840" y="842420"/>
                  </a:cubicBezTo>
                  <a:lnTo>
                    <a:pt x="394925" y="839750"/>
                  </a:lnTo>
                  <a:lnTo>
                    <a:pt x="394925" y="740162"/>
                  </a:lnTo>
                  <a:lnTo>
                    <a:pt x="324985" y="740162"/>
                  </a:lnTo>
                  <a:cubicBezTo>
                    <a:pt x="293093" y="740337"/>
                    <a:pt x="273670" y="736572"/>
                    <a:pt x="263816" y="726822"/>
                  </a:cubicBezTo>
                  <a:close/>
                </a:path>
              </a:pathLst>
            </a:custGeom>
            <a:solidFill>
              <a:srgbClr val="656464"/>
            </a:soli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" name="任意形状 10">
              <a:extLst>
                <a:ext uri="{FF2B5EF4-FFF2-40B4-BE49-F238E27FC236}">
                  <a16:creationId xmlns:a16="http://schemas.microsoft.com/office/drawing/2014/main" id="{C63A48D9-4FC7-12B4-7763-ECF778419844}"/>
                </a:ext>
              </a:extLst>
            </p:cNvPr>
            <p:cNvSpPr/>
            <p:nvPr/>
          </p:nvSpPr>
          <p:spPr>
            <a:xfrm>
              <a:off x="3556629" y="991891"/>
              <a:ext cx="579088" cy="688176"/>
            </a:xfrm>
            <a:custGeom>
              <a:avLst/>
              <a:gdLst>
                <a:gd name="connsiteX0" fmla="*/ 302411 w 579088"/>
                <a:gd name="connsiteY0" fmla="*/ 106382 h 688176"/>
                <a:gd name="connsiteX1" fmla="*/ 392519 w 579088"/>
                <a:gd name="connsiteY1" fmla="*/ 147363 h 688176"/>
                <a:gd name="connsiteX2" fmla="*/ 424586 w 579088"/>
                <a:gd name="connsiteY2" fmla="*/ 266121 h 688176"/>
                <a:gd name="connsiteX3" fmla="*/ 157379 w 579088"/>
                <a:gd name="connsiteY3" fmla="*/ 266121 h 688176"/>
                <a:gd name="connsiteX4" fmla="*/ 192847 w 579088"/>
                <a:gd name="connsiteY4" fmla="*/ 160347 h 688176"/>
                <a:gd name="connsiteX5" fmla="*/ 302411 w 579088"/>
                <a:gd name="connsiteY5" fmla="*/ 106384 h 688176"/>
                <a:gd name="connsiteX6" fmla="*/ 309925 w 579088"/>
                <a:gd name="connsiteY6" fmla="*/ 2 h 688176"/>
                <a:gd name="connsiteX7" fmla="*/ 77924 w 579088"/>
                <a:gd name="connsiteY7" fmla="*/ 94567 h 688176"/>
                <a:gd name="connsiteX8" fmla="*/ 0 w 579088"/>
                <a:gd name="connsiteY8" fmla="*/ 345967 h 688176"/>
                <a:gd name="connsiteX9" fmla="*/ 76043 w 579088"/>
                <a:gd name="connsiteY9" fmla="*/ 600802 h 688176"/>
                <a:gd name="connsiteX10" fmla="*/ 310909 w 579088"/>
                <a:gd name="connsiteY10" fmla="*/ 688177 h 688176"/>
                <a:gd name="connsiteX11" fmla="*/ 311445 w 579088"/>
                <a:gd name="connsiteY11" fmla="*/ 688177 h 688176"/>
                <a:gd name="connsiteX12" fmla="*/ 549713 w 579088"/>
                <a:gd name="connsiteY12" fmla="*/ 654131 h 688176"/>
                <a:gd name="connsiteX13" fmla="*/ 563504 w 579088"/>
                <a:gd name="connsiteY13" fmla="*/ 650093 h 688176"/>
                <a:gd name="connsiteX14" fmla="*/ 540570 w 579088"/>
                <a:gd name="connsiteY14" fmla="*/ 540743 h 688176"/>
                <a:gd name="connsiteX15" fmla="*/ 524733 w 579088"/>
                <a:gd name="connsiteY15" fmla="*/ 545131 h 688176"/>
                <a:gd name="connsiteX16" fmla="*/ 329633 w 579088"/>
                <a:gd name="connsiteY16" fmla="*/ 574253 h 688176"/>
                <a:gd name="connsiteX17" fmla="*/ 193941 w 579088"/>
                <a:gd name="connsiteY17" fmla="*/ 518330 h 688176"/>
                <a:gd name="connsiteX18" fmla="*/ 156417 w 579088"/>
                <a:gd name="connsiteY18" fmla="*/ 370076 h 688176"/>
                <a:gd name="connsiteX19" fmla="*/ 577568 w 579088"/>
                <a:gd name="connsiteY19" fmla="*/ 370076 h 688176"/>
                <a:gd name="connsiteX20" fmla="*/ 577568 w 579088"/>
                <a:gd name="connsiteY20" fmla="*/ 354481 h 688176"/>
                <a:gd name="connsiteX21" fmla="*/ 579089 w 579088"/>
                <a:gd name="connsiteY21" fmla="*/ 295232 h 688176"/>
                <a:gd name="connsiteX22" fmla="*/ 517110 w 579088"/>
                <a:gd name="connsiteY22" fmla="*/ 82269 h 688176"/>
                <a:gd name="connsiteX23" fmla="*/ 309925 w 579088"/>
                <a:gd name="connsiteY23" fmla="*/ 1 h 688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79088" h="688176">
                  <a:moveTo>
                    <a:pt x="302411" y="106382"/>
                  </a:moveTo>
                  <a:cubicBezTo>
                    <a:pt x="343260" y="106763"/>
                    <a:pt x="371903" y="120991"/>
                    <a:pt x="392519" y="147363"/>
                  </a:cubicBezTo>
                  <a:cubicBezTo>
                    <a:pt x="412861" y="173787"/>
                    <a:pt x="424586" y="214128"/>
                    <a:pt x="424586" y="266121"/>
                  </a:cubicBezTo>
                  <a:lnTo>
                    <a:pt x="157379" y="266121"/>
                  </a:lnTo>
                  <a:cubicBezTo>
                    <a:pt x="161229" y="227118"/>
                    <a:pt x="172538" y="189033"/>
                    <a:pt x="192847" y="160347"/>
                  </a:cubicBezTo>
                  <a:cubicBezTo>
                    <a:pt x="216153" y="128004"/>
                    <a:pt x="249467" y="106764"/>
                    <a:pt x="302411" y="106384"/>
                  </a:cubicBezTo>
                  <a:close/>
                  <a:moveTo>
                    <a:pt x="309925" y="2"/>
                  </a:moveTo>
                  <a:cubicBezTo>
                    <a:pt x="209351" y="-175"/>
                    <a:pt x="130431" y="33437"/>
                    <a:pt x="77924" y="94567"/>
                  </a:cubicBezTo>
                  <a:cubicBezTo>
                    <a:pt x="25439" y="155519"/>
                    <a:pt x="0" y="242001"/>
                    <a:pt x="0" y="345967"/>
                  </a:cubicBezTo>
                  <a:cubicBezTo>
                    <a:pt x="0" y="456312"/>
                    <a:pt x="23744" y="542089"/>
                    <a:pt x="76043" y="600802"/>
                  </a:cubicBezTo>
                  <a:cubicBezTo>
                    <a:pt x="128178" y="659493"/>
                    <a:pt x="207546" y="688177"/>
                    <a:pt x="310909" y="688177"/>
                  </a:cubicBezTo>
                  <a:lnTo>
                    <a:pt x="311445" y="688177"/>
                  </a:lnTo>
                  <a:cubicBezTo>
                    <a:pt x="400667" y="688177"/>
                    <a:pt x="480647" y="674278"/>
                    <a:pt x="549713" y="654131"/>
                  </a:cubicBezTo>
                  <a:lnTo>
                    <a:pt x="563504" y="650093"/>
                  </a:lnTo>
                  <a:lnTo>
                    <a:pt x="540570" y="540743"/>
                  </a:lnTo>
                  <a:lnTo>
                    <a:pt x="524733" y="545131"/>
                  </a:lnTo>
                  <a:cubicBezTo>
                    <a:pt x="463280" y="562160"/>
                    <a:pt x="406409" y="574176"/>
                    <a:pt x="329633" y="574253"/>
                  </a:cubicBezTo>
                  <a:cubicBezTo>
                    <a:pt x="260666" y="573892"/>
                    <a:pt x="220091" y="553821"/>
                    <a:pt x="193941" y="518330"/>
                  </a:cubicBezTo>
                  <a:cubicBezTo>
                    <a:pt x="169661" y="484996"/>
                    <a:pt x="157937" y="434720"/>
                    <a:pt x="156417" y="370076"/>
                  </a:cubicBezTo>
                  <a:lnTo>
                    <a:pt x="577568" y="370076"/>
                  </a:lnTo>
                  <a:lnTo>
                    <a:pt x="577568" y="354481"/>
                  </a:lnTo>
                  <a:cubicBezTo>
                    <a:pt x="577568" y="336566"/>
                    <a:pt x="579089" y="308419"/>
                    <a:pt x="579089" y="295232"/>
                  </a:cubicBezTo>
                  <a:cubicBezTo>
                    <a:pt x="579012" y="209028"/>
                    <a:pt x="561010" y="135241"/>
                    <a:pt x="517110" y="82269"/>
                  </a:cubicBezTo>
                  <a:cubicBezTo>
                    <a:pt x="473309" y="29321"/>
                    <a:pt x="404254" y="-177"/>
                    <a:pt x="309925" y="1"/>
                  </a:cubicBezTo>
                  <a:close/>
                </a:path>
              </a:pathLst>
            </a:custGeom>
            <a:solidFill>
              <a:srgbClr val="656464"/>
            </a:soli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" name="任意形状 11">
              <a:extLst>
                <a:ext uri="{FF2B5EF4-FFF2-40B4-BE49-F238E27FC236}">
                  <a16:creationId xmlns:a16="http://schemas.microsoft.com/office/drawing/2014/main" id="{341E5E21-2A07-AD8F-3B28-E1CBFDE6C95C}"/>
                </a:ext>
              </a:extLst>
            </p:cNvPr>
            <p:cNvSpPr/>
            <p:nvPr/>
          </p:nvSpPr>
          <p:spPr>
            <a:xfrm>
              <a:off x="4227181" y="991914"/>
              <a:ext cx="380685" cy="674561"/>
            </a:xfrm>
            <a:custGeom>
              <a:avLst/>
              <a:gdLst>
                <a:gd name="connsiteX0" fmla="*/ 288773 w 380685"/>
                <a:gd name="connsiteY0" fmla="*/ 5 h 674561"/>
                <a:gd name="connsiteX1" fmla="*/ 198403 w 380685"/>
                <a:gd name="connsiteY1" fmla="*/ 32906 h 674561"/>
                <a:gd name="connsiteX2" fmla="*/ 133811 w 380685"/>
                <a:gd name="connsiteY2" fmla="*/ 102802 h 674561"/>
                <a:gd name="connsiteX3" fmla="*/ 124493 w 380685"/>
                <a:gd name="connsiteY3" fmla="*/ 13546 h 674561"/>
                <a:gd name="connsiteX4" fmla="*/ 0 w 380685"/>
                <a:gd name="connsiteY4" fmla="*/ 13546 h 674561"/>
                <a:gd name="connsiteX5" fmla="*/ 0 w 380685"/>
                <a:gd name="connsiteY5" fmla="*/ 674562 h 674561"/>
                <a:gd name="connsiteX6" fmla="*/ 151627 w 380685"/>
                <a:gd name="connsiteY6" fmla="*/ 674562 h 674561"/>
                <a:gd name="connsiteX7" fmla="*/ 151627 w 380685"/>
                <a:gd name="connsiteY7" fmla="*/ 244704 h 674561"/>
                <a:gd name="connsiteX8" fmla="*/ 233160 w 380685"/>
                <a:gd name="connsiteY8" fmla="*/ 148356 h 674561"/>
                <a:gd name="connsiteX9" fmla="*/ 284191 w 380685"/>
                <a:gd name="connsiteY9" fmla="*/ 122542 h 674561"/>
                <a:gd name="connsiteX10" fmla="*/ 340460 w 380685"/>
                <a:gd name="connsiteY10" fmla="*/ 131943 h 674561"/>
                <a:gd name="connsiteX11" fmla="*/ 356482 w 380685"/>
                <a:gd name="connsiteY11" fmla="*/ 136338 h 674561"/>
                <a:gd name="connsiteX12" fmla="*/ 359807 w 380685"/>
                <a:gd name="connsiteY12" fmla="*/ 120027 h 674561"/>
                <a:gd name="connsiteX13" fmla="*/ 380685 w 380685"/>
                <a:gd name="connsiteY13" fmla="*/ 15681 h 674561"/>
                <a:gd name="connsiteX14" fmla="*/ 366971 w 380685"/>
                <a:gd name="connsiteY14" fmla="*/ 11844 h 674561"/>
                <a:gd name="connsiteX15" fmla="*/ 288773 w 380685"/>
                <a:gd name="connsiteY15" fmla="*/ 5 h 674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80685" h="674561">
                  <a:moveTo>
                    <a:pt x="288773" y="5"/>
                  </a:moveTo>
                  <a:cubicBezTo>
                    <a:pt x="255525" y="-275"/>
                    <a:pt x="225898" y="10574"/>
                    <a:pt x="198403" y="32906"/>
                  </a:cubicBezTo>
                  <a:cubicBezTo>
                    <a:pt x="177426" y="49650"/>
                    <a:pt x="157095" y="72618"/>
                    <a:pt x="133811" y="102802"/>
                  </a:cubicBezTo>
                  <a:lnTo>
                    <a:pt x="124493" y="13546"/>
                  </a:lnTo>
                  <a:lnTo>
                    <a:pt x="0" y="13546"/>
                  </a:lnTo>
                  <a:lnTo>
                    <a:pt x="0" y="674562"/>
                  </a:lnTo>
                  <a:lnTo>
                    <a:pt x="151627" y="674562"/>
                  </a:lnTo>
                  <a:lnTo>
                    <a:pt x="151627" y="244704"/>
                  </a:lnTo>
                  <a:cubicBezTo>
                    <a:pt x="186919" y="198815"/>
                    <a:pt x="212643" y="167437"/>
                    <a:pt x="233160" y="148356"/>
                  </a:cubicBezTo>
                  <a:cubicBezTo>
                    <a:pt x="254815" y="128539"/>
                    <a:pt x="268814" y="122619"/>
                    <a:pt x="284191" y="122542"/>
                  </a:cubicBezTo>
                  <a:cubicBezTo>
                    <a:pt x="300246" y="122542"/>
                    <a:pt x="318598" y="125845"/>
                    <a:pt x="340460" y="131943"/>
                  </a:cubicBezTo>
                  <a:lnTo>
                    <a:pt x="356482" y="136338"/>
                  </a:lnTo>
                  <a:lnTo>
                    <a:pt x="359807" y="120027"/>
                  </a:lnTo>
                  <a:lnTo>
                    <a:pt x="380685" y="15681"/>
                  </a:lnTo>
                  <a:lnTo>
                    <a:pt x="366971" y="11844"/>
                  </a:lnTo>
                  <a:cubicBezTo>
                    <a:pt x="340285" y="3943"/>
                    <a:pt x="314485" y="5"/>
                    <a:pt x="288773" y="5"/>
                  </a:cubicBezTo>
                  <a:close/>
                </a:path>
              </a:pathLst>
            </a:custGeom>
            <a:solidFill>
              <a:srgbClr val="656464"/>
            </a:soli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" name="任意形状 12">
              <a:extLst>
                <a:ext uri="{FF2B5EF4-FFF2-40B4-BE49-F238E27FC236}">
                  <a16:creationId xmlns:a16="http://schemas.microsoft.com/office/drawing/2014/main" id="{797F1EB2-7BFE-7EFE-A850-707DBB310097}"/>
                </a:ext>
              </a:extLst>
            </p:cNvPr>
            <p:cNvSpPr/>
            <p:nvPr/>
          </p:nvSpPr>
          <p:spPr>
            <a:xfrm>
              <a:off x="4620026" y="991866"/>
              <a:ext cx="539861" cy="688201"/>
            </a:xfrm>
            <a:custGeom>
              <a:avLst/>
              <a:gdLst>
                <a:gd name="connsiteX0" fmla="*/ 187108 w 539861"/>
                <a:gd name="connsiteY0" fmla="*/ 410329 h 688201"/>
                <a:gd name="connsiteX1" fmla="*/ 296136 w 539861"/>
                <a:gd name="connsiteY1" fmla="*/ 381208 h 688201"/>
                <a:gd name="connsiteX2" fmla="*/ 296311 w 539861"/>
                <a:gd name="connsiteY2" fmla="*/ 381208 h 688201"/>
                <a:gd name="connsiteX3" fmla="*/ 389547 w 539861"/>
                <a:gd name="connsiteY3" fmla="*/ 381208 h 688201"/>
                <a:gd name="connsiteX4" fmla="*/ 389547 w 539861"/>
                <a:gd name="connsiteY4" fmla="*/ 501589 h 688201"/>
                <a:gd name="connsiteX5" fmla="*/ 248015 w 539861"/>
                <a:gd name="connsiteY5" fmla="*/ 579202 h 688201"/>
                <a:gd name="connsiteX6" fmla="*/ 176084 w 539861"/>
                <a:gd name="connsiteY6" fmla="*/ 554743 h 688201"/>
                <a:gd name="connsiteX7" fmla="*/ 153336 w 539861"/>
                <a:gd name="connsiteY7" fmla="*/ 488325 h 688201"/>
                <a:gd name="connsiteX8" fmla="*/ 187108 w 539861"/>
                <a:gd name="connsiteY8" fmla="*/ 410329 h 688201"/>
                <a:gd name="connsiteX9" fmla="*/ 481634 w 539861"/>
                <a:gd name="connsiteY9" fmla="*/ 63926 h 688201"/>
                <a:gd name="connsiteX10" fmla="*/ 282772 w 539861"/>
                <a:gd name="connsiteY10" fmla="*/ 0 h 688201"/>
                <a:gd name="connsiteX11" fmla="*/ 53932 w 539861"/>
                <a:gd name="connsiteY11" fmla="*/ 41872 h 688201"/>
                <a:gd name="connsiteX12" fmla="*/ 40042 w 539861"/>
                <a:gd name="connsiteY12" fmla="*/ 46877 h 688201"/>
                <a:gd name="connsiteX13" fmla="*/ 73880 w 539861"/>
                <a:gd name="connsiteY13" fmla="*/ 152291 h 688201"/>
                <a:gd name="connsiteX14" fmla="*/ 89225 w 539861"/>
                <a:gd name="connsiteY14" fmla="*/ 146194 h 688201"/>
                <a:gd name="connsiteX15" fmla="*/ 264595 w 539861"/>
                <a:gd name="connsiteY15" fmla="*/ 110242 h 688201"/>
                <a:gd name="connsiteX16" fmla="*/ 363113 w 539861"/>
                <a:gd name="connsiteY16" fmla="*/ 140198 h 688201"/>
                <a:gd name="connsiteX17" fmla="*/ 389547 w 539861"/>
                <a:gd name="connsiteY17" fmla="*/ 237003 h 688201"/>
                <a:gd name="connsiteX18" fmla="*/ 389547 w 539861"/>
                <a:gd name="connsiteY18" fmla="*/ 279727 h 688201"/>
                <a:gd name="connsiteX19" fmla="*/ 309993 w 539861"/>
                <a:gd name="connsiteY19" fmla="*/ 279727 h 688201"/>
                <a:gd name="connsiteX20" fmla="*/ 88765 w 539861"/>
                <a:gd name="connsiteY20" fmla="*/ 330571 h 688201"/>
                <a:gd name="connsiteX21" fmla="*/ 3 w 539861"/>
                <a:gd name="connsiteY21" fmla="*/ 493250 h 688201"/>
                <a:gd name="connsiteX22" fmla="*/ 61084 w 539861"/>
                <a:gd name="connsiteY22" fmla="*/ 636930 h 688201"/>
                <a:gd name="connsiteX23" fmla="*/ 220870 w 539861"/>
                <a:gd name="connsiteY23" fmla="*/ 688201 h 688201"/>
                <a:gd name="connsiteX24" fmla="*/ 221056 w 539861"/>
                <a:gd name="connsiteY24" fmla="*/ 688201 h 688201"/>
                <a:gd name="connsiteX25" fmla="*/ 407899 w 539861"/>
                <a:gd name="connsiteY25" fmla="*/ 618183 h 688201"/>
                <a:gd name="connsiteX26" fmla="*/ 413641 w 539861"/>
                <a:gd name="connsiteY26" fmla="*/ 674664 h 688201"/>
                <a:gd name="connsiteX27" fmla="*/ 427607 w 539861"/>
                <a:gd name="connsiteY27" fmla="*/ 674664 h 688201"/>
                <a:gd name="connsiteX28" fmla="*/ 539861 w 539861"/>
                <a:gd name="connsiteY28" fmla="*/ 674664 h 688201"/>
                <a:gd name="connsiteX29" fmla="*/ 539861 w 539861"/>
                <a:gd name="connsiteY29" fmla="*/ 217282 h 688201"/>
                <a:gd name="connsiteX30" fmla="*/ 481634 w 539861"/>
                <a:gd name="connsiteY30" fmla="*/ 63924 h 688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539861" h="688201">
                  <a:moveTo>
                    <a:pt x="187108" y="410329"/>
                  </a:moveTo>
                  <a:cubicBezTo>
                    <a:pt x="209594" y="392316"/>
                    <a:pt x="245423" y="381208"/>
                    <a:pt x="296136" y="381208"/>
                  </a:cubicBezTo>
                  <a:lnTo>
                    <a:pt x="296311" y="381208"/>
                  </a:lnTo>
                  <a:lnTo>
                    <a:pt x="389547" y="381208"/>
                  </a:lnTo>
                  <a:lnTo>
                    <a:pt x="389547" y="501589"/>
                  </a:lnTo>
                  <a:cubicBezTo>
                    <a:pt x="343339" y="547301"/>
                    <a:pt x="301134" y="579278"/>
                    <a:pt x="248015" y="579202"/>
                  </a:cubicBezTo>
                  <a:cubicBezTo>
                    <a:pt x="213816" y="579103"/>
                    <a:pt x="191067" y="569703"/>
                    <a:pt x="176084" y="554743"/>
                  </a:cubicBezTo>
                  <a:cubicBezTo>
                    <a:pt x="161407" y="539772"/>
                    <a:pt x="153336" y="517720"/>
                    <a:pt x="153336" y="488325"/>
                  </a:cubicBezTo>
                  <a:cubicBezTo>
                    <a:pt x="153434" y="453371"/>
                    <a:pt x="164710" y="428364"/>
                    <a:pt x="187108" y="410329"/>
                  </a:cubicBezTo>
                  <a:close/>
                  <a:moveTo>
                    <a:pt x="481634" y="63926"/>
                  </a:moveTo>
                  <a:cubicBezTo>
                    <a:pt x="439976" y="23578"/>
                    <a:pt x="375045" y="0"/>
                    <a:pt x="282772" y="0"/>
                  </a:cubicBezTo>
                  <a:cubicBezTo>
                    <a:pt x="208074" y="0"/>
                    <a:pt x="126650" y="15144"/>
                    <a:pt x="53932" y="41872"/>
                  </a:cubicBezTo>
                  <a:lnTo>
                    <a:pt x="40042" y="46877"/>
                  </a:lnTo>
                  <a:lnTo>
                    <a:pt x="73880" y="152291"/>
                  </a:lnTo>
                  <a:lnTo>
                    <a:pt x="89225" y="146194"/>
                  </a:lnTo>
                  <a:cubicBezTo>
                    <a:pt x="149322" y="122183"/>
                    <a:pt x="211027" y="110242"/>
                    <a:pt x="264595" y="110242"/>
                  </a:cubicBezTo>
                  <a:cubicBezTo>
                    <a:pt x="315484" y="110242"/>
                    <a:pt x="345472" y="121193"/>
                    <a:pt x="363113" y="140198"/>
                  </a:cubicBezTo>
                  <a:cubicBezTo>
                    <a:pt x="380940" y="159101"/>
                    <a:pt x="389645" y="190377"/>
                    <a:pt x="389547" y="237003"/>
                  </a:cubicBezTo>
                  <a:lnTo>
                    <a:pt x="389547" y="279727"/>
                  </a:lnTo>
                  <a:lnTo>
                    <a:pt x="309993" y="279727"/>
                  </a:lnTo>
                  <a:cubicBezTo>
                    <a:pt x="220443" y="279727"/>
                    <a:pt x="144302" y="295683"/>
                    <a:pt x="88765" y="330571"/>
                  </a:cubicBezTo>
                  <a:cubicBezTo>
                    <a:pt x="33239" y="365252"/>
                    <a:pt x="-358" y="421174"/>
                    <a:pt x="3" y="493250"/>
                  </a:cubicBezTo>
                  <a:cubicBezTo>
                    <a:pt x="-106" y="553210"/>
                    <a:pt x="21679" y="603136"/>
                    <a:pt x="61084" y="636930"/>
                  </a:cubicBezTo>
                  <a:cubicBezTo>
                    <a:pt x="100314" y="670724"/>
                    <a:pt x="155490" y="688201"/>
                    <a:pt x="220870" y="688201"/>
                  </a:cubicBezTo>
                  <a:lnTo>
                    <a:pt x="221056" y="688201"/>
                  </a:lnTo>
                  <a:cubicBezTo>
                    <a:pt x="301845" y="688201"/>
                    <a:pt x="362763" y="656005"/>
                    <a:pt x="407899" y="618183"/>
                  </a:cubicBezTo>
                  <a:lnTo>
                    <a:pt x="413641" y="674664"/>
                  </a:lnTo>
                  <a:lnTo>
                    <a:pt x="427607" y="674664"/>
                  </a:lnTo>
                  <a:lnTo>
                    <a:pt x="539861" y="674664"/>
                  </a:lnTo>
                  <a:lnTo>
                    <a:pt x="539861" y="217282"/>
                  </a:lnTo>
                  <a:cubicBezTo>
                    <a:pt x="539861" y="159454"/>
                    <a:pt x="523456" y="104244"/>
                    <a:pt x="481634" y="63924"/>
                  </a:cubicBezTo>
                  <a:close/>
                </a:path>
              </a:pathLst>
            </a:custGeom>
            <a:solidFill>
              <a:srgbClr val="656464"/>
            </a:soli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任意形状 13">
              <a:extLst>
                <a:ext uri="{FF2B5EF4-FFF2-40B4-BE49-F238E27FC236}">
                  <a16:creationId xmlns:a16="http://schemas.microsoft.com/office/drawing/2014/main" id="{19BC152C-2577-764E-802F-9B05F4CFABCE}"/>
                </a:ext>
              </a:extLst>
            </p:cNvPr>
            <p:cNvSpPr/>
            <p:nvPr/>
          </p:nvSpPr>
          <p:spPr>
            <a:xfrm>
              <a:off x="5059160" y="682028"/>
              <a:ext cx="1293081" cy="539038"/>
            </a:xfrm>
            <a:custGeom>
              <a:avLst/>
              <a:gdLst>
                <a:gd name="connsiteX0" fmla="*/ 0 w 1293081"/>
                <a:gd name="connsiteY0" fmla="*/ 167611 h 539038"/>
                <a:gd name="connsiteX1" fmla="*/ 1128189 w 1293081"/>
                <a:gd name="connsiteY1" fmla="*/ 172185 h 539038"/>
                <a:gd name="connsiteX2" fmla="*/ 1128189 w 1293081"/>
                <a:gd name="connsiteY2" fmla="*/ 172185 h 539038"/>
                <a:gd name="connsiteX3" fmla="*/ 1128189 w 1293081"/>
                <a:gd name="connsiteY3" fmla="*/ 172082 h 539038"/>
                <a:gd name="connsiteX4" fmla="*/ 1293082 w 1293081"/>
                <a:gd name="connsiteY4" fmla="*/ 0 h 539038"/>
                <a:gd name="connsiteX5" fmla="*/ 0 w 1293081"/>
                <a:gd name="connsiteY5" fmla="*/ 167611 h 539038"/>
                <a:gd name="connsiteX6" fmla="*/ 952085 w 1293081"/>
                <a:gd name="connsiteY6" fmla="*/ 329836 h 539038"/>
                <a:gd name="connsiteX7" fmla="*/ 1066188 w 1293081"/>
                <a:gd name="connsiteY7" fmla="*/ 230546 h 539038"/>
                <a:gd name="connsiteX8" fmla="*/ 1066188 w 1293081"/>
                <a:gd name="connsiteY8" fmla="*/ 230546 h 539038"/>
                <a:gd name="connsiteX9" fmla="*/ 48723 w 1293081"/>
                <a:gd name="connsiteY9" fmla="*/ 206054 h 539038"/>
                <a:gd name="connsiteX10" fmla="*/ 48723 w 1293081"/>
                <a:gd name="connsiteY10" fmla="*/ 206054 h 539038"/>
                <a:gd name="connsiteX11" fmla="*/ 952085 w 1293081"/>
                <a:gd name="connsiteY11" fmla="*/ 329837 h 539038"/>
                <a:gd name="connsiteX12" fmla="*/ 800776 w 1293081"/>
                <a:gd name="connsiteY12" fmla="*/ 445820 h 539038"/>
                <a:gd name="connsiteX13" fmla="*/ 889287 w 1293081"/>
                <a:gd name="connsiteY13" fmla="*/ 380039 h 539038"/>
                <a:gd name="connsiteX14" fmla="*/ 889287 w 1293081"/>
                <a:gd name="connsiteY14" fmla="*/ 380039 h 539038"/>
                <a:gd name="connsiteX15" fmla="*/ 94045 w 1293081"/>
                <a:gd name="connsiteY15" fmla="*/ 251963 h 539038"/>
                <a:gd name="connsiteX16" fmla="*/ 94045 w 1293081"/>
                <a:gd name="connsiteY16" fmla="*/ 251963 h 539038"/>
                <a:gd name="connsiteX17" fmla="*/ 800776 w 1293081"/>
                <a:gd name="connsiteY17" fmla="*/ 445820 h 539038"/>
                <a:gd name="connsiteX18" fmla="*/ 657822 w 1293081"/>
                <a:gd name="connsiteY18" fmla="*/ 539038 h 539038"/>
                <a:gd name="connsiteX19" fmla="*/ 745349 w 1293081"/>
                <a:gd name="connsiteY19" fmla="*/ 484006 h 539038"/>
                <a:gd name="connsiteX20" fmla="*/ 745349 w 1293081"/>
                <a:gd name="connsiteY20" fmla="*/ 484006 h 539038"/>
                <a:gd name="connsiteX21" fmla="*/ 202625 w 1293081"/>
                <a:gd name="connsiteY21" fmla="*/ 337457 h 539038"/>
                <a:gd name="connsiteX22" fmla="*/ 202625 w 1293081"/>
                <a:gd name="connsiteY22" fmla="*/ 337457 h 539038"/>
                <a:gd name="connsiteX23" fmla="*/ 657822 w 1293081"/>
                <a:gd name="connsiteY23" fmla="*/ 539038 h 5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93081" h="539038">
                  <a:moveTo>
                    <a:pt x="0" y="167611"/>
                  </a:moveTo>
                  <a:cubicBezTo>
                    <a:pt x="536741" y="245762"/>
                    <a:pt x="1127915" y="172185"/>
                    <a:pt x="1128189" y="172185"/>
                  </a:cubicBezTo>
                  <a:lnTo>
                    <a:pt x="1128189" y="172185"/>
                  </a:lnTo>
                  <a:lnTo>
                    <a:pt x="1128189" y="172082"/>
                  </a:lnTo>
                  <a:lnTo>
                    <a:pt x="1293082" y="0"/>
                  </a:lnTo>
                  <a:cubicBezTo>
                    <a:pt x="504489" y="190197"/>
                    <a:pt x="0" y="167611"/>
                    <a:pt x="0" y="167611"/>
                  </a:cubicBezTo>
                  <a:close/>
                  <a:moveTo>
                    <a:pt x="952085" y="329836"/>
                  </a:moveTo>
                  <a:cubicBezTo>
                    <a:pt x="992836" y="296221"/>
                    <a:pt x="1031071" y="262812"/>
                    <a:pt x="1066188" y="230546"/>
                  </a:cubicBezTo>
                  <a:lnTo>
                    <a:pt x="1066188" y="230546"/>
                  </a:lnTo>
                  <a:cubicBezTo>
                    <a:pt x="551331" y="289058"/>
                    <a:pt x="48723" y="206054"/>
                    <a:pt x="48723" y="206054"/>
                  </a:cubicBezTo>
                  <a:lnTo>
                    <a:pt x="48723" y="206054"/>
                  </a:lnTo>
                  <a:cubicBezTo>
                    <a:pt x="381856" y="318201"/>
                    <a:pt x="859812" y="328946"/>
                    <a:pt x="952085" y="329837"/>
                  </a:cubicBezTo>
                  <a:close/>
                  <a:moveTo>
                    <a:pt x="800776" y="445820"/>
                  </a:moveTo>
                  <a:cubicBezTo>
                    <a:pt x="831147" y="424223"/>
                    <a:pt x="860796" y="402271"/>
                    <a:pt x="889287" y="380039"/>
                  </a:cubicBezTo>
                  <a:lnTo>
                    <a:pt x="889287" y="380039"/>
                  </a:lnTo>
                  <a:cubicBezTo>
                    <a:pt x="790135" y="376178"/>
                    <a:pt x="372712" y="358443"/>
                    <a:pt x="94045" y="251963"/>
                  </a:cubicBezTo>
                  <a:lnTo>
                    <a:pt x="94045" y="251963"/>
                  </a:lnTo>
                  <a:cubicBezTo>
                    <a:pt x="94045" y="251963"/>
                    <a:pt x="346300" y="401738"/>
                    <a:pt x="800776" y="445820"/>
                  </a:cubicBezTo>
                  <a:close/>
                  <a:moveTo>
                    <a:pt x="657822" y="539038"/>
                  </a:moveTo>
                  <a:cubicBezTo>
                    <a:pt x="687658" y="521299"/>
                    <a:pt x="716935" y="502832"/>
                    <a:pt x="745349" y="484006"/>
                  </a:cubicBezTo>
                  <a:lnTo>
                    <a:pt x="745349" y="484006"/>
                  </a:lnTo>
                  <a:cubicBezTo>
                    <a:pt x="682375" y="478263"/>
                    <a:pt x="476611" y="442870"/>
                    <a:pt x="202625" y="337457"/>
                  </a:cubicBezTo>
                  <a:lnTo>
                    <a:pt x="202625" y="337457"/>
                  </a:lnTo>
                  <a:cubicBezTo>
                    <a:pt x="202625" y="337457"/>
                    <a:pt x="440881" y="503824"/>
                    <a:pt x="657822" y="539038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50000">
                  <a:srgbClr val="4550A4"/>
                </a:gs>
                <a:gs pos="100000">
                  <a:srgbClr val="0B308E"/>
                </a:gs>
              </a:gsLst>
              <a:lin ang="380415" scaled="1"/>
            </a:gra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任意形状 14">
              <a:extLst>
                <a:ext uri="{FF2B5EF4-FFF2-40B4-BE49-F238E27FC236}">
                  <a16:creationId xmlns:a16="http://schemas.microsoft.com/office/drawing/2014/main" id="{9581C1DF-FC14-054E-3982-7B96D62B6852}"/>
                </a:ext>
              </a:extLst>
            </p:cNvPr>
            <p:cNvSpPr/>
            <p:nvPr/>
          </p:nvSpPr>
          <p:spPr>
            <a:xfrm>
              <a:off x="4797706" y="98099"/>
              <a:ext cx="809109" cy="689987"/>
            </a:xfrm>
            <a:custGeom>
              <a:avLst/>
              <a:gdLst>
                <a:gd name="connsiteX0" fmla="*/ 0 w 809109"/>
                <a:gd name="connsiteY0" fmla="*/ 0 h 689987"/>
                <a:gd name="connsiteX1" fmla="*/ 0 w 809109"/>
                <a:gd name="connsiteY1" fmla="*/ 2540 h 689987"/>
                <a:gd name="connsiteX2" fmla="*/ 13507 w 809109"/>
                <a:gd name="connsiteY2" fmla="*/ 192331 h 689987"/>
                <a:gd name="connsiteX3" fmla="*/ 14043 w 809109"/>
                <a:gd name="connsiteY3" fmla="*/ 193043 h 689987"/>
                <a:gd name="connsiteX4" fmla="*/ 809110 w 809109"/>
                <a:gd name="connsiteY4" fmla="*/ 646128 h 689987"/>
                <a:gd name="connsiteX5" fmla="*/ 809110 w 809109"/>
                <a:gd name="connsiteY5" fmla="*/ 646128 h 689987"/>
                <a:gd name="connsiteX6" fmla="*/ 0 w 809109"/>
                <a:gd name="connsiteY6" fmla="*/ 1 h 689987"/>
                <a:gd name="connsiteX7" fmla="*/ 53196 w 809109"/>
                <a:gd name="connsiteY7" fmla="*/ 378134 h 689987"/>
                <a:gd name="connsiteX8" fmla="*/ 747383 w 809109"/>
                <a:gd name="connsiteY8" fmla="*/ 658857 h 689987"/>
                <a:gd name="connsiteX9" fmla="*/ 747383 w 809109"/>
                <a:gd name="connsiteY9" fmla="*/ 658857 h 689987"/>
                <a:gd name="connsiteX10" fmla="*/ 23645 w 809109"/>
                <a:gd name="connsiteY10" fmla="*/ 253995 h 689987"/>
                <a:gd name="connsiteX11" fmla="*/ 23645 w 809109"/>
                <a:gd name="connsiteY11" fmla="*/ 253995 h 689987"/>
                <a:gd name="connsiteX12" fmla="*/ 53196 w 809109"/>
                <a:gd name="connsiteY12" fmla="*/ 378134 h 689987"/>
                <a:gd name="connsiteX13" fmla="*/ 109083 w 809109"/>
                <a:gd name="connsiteY13" fmla="*/ 527553 h 689987"/>
                <a:gd name="connsiteX14" fmla="*/ 660775 w 809109"/>
                <a:gd name="connsiteY14" fmla="*/ 668002 h 689987"/>
                <a:gd name="connsiteX15" fmla="*/ 660775 w 809109"/>
                <a:gd name="connsiteY15" fmla="*/ 668002 h 689987"/>
                <a:gd name="connsiteX16" fmla="*/ 68158 w 809109"/>
                <a:gd name="connsiteY16" fmla="*/ 425009 h 689987"/>
                <a:gd name="connsiteX17" fmla="*/ 68158 w 809109"/>
                <a:gd name="connsiteY17" fmla="*/ 425009 h 689987"/>
                <a:gd name="connsiteX18" fmla="*/ 109083 w 809109"/>
                <a:gd name="connsiteY18" fmla="*/ 527553 h 689987"/>
                <a:gd name="connsiteX19" fmla="*/ 129425 w 809109"/>
                <a:gd name="connsiteY19" fmla="*/ 569424 h 689987"/>
                <a:gd name="connsiteX20" fmla="*/ 186930 w 809109"/>
                <a:gd name="connsiteY20" fmla="*/ 665588 h 689987"/>
                <a:gd name="connsiteX21" fmla="*/ 186930 w 809109"/>
                <a:gd name="connsiteY21" fmla="*/ 665588 h 689987"/>
                <a:gd name="connsiteX22" fmla="*/ 186930 w 809109"/>
                <a:gd name="connsiteY22" fmla="*/ 665665 h 689987"/>
                <a:gd name="connsiteX23" fmla="*/ 587138 w 809109"/>
                <a:gd name="connsiteY23" fmla="*/ 686550 h 689987"/>
                <a:gd name="connsiteX24" fmla="*/ 587138 w 809109"/>
                <a:gd name="connsiteY24" fmla="*/ 686550 h 689987"/>
                <a:gd name="connsiteX25" fmla="*/ 129775 w 809109"/>
                <a:gd name="connsiteY25" fmla="*/ 569424 h 689987"/>
                <a:gd name="connsiteX26" fmla="*/ 129775 w 809109"/>
                <a:gd name="connsiteY26" fmla="*/ 569424 h 689987"/>
                <a:gd name="connsiteX27" fmla="*/ 129425 w 809109"/>
                <a:gd name="connsiteY27" fmla="*/ 569424 h 689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809109" h="689987">
                  <a:moveTo>
                    <a:pt x="0" y="0"/>
                  </a:moveTo>
                  <a:lnTo>
                    <a:pt x="0" y="2540"/>
                  </a:lnTo>
                  <a:cubicBezTo>
                    <a:pt x="284" y="55818"/>
                    <a:pt x="3631" y="120886"/>
                    <a:pt x="13507" y="192331"/>
                  </a:cubicBezTo>
                  <a:lnTo>
                    <a:pt x="14043" y="193043"/>
                  </a:lnTo>
                  <a:cubicBezTo>
                    <a:pt x="393591" y="495286"/>
                    <a:pt x="809110" y="646128"/>
                    <a:pt x="809110" y="646128"/>
                  </a:cubicBezTo>
                  <a:lnTo>
                    <a:pt x="809110" y="646128"/>
                  </a:lnTo>
                  <a:cubicBezTo>
                    <a:pt x="275693" y="342819"/>
                    <a:pt x="0" y="1"/>
                    <a:pt x="0" y="1"/>
                  </a:cubicBezTo>
                  <a:close/>
                  <a:moveTo>
                    <a:pt x="53196" y="378134"/>
                  </a:moveTo>
                  <a:cubicBezTo>
                    <a:pt x="476436" y="613250"/>
                    <a:pt x="747383" y="658857"/>
                    <a:pt x="747383" y="658857"/>
                  </a:cubicBezTo>
                  <a:lnTo>
                    <a:pt x="747383" y="658857"/>
                  </a:lnTo>
                  <a:cubicBezTo>
                    <a:pt x="287964" y="461849"/>
                    <a:pt x="23897" y="254273"/>
                    <a:pt x="23645" y="253995"/>
                  </a:cubicBezTo>
                  <a:lnTo>
                    <a:pt x="23645" y="253995"/>
                  </a:lnTo>
                  <a:cubicBezTo>
                    <a:pt x="31082" y="294341"/>
                    <a:pt x="40761" y="335932"/>
                    <a:pt x="53196" y="378134"/>
                  </a:cubicBezTo>
                  <a:close/>
                  <a:moveTo>
                    <a:pt x="109083" y="527553"/>
                  </a:moveTo>
                  <a:cubicBezTo>
                    <a:pt x="428326" y="649811"/>
                    <a:pt x="660775" y="668002"/>
                    <a:pt x="660775" y="668002"/>
                  </a:cubicBezTo>
                  <a:lnTo>
                    <a:pt x="660775" y="668002"/>
                  </a:lnTo>
                  <a:cubicBezTo>
                    <a:pt x="286433" y="551485"/>
                    <a:pt x="68508" y="425287"/>
                    <a:pt x="68158" y="425009"/>
                  </a:cubicBezTo>
                  <a:lnTo>
                    <a:pt x="68158" y="425009"/>
                  </a:lnTo>
                  <a:cubicBezTo>
                    <a:pt x="79707" y="459156"/>
                    <a:pt x="93236" y="493581"/>
                    <a:pt x="109083" y="527553"/>
                  </a:cubicBezTo>
                  <a:close/>
                  <a:moveTo>
                    <a:pt x="129425" y="569424"/>
                  </a:moveTo>
                  <a:cubicBezTo>
                    <a:pt x="146355" y="601868"/>
                    <a:pt x="165429" y="634211"/>
                    <a:pt x="186930" y="665588"/>
                  </a:cubicBezTo>
                  <a:lnTo>
                    <a:pt x="186930" y="665588"/>
                  </a:lnTo>
                  <a:lnTo>
                    <a:pt x="186930" y="665665"/>
                  </a:lnTo>
                  <a:cubicBezTo>
                    <a:pt x="397878" y="702506"/>
                    <a:pt x="587138" y="686550"/>
                    <a:pt x="587138" y="686550"/>
                  </a:cubicBezTo>
                  <a:lnTo>
                    <a:pt x="587138" y="686550"/>
                  </a:lnTo>
                  <a:cubicBezTo>
                    <a:pt x="316629" y="642290"/>
                    <a:pt x="166238" y="583219"/>
                    <a:pt x="129775" y="569424"/>
                  </a:cubicBezTo>
                  <a:lnTo>
                    <a:pt x="129775" y="569424"/>
                  </a:lnTo>
                  <a:lnTo>
                    <a:pt x="129425" y="569424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50000">
                  <a:srgbClr val="BFCD7F"/>
                </a:gs>
                <a:gs pos="100000">
                  <a:srgbClr val="809B00"/>
                </a:gs>
              </a:gsLst>
              <a:lin ang="12509132" scaled="1"/>
            </a:gradFill>
            <a:ln w="1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EF36AEA8-3AEE-2BD2-6A1A-683B2C33F84A}"/>
              </a:ext>
            </a:extLst>
          </p:cNvPr>
          <p:cNvGrpSpPr/>
          <p:nvPr userDrawn="1"/>
        </p:nvGrpSpPr>
        <p:grpSpPr>
          <a:xfrm>
            <a:off x="407988" y="416022"/>
            <a:ext cx="446425" cy="432024"/>
            <a:chOff x="3157789" y="1162600"/>
            <a:chExt cx="2232000" cy="2160000"/>
          </a:xfrm>
        </p:grpSpPr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6314E6E3-A28B-A97E-0AE5-88C0DE0B414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193787" y="1162600"/>
              <a:ext cx="2159999" cy="2160000"/>
            </a:xfrm>
            <a:prstGeom prst="ellipse">
              <a:avLst/>
            </a:prstGeom>
            <a:solidFill>
              <a:srgbClr val="0B308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30" name="图形 29">
              <a:extLst>
                <a:ext uri="{FF2B5EF4-FFF2-40B4-BE49-F238E27FC236}">
                  <a16:creationId xmlns:a16="http://schemas.microsoft.com/office/drawing/2014/main" id="{46565262-88D8-725C-5ACD-4D69907B94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157789" y="1461401"/>
              <a:ext cx="2232000" cy="1562399"/>
            </a:xfrm>
            <a:prstGeom prst="rect">
              <a:avLst/>
            </a:prstGeom>
          </p:spPr>
        </p:pic>
      </p:grpSp>
      <p:sp>
        <p:nvSpPr>
          <p:cNvPr id="32" name="任意形状 31">
            <a:extLst>
              <a:ext uri="{FF2B5EF4-FFF2-40B4-BE49-F238E27FC236}">
                <a16:creationId xmlns:a16="http://schemas.microsoft.com/office/drawing/2014/main" id="{B149AD21-405B-D537-EB6C-FEB360C5FB03}"/>
              </a:ext>
            </a:extLst>
          </p:cNvPr>
          <p:cNvSpPr/>
          <p:nvPr userDrawn="1"/>
        </p:nvSpPr>
        <p:spPr>
          <a:xfrm>
            <a:off x="777665" y="416034"/>
            <a:ext cx="8213621" cy="432000"/>
          </a:xfrm>
          <a:custGeom>
            <a:avLst/>
            <a:gdLst>
              <a:gd name="connsiteX0" fmla="*/ 0 w 8213621"/>
              <a:gd name="connsiteY0" fmla="*/ 0 h 432000"/>
              <a:gd name="connsiteX1" fmla="*/ 7997621 w 8213621"/>
              <a:gd name="connsiteY1" fmla="*/ 0 h 432000"/>
              <a:gd name="connsiteX2" fmla="*/ 8213621 w 8213621"/>
              <a:gd name="connsiteY2" fmla="*/ 216000 h 432000"/>
              <a:gd name="connsiteX3" fmla="*/ 7997621 w 8213621"/>
              <a:gd name="connsiteY3" fmla="*/ 432000 h 432000"/>
              <a:gd name="connsiteX4" fmla="*/ 0 w 8213621"/>
              <a:gd name="connsiteY4" fmla="*/ 432000 h 432000"/>
              <a:gd name="connsiteX5" fmla="*/ 38100 w 8213621"/>
              <a:gd name="connsiteY5" fmla="*/ 400565 h 432000"/>
              <a:gd name="connsiteX6" fmla="*/ 114549 w 8213621"/>
              <a:gd name="connsiteY6" fmla="*/ 216000 h 432000"/>
              <a:gd name="connsiteX7" fmla="*/ 38100 w 8213621"/>
              <a:gd name="connsiteY7" fmla="*/ 31435 h 43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213621" h="432000">
                <a:moveTo>
                  <a:pt x="0" y="0"/>
                </a:moveTo>
                <a:lnTo>
                  <a:pt x="7997621" y="0"/>
                </a:lnTo>
                <a:cubicBezTo>
                  <a:pt x="8116915" y="0"/>
                  <a:pt x="8213621" y="96706"/>
                  <a:pt x="8213621" y="216000"/>
                </a:cubicBezTo>
                <a:cubicBezTo>
                  <a:pt x="8213621" y="335294"/>
                  <a:pt x="8116915" y="432000"/>
                  <a:pt x="7997621" y="432000"/>
                </a:cubicBezTo>
                <a:lnTo>
                  <a:pt x="0" y="432000"/>
                </a:lnTo>
                <a:lnTo>
                  <a:pt x="38100" y="400565"/>
                </a:lnTo>
                <a:cubicBezTo>
                  <a:pt x="85334" y="353331"/>
                  <a:pt x="114549" y="288077"/>
                  <a:pt x="114549" y="216000"/>
                </a:cubicBezTo>
                <a:cubicBezTo>
                  <a:pt x="114549" y="143923"/>
                  <a:pt x="85334" y="78670"/>
                  <a:pt x="38100" y="31435"/>
                </a:cubicBezTo>
                <a:close/>
              </a:path>
            </a:pathLst>
          </a:custGeom>
          <a:gradFill flip="none" rotWithShape="1">
            <a:gsLst>
              <a:gs pos="0">
                <a:srgbClr val="6492D4">
                  <a:alpha val="2000"/>
                </a:srgbClr>
              </a:gs>
              <a:gs pos="50000">
                <a:srgbClr val="6492D4">
                  <a:alpha val="10000"/>
                </a:srgbClr>
              </a:gs>
              <a:gs pos="98000">
                <a:srgbClr val="6492D4">
                  <a:alpha val="1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4AAD96DA-A547-44C3-527A-3BB8CA701C3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265112" y="6498448"/>
            <a:ext cx="1555083" cy="101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3799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C4FF59C-D32E-291D-F4BC-2EBEDD3FC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FCCB62A-A28B-9E82-A3F3-AF5202CE4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0780B2-EC77-5362-71CA-6DDF89EE99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146ACC-1619-E242-AD15-F336193CCCB6}" type="datetimeFigureOut">
              <a:rPr kumimoji="1" lang="zh-CN" altLang="en-US" smtClean="0"/>
              <a:t>2026/10/10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5DEC29-7515-0103-604F-66D4083E18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9263E4-CC43-E1F8-6671-5541F77EC6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29A34-E785-A747-A39B-2C5BB758FEF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53610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5.jpg"/><Relationship Id="rId4" Type="http://schemas.openxmlformats.org/officeDocument/2006/relationships/image" Target="../media/image17.png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27.jpg"/><Relationship Id="rId4" Type="http://schemas.openxmlformats.org/officeDocument/2006/relationships/image" Target="../media/image17.pn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jpg"/><Relationship Id="rId4" Type="http://schemas.openxmlformats.org/officeDocument/2006/relationships/image" Target="../media/image17.png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jpg"/><Relationship Id="rId4" Type="http://schemas.openxmlformats.org/officeDocument/2006/relationships/image" Target="../media/image17.png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jpg"/><Relationship Id="rId4" Type="http://schemas.openxmlformats.org/officeDocument/2006/relationships/image" Target="../media/image17.png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image" Target="../media/image35.jpg"/><Relationship Id="rId4" Type="http://schemas.openxmlformats.org/officeDocument/2006/relationships/image" Target="../media/image17.png"/><Relationship Id="rId5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17.png"/><Relationship Id="rId7" Type="http://schemas.openxmlformats.org/officeDocument/2006/relationships/image" Target="../media/image39.png"/><Relationship Id="rId8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15.png"/><Relationship Id="rId4" Type="http://schemas.openxmlformats.org/officeDocument/2006/relationships/image" Target="../media/image44.png"/><Relationship Id="rId5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5.png"/><Relationship Id="rId4" Type="http://schemas.openxmlformats.org/officeDocument/2006/relationships/image" Target="../media/image37.png"/><Relationship Id="rId5" Type="http://schemas.openxmlformats.org/officeDocument/2006/relationships/image" Target="../media/image45.png"/><Relationship Id="rId6" Type="http://schemas.openxmlformats.org/officeDocument/2006/relationships/image" Target="../media/image44.png"/><Relationship Id="rId7" Type="http://schemas.openxmlformats.org/officeDocument/2006/relationships/image" Target="../media/image46.png"/><Relationship Id="rId8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064000" cy="762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6200"/>
            <a:ext cx="76200" cy="67818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Picture 5" descr="a_2b6cd945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2800" y="384070"/>
            <a:ext cx="1397000" cy="5526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3600" y="1371600"/>
            <a:ext cx="584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b="1">
                <a:solidFill>
                  <a:srgbClr val="7F9B00"/>
                </a:solidFill>
                <a:latin typeface="Arial"/>
              </a:rPr>
              <a:t>HYTERA  ×  GLOBE TELECOM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3600" y="1752600"/>
            <a:ext cx="5969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3400" b="1">
                <a:solidFill>
                  <a:srgbClr val="0B308E"/>
                </a:solidFill>
                <a:latin typeface="Arial"/>
              </a:rPr>
              <a:t>450 MHz Mission-Critical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3400" b="1">
                <a:solidFill>
                  <a:srgbClr val="0B308E"/>
                </a:solidFill>
                <a:latin typeface="Arial"/>
              </a:rPr>
              <a:t>Network for the</a:t>
            </a:r>
          </a:p>
          <a:p>
            <a:pPr algn="l">
              <a:lnSpc>
                <a:spcPct val="114000"/>
              </a:lnSpc>
              <a:spcAft>
                <a:spcPts val="300"/>
              </a:spcAft>
            </a:pPr>
            <a:r>
              <a:rPr sz="3400" b="1">
                <a:solidFill>
                  <a:srgbClr val="0B308E"/>
                </a:solidFill>
                <a:latin typeface="Arial"/>
              </a:rPr>
              <a:t>Philippines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63600" y="3759200"/>
            <a:ext cx="914400" cy="508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3600" y="4013200"/>
            <a:ext cx="5588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250" b="0">
                <a:solidFill>
                  <a:srgbClr val="55607A"/>
                </a:solidFill>
                <a:latin typeface="Arial"/>
              </a:rPr>
              <a:t>A coverage and resilience layer for utilities,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250" b="0">
                <a:solidFill>
                  <a:srgbClr val="55607A"/>
                </a:solidFill>
                <a:latin typeface="Arial"/>
              </a:rPr>
              <a:t>public safety, transport and remote communities.</a:t>
            </a:r>
          </a:p>
        </p:txBody>
      </p:sp>
      <p:pic>
        <p:nvPicPr>
          <p:cNvPr id="11" name="Picture 10" descr="a_64ddced7b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7553" y="838200"/>
            <a:ext cx="3094892" cy="4470400"/>
          </a:xfrm>
          <a:prstGeom prst="rect">
            <a:avLst/>
          </a:prstGeom>
        </p:spPr>
      </p:pic>
      <p:pic>
        <p:nvPicPr>
          <p:cNvPr id="12" name="Picture 11" descr="a_b7de459c1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3400" y="1884191"/>
            <a:ext cx="1092200" cy="3369016"/>
          </a:xfrm>
          <a:prstGeom prst="rect">
            <a:avLst/>
          </a:prstGeom>
        </p:spPr>
      </p:pic>
      <p:cxnSp>
        <p:nvCxnSpPr>
          <p:cNvPr id="13" name="Connector 12"/>
          <p:cNvCxnSpPr/>
          <p:nvPr/>
        </p:nvCxnSpPr>
        <p:spPr>
          <a:xfrm>
            <a:off x="609600" y="5918200"/>
            <a:ext cx="10972800" cy="0"/>
          </a:xfrm>
          <a:prstGeom prst="line">
            <a:avLst/>
          </a:prstGeom>
          <a:ln w="12700">
            <a:solidFill>
              <a:srgbClr val="D6E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09600" y="6121400"/>
            <a:ext cx="508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1">
                <a:solidFill>
                  <a:srgbClr val="0B308E"/>
                </a:solidFill>
                <a:latin typeface="Arial"/>
              </a:rPr>
              <a:t>Philippines  ·  October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2000" y="6146800"/>
            <a:ext cx="44704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300"/>
              </a:spcAft>
            </a:pPr>
            <a:r>
              <a:rPr sz="950" b="0">
                <a:solidFill>
                  <a:srgbClr val="93A0B4"/>
                </a:solidFill>
                <a:latin typeface="Arial"/>
              </a:rPr>
              <a:t>Terminal  ·  Network  ·  Application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228600" cy="635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9800" y="279400"/>
            <a:ext cx="9906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2100" b="1">
                <a:solidFill>
                  <a:srgbClr val="0B308E"/>
                </a:solidFill>
                <a:latin typeface="Arial"/>
              </a:rPr>
              <a:t>Islands, mountains and typhoons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87400"/>
            <a:ext cx="889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50" b="1">
                <a:solidFill>
                  <a:srgbClr val="7F9B00"/>
                </a:solidFill>
                <a:latin typeface="Arial"/>
              </a:rPr>
              <a:t>THE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23600" y="279400"/>
            <a:ext cx="5588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300"/>
              </a:spcAft>
            </a:pPr>
            <a:r>
              <a:rPr sz="1700" b="1">
                <a:solidFill>
                  <a:srgbClr val="0B308E"/>
                </a:solidFill>
                <a:latin typeface="Arial"/>
              </a:rPr>
              <a:t>02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9600" y="1041400"/>
            <a:ext cx="10972800" cy="0"/>
          </a:xfrm>
          <a:prstGeom prst="line">
            <a:avLst/>
          </a:prstGeom>
          <a:ln w="12700">
            <a:solidFill>
              <a:srgbClr val="D6E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09600" y="11938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0">
                <a:solidFill>
                  <a:srgbClr val="55607A"/>
                </a:solidFill>
                <a:latin typeface="Arial"/>
              </a:rPr>
              <a:t>Public 4G and 5G reach the cities. What is missing is coverage that is still there after the storm.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1549400"/>
            <a:ext cx="5080000" cy="37592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0" name="Picture 9" descr="a_64ddced7b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0" y="2053166"/>
            <a:ext cx="1905000" cy="275166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971800" y="1778000"/>
            <a:ext cx="2489200" cy="12192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75000" y="1955800"/>
            <a:ext cx="21082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050" b="1">
                <a:solidFill>
                  <a:srgbClr val="0B308E"/>
                </a:solidFill>
                <a:latin typeface="Arial"/>
              </a:rPr>
              <a:t>7,641 islands.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050" b="1">
                <a:solidFill>
                  <a:srgbClr val="0B308E"/>
                </a:solidFill>
                <a:latin typeface="Arial"/>
              </a:rPr>
              <a:t>One grid has to reach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050" b="1">
                <a:solidFill>
                  <a:srgbClr val="0B308E"/>
                </a:solidFill>
                <a:latin typeface="Arial"/>
              </a:rPr>
              <a:t>across all of them.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71800" y="3149600"/>
            <a:ext cx="2489200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4" name="Picture 13" descr="a_c00391f67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3400" y="3272790"/>
            <a:ext cx="2286000" cy="668020"/>
          </a:xfrm>
          <a:prstGeom prst="rect">
            <a:avLst/>
          </a:prstGeom>
        </p:spPr>
      </p:pic>
      <p:pic>
        <p:nvPicPr>
          <p:cNvPr id="15" name="Picture 14" descr="a_4e1bc97d2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2800" y="3287568"/>
            <a:ext cx="431800" cy="765463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971800" y="4241800"/>
            <a:ext cx="2489200" cy="9144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49600" y="4368800"/>
            <a:ext cx="2133600" cy="71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950" b="0">
                <a:solidFill>
                  <a:srgbClr val="55607A"/>
                </a:solidFill>
                <a:latin typeface="Arial"/>
              </a:rPr>
              <a:t>Mountains, storm landfall and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950" b="0">
                <a:solidFill>
                  <a:srgbClr val="55607A"/>
                </a:solidFill>
                <a:latin typeface="Arial"/>
              </a:rPr>
              <a:t>2,000 km of sea between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950" b="0">
                <a:solidFill>
                  <a:srgbClr val="55607A"/>
                </a:solidFill>
                <a:latin typeface="Arial"/>
              </a:rPr>
              <a:t>the islands.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6000" y="1549400"/>
            <a:ext cx="2641600" cy="1778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96000" y="1549400"/>
            <a:ext cx="44450" cy="17780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9200" y="1701800"/>
            <a:ext cx="22352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2400" b="1">
                <a:solidFill>
                  <a:srgbClr val="0B308E"/>
                </a:solidFill>
                <a:latin typeface="Arial"/>
              </a:rPr>
              <a:t>7,641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99200" y="2108200"/>
            <a:ext cx="22352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950" b="0">
                <a:solidFill>
                  <a:srgbClr val="55607A"/>
                </a:solidFill>
                <a:latin typeface="Arial"/>
              </a:rPr>
              <a:t>islands, much of the terrain mountainous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90000" y="1549400"/>
            <a:ext cx="2641600" cy="1778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90000" y="1549400"/>
            <a:ext cx="44450" cy="1778000"/>
          </a:xfrm>
          <a:prstGeom prst="rect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93200" y="1701800"/>
            <a:ext cx="22352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2400" b="1">
                <a:solidFill>
                  <a:srgbClr val="7F9B00"/>
                </a:solidFill>
                <a:latin typeface="Arial"/>
              </a:rPr>
              <a:t>#1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3200" y="2108200"/>
            <a:ext cx="22352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950" b="0">
                <a:solidFill>
                  <a:srgbClr val="55607A"/>
                </a:solidFill>
                <a:latin typeface="Arial"/>
              </a:rPr>
              <a:t>WorldRiskIndex 2025 - highest disaster risk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0" y="3479800"/>
            <a:ext cx="2641600" cy="1778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96000" y="3479800"/>
            <a:ext cx="44450" cy="17780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9200" y="3632200"/>
            <a:ext cx="22352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2400" b="1">
                <a:solidFill>
                  <a:srgbClr val="0B308E"/>
                </a:solidFill>
                <a:latin typeface="Arial"/>
              </a:rPr>
              <a:t>~20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99200" y="4038600"/>
            <a:ext cx="22352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950" b="0">
                <a:solidFill>
                  <a:srgbClr val="55607A"/>
                </a:solidFill>
                <a:latin typeface="Arial"/>
              </a:rPr>
              <a:t>tropical cyclones enter PAR every year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890000" y="3479800"/>
            <a:ext cx="2641600" cy="1778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890000" y="3479800"/>
            <a:ext cx="44450" cy="1778000"/>
          </a:xfrm>
          <a:prstGeom prst="rect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93200" y="3632200"/>
            <a:ext cx="22352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2400" b="1">
                <a:solidFill>
                  <a:srgbClr val="7F9B00"/>
                </a:solidFill>
                <a:latin typeface="Arial"/>
              </a:rPr>
              <a:t>1.4M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93200" y="4038600"/>
            <a:ext cx="22352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950" b="0">
                <a:solidFill>
                  <a:srgbClr val="55607A"/>
                </a:solidFill>
                <a:latin typeface="Arial"/>
              </a:rPr>
              <a:t>electricity consumers without power after Typhoon Tino (Nov 2025)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5740400"/>
            <a:ext cx="12192000" cy="5080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9600" y="5740400"/>
            <a:ext cx="109728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450 MHz is the layer that stays up.  </a:t>
            </a:r>
            <a:r>
              <a:rPr sz="1200" b="0">
                <a:solidFill>
                  <a:srgbClr val="DCE5F3"/>
                </a:solidFill>
                <a:latin typeface="Arial"/>
              </a:rPr>
              <a:t>Coverage and resilience, not capacity - alongside Globe’s 4G and 5G, not instead of them.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9600" y="6451600"/>
            <a:ext cx="109728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00" b="0">
                <a:solidFill>
                  <a:srgbClr val="93A0B4"/>
                </a:solidFill>
                <a:latin typeface="Arial"/>
              </a:rPr>
              <a:t>Source: WorldRiskReport 2025; PAGASA; NAMRIA; Department of Energy, Typhoon Tino power situation (5 Nov 2025)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228600" cy="635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9800" y="279400"/>
            <a:ext cx="9906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2100" b="1">
                <a:solidFill>
                  <a:srgbClr val="0B308E"/>
                </a:solidFill>
                <a:latin typeface="Arial"/>
              </a:rPr>
              <a:t>What we will cover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87400"/>
            <a:ext cx="889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50" b="1">
                <a:solidFill>
                  <a:srgbClr val="7F9B00"/>
                </a:solidFill>
                <a:latin typeface="Arial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23600" y="279400"/>
            <a:ext cx="5588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300"/>
              </a:spcAft>
            </a:pPr>
            <a:r>
              <a:rPr sz="1700" b="1">
                <a:solidFill>
                  <a:srgbClr val="0B308E"/>
                </a:solidFill>
                <a:latin typeface="Arial"/>
              </a:rPr>
              <a:t>03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9600" y="1041400"/>
            <a:ext cx="10972800" cy="0"/>
          </a:xfrm>
          <a:prstGeom prst="line">
            <a:avLst/>
          </a:prstGeom>
          <a:ln w="12700">
            <a:solidFill>
              <a:srgbClr val="D6E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09600" y="11938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0">
                <a:solidFill>
                  <a:srgbClr val="55607A"/>
                </a:solidFill>
                <a:latin typeface="Arial"/>
              </a:rPr>
              <a:t>Five sections. The first two are the argument, the last three are the delivery.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1549400"/>
            <a:ext cx="2057400" cy="37592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0" name="Picture 9" descr="a_5e27b5cb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550554"/>
            <a:ext cx="2057400" cy="1039090"/>
          </a:xfrm>
          <a:prstGeom prst="rect">
            <a:avLst/>
          </a:prstGeom>
        </p:spPr>
      </p:pic>
      <p:cxnSp>
        <p:nvCxnSpPr>
          <p:cNvPr id="11" name="Connector 10"/>
          <p:cNvCxnSpPr/>
          <p:nvPr/>
        </p:nvCxnSpPr>
        <p:spPr>
          <a:xfrm>
            <a:off x="609600" y="2590800"/>
            <a:ext cx="2057400" cy="0"/>
          </a:xfrm>
          <a:prstGeom prst="line">
            <a:avLst/>
          </a:prstGeom>
          <a:ln w="12700">
            <a:solidFill>
              <a:srgbClr val="D6E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87400" y="2717800"/>
            <a:ext cx="1701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2100" b="1">
                <a:solidFill>
                  <a:srgbClr val="8CC63F"/>
                </a:solidFill>
                <a:latin typeface="Arial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7400" y="3175000"/>
            <a:ext cx="17018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50" b="1">
                <a:solidFill>
                  <a:srgbClr val="0B308E"/>
                </a:solidFill>
                <a:latin typeface="Arial"/>
              </a:rPr>
              <a:t>Why 450 MHz &amp; Hytera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7400" y="3759200"/>
            <a:ext cx="1701800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900" b="0">
                <a:solidFill>
                  <a:srgbClr val="55607A"/>
                </a:solidFill>
                <a:latin typeface="Arial"/>
              </a:rPr>
              <a:t>Global trend, the band itself, and what MCS means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7400" y="4927600"/>
            <a:ext cx="17018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50" b="1">
                <a:solidFill>
                  <a:srgbClr val="93A0B4"/>
                </a:solidFill>
                <a:latin typeface="Arial"/>
              </a:rPr>
              <a:t>P4 – P6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9400" y="1549400"/>
            <a:ext cx="2057400" cy="37592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" name="Picture 16" descr="a_a31454e1d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400" y="1550554"/>
            <a:ext cx="2057400" cy="1039090"/>
          </a:xfrm>
          <a:prstGeom prst="rect">
            <a:avLst/>
          </a:prstGeom>
        </p:spPr>
      </p:pic>
      <p:cxnSp>
        <p:nvCxnSpPr>
          <p:cNvPr id="18" name="Connector 17"/>
          <p:cNvCxnSpPr/>
          <p:nvPr/>
        </p:nvCxnSpPr>
        <p:spPr>
          <a:xfrm>
            <a:off x="2819400" y="2590800"/>
            <a:ext cx="2057400" cy="0"/>
          </a:xfrm>
          <a:prstGeom prst="line">
            <a:avLst/>
          </a:prstGeom>
          <a:ln w="12700">
            <a:solidFill>
              <a:srgbClr val="D6E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997200" y="2717800"/>
            <a:ext cx="1701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2100" b="1">
                <a:solidFill>
                  <a:srgbClr val="8CC63F"/>
                </a:solidFill>
                <a:latin typeface="Arial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97200" y="3175000"/>
            <a:ext cx="17018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50" b="1">
                <a:solidFill>
                  <a:srgbClr val="0B308E"/>
                </a:solidFill>
                <a:latin typeface="Arial"/>
              </a:rPr>
              <a:t>Industry solutions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97200" y="3759200"/>
            <a:ext cx="1701800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900" b="0">
                <a:solidFill>
                  <a:srgbClr val="55607A"/>
                </a:solidFill>
                <a:latin typeface="Arial"/>
              </a:rPr>
              <a:t>Power · Water · Police · Emergency · Rail · 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97200" y="4927600"/>
            <a:ext cx="17018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50" b="1">
                <a:solidFill>
                  <a:srgbClr val="93A0B4"/>
                </a:solidFill>
                <a:latin typeface="Arial"/>
              </a:rPr>
              <a:t>P7 – P13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0" y="1549400"/>
            <a:ext cx="2057400" cy="37592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4" name="Picture 23" descr="a_926337023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550554"/>
            <a:ext cx="2057400" cy="1039090"/>
          </a:xfrm>
          <a:prstGeom prst="rect">
            <a:avLst/>
          </a:prstGeom>
        </p:spPr>
      </p:pic>
      <p:cxnSp>
        <p:nvCxnSpPr>
          <p:cNvPr id="25" name="Connector 24"/>
          <p:cNvCxnSpPr/>
          <p:nvPr/>
        </p:nvCxnSpPr>
        <p:spPr>
          <a:xfrm>
            <a:off x="5029200" y="2590800"/>
            <a:ext cx="2057400" cy="0"/>
          </a:xfrm>
          <a:prstGeom prst="line">
            <a:avLst/>
          </a:prstGeom>
          <a:ln w="12700">
            <a:solidFill>
              <a:srgbClr val="D6E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207000" y="2717800"/>
            <a:ext cx="1701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2100" b="1">
                <a:solidFill>
                  <a:srgbClr val="8CC63F"/>
                </a:solidFill>
                <a:latin typeface="Arial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07000" y="3175000"/>
            <a:ext cx="17018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50" b="1">
                <a:solidFill>
                  <a:srgbClr val="0B308E"/>
                </a:solidFill>
                <a:latin typeface="Arial"/>
              </a:rPr>
              <a:t>End-to-end architecture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07000" y="3759200"/>
            <a:ext cx="1701800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900" b="0">
                <a:solidFill>
                  <a:srgbClr val="55607A"/>
                </a:solidFill>
                <a:latin typeface="Arial"/>
              </a:rPr>
              <a:t>Terminal · Network · Application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07000" y="4927600"/>
            <a:ext cx="17018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50" b="1">
                <a:solidFill>
                  <a:srgbClr val="93A0B4"/>
                </a:solidFill>
                <a:latin typeface="Arial"/>
              </a:rPr>
              <a:t>P14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39000" y="1549400"/>
            <a:ext cx="2057400" cy="37592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1" name="Picture 30" descr="a_bf9c08973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0" y="1550554"/>
            <a:ext cx="2057400" cy="1039090"/>
          </a:xfrm>
          <a:prstGeom prst="rect">
            <a:avLst/>
          </a:prstGeom>
        </p:spPr>
      </p:pic>
      <p:cxnSp>
        <p:nvCxnSpPr>
          <p:cNvPr id="32" name="Connector 31"/>
          <p:cNvCxnSpPr/>
          <p:nvPr/>
        </p:nvCxnSpPr>
        <p:spPr>
          <a:xfrm>
            <a:off x="7239000" y="2590800"/>
            <a:ext cx="2057400" cy="0"/>
          </a:xfrm>
          <a:prstGeom prst="line">
            <a:avLst/>
          </a:prstGeom>
          <a:ln w="12700">
            <a:solidFill>
              <a:srgbClr val="D6E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416800" y="2717800"/>
            <a:ext cx="1701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2100" b="1">
                <a:solidFill>
                  <a:srgbClr val="8CC63F"/>
                </a:solidFill>
                <a:latin typeface="Arial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16800" y="3175000"/>
            <a:ext cx="17018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50" b="1">
                <a:solidFill>
                  <a:srgbClr val="0B308E"/>
                </a:solidFill>
                <a:latin typeface="Arial"/>
              </a:rPr>
              <a:t>Reference cases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16800" y="3759200"/>
            <a:ext cx="1701800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900" b="0">
                <a:solidFill>
                  <a:srgbClr val="55607A"/>
                </a:solidFill>
                <a:latin typeface="Arial"/>
              </a:rPr>
              <a:t>Global 450 MHz networks, and three customer cases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16800" y="4927600"/>
            <a:ext cx="17018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50" b="1">
                <a:solidFill>
                  <a:srgbClr val="93A0B4"/>
                </a:solidFill>
                <a:latin typeface="Arial"/>
              </a:rPr>
              <a:t>P15 – P18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448800" y="1549400"/>
            <a:ext cx="2057400" cy="37592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8" name="Picture 37" descr="a_37085b11f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48800" y="1550554"/>
            <a:ext cx="2057400" cy="1039090"/>
          </a:xfrm>
          <a:prstGeom prst="rect">
            <a:avLst/>
          </a:prstGeom>
        </p:spPr>
      </p:pic>
      <p:cxnSp>
        <p:nvCxnSpPr>
          <p:cNvPr id="39" name="Connector 38"/>
          <p:cNvCxnSpPr/>
          <p:nvPr/>
        </p:nvCxnSpPr>
        <p:spPr>
          <a:xfrm>
            <a:off x="9448800" y="2590800"/>
            <a:ext cx="2057400" cy="0"/>
          </a:xfrm>
          <a:prstGeom prst="line">
            <a:avLst/>
          </a:prstGeom>
          <a:ln w="12700">
            <a:solidFill>
              <a:srgbClr val="D6E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9626600" y="2717800"/>
            <a:ext cx="1701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2100" b="1">
                <a:solidFill>
                  <a:srgbClr val="8CC63F"/>
                </a:solidFill>
                <a:latin typeface="Arial"/>
              </a:rPr>
              <a:t>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26600" y="3175000"/>
            <a:ext cx="17018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50" b="1">
                <a:solidFill>
                  <a:srgbClr val="0B308E"/>
                </a:solidFill>
                <a:latin typeface="Arial"/>
              </a:rPr>
              <a:t>Business model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26600" y="3759200"/>
            <a:ext cx="1701800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900" b="0">
                <a:solidFill>
                  <a:srgbClr val="55607A"/>
                </a:solidFill>
                <a:latin typeface="Arial"/>
              </a:rPr>
              <a:t>Who does what, six revenue streams, next steps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26600" y="4927600"/>
            <a:ext cx="17018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50" b="1">
                <a:solidFill>
                  <a:srgbClr val="93A0B4"/>
                </a:solidFill>
                <a:latin typeface="Arial"/>
              </a:rPr>
              <a:t>P19 – P21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5740400"/>
            <a:ext cx="12192000" cy="5080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9600" y="5740400"/>
            <a:ext cx="109728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One network, six industries.  </a:t>
            </a:r>
            <a:r>
              <a:rPr sz="1200" b="0">
                <a:solidFill>
                  <a:srgbClr val="DCE5F3"/>
                </a:solidFill>
                <a:latin typeface="Arial"/>
              </a:rPr>
              <a:t>The same 450 MHz layer serves all of them, on the same sites.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9600" y="6451600"/>
            <a:ext cx="109728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00" b="0">
                <a:solidFill>
                  <a:srgbClr val="93A0B4"/>
                </a:solidFill>
                <a:latin typeface="Arial"/>
              </a:rPr>
              <a:t>Source: Hytera proposal structure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228600" cy="635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9800" y="279400"/>
            <a:ext cx="9906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2100" b="1">
                <a:solidFill>
                  <a:srgbClr val="0B308E"/>
                </a:solidFill>
                <a:latin typeface="Arial"/>
              </a:rPr>
              <a:t>From a niche band to critical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87400"/>
            <a:ext cx="889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50" b="1">
                <a:solidFill>
                  <a:srgbClr val="7F9B00"/>
                </a:solidFill>
                <a:latin typeface="Arial"/>
              </a:rPr>
              <a:t>GLOBAL TREND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23600" y="279400"/>
            <a:ext cx="5588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300"/>
              </a:spcAft>
            </a:pPr>
            <a:r>
              <a:rPr sz="1700" b="1">
                <a:solidFill>
                  <a:srgbClr val="0B308E"/>
                </a:solidFill>
                <a:latin typeface="Arial"/>
              </a:rPr>
              <a:t>04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9600" y="1041400"/>
            <a:ext cx="10972800" cy="0"/>
          </a:xfrm>
          <a:prstGeom prst="line">
            <a:avLst/>
          </a:prstGeom>
          <a:ln w="12700">
            <a:solidFill>
              <a:srgbClr val="D6E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09600" y="11938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0">
                <a:solidFill>
                  <a:srgbClr val="55607A"/>
                </a:solidFill>
                <a:latin typeface="Arial"/>
              </a:rPr>
              <a:t>Regulators, utilities and public safety agencies have settled on what this band is for.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1549400"/>
            <a:ext cx="5969000" cy="9906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1549400"/>
            <a:ext cx="44450" cy="9906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2800" y="1701800"/>
            <a:ext cx="55626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2100" b="1">
                <a:solidFill>
                  <a:srgbClr val="0B308E"/>
                </a:solidFill>
                <a:latin typeface="Arial"/>
              </a:rPr>
              <a:t>86%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800" y="2108200"/>
            <a:ext cx="55626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950" b="0">
                <a:solidFill>
                  <a:srgbClr val="55607A"/>
                </a:solidFill>
                <a:latin typeface="Arial"/>
              </a:rPr>
              <a:t>of the world’s population lives in countries where the 400 MHz bands are allocated or under consultation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" y="2641600"/>
            <a:ext cx="5969000" cy="9906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9600" y="2641600"/>
            <a:ext cx="44450" cy="990600"/>
          </a:xfrm>
          <a:prstGeom prst="rect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2800" y="2794000"/>
            <a:ext cx="55626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2100" b="1">
                <a:solidFill>
                  <a:srgbClr val="7F9B00"/>
                </a:solidFill>
                <a:latin typeface="Arial"/>
              </a:rPr>
              <a:t>77 / 39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800" y="3200400"/>
            <a:ext cx="55626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950" b="0">
                <a:solidFill>
                  <a:srgbClr val="55607A"/>
                </a:solidFill>
                <a:latin typeface="Arial"/>
              </a:rPr>
              <a:t>countries with networks deployed at 380 / 410 / 450 MHz - and the 39 of them already running LTE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600" y="3733800"/>
            <a:ext cx="5969000" cy="9906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9600" y="3733800"/>
            <a:ext cx="44450" cy="9906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2800" y="3886200"/>
            <a:ext cx="55626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2100" b="1">
                <a:solidFill>
                  <a:srgbClr val="0B308E"/>
                </a:solidFill>
                <a:latin typeface="Arial"/>
              </a:rPr>
              <a:t>1.8M / 14M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800" y="4292600"/>
            <a:ext cx="55626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950" b="0">
                <a:solidFill>
                  <a:srgbClr val="55607A"/>
                </a:solidFill>
                <a:latin typeface="Arial"/>
              </a:rPr>
              <a:t>broadband and sensor connections forecast by 2030, from 420k and 1.2M in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4200" y="1549400"/>
            <a:ext cx="46482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50" b="1">
                <a:solidFill>
                  <a:srgbClr val="7F9B00"/>
                </a:solidFill>
                <a:latin typeface="Arial"/>
              </a:rPr>
              <a:t>OUR POSITION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34200" y="1803400"/>
            <a:ext cx="4648200" cy="9652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34200" y="1803400"/>
            <a:ext cx="44450" cy="9652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62800" y="1955800"/>
            <a:ext cx="426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1">
                <a:solidFill>
                  <a:srgbClr val="0B308E"/>
                </a:solidFill>
                <a:latin typeface="Arial"/>
              </a:rPr>
              <a:t>Named at both ends of the chain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62800" y="2235200"/>
            <a:ext cx="42672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900" b="0">
                <a:solidFill>
                  <a:srgbClr val="55607A"/>
                </a:solidFill>
                <a:latin typeface="Arial"/>
              </a:rPr>
              <a:t>The Alliance lists Hytera in its device supplier list and in its macro eNB supplier list.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34200" y="2870200"/>
            <a:ext cx="4648200" cy="9652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34200" y="2870200"/>
            <a:ext cx="44450" cy="9652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62800" y="3022600"/>
            <a:ext cx="426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1">
                <a:solidFill>
                  <a:srgbClr val="0B308E"/>
                </a:solidFill>
                <a:latin typeface="Arial"/>
              </a:rPr>
              <a:t>Through operator acceptance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62800" y="3302000"/>
            <a:ext cx="42672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900" b="0">
                <a:solidFill>
                  <a:srgbClr val="55607A"/>
                </a:solidFill>
                <a:latin typeface="Arial"/>
              </a:rPr>
              <a:t>PNC660 450M is whitelisted by 450connect to −115 dBm RSRP - the operator’s own document.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34200" y="3937000"/>
            <a:ext cx="4648200" cy="9652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934200" y="3937000"/>
            <a:ext cx="44450" cy="9652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62800" y="4089400"/>
            <a:ext cx="426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1">
                <a:solidFill>
                  <a:srgbClr val="0B308E"/>
                </a:solidFill>
                <a:latin typeface="Arial"/>
              </a:rPr>
              <a:t>A 5G-ready 450 MHz portfolio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62800" y="4368800"/>
            <a:ext cx="42672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900" b="0">
                <a:solidFill>
                  <a:srgbClr val="55607A"/>
                </a:solidFill>
                <a:latin typeface="Arial"/>
              </a:rPr>
              <a:t>Handheld, vehicle radio, base station and core, with a 5G model in development.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5740400"/>
            <a:ext cx="12192000" cy="5080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9600" y="5740400"/>
            <a:ext cx="109728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The band is no longer experimental.  </a:t>
            </a:r>
            <a:r>
              <a:rPr sz="1200" b="0">
                <a:solidFill>
                  <a:srgbClr val="DCE5F3"/>
                </a:solidFill>
                <a:latin typeface="Arial"/>
              </a:rPr>
              <a:t>It is assigned, standardised in 3GPP, and carrying utility and public-safety traffic today.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9600" y="6451600"/>
            <a:ext cx="109728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00" b="0">
                <a:solidFill>
                  <a:srgbClr val="93A0B4"/>
                </a:solidFill>
                <a:latin typeface="Arial"/>
              </a:rPr>
              <a:t>Source: 450 MHz Alliance, Annual Global Update (Dec 2025) p4, p11 Table 1, p12 Table 6; Annual Equipment Report (May 2025) p5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228600" cy="635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9800" y="279400"/>
            <a:ext cx="9906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2100" b="1">
                <a:solidFill>
                  <a:srgbClr val="0B308E"/>
                </a:solidFill>
                <a:latin typeface="Arial"/>
              </a:rPr>
              <a:t>One site replaces several mid-band sites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87400"/>
            <a:ext cx="889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50" b="1">
                <a:solidFill>
                  <a:srgbClr val="7F9B00"/>
                </a:solidFill>
                <a:latin typeface="Arial"/>
              </a:rPr>
              <a:t>WHY 450 MHZ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23600" y="279400"/>
            <a:ext cx="5588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300"/>
              </a:spcAft>
            </a:pPr>
            <a:r>
              <a:rPr sz="1700" b="1">
                <a:solidFill>
                  <a:srgbClr val="0B308E"/>
                </a:solidFill>
                <a:latin typeface="Arial"/>
              </a:rPr>
              <a:t>05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9600" y="1041400"/>
            <a:ext cx="10972800" cy="0"/>
          </a:xfrm>
          <a:prstGeom prst="line">
            <a:avLst/>
          </a:prstGeom>
          <a:ln w="12700">
            <a:solidFill>
              <a:srgbClr val="D6E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09600" y="11938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0">
                <a:solidFill>
                  <a:srgbClr val="55607A"/>
                </a:solidFill>
                <a:latin typeface="Arial"/>
              </a:rPr>
              <a:t>Low-band physics is the whole argument. The numbers below reuse one grid at three frequencies.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1549400"/>
            <a:ext cx="1981200" cy="19812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104900" y="1612900"/>
            <a:ext cx="0" cy="1854200"/>
          </a:xfrm>
          <a:prstGeom prst="line">
            <a:avLst/>
          </a:prstGeom>
          <a:ln w="6350">
            <a:solidFill>
              <a:srgbClr val="DCE5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73100" y="2044700"/>
            <a:ext cx="1854200" cy="0"/>
          </a:xfrm>
          <a:prstGeom prst="line">
            <a:avLst/>
          </a:prstGeom>
          <a:ln w="6350">
            <a:solidFill>
              <a:srgbClr val="DCE5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600200" y="1612900"/>
            <a:ext cx="0" cy="1854200"/>
          </a:xfrm>
          <a:prstGeom prst="line">
            <a:avLst/>
          </a:prstGeom>
          <a:ln w="6350">
            <a:solidFill>
              <a:srgbClr val="DCE5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73100" y="2540000"/>
            <a:ext cx="1854200" cy="0"/>
          </a:xfrm>
          <a:prstGeom prst="line">
            <a:avLst/>
          </a:prstGeom>
          <a:ln w="6350">
            <a:solidFill>
              <a:srgbClr val="DCE5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095500" y="1612900"/>
            <a:ext cx="0" cy="1854200"/>
          </a:xfrm>
          <a:prstGeom prst="line">
            <a:avLst/>
          </a:prstGeom>
          <a:ln w="6350">
            <a:solidFill>
              <a:srgbClr val="DCE5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73100" y="3035300"/>
            <a:ext cx="1854200" cy="0"/>
          </a:xfrm>
          <a:prstGeom prst="line">
            <a:avLst/>
          </a:prstGeom>
          <a:ln w="6350">
            <a:solidFill>
              <a:srgbClr val="DCE5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812800" y="1862836"/>
            <a:ext cx="1574800" cy="1354328"/>
          </a:xfrm>
          <a:prstGeom prst="ellipse">
            <a:avLst/>
          </a:prstGeom>
          <a:solidFill>
            <a:srgbClr val="D8E4F6"/>
          </a:solidFill>
          <a:ln w="9525">
            <a:solidFill>
              <a:srgbClr val="0B30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600" y="3657600"/>
            <a:ext cx="1981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1100" b="1">
                <a:solidFill>
                  <a:srgbClr val="0B308E"/>
                </a:solidFill>
                <a:latin typeface="Arial"/>
              </a:rPr>
              <a:t>410 / 450 MHz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3886200"/>
            <a:ext cx="1981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900" b="1">
                <a:solidFill>
                  <a:srgbClr val="7F9B00"/>
                </a:solidFill>
                <a:latin typeface="Arial"/>
              </a:rPr>
              <a:t>1× sites  ·  100% covered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17800" y="1549400"/>
            <a:ext cx="1981200" cy="19812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3213100" y="1612900"/>
            <a:ext cx="0" cy="1854200"/>
          </a:xfrm>
          <a:prstGeom prst="line">
            <a:avLst/>
          </a:prstGeom>
          <a:ln w="6350">
            <a:solidFill>
              <a:srgbClr val="DCE5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781300" y="2044700"/>
            <a:ext cx="1854200" cy="0"/>
          </a:xfrm>
          <a:prstGeom prst="line">
            <a:avLst/>
          </a:prstGeom>
          <a:ln w="6350">
            <a:solidFill>
              <a:srgbClr val="DCE5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708400" y="1612900"/>
            <a:ext cx="0" cy="1854200"/>
          </a:xfrm>
          <a:prstGeom prst="line">
            <a:avLst/>
          </a:prstGeom>
          <a:ln w="6350">
            <a:solidFill>
              <a:srgbClr val="DCE5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781300" y="2540000"/>
            <a:ext cx="1854200" cy="0"/>
          </a:xfrm>
          <a:prstGeom prst="line">
            <a:avLst/>
          </a:prstGeom>
          <a:ln w="6350">
            <a:solidFill>
              <a:srgbClr val="DCE5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203700" y="1612900"/>
            <a:ext cx="0" cy="1854200"/>
          </a:xfrm>
          <a:prstGeom prst="line">
            <a:avLst/>
          </a:prstGeom>
          <a:ln w="6350">
            <a:solidFill>
              <a:srgbClr val="DCE5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781300" y="3035300"/>
            <a:ext cx="1854200" cy="0"/>
          </a:xfrm>
          <a:prstGeom prst="line">
            <a:avLst/>
          </a:prstGeom>
          <a:ln w="6350">
            <a:solidFill>
              <a:srgbClr val="DCE5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2819400" y="1965452"/>
            <a:ext cx="863600" cy="742696"/>
          </a:xfrm>
          <a:prstGeom prst="ellipse">
            <a:avLst/>
          </a:prstGeom>
          <a:solidFill>
            <a:srgbClr val="D8E4F6"/>
          </a:solidFill>
          <a:ln w="9525">
            <a:solidFill>
              <a:srgbClr val="0B30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733800" y="1965452"/>
            <a:ext cx="863600" cy="742696"/>
          </a:xfrm>
          <a:prstGeom prst="ellipse">
            <a:avLst/>
          </a:prstGeom>
          <a:solidFill>
            <a:srgbClr val="D8E4F6"/>
          </a:solidFill>
          <a:ln w="9525">
            <a:solidFill>
              <a:srgbClr val="0B30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276600" y="2524252"/>
            <a:ext cx="863600" cy="742696"/>
          </a:xfrm>
          <a:prstGeom prst="ellipse">
            <a:avLst/>
          </a:prstGeom>
          <a:solidFill>
            <a:srgbClr val="D8E4F6"/>
          </a:solidFill>
          <a:ln w="9525">
            <a:solidFill>
              <a:srgbClr val="0B30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17800" y="3657600"/>
            <a:ext cx="1981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1100" b="1">
                <a:solidFill>
                  <a:srgbClr val="0B308E"/>
                </a:solidFill>
                <a:latin typeface="Arial"/>
              </a:rPr>
              <a:t>740 MHz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17800" y="3886200"/>
            <a:ext cx="1981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900" b="1">
                <a:solidFill>
                  <a:srgbClr val="7F9B00"/>
                </a:solidFill>
                <a:latin typeface="Arial"/>
              </a:rPr>
              <a:t>2.5-3× sites  ·  91.3% from the same grid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26000" y="1549400"/>
            <a:ext cx="1981200" cy="19812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5321300" y="1612900"/>
            <a:ext cx="0" cy="1854200"/>
          </a:xfrm>
          <a:prstGeom prst="line">
            <a:avLst/>
          </a:prstGeom>
          <a:ln w="6350">
            <a:solidFill>
              <a:srgbClr val="DCE5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889500" y="2044700"/>
            <a:ext cx="1854200" cy="0"/>
          </a:xfrm>
          <a:prstGeom prst="line">
            <a:avLst/>
          </a:prstGeom>
          <a:ln w="6350">
            <a:solidFill>
              <a:srgbClr val="DCE5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816600" y="1612900"/>
            <a:ext cx="0" cy="1854200"/>
          </a:xfrm>
          <a:prstGeom prst="line">
            <a:avLst/>
          </a:prstGeom>
          <a:ln w="6350">
            <a:solidFill>
              <a:srgbClr val="DCE5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889500" y="2540000"/>
            <a:ext cx="1854200" cy="0"/>
          </a:xfrm>
          <a:prstGeom prst="line">
            <a:avLst/>
          </a:prstGeom>
          <a:ln w="6350">
            <a:solidFill>
              <a:srgbClr val="DCE5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311900" y="1612900"/>
            <a:ext cx="0" cy="1854200"/>
          </a:xfrm>
          <a:prstGeom prst="line">
            <a:avLst/>
          </a:prstGeom>
          <a:ln w="6350">
            <a:solidFill>
              <a:srgbClr val="DCE5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889500" y="3035300"/>
            <a:ext cx="1854200" cy="0"/>
          </a:xfrm>
          <a:prstGeom prst="line">
            <a:avLst/>
          </a:prstGeom>
          <a:ln w="6350">
            <a:solidFill>
              <a:srgbClr val="DCE5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4876800" y="2163826"/>
            <a:ext cx="431800" cy="371348"/>
          </a:xfrm>
          <a:prstGeom prst="ellipse">
            <a:avLst/>
          </a:prstGeom>
          <a:solidFill>
            <a:srgbClr val="D8E4F6"/>
          </a:solidFill>
          <a:ln w="9525">
            <a:solidFill>
              <a:srgbClr val="0B30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876800" y="2544826"/>
            <a:ext cx="431800" cy="371348"/>
          </a:xfrm>
          <a:prstGeom prst="ellipse">
            <a:avLst/>
          </a:prstGeom>
          <a:solidFill>
            <a:srgbClr val="D8E4F6"/>
          </a:solidFill>
          <a:ln w="9525">
            <a:solidFill>
              <a:srgbClr val="0B30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359400" y="1782826"/>
            <a:ext cx="431800" cy="371348"/>
          </a:xfrm>
          <a:prstGeom prst="ellipse">
            <a:avLst/>
          </a:prstGeom>
          <a:solidFill>
            <a:srgbClr val="D8E4F6"/>
          </a:solidFill>
          <a:ln w="9525">
            <a:solidFill>
              <a:srgbClr val="0B30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359400" y="2163826"/>
            <a:ext cx="431800" cy="371348"/>
          </a:xfrm>
          <a:prstGeom prst="ellipse">
            <a:avLst/>
          </a:prstGeom>
          <a:solidFill>
            <a:srgbClr val="D8E4F6"/>
          </a:solidFill>
          <a:ln w="9525">
            <a:solidFill>
              <a:srgbClr val="0B30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359400" y="2544826"/>
            <a:ext cx="431800" cy="371348"/>
          </a:xfrm>
          <a:prstGeom prst="ellipse">
            <a:avLst/>
          </a:prstGeom>
          <a:solidFill>
            <a:srgbClr val="D8E4F6"/>
          </a:solidFill>
          <a:ln w="9525">
            <a:solidFill>
              <a:srgbClr val="0B30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359400" y="2925826"/>
            <a:ext cx="431800" cy="371348"/>
          </a:xfrm>
          <a:prstGeom prst="ellipse">
            <a:avLst/>
          </a:prstGeom>
          <a:solidFill>
            <a:srgbClr val="D8E4F6"/>
          </a:solidFill>
          <a:ln w="9525">
            <a:solidFill>
              <a:srgbClr val="0B30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842000" y="1782826"/>
            <a:ext cx="431800" cy="371348"/>
          </a:xfrm>
          <a:prstGeom prst="ellipse">
            <a:avLst/>
          </a:prstGeom>
          <a:solidFill>
            <a:srgbClr val="D8E4F6"/>
          </a:solidFill>
          <a:ln w="9525">
            <a:solidFill>
              <a:srgbClr val="0B30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842000" y="2163826"/>
            <a:ext cx="431800" cy="371348"/>
          </a:xfrm>
          <a:prstGeom prst="ellipse">
            <a:avLst/>
          </a:prstGeom>
          <a:solidFill>
            <a:srgbClr val="D8E4F6"/>
          </a:solidFill>
          <a:ln w="9525">
            <a:solidFill>
              <a:srgbClr val="0B30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5842000" y="2544826"/>
            <a:ext cx="431800" cy="371348"/>
          </a:xfrm>
          <a:prstGeom prst="ellipse">
            <a:avLst/>
          </a:prstGeom>
          <a:solidFill>
            <a:srgbClr val="D8E4F6"/>
          </a:solidFill>
          <a:ln w="9525">
            <a:solidFill>
              <a:srgbClr val="0B30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842000" y="2925826"/>
            <a:ext cx="431800" cy="371348"/>
          </a:xfrm>
          <a:prstGeom prst="ellipse">
            <a:avLst/>
          </a:prstGeom>
          <a:solidFill>
            <a:srgbClr val="D8E4F6"/>
          </a:solidFill>
          <a:ln w="9525">
            <a:solidFill>
              <a:srgbClr val="0B30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324600" y="2163826"/>
            <a:ext cx="431800" cy="371348"/>
          </a:xfrm>
          <a:prstGeom prst="ellipse">
            <a:avLst/>
          </a:prstGeom>
          <a:solidFill>
            <a:srgbClr val="D8E4F6"/>
          </a:solidFill>
          <a:ln w="9525">
            <a:solidFill>
              <a:srgbClr val="0B30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324600" y="2544826"/>
            <a:ext cx="431800" cy="371348"/>
          </a:xfrm>
          <a:prstGeom prst="ellipse">
            <a:avLst/>
          </a:prstGeom>
          <a:solidFill>
            <a:srgbClr val="D8E4F6"/>
          </a:solidFill>
          <a:ln w="9525">
            <a:solidFill>
              <a:srgbClr val="0B30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324600" y="2925826"/>
            <a:ext cx="431800" cy="371348"/>
          </a:xfrm>
          <a:prstGeom prst="ellipse">
            <a:avLst/>
          </a:prstGeom>
          <a:solidFill>
            <a:srgbClr val="D8E4F6"/>
          </a:solidFill>
          <a:ln w="9525">
            <a:solidFill>
              <a:srgbClr val="0B30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826000" y="3657600"/>
            <a:ext cx="1981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1100" b="1">
                <a:solidFill>
                  <a:srgbClr val="0B308E"/>
                </a:solidFill>
                <a:latin typeface="Arial"/>
              </a:rPr>
              <a:t>2350 MHz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26000" y="3886200"/>
            <a:ext cx="1981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900" b="1">
                <a:solidFill>
                  <a:srgbClr val="7F9B00"/>
                </a:solidFill>
                <a:latin typeface="Arial"/>
              </a:rPr>
              <a:t>12-15× sites  ·  58.7% from the same grid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9600" y="4368800"/>
            <a:ext cx="6350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000" b="0">
                <a:solidFill>
                  <a:srgbClr val="55607A"/>
                </a:solidFill>
                <a:latin typeface="Arial"/>
              </a:rPr>
              <a:t>Same area, same grid. Only the low band covers it with one site - which is what makes island and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000" b="0">
                <a:solidFill>
                  <a:srgbClr val="55607A"/>
                </a:solidFill>
                <a:latin typeface="Arial"/>
              </a:rPr>
              <a:t>mountain coverage affordable, and what makes extensive backup power affordable.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12000" y="1549400"/>
            <a:ext cx="44704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50" b="1">
                <a:solidFill>
                  <a:srgbClr val="7F9B00"/>
                </a:solidFill>
                <a:latin typeface="Arial"/>
              </a:rPr>
              <a:t>WHAT THAT BUYS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112000" y="1943100"/>
            <a:ext cx="76200" cy="762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15200" y="1879600"/>
            <a:ext cx="42672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300"/>
              </a:spcAft>
            </a:pPr>
            <a:r>
              <a:rPr sz="1150" b="0">
                <a:solidFill>
                  <a:srgbClr val="55607A"/>
                </a:solidFill>
                <a:latin typeface="Arial"/>
              </a:rPr>
              <a:t>Bends around ridges and into valleys instead of needing line of sight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112000" y="2578100"/>
            <a:ext cx="76200" cy="762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15200" y="2514600"/>
            <a:ext cx="42672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300"/>
              </a:spcAft>
            </a:pPr>
            <a:r>
              <a:rPr sz="1150" b="0">
                <a:solidFill>
                  <a:srgbClr val="55607A"/>
                </a:solidFill>
                <a:latin typeface="Arial"/>
              </a:rPr>
              <a:t>Reaches meter boxes, basements and tunnels that mid-band cannot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112000" y="3213100"/>
            <a:ext cx="76200" cy="762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15200" y="3149600"/>
            <a:ext cx="42672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300"/>
              </a:spcAft>
            </a:pPr>
            <a:r>
              <a:rPr sz="1150" b="0">
                <a:solidFill>
                  <a:srgbClr val="55607A"/>
                </a:solidFill>
                <a:latin typeface="Arial"/>
              </a:rPr>
              <a:t>Fewer sites is what makes extensive backup power affordable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5740400"/>
            <a:ext cx="12192000" cy="5080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09600" y="5740400"/>
            <a:ext cx="109728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What it is not:  </a:t>
            </a:r>
            <a:r>
              <a:rPr sz="1200" b="0">
                <a:solidFill>
                  <a:srgbClr val="DCE5F3"/>
                </a:solidFill>
                <a:latin typeface="Arial"/>
              </a:rPr>
              <a:t>with 3-5 MHz it carries voice, low-rate video and telemetry. It stays outside the capacity game.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09600" y="6451600"/>
            <a:ext cx="109728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00" b="0">
                <a:solidFill>
                  <a:srgbClr val="93A0B4"/>
                </a:solidFill>
                <a:latin typeface="Arial"/>
              </a:rPr>
              <a:t>Source: 450 MHz Alliance, Brief (Jun 2022) p15 - reference grid modelled at 410 MHz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228600" cy="635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9800" y="279400"/>
            <a:ext cx="9906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2100" b="1">
                <a:solidFill>
                  <a:srgbClr val="0B308E"/>
                </a:solidFill>
                <a:latin typeface="Arial"/>
              </a:rPr>
              <a:t>What MCS means - and how it sits on the band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87400"/>
            <a:ext cx="889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50" b="1">
                <a:solidFill>
                  <a:srgbClr val="7F9B00"/>
                </a:solidFill>
                <a:latin typeface="Arial"/>
              </a:rPr>
              <a:t>THE SERVICE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23600" y="279400"/>
            <a:ext cx="5588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300"/>
              </a:spcAft>
            </a:pPr>
            <a:r>
              <a:rPr sz="1700" b="1">
                <a:solidFill>
                  <a:srgbClr val="0B308E"/>
                </a:solidFill>
                <a:latin typeface="Arial"/>
              </a:rPr>
              <a:t>06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9600" y="1041400"/>
            <a:ext cx="10972800" cy="0"/>
          </a:xfrm>
          <a:prstGeom prst="line">
            <a:avLst/>
          </a:prstGeom>
          <a:ln w="12700">
            <a:solidFill>
              <a:srgbClr val="D6E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09600" y="11938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0">
                <a:solidFill>
                  <a:srgbClr val="55607A"/>
                </a:solidFill>
                <a:latin typeface="Arial"/>
              </a:rPr>
              <a:t>The customer cases in section 04 run MCS. This page explains what it is, because the term carries the delivery.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1549400"/>
            <a:ext cx="5461000" cy="2540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200" y="1727200"/>
            <a:ext cx="5003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1">
                <a:solidFill>
                  <a:srgbClr val="0B308E"/>
                </a:solidFill>
                <a:latin typeface="Arial"/>
              </a:rPr>
              <a:t>3GPP mission-critical services (MCS / MCX)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8200" y="2082800"/>
            <a:ext cx="5003800" cy="5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" y="2082800"/>
            <a:ext cx="38100" cy="5080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3" name="Picture 12" descr="a_51ebbb77b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634" y="2159000"/>
            <a:ext cx="123130" cy="35559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95400" y="2133600"/>
            <a:ext cx="1397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1">
                <a:solidFill>
                  <a:srgbClr val="0B308E"/>
                </a:solidFill>
                <a:latin typeface="Arial"/>
              </a:rPr>
              <a:t>MCPTT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5400" y="2349500"/>
            <a:ext cx="43688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900" b="0">
                <a:solidFill>
                  <a:srgbClr val="55607A"/>
                </a:solidFill>
                <a:latin typeface="Arial"/>
              </a:rPr>
              <a:t>push-to-talk voice, with priority and pre-emption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8200" y="2692400"/>
            <a:ext cx="5003800" cy="5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8200" y="2692400"/>
            <a:ext cx="38100" cy="5080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8" name="Picture 17" descr="a_2bd2a3d1d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817" y="2768600"/>
            <a:ext cx="148764" cy="355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295400" y="2743200"/>
            <a:ext cx="1397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1">
                <a:solidFill>
                  <a:srgbClr val="0B308E"/>
                </a:solidFill>
                <a:latin typeface="Arial"/>
              </a:rPr>
              <a:t>MCVideo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5400" y="2959100"/>
            <a:ext cx="43688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900" b="0">
                <a:solidFill>
                  <a:srgbClr val="55607A"/>
                </a:solidFill>
                <a:latin typeface="Arial"/>
              </a:rPr>
              <a:t>live and recorded video from the scene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8200" y="3302000"/>
            <a:ext cx="5003800" cy="5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8200" y="3302000"/>
            <a:ext cx="38100" cy="5080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3" name="Picture 22" descr="a_5ffa94c93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447" y="3378200"/>
            <a:ext cx="181504" cy="3556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295400" y="3352800"/>
            <a:ext cx="1397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1">
                <a:solidFill>
                  <a:srgbClr val="0B308E"/>
                </a:solidFill>
                <a:latin typeface="Arial"/>
              </a:rPr>
              <a:t>MCData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95400" y="3568700"/>
            <a:ext cx="43688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900" b="0">
                <a:solidFill>
                  <a:srgbClr val="55607A"/>
                </a:solidFill>
                <a:latin typeface="Arial"/>
              </a:rPr>
              <a:t>messaging, file transfer and location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00" y="4191000"/>
            <a:ext cx="5461000" cy="55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000" b="0">
                <a:solidFill>
                  <a:srgbClr val="55607A"/>
                </a:solidFill>
                <a:latin typeface="Arial"/>
              </a:rPr>
              <a:t>Defined by 3GPP, not by a single vendor - so the network stays multi-vendor and the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000" b="0">
                <a:solidFill>
                  <a:srgbClr val="55607A"/>
                </a:solidFill>
                <a:latin typeface="Arial"/>
              </a:rPr>
              <a:t>terminals are not locked to one supplier.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7000" y="1549400"/>
            <a:ext cx="51054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50" b="1">
                <a:solidFill>
                  <a:srgbClr val="7F9B00"/>
                </a:solidFill>
                <a:latin typeface="Arial"/>
              </a:rPr>
              <a:t>HOW THE LAYERS STACK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77000" y="1854200"/>
            <a:ext cx="5105400" cy="6604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05600" y="1955800"/>
            <a:ext cx="4648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Applications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05600" y="2209800"/>
            <a:ext cx="4648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900" b="0">
                <a:solidFill>
                  <a:srgbClr val="DCE5F3"/>
                </a:solidFill>
                <a:latin typeface="Arial"/>
              </a:rPr>
              <a:t>dispatch, recording, device management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8890000" y="2540000"/>
            <a:ext cx="279400" cy="203200"/>
          </a:xfrm>
          <a:prstGeom prst="downArrow">
            <a:avLst/>
          </a:prstGeom>
          <a:solidFill>
            <a:srgbClr val="3A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77000" y="2641600"/>
            <a:ext cx="5105400" cy="660400"/>
          </a:xfrm>
          <a:prstGeom prst="rect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05600" y="2743200"/>
            <a:ext cx="4648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MCS service layer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05600" y="2997200"/>
            <a:ext cx="4648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900" b="0">
                <a:solidFill>
                  <a:srgbClr val="DCE5F3"/>
                </a:solidFill>
                <a:latin typeface="Arial"/>
              </a:rPr>
              <a:t>MCPTT / MCVideo / MCData</a:t>
            </a:r>
          </a:p>
        </p:txBody>
      </p:sp>
      <p:sp>
        <p:nvSpPr>
          <p:cNvPr id="35" name="Down Arrow 34"/>
          <p:cNvSpPr/>
          <p:nvPr/>
        </p:nvSpPr>
        <p:spPr>
          <a:xfrm>
            <a:off x="8890000" y="3327400"/>
            <a:ext cx="279400" cy="203200"/>
          </a:xfrm>
          <a:prstGeom prst="downArrow">
            <a:avLst/>
          </a:prstGeom>
          <a:solidFill>
            <a:srgbClr val="3A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77000" y="3429000"/>
            <a:ext cx="5105400" cy="660400"/>
          </a:xfrm>
          <a:prstGeom prst="rect">
            <a:avLst/>
          </a:prstGeom>
          <a:solidFill>
            <a:srgbClr val="3A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05600" y="3530600"/>
            <a:ext cx="4648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LTE or 5G radio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05600" y="3784600"/>
            <a:ext cx="4648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900" b="0">
                <a:solidFill>
                  <a:srgbClr val="DCE5F3"/>
                </a:solidFill>
                <a:latin typeface="Arial"/>
              </a:rPr>
              <a:t>Band 31 / 72 at 450 MHz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77000" y="4267200"/>
            <a:ext cx="5105400" cy="482600"/>
          </a:xfrm>
          <a:prstGeom prst="rect">
            <a:avLst/>
          </a:prstGeom>
          <a:solidFill>
            <a:srgbClr val="F1F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05600" y="4267200"/>
            <a:ext cx="46482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00" b="1">
                <a:solidFill>
                  <a:srgbClr val="7F9B00"/>
                </a:solidFill>
                <a:latin typeface="Arial"/>
              </a:rPr>
              <a:t>In this deck: the band carries the traffic, MCS provides the service.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5740400"/>
            <a:ext cx="12192000" cy="5080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9600" y="5740400"/>
            <a:ext cx="109728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450 MHz gives the coverage; MCS gives the service.  </a:t>
            </a:r>
            <a:r>
              <a:rPr sz="1200" b="0">
                <a:solidFill>
                  <a:srgbClr val="DCE5F3"/>
                </a:solidFill>
                <a:latin typeface="Arial"/>
              </a:rPr>
              <a:t>MCS runs on any 3GPP LTE or 5G radio, so it carries over to a 450 MHz layer unchanged.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9600" y="6451600"/>
            <a:ext cx="109728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00" b="0">
                <a:solidFill>
                  <a:srgbClr val="93A0B4"/>
                </a:solidFill>
                <a:latin typeface="Arial"/>
              </a:rPr>
              <a:t>Source: 3GPP mission-critical services; Hytera HyTalk MC platform documentation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228600" cy="635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9800" y="279400"/>
            <a:ext cx="9906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2100" b="1">
                <a:solidFill>
                  <a:srgbClr val="0B308E"/>
                </a:solidFill>
                <a:latin typeface="Arial"/>
              </a:rPr>
              <a:t>One network, six industries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87400"/>
            <a:ext cx="889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50" b="1">
                <a:solidFill>
                  <a:srgbClr val="7F9B00"/>
                </a:solidFill>
                <a:latin typeface="Arial"/>
              </a:rPr>
              <a:t>INDUSTRY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23600" y="279400"/>
            <a:ext cx="5588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300"/>
              </a:spcAft>
            </a:pPr>
            <a:r>
              <a:rPr sz="1700" b="1">
                <a:solidFill>
                  <a:srgbClr val="0B308E"/>
                </a:solidFill>
                <a:latin typeface="Arial"/>
              </a:rPr>
              <a:t>07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9600" y="1041400"/>
            <a:ext cx="10972800" cy="0"/>
          </a:xfrm>
          <a:prstGeom prst="line">
            <a:avLst/>
          </a:prstGeom>
          <a:ln w="12700">
            <a:solidFill>
              <a:srgbClr val="D6E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09600" y="11938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0">
                <a:solidFill>
                  <a:srgbClr val="55607A"/>
                </a:solidFill>
                <a:latin typeface="Arial"/>
              </a:rPr>
              <a:t>The same 450 MHz layer serves all six, on the same sites. Each of the next pages takes one.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1549400"/>
            <a:ext cx="3556000" cy="1778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1549400"/>
            <a:ext cx="44450" cy="17780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7400" y="1701800"/>
            <a:ext cx="1473200" cy="14732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" descr="a_2adbfbb3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600" y="1908498"/>
            <a:ext cx="1320800" cy="105980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438400" y="1854200"/>
            <a:ext cx="15748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450" b="1">
                <a:solidFill>
                  <a:srgbClr val="0B308E"/>
                </a:solidFill>
                <a:latin typeface="Arial"/>
              </a:rPr>
              <a:t>Power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38400" y="2235200"/>
            <a:ext cx="1574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950" b="0">
                <a:solidFill>
                  <a:srgbClr val="55607A"/>
                </a:solidFill>
                <a:latin typeface="Arial"/>
              </a:rPr>
              <a:t>Grid dispatch, feeder automation and smart metering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18000" y="1549400"/>
            <a:ext cx="3556000" cy="1778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18000" y="1549400"/>
            <a:ext cx="44450" cy="17780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95800" y="1701800"/>
            <a:ext cx="1473200" cy="14732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8" name="Picture 17" descr="a_365a95ab5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906757"/>
            <a:ext cx="1320800" cy="106328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146800" y="1854200"/>
            <a:ext cx="15748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450" b="1">
                <a:solidFill>
                  <a:srgbClr val="0B308E"/>
                </a:solidFill>
                <a:latin typeface="Arial"/>
              </a:rPr>
              <a:t>Water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46800" y="2235200"/>
            <a:ext cx="1574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950" b="0">
                <a:solidFill>
                  <a:srgbClr val="55607A"/>
                </a:solidFill>
                <a:latin typeface="Arial"/>
              </a:rPr>
              <a:t>Metering, pressure sensing and reservoir telemetry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26400" y="1549400"/>
            <a:ext cx="3556000" cy="1778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26400" y="1549400"/>
            <a:ext cx="44450" cy="17780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04200" y="1701800"/>
            <a:ext cx="1473200" cy="14732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4" name="Picture 23" descr="a_bd2b5a0db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8611" y="1778000"/>
            <a:ext cx="1204376" cy="13208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855200" y="1854200"/>
            <a:ext cx="15748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450" b="1">
                <a:solidFill>
                  <a:srgbClr val="0B308E"/>
                </a:solidFill>
                <a:latin typeface="Arial"/>
              </a:rPr>
              <a:t>Police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55200" y="2235200"/>
            <a:ext cx="1574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950" b="0">
                <a:solidFill>
                  <a:srgbClr val="55607A"/>
                </a:solidFill>
                <a:latin typeface="Arial"/>
              </a:rPr>
              <a:t>Cross-agency group calls and live video from the scene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9600" y="3479800"/>
            <a:ext cx="3556000" cy="1778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9600" y="3479800"/>
            <a:ext cx="44450" cy="17780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7400" y="3632200"/>
            <a:ext cx="1473200" cy="14732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0" name="Picture 29" descr="a_01a451a5b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600" y="3813717"/>
            <a:ext cx="1320800" cy="111016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2438400" y="3784600"/>
            <a:ext cx="15748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450" b="1">
                <a:solidFill>
                  <a:srgbClr val="0B308E"/>
                </a:solidFill>
                <a:latin typeface="Arial"/>
              </a:rPr>
              <a:t>Emergency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38400" y="4165600"/>
            <a:ext cx="1574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950" b="0">
                <a:solidFill>
                  <a:srgbClr val="55607A"/>
                </a:solidFill>
                <a:latin typeface="Arial"/>
              </a:rPr>
              <a:t>Rapid deployment and coverage after the storm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18000" y="3479800"/>
            <a:ext cx="3556000" cy="1778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18000" y="3479800"/>
            <a:ext cx="44450" cy="17780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495800" y="3632200"/>
            <a:ext cx="1473200" cy="14732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6" name="Picture 35" descr="a_033b685a7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3905289"/>
            <a:ext cx="1320800" cy="927021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146800" y="3784600"/>
            <a:ext cx="15748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450" b="1">
                <a:solidFill>
                  <a:srgbClr val="0B308E"/>
                </a:solidFill>
                <a:latin typeface="Arial"/>
              </a:rPr>
              <a:t>Rail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46800" y="4165600"/>
            <a:ext cx="1574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950" b="0">
                <a:solidFill>
                  <a:srgbClr val="55607A"/>
                </a:solidFill>
                <a:latin typeface="Arial"/>
              </a:rPr>
              <a:t>Corridor coverage and train-to-ground voice and data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26400" y="3479800"/>
            <a:ext cx="3556000" cy="1778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26400" y="3479800"/>
            <a:ext cx="44450" cy="17780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204200" y="3632200"/>
            <a:ext cx="1473200" cy="14732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2" name="Picture 41" descr="a_cf44be03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0400" y="3893692"/>
            <a:ext cx="1320800" cy="950215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9855200" y="3784600"/>
            <a:ext cx="15748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450" b="1">
                <a:solidFill>
                  <a:srgbClr val="0B308E"/>
                </a:solidFill>
                <a:latin typeface="Arial"/>
              </a:rPr>
              <a:t>Port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55200" y="4165600"/>
            <a:ext cx="1574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950" b="0">
                <a:solidFill>
                  <a:srgbClr val="55607A"/>
                </a:solidFill>
                <a:latin typeface="Arial"/>
              </a:rPr>
              <a:t>Quay dispatch, ship-to-shore and coast guard patrols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5740400"/>
            <a:ext cx="12192000" cy="5080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9600" y="5740400"/>
            <a:ext cx="109728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Utilities anchor it commercially.  </a:t>
            </a:r>
            <a:r>
              <a:rPr sz="1200" b="0">
                <a:solidFill>
                  <a:srgbClr val="DCE5F3"/>
                </a:solidFill>
                <a:latin typeface="Arial"/>
              </a:rPr>
              <a:t>Public safety, emergency, rail and port add national value on the same sites.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9600" y="6451600"/>
            <a:ext cx="109728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00" b="0">
                <a:solidFill>
                  <a:srgbClr val="93A0B4"/>
                </a:solidFill>
                <a:latin typeface="Arial"/>
              </a:rPr>
              <a:t>Source: 450 MHz Alliance (Dec 2025); Hytera industry solutions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228600" cy="635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9800" y="279400"/>
            <a:ext cx="9906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2100" b="1">
                <a:solidFill>
                  <a:srgbClr val="0B308E"/>
                </a:solidFill>
                <a:latin typeface="Arial"/>
              </a:rPr>
              <a:t>Power: the grid, the crews and the 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87400"/>
            <a:ext cx="889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50" b="1">
                <a:solidFill>
                  <a:srgbClr val="7F9B00"/>
                </a:solidFill>
                <a:latin typeface="Arial"/>
              </a:rPr>
              <a:t>INDUSTRY 1 OF 6  ·  POWER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23600" y="279400"/>
            <a:ext cx="5588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300"/>
              </a:spcAft>
            </a:pPr>
            <a:r>
              <a:rPr sz="1700" b="1">
                <a:solidFill>
                  <a:srgbClr val="0B308E"/>
                </a:solidFill>
                <a:latin typeface="Arial"/>
              </a:rPr>
              <a:t>08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9600" y="1041400"/>
            <a:ext cx="10972800" cy="0"/>
          </a:xfrm>
          <a:prstGeom prst="line">
            <a:avLst/>
          </a:prstGeom>
          <a:ln w="12700">
            <a:solidFill>
              <a:srgbClr val="D6E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09600" y="11938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0">
                <a:solidFill>
                  <a:srgbClr val="55607A"/>
                </a:solidFill>
                <a:latin typeface="Arial"/>
              </a:rPr>
              <a:t>Electric cooperatives have spread-out assets, a 10-15 year horizon and a willingness to pay for reliability.</a:t>
            </a:r>
          </a:p>
        </p:txBody>
      </p:sp>
      <p:pic>
        <p:nvPicPr>
          <p:cNvPr id="9" name="Picture 8" descr="v6_13015b8219.jpg"/>
          <p:cNvPicPr>
            <a:picLocks noChangeAspect="1"/>
          </p:cNvPicPr>
          <p:nvPr/>
        </p:nvPicPr>
        <p:blipFill>
          <a:blip r:embed="rId2"/>
          <a:srcRect l="3533" r="3533"/>
          <a:stretch>
            <a:fillRect/>
          </a:stretch>
        </p:blipFill>
        <p:spPr>
          <a:xfrm>
            <a:off x="609600" y="1549400"/>
            <a:ext cx="4826000" cy="2921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09600" y="1549400"/>
            <a:ext cx="4826000" cy="2921000"/>
          </a:xfrm>
          <a:prstGeom prst="rect">
            <a:avLst/>
          </a:prstGeom>
          <a:noFill/>
          <a:ln w="12700">
            <a:solidFill>
              <a:srgbClr val="D6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8000" y="1701800"/>
            <a:ext cx="965200" cy="1168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" descr="v6_5c1aa6a0bd.jpg"/>
          <p:cNvPicPr>
            <a:picLocks noChangeAspect="1"/>
          </p:cNvPicPr>
          <p:nvPr/>
        </p:nvPicPr>
        <p:blipFill>
          <a:blip r:embed="rId3"/>
          <a:srcRect l="23006" r="23006"/>
          <a:stretch>
            <a:fillRect/>
          </a:stretch>
        </p:blipFill>
        <p:spPr>
          <a:xfrm>
            <a:off x="4368800" y="1752600"/>
            <a:ext cx="863600" cy="1066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4521200"/>
            <a:ext cx="4826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850" b="0">
                <a:solidFill>
                  <a:srgbClr val="93A0B4"/>
                </a:solidFill>
                <a:latin typeface="Arial"/>
              </a:rPr>
              <a:t>Grid repair crews and line assets. Illustrative imagery.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91200" y="1549400"/>
            <a:ext cx="5791200" cy="990600"/>
          </a:xfrm>
          <a:prstGeom prst="rect">
            <a:avLst/>
          </a:prstGeom>
          <a:solidFill>
            <a:srgbClr val="F1F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91200" y="1549400"/>
            <a:ext cx="44450" cy="990600"/>
          </a:xfrm>
          <a:prstGeom prst="rect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19800" y="1676400"/>
            <a:ext cx="53848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50" b="1">
                <a:solidFill>
                  <a:srgbClr val="7F9B00"/>
                </a:solidFill>
                <a:latin typeface="Arial"/>
              </a:rPr>
              <a:t>PAIN POINT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19800" y="1905000"/>
            <a:ext cx="53848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950" b="0">
                <a:solidFill>
                  <a:srgbClr val="55607A"/>
                </a:solidFill>
                <a:latin typeface="Arial"/>
              </a:rPr>
              <a:t>Mountain and island lines have no reliable signal, and feeder automation needs a private data path that does not depend on the public network.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91200" y="2667000"/>
            <a:ext cx="5334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50" b="1">
                <a:solidFill>
                  <a:srgbClr val="7F9B00"/>
                </a:solidFill>
                <a:latin typeface="Arial"/>
              </a:rPr>
              <a:t>WHAT 450 MHZ DOES</a:t>
            </a:r>
          </a:p>
        </p:txBody>
      </p:sp>
      <p:pic>
        <p:nvPicPr>
          <p:cNvPr id="19" name="Picture 18" descr="a_5ffa94c93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2577" y="2959100"/>
            <a:ext cx="129645" cy="2540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070600" y="2946400"/>
            <a:ext cx="551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300"/>
              </a:spcAft>
            </a:pPr>
            <a:r>
              <a:rPr sz="1050" b="0">
                <a:solidFill>
                  <a:srgbClr val="55607A"/>
                </a:solidFill>
                <a:latin typeface="Arial"/>
              </a:rPr>
              <a:t>Wide-area push-to-talk, video and lone-worker alarms along the lines</a:t>
            </a:r>
          </a:p>
        </p:txBody>
      </p:sp>
      <p:pic>
        <p:nvPicPr>
          <p:cNvPr id="21" name="Picture 20" descr="a_5ffa94c93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2577" y="3467100"/>
            <a:ext cx="129645" cy="2540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070600" y="3454400"/>
            <a:ext cx="551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300"/>
              </a:spcAft>
            </a:pPr>
            <a:r>
              <a:rPr sz="1050" b="0">
                <a:solidFill>
                  <a:srgbClr val="55607A"/>
                </a:solidFill>
                <a:latin typeface="Arial"/>
              </a:rPr>
              <a:t>A private data channel for SCADA, feeder automation and substation control</a:t>
            </a:r>
          </a:p>
        </p:txBody>
      </p:sp>
      <p:pic>
        <p:nvPicPr>
          <p:cNvPr id="23" name="Picture 22" descr="a_5ffa94c93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2577" y="3975100"/>
            <a:ext cx="129645" cy="254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070600" y="3962400"/>
            <a:ext cx="551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300"/>
              </a:spcAft>
            </a:pPr>
            <a:r>
              <a:rPr sz="1050" b="0">
                <a:solidFill>
                  <a:srgbClr val="55607A"/>
                </a:solidFill>
                <a:latin typeface="Arial"/>
              </a:rPr>
              <a:t>Smart meters on the same sites, with deep indoor coverage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91200" y="4521200"/>
            <a:ext cx="5791200" cy="381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94400" y="4521200"/>
            <a:ext cx="53848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950" b="1">
                <a:solidFill>
                  <a:srgbClr val="0B308E"/>
                </a:solidFill>
                <a:latin typeface="Arial"/>
              </a:rPr>
              <a:t>In the Philippines: 121 electric cooperatives under NEA.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6451600"/>
            <a:ext cx="109728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00" b="0">
                <a:solidFill>
                  <a:srgbClr val="93A0B4"/>
                </a:solidFill>
                <a:latin typeface="Arial"/>
              </a:rPr>
              <a:t>Source: National Electrification Administration; Hytera power industry solutions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228600" cy="635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9800" y="279400"/>
            <a:ext cx="9906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2100" b="1">
                <a:solidFill>
                  <a:srgbClr val="0B308E"/>
                </a:solidFill>
                <a:latin typeface="Arial"/>
              </a:rPr>
              <a:t>Water: locate the losses instead of estimating them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87400"/>
            <a:ext cx="889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50" b="1">
                <a:solidFill>
                  <a:srgbClr val="7F9B00"/>
                </a:solidFill>
                <a:latin typeface="Arial"/>
              </a:rPr>
              <a:t>INDUSTRY 2 OF 6  ·  WATER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23600" y="279400"/>
            <a:ext cx="5588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300"/>
              </a:spcAft>
            </a:pPr>
            <a:r>
              <a:rPr sz="1700" b="1">
                <a:solidFill>
                  <a:srgbClr val="0B308E"/>
                </a:solidFill>
                <a:latin typeface="Arial"/>
              </a:rPr>
              <a:t>09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9600" y="1041400"/>
            <a:ext cx="10972800" cy="0"/>
          </a:xfrm>
          <a:prstGeom prst="line">
            <a:avLst/>
          </a:prstGeom>
          <a:ln w="12700">
            <a:solidFill>
              <a:srgbClr val="D6E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09600" y="11938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0">
                <a:solidFill>
                  <a:srgbClr val="55607A"/>
                </a:solidFill>
                <a:latin typeface="Arial"/>
              </a:rPr>
              <a:t>Non-revenue water is usually estimated, not located. Pump, well and reservoir sites sit exactly where mid-band cannot reach.</a:t>
            </a:r>
          </a:p>
        </p:txBody>
      </p:sp>
      <p:pic>
        <p:nvPicPr>
          <p:cNvPr id="9" name="Picture 8" descr="v6_5f9dad8d68.jpg"/>
          <p:cNvPicPr>
            <a:picLocks noChangeAspect="1"/>
          </p:cNvPicPr>
          <p:nvPr/>
        </p:nvPicPr>
        <p:blipFill>
          <a:blip r:embed="rId2"/>
          <a:srcRect t="14535" b="14535"/>
          <a:stretch>
            <a:fillRect/>
          </a:stretch>
        </p:blipFill>
        <p:spPr>
          <a:xfrm>
            <a:off x="609600" y="1549400"/>
            <a:ext cx="4826000" cy="2921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09600" y="1549400"/>
            <a:ext cx="4826000" cy="2921000"/>
          </a:xfrm>
          <a:prstGeom prst="rect">
            <a:avLst/>
          </a:prstGeom>
          <a:noFill/>
          <a:ln w="12700">
            <a:solidFill>
              <a:srgbClr val="D6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8000" y="1701800"/>
            <a:ext cx="965200" cy="1168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" descr="v6_781d0d30ee.jpg"/>
          <p:cNvPicPr>
            <a:picLocks noChangeAspect="1"/>
          </p:cNvPicPr>
          <p:nvPr/>
        </p:nvPicPr>
        <p:blipFill>
          <a:blip r:embed="rId3"/>
          <a:srcRect l="22493" r="22493"/>
          <a:stretch>
            <a:fillRect/>
          </a:stretch>
        </p:blipFill>
        <p:spPr>
          <a:xfrm>
            <a:off x="4368800" y="1752600"/>
            <a:ext cx="863600" cy="1066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4521200"/>
            <a:ext cx="4826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850" b="0">
                <a:solidFill>
                  <a:srgbClr val="93A0B4"/>
                </a:solidFill>
                <a:latin typeface="Arial"/>
              </a:rPr>
              <a:t>Reservoir and pumping assets. Illustrative imagery.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91200" y="1549400"/>
            <a:ext cx="5791200" cy="990600"/>
          </a:xfrm>
          <a:prstGeom prst="rect">
            <a:avLst/>
          </a:prstGeom>
          <a:solidFill>
            <a:srgbClr val="F1F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91200" y="1549400"/>
            <a:ext cx="44450" cy="990600"/>
          </a:xfrm>
          <a:prstGeom prst="rect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19800" y="1676400"/>
            <a:ext cx="53848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50" b="1">
                <a:solidFill>
                  <a:srgbClr val="7F9B00"/>
                </a:solidFill>
                <a:latin typeface="Arial"/>
              </a:rPr>
              <a:t>PAIN POINT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19800" y="1905000"/>
            <a:ext cx="53848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950" b="0">
                <a:solidFill>
                  <a:srgbClr val="55607A"/>
                </a:solidFill>
                <a:latin typeface="Arial"/>
              </a:rPr>
              <a:t>Most water districts know their losses as a percentage, not as an address - because the meters and pressure sensors cannot report.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91200" y="2667000"/>
            <a:ext cx="5334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50" b="1">
                <a:solidFill>
                  <a:srgbClr val="7F9B00"/>
                </a:solidFill>
                <a:latin typeface="Arial"/>
              </a:rPr>
              <a:t>WHAT 450 MHZ DOES</a:t>
            </a:r>
          </a:p>
        </p:txBody>
      </p:sp>
      <p:pic>
        <p:nvPicPr>
          <p:cNvPr id="19" name="Picture 18" descr="a_5ffa94c93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2577" y="2959100"/>
            <a:ext cx="129645" cy="2540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070600" y="2946400"/>
            <a:ext cx="551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300"/>
              </a:spcAft>
            </a:pPr>
            <a:r>
              <a:rPr sz="1050" b="0">
                <a:solidFill>
                  <a:srgbClr val="55607A"/>
                </a:solidFill>
                <a:latin typeface="Arial"/>
              </a:rPr>
              <a:t>Meters and pressure sensors that locate losses instead of estimating them</a:t>
            </a:r>
          </a:p>
        </p:txBody>
      </p:sp>
      <p:pic>
        <p:nvPicPr>
          <p:cNvPr id="21" name="Picture 20" descr="a_5ffa94c93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2577" y="3467100"/>
            <a:ext cx="129645" cy="2540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070600" y="3454400"/>
            <a:ext cx="551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300"/>
              </a:spcAft>
            </a:pPr>
            <a:r>
              <a:rPr sz="1050" b="0">
                <a:solidFill>
                  <a:srgbClr val="55607A"/>
                </a:solidFill>
                <a:latin typeface="Arial"/>
              </a:rPr>
              <a:t>Pump, well and reservoir telemetry from remote and underground sites</a:t>
            </a:r>
          </a:p>
        </p:txBody>
      </p:sp>
      <p:pic>
        <p:nvPicPr>
          <p:cNvPr id="23" name="Picture 22" descr="a_5ffa94c93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2577" y="3975100"/>
            <a:ext cx="129645" cy="254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070600" y="3962400"/>
            <a:ext cx="551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300"/>
              </a:spcAft>
            </a:pPr>
            <a:r>
              <a:rPr sz="1050" b="0">
                <a:solidFill>
                  <a:srgbClr val="55607A"/>
                </a:solidFill>
                <a:latin typeface="Arial"/>
              </a:rPr>
              <a:t>Backup-powered sites keep alarms flowing when the public network is down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91200" y="4521200"/>
            <a:ext cx="5791200" cy="381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94400" y="4521200"/>
            <a:ext cx="53848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950" b="1">
                <a:solidFill>
                  <a:srgbClr val="0B308E"/>
                </a:solidFill>
                <a:latin typeface="Arial"/>
              </a:rPr>
              <a:t>In the Philippines: only 149 of 532 water districts kept losses within LWUA’s 20% limit (2025).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6451600"/>
            <a:ext cx="109728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00" b="0">
                <a:solidFill>
                  <a:srgbClr val="93A0B4"/>
                </a:solidFill>
                <a:latin typeface="Arial"/>
              </a:rPr>
              <a:t>Source: LWUA non-revenue water data, end-2025 (reported Aug 2026); Hytera water industry solutions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228600" cy="635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9800" y="279400"/>
            <a:ext cx="9906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2100" b="1">
                <a:solidFill>
                  <a:srgbClr val="0B308E"/>
                </a:solidFill>
                <a:latin typeface="Arial"/>
              </a:rPr>
              <a:t>Police: one group call across the agencies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87400"/>
            <a:ext cx="889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50" b="1">
                <a:solidFill>
                  <a:srgbClr val="7F9B00"/>
                </a:solidFill>
                <a:latin typeface="Arial"/>
              </a:rPr>
              <a:t>INDUSTRY 3 OF 6  ·  POLICE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23600" y="279400"/>
            <a:ext cx="5588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300"/>
              </a:spcAft>
            </a:pPr>
            <a:r>
              <a:rPr sz="1700" b="1">
                <a:solidFill>
                  <a:srgbClr val="0B308E"/>
                </a:solidFill>
                <a:latin typeface="Arial"/>
              </a:rPr>
              <a:t>10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9600" y="1041400"/>
            <a:ext cx="10972800" cy="0"/>
          </a:xfrm>
          <a:prstGeom prst="line">
            <a:avLst/>
          </a:prstGeom>
          <a:ln w="12700">
            <a:solidFill>
              <a:srgbClr val="D6E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09600" y="11938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0">
                <a:solidFill>
                  <a:srgbClr val="55607A"/>
                </a:solidFill>
                <a:latin typeface="Arial"/>
              </a:rPr>
              <a:t>The requirement is not another private network. It is interoperability between the agencies that already have one.</a:t>
            </a:r>
          </a:p>
        </p:txBody>
      </p:sp>
      <p:pic>
        <p:nvPicPr>
          <p:cNvPr id="9" name="Picture 8" descr="v6_6c17f9f128.jpg"/>
          <p:cNvPicPr>
            <a:picLocks noChangeAspect="1"/>
          </p:cNvPicPr>
          <p:nvPr/>
        </p:nvPicPr>
        <p:blipFill>
          <a:blip r:embed="rId2"/>
          <a:srcRect b="8812"/>
          <a:stretch>
            <a:fillRect/>
          </a:stretch>
        </p:blipFill>
        <p:spPr>
          <a:xfrm>
            <a:off x="609600" y="1549400"/>
            <a:ext cx="4826000" cy="2921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09600" y="1549400"/>
            <a:ext cx="4826000" cy="2921000"/>
          </a:xfrm>
          <a:prstGeom prst="rect">
            <a:avLst/>
          </a:prstGeom>
          <a:noFill/>
          <a:ln w="12700">
            <a:solidFill>
              <a:srgbClr val="D6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8000" y="1701800"/>
            <a:ext cx="965200" cy="1168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" descr="v6_1f9a1addff.jpg"/>
          <p:cNvPicPr>
            <a:picLocks noChangeAspect="1"/>
          </p:cNvPicPr>
          <p:nvPr/>
        </p:nvPicPr>
        <p:blipFill>
          <a:blip r:embed="rId3"/>
          <a:srcRect t="9349" b="9349"/>
          <a:stretch>
            <a:fillRect/>
          </a:stretch>
        </p:blipFill>
        <p:spPr>
          <a:xfrm>
            <a:off x="4368800" y="1752600"/>
            <a:ext cx="863600" cy="1066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4521200"/>
            <a:ext cx="4826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850" b="0">
                <a:solidFill>
                  <a:srgbClr val="93A0B4"/>
                </a:solidFill>
                <a:latin typeface="Arial"/>
              </a:rPr>
              <a:t>Police on traffic duty, and a handheld in the field. Illustrative imagery.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91200" y="1549400"/>
            <a:ext cx="5791200" cy="990600"/>
          </a:xfrm>
          <a:prstGeom prst="rect">
            <a:avLst/>
          </a:prstGeom>
          <a:solidFill>
            <a:srgbClr val="F1F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91200" y="1549400"/>
            <a:ext cx="44450" cy="990600"/>
          </a:xfrm>
          <a:prstGeom prst="rect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19800" y="1676400"/>
            <a:ext cx="53848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50" b="1">
                <a:solidFill>
                  <a:srgbClr val="7F9B00"/>
                </a:solidFill>
                <a:latin typeface="Arial"/>
              </a:rPr>
              <a:t>PAIN POINT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19800" y="1905000"/>
            <a:ext cx="53848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950" b="0">
                <a:solidFill>
                  <a:srgbClr val="55607A"/>
                </a:solidFill>
                <a:latin typeface="Arial"/>
              </a:rPr>
              <a:t>Different agencies cannot talk to each other, and the public network congests exactly at the moment it is needed most.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91200" y="2667000"/>
            <a:ext cx="5334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50" b="1">
                <a:solidFill>
                  <a:srgbClr val="7F9B00"/>
                </a:solidFill>
                <a:latin typeface="Arial"/>
              </a:rPr>
              <a:t>WHAT 450 MHZ DOES</a:t>
            </a:r>
          </a:p>
        </p:txBody>
      </p:sp>
      <p:pic>
        <p:nvPicPr>
          <p:cNvPr id="19" name="Picture 18" descr="a_5ffa94c93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2577" y="2959100"/>
            <a:ext cx="129645" cy="2540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070600" y="2946400"/>
            <a:ext cx="551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300"/>
              </a:spcAft>
            </a:pPr>
            <a:r>
              <a:rPr sz="1050" b="0">
                <a:solidFill>
                  <a:srgbClr val="55607A"/>
                </a:solidFill>
                <a:latin typeface="Arial"/>
              </a:rPr>
              <a:t>One group call across police, fire and civil defence</a:t>
            </a:r>
          </a:p>
        </p:txBody>
      </p:sp>
      <p:pic>
        <p:nvPicPr>
          <p:cNvPr id="21" name="Picture 20" descr="a_5ffa94c93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2577" y="3467100"/>
            <a:ext cx="129645" cy="2540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070600" y="3454400"/>
            <a:ext cx="551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300"/>
              </a:spcAft>
            </a:pPr>
            <a:r>
              <a:rPr sz="1050" b="0">
                <a:solidFill>
                  <a:srgbClr val="55607A"/>
                </a:solidFill>
                <a:latin typeface="Arial"/>
              </a:rPr>
              <a:t>Live video from the scene, with priority and pre-emption when the network congests</a:t>
            </a:r>
          </a:p>
        </p:txBody>
      </p:sp>
      <p:pic>
        <p:nvPicPr>
          <p:cNvPr id="23" name="Picture 22" descr="a_5ffa94c93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2577" y="3975100"/>
            <a:ext cx="129645" cy="254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070600" y="3962400"/>
            <a:ext cx="551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300"/>
              </a:spcAft>
            </a:pPr>
            <a:r>
              <a:rPr sz="1050" b="0">
                <a:solidFill>
                  <a:srgbClr val="55607A"/>
                </a:solidFill>
                <a:latin typeface="Arial"/>
              </a:rPr>
              <a:t>Interworking with the DMR and TETRA networks already in service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91200" y="4521200"/>
            <a:ext cx="5791200" cy="381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94400" y="4521200"/>
            <a:ext cx="53848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950" b="1">
                <a:solidFill>
                  <a:srgbClr val="0B308E"/>
                </a:solidFill>
                <a:latin typeface="Arial"/>
              </a:rPr>
              <a:t>Reference: Singapore has assigned 450 MHz band 31 to public safety, in service.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6451600"/>
            <a:ext cx="109728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00" b="0">
                <a:solidFill>
                  <a:srgbClr val="93A0B4"/>
                </a:solidFill>
                <a:latin typeface="Arial"/>
              </a:rPr>
              <a:t>Source: 450 MHz Alliance, Annual Global Update (Dec 2025) p8; Hytera public-safety references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228600" cy="635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9800" y="279400"/>
            <a:ext cx="9906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2100" b="1">
                <a:solidFill>
                  <a:srgbClr val="0B308E"/>
                </a:solidFill>
                <a:latin typeface="Arial"/>
              </a:rPr>
              <a:t>Emergency: coverage that survives the storm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87400"/>
            <a:ext cx="889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50" b="1">
                <a:solidFill>
                  <a:srgbClr val="7F9B00"/>
                </a:solidFill>
                <a:latin typeface="Arial"/>
              </a:rPr>
              <a:t>INDUSTRY 4 OF 6  ·  EMERGENCY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23600" y="279400"/>
            <a:ext cx="5588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300"/>
              </a:spcAft>
            </a:pPr>
            <a:r>
              <a:rPr sz="1700" b="1">
                <a:solidFill>
                  <a:srgbClr val="0B308E"/>
                </a:solidFill>
                <a:latin typeface="Arial"/>
              </a:rPr>
              <a:t>11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9600" y="1041400"/>
            <a:ext cx="10972800" cy="0"/>
          </a:xfrm>
          <a:prstGeom prst="line">
            <a:avLst/>
          </a:prstGeom>
          <a:ln w="12700">
            <a:solidFill>
              <a:srgbClr val="D6E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09600" y="11938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0">
                <a:solidFill>
                  <a:srgbClr val="55607A"/>
                </a:solidFill>
                <a:latin typeface="Arial"/>
              </a:rPr>
              <a:t>After a typhoon the public network fails exactly where the response is needed. This is the layer that has to survive.</a:t>
            </a:r>
          </a:p>
        </p:txBody>
      </p:sp>
      <p:pic>
        <p:nvPicPr>
          <p:cNvPr id="9" name="Picture 8" descr="v6_4589fbbd86.jpg"/>
          <p:cNvPicPr>
            <a:picLocks noChangeAspect="1"/>
          </p:cNvPicPr>
          <p:nvPr/>
        </p:nvPicPr>
        <p:blipFill>
          <a:blip r:embed="rId2"/>
          <a:srcRect b="9154"/>
          <a:stretch>
            <a:fillRect/>
          </a:stretch>
        </p:blipFill>
        <p:spPr>
          <a:xfrm>
            <a:off x="609600" y="1549400"/>
            <a:ext cx="4826000" cy="2921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09600" y="1549400"/>
            <a:ext cx="4826000" cy="2921000"/>
          </a:xfrm>
          <a:prstGeom prst="rect">
            <a:avLst/>
          </a:prstGeom>
          <a:noFill/>
          <a:ln w="12700">
            <a:solidFill>
              <a:srgbClr val="D6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8000" y="1701800"/>
            <a:ext cx="965200" cy="1168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" descr="v6_e3b7fedd49.jpg"/>
          <p:cNvPicPr>
            <a:picLocks noChangeAspect="1"/>
          </p:cNvPicPr>
          <p:nvPr/>
        </p:nvPicPr>
        <p:blipFill>
          <a:blip r:embed="rId3"/>
          <a:srcRect l="23033" r="23033"/>
          <a:stretch>
            <a:fillRect/>
          </a:stretch>
        </p:blipFill>
        <p:spPr>
          <a:xfrm>
            <a:off x="4368800" y="1752600"/>
            <a:ext cx="863600" cy="1066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4521200"/>
            <a:ext cx="4826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850" b="0">
                <a:solidFill>
                  <a:srgbClr val="93A0B4"/>
                </a:solidFill>
                <a:latin typeface="Arial"/>
              </a:rPr>
              <a:t>Flood rescue, and a portable base station in the field. Illustrative imagery.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91200" y="1549400"/>
            <a:ext cx="5791200" cy="990600"/>
          </a:xfrm>
          <a:prstGeom prst="rect">
            <a:avLst/>
          </a:prstGeom>
          <a:solidFill>
            <a:srgbClr val="F1F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91200" y="1549400"/>
            <a:ext cx="44450" cy="990600"/>
          </a:xfrm>
          <a:prstGeom prst="rect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19800" y="1676400"/>
            <a:ext cx="53848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50" b="1">
                <a:solidFill>
                  <a:srgbClr val="7F9B00"/>
                </a:solidFill>
                <a:latin typeface="Arial"/>
              </a:rPr>
              <a:t>PAIN POINT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19800" y="1905000"/>
            <a:ext cx="53848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950" b="0">
                <a:solidFill>
                  <a:srgbClr val="55607A"/>
                </a:solidFill>
                <a:latin typeface="Arial"/>
              </a:rPr>
              <a:t>Rapid response needs communications within hours, not days - and it needs them where there is no grid and no backhaul.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91200" y="2667000"/>
            <a:ext cx="5334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50" b="1">
                <a:solidFill>
                  <a:srgbClr val="7F9B00"/>
                </a:solidFill>
                <a:latin typeface="Arial"/>
              </a:rPr>
              <a:t>WHAT 450 MHZ DOES</a:t>
            </a:r>
          </a:p>
        </p:txBody>
      </p:sp>
      <p:pic>
        <p:nvPicPr>
          <p:cNvPr id="19" name="Picture 18" descr="a_5ffa94c93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2577" y="2959100"/>
            <a:ext cx="129645" cy="2540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070600" y="2946400"/>
            <a:ext cx="551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300"/>
              </a:spcAft>
            </a:pPr>
            <a:r>
              <a:rPr sz="1050" b="0">
                <a:solidFill>
                  <a:srgbClr val="55607A"/>
                </a:solidFill>
                <a:latin typeface="Arial"/>
              </a:rPr>
              <a:t>Portable base stations and satellite backhaul deployed within hours</a:t>
            </a:r>
          </a:p>
        </p:txBody>
      </p:sp>
      <p:pic>
        <p:nvPicPr>
          <p:cNvPr id="21" name="Picture 20" descr="a_5ffa94c93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2577" y="3467100"/>
            <a:ext cx="129645" cy="2540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070600" y="3454400"/>
            <a:ext cx="551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300"/>
              </a:spcAft>
            </a:pPr>
            <a:r>
              <a:rPr sz="1050" b="0">
                <a:solidFill>
                  <a:srgbClr val="55607A"/>
                </a:solidFill>
                <a:latin typeface="Arial"/>
              </a:rPr>
              <a:t>A field command post that reaches the provincial EOC and the national agency</a:t>
            </a:r>
          </a:p>
        </p:txBody>
      </p:sp>
      <p:pic>
        <p:nvPicPr>
          <p:cNvPr id="23" name="Picture 22" descr="a_5ffa94c93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2577" y="3975100"/>
            <a:ext cx="129645" cy="254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070600" y="3962400"/>
            <a:ext cx="551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300"/>
              </a:spcAft>
            </a:pPr>
            <a:r>
              <a:rPr sz="1050" b="0">
                <a:solidFill>
                  <a:srgbClr val="55607A"/>
                </a:solidFill>
                <a:latin typeface="Arial"/>
              </a:rPr>
              <a:t>Sites that keep running on backup power when the grid does not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91200" y="4521200"/>
            <a:ext cx="5791200" cy="381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94400" y="4521200"/>
            <a:ext cx="53848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950" b="1">
                <a:solidFill>
                  <a:srgbClr val="0B308E"/>
                </a:solidFill>
                <a:latin typeface="Arial"/>
              </a:rPr>
              <a:t>Reference: rapid deployment kits and container command posts in service.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6451600"/>
            <a:ext cx="109728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00" b="0">
                <a:solidFill>
                  <a:srgbClr val="93A0B4"/>
                </a:solidFill>
                <a:latin typeface="Arial"/>
              </a:rPr>
              <a:t>Source: Hytera emergency and rapid-deployment product documentation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228600" cy="635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9800" y="279400"/>
            <a:ext cx="9906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2100" b="1">
                <a:solidFill>
                  <a:srgbClr val="0B308E"/>
                </a:solidFill>
                <a:latin typeface="Arial"/>
              </a:rPr>
              <a:t>Rail: continuous coverage along a narrow corridor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87400"/>
            <a:ext cx="889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50" b="1">
                <a:solidFill>
                  <a:srgbClr val="7F9B00"/>
                </a:solidFill>
                <a:latin typeface="Arial"/>
              </a:rPr>
              <a:t>INDUSTRY 5 OF 6  ·  RAIL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23600" y="279400"/>
            <a:ext cx="5588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300"/>
              </a:spcAft>
            </a:pPr>
            <a:r>
              <a:rPr sz="1700" b="1">
                <a:solidFill>
                  <a:srgbClr val="0B308E"/>
                </a:solidFill>
                <a:latin typeface="Arial"/>
              </a:rPr>
              <a:t>12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9600" y="1041400"/>
            <a:ext cx="10972800" cy="0"/>
          </a:xfrm>
          <a:prstGeom prst="line">
            <a:avLst/>
          </a:prstGeom>
          <a:ln w="12700">
            <a:solidFill>
              <a:srgbClr val="D6E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09600" y="11938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0">
                <a:solidFill>
                  <a:srgbClr val="55607A"/>
                </a:solidFill>
                <a:latin typeface="Arial"/>
              </a:rPr>
              <a:t>A rail corridor is a narrow strip, often in cuttings. It is one of the two shapes mid-band handles worst.</a:t>
            </a:r>
          </a:p>
        </p:txBody>
      </p:sp>
      <p:pic>
        <p:nvPicPr>
          <p:cNvPr id="9" name="Picture 8" descr="v6_8b437e2f48.jpg"/>
          <p:cNvPicPr>
            <a:picLocks noChangeAspect="1"/>
          </p:cNvPicPr>
          <p:nvPr/>
        </p:nvPicPr>
        <p:blipFill>
          <a:blip r:embed="rId2"/>
          <a:srcRect t="3657" b="13657"/>
          <a:stretch>
            <a:fillRect/>
          </a:stretch>
        </p:blipFill>
        <p:spPr>
          <a:xfrm>
            <a:off x="609600" y="1549400"/>
            <a:ext cx="4826000" cy="2921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09600" y="1549400"/>
            <a:ext cx="4826000" cy="2921000"/>
          </a:xfrm>
          <a:prstGeom prst="rect">
            <a:avLst/>
          </a:prstGeom>
          <a:noFill/>
          <a:ln w="12700">
            <a:solidFill>
              <a:srgbClr val="D6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8000" y="1701800"/>
            <a:ext cx="965200" cy="1168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" descr="v6_5561c6b94c.jpg"/>
          <p:cNvPicPr>
            <a:picLocks noChangeAspect="1"/>
          </p:cNvPicPr>
          <p:nvPr/>
        </p:nvPicPr>
        <p:blipFill>
          <a:blip r:embed="rId3"/>
          <a:srcRect t="8755" b="8755"/>
          <a:stretch>
            <a:fillRect/>
          </a:stretch>
        </p:blipFill>
        <p:spPr>
          <a:xfrm>
            <a:off x="4368800" y="1752600"/>
            <a:ext cx="863600" cy="1066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4521200"/>
            <a:ext cx="4826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850" b="0">
                <a:solidFill>
                  <a:srgbClr val="93A0B4"/>
                </a:solidFill>
                <a:latin typeface="Arial"/>
              </a:rPr>
              <a:t>An elevated rail line, and a handheld on board. Illustrative imagery.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91200" y="1549400"/>
            <a:ext cx="5791200" cy="990600"/>
          </a:xfrm>
          <a:prstGeom prst="rect">
            <a:avLst/>
          </a:prstGeom>
          <a:solidFill>
            <a:srgbClr val="F1F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91200" y="1549400"/>
            <a:ext cx="44450" cy="990600"/>
          </a:xfrm>
          <a:prstGeom prst="rect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19800" y="1676400"/>
            <a:ext cx="53848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50" b="1">
                <a:solidFill>
                  <a:srgbClr val="7F9B00"/>
                </a:solidFill>
                <a:latin typeface="Arial"/>
              </a:rPr>
              <a:t>PAIN POINT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19800" y="1905000"/>
            <a:ext cx="53848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950" b="0">
                <a:solidFill>
                  <a:srgbClr val="55607A"/>
                </a:solidFill>
                <a:latin typeface="Arial"/>
              </a:rPr>
              <a:t>Coverage has to follow the track, not the population - so a network built for towns leaves the corridor uncovered.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91200" y="2667000"/>
            <a:ext cx="5334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50" b="1">
                <a:solidFill>
                  <a:srgbClr val="7F9B00"/>
                </a:solidFill>
                <a:latin typeface="Arial"/>
              </a:rPr>
              <a:t>WHAT 450 MHZ DOES</a:t>
            </a:r>
          </a:p>
        </p:txBody>
      </p:sp>
      <p:pic>
        <p:nvPicPr>
          <p:cNvPr id="19" name="Picture 18" descr="a_5ffa94c93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2577" y="2959100"/>
            <a:ext cx="129645" cy="2540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070600" y="2946400"/>
            <a:ext cx="551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300"/>
              </a:spcAft>
            </a:pPr>
            <a:r>
              <a:rPr sz="1050" b="0">
                <a:solidFill>
                  <a:srgbClr val="55607A"/>
                </a:solidFill>
                <a:latin typeface="Arial"/>
              </a:rPr>
              <a:t>Continuous coverage along the corridor, including cuttings and tunnels</a:t>
            </a:r>
          </a:p>
        </p:txBody>
      </p:sp>
      <p:pic>
        <p:nvPicPr>
          <p:cNvPr id="21" name="Picture 20" descr="a_5ffa94c93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2577" y="3467100"/>
            <a:ext cx="129645" cy="2540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070600" y="3454400"/>
            <a:ext cx="551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300"/>
              </a:spcAft>
            </a:pPr>
            <a:r>
              <a:rPr sz="1050" b="0">
                <a:solidFill>
                  <a:srgbClr val="55607A"/>
                </a:solidFill>
                <a:latin typeface="Arial"/>
              </a:rPr>
              <a:t>Train-to-ground voice, data and video for operations and security</a:t>
            </a:r>
          </a:p>
        </p:txBody>
      </p:sp>
      <p:pic>
        <p:nvPicPr>
          <p:cNvPr id="23" name="Picture 22" descr="a_5ffa94c93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2577" y="3975100"/>
            <a:ext cx="129645" cy="254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070600" y="3962400"/>
            <a:ext cx="551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300"/>
              </a:spcAft>
            </a:pPr>
            <a:r>
              <a:rPr sz="1050" b="0">
                <a:solidFill>
                  <a:srgbClr val="55607A"/>
                </a:solidFill>
                <a:latin typeface="Arial"/>
              </a:rPr>
              <a:t>Runs on the operator’s network rather than a separate private system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91200" y="4521200"/>
            <a:ext cx="5791200" cy="381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94400" y="4521200"/>
            <a:ext cx="53848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950" b="1">
                <a:solidFill>
                  <a:srgbClr val="0B308E"/>
                </a:solidFill>
                <a:latin typeface="Arial"/>
              </a:rPr>
              <a:t>Reference: South Africa has assigned the band to Transnet for rail.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6451600"/>
            <a:ext cx="109728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00" b="0">
                <a:solidFill>
                  <a:srgbClr val="93A0B4"/>
                </a:solidFill>
                <a:latin typeface="Arial"/>
              </a:rPr>
              <a:t>Source: 450 MHz Alliance, Annual Global Update 2025 p6; Hytera railway references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228600" cy="635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9800" y="279400"/>
            <a:ext cx="9906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2100" b="1">
                <a:solidFill>
                  <a:srgbClr val="0B308E"/>
                </a:solidFill>
                <a:latin typeface="Arial"/>
              </a:rPr>
              <a:t>Port: from the quay out to sea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87400"/>
            <a:ext cx="889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50" b="1">
                <a:solidFill>
                  <a:srgbClr val="7F9B00"/>
                </a:solidFill>
                <a:latin typeface="Arial"/>
              </a:rPr>
              <a:t>INDUSTRY 6 OF 6  ·  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23600" y="279400"/>
            <a:ext cx="5588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300"/>
              </a:spcAft>
            </a:pPr>
            <a:r>
              <a:rPr sz="1700" b="1">
                <a:solidFill>
                  <a:srgbClr val="0B308E"/>
                </a:solidFill>
                <a:latin typeface="Arial"/>
              </a:rPr>
              <a:t>13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9600" y="1041400"/>
            <a:ext cx="10972800" cy="0"/>
          </a:xfrm>
          <a:prstGeom prst="line">
            <a:avLst/>
          </a:prstGeom>
          <a:ln w="12700">
            <a:solidFill>
              <a:srgbClr val="D6E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09600" y="11938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0">
                <a:solidFill>
                  <a:srgbClr val="55607A"/>
                </a:solidFill>
                <a:latin typeface="Arial"/>
              </a:rPr>
              <a:t>Ports are dense and metallic, and coast guard patrols run far beyond mid-band reach. One network covers both.</a:t>
            </a:r>
          </a:p>
        </p:txBody>
      </p:sp>
      <p:pic>
        <p:nvPicPr>
          <p:cNvPr id="9" name="Picture 8" descr="v6_5d04794507.jpg"/>
          <p:cNvPicPr>
            <a:picLocks noChangeAspect="1"/>
          </p:cNvPicPr>
          <p:nvPr/>
        </p:nvPicPr>
        <p:blipFill>
          <a:blip r:embed="rId2"/>
          <a:srcRect l="2806" r="2806"/>
          <a:stretch>
            <a:fillRect/>
          </a:stretch>
        </p:blipFill>
        <p:spPr>
          <a:xfrm>
            <a:off x="609600" y="1549400"/>
            <a:ext cx="4826000" cy="2921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09600" y="1549400"/>
            <a:ext cx="4826000" cy="2921000"/>
          </a:xfrm>
          <a:prstGeom prst="rect">
            <a:avLst/>
          </a:prstGeom>
          <a:noFill/>
          <a:ln w="12700">
            <a:solidFill>
              <a:srgbClr val="D6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8000" y="1701800"/>
            <a:ext cx="965200" cy="1168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" descr="v6_85854e1281.jpg"/>
          <p:cNvPicPr>
            <a:picLocks noChangeAspect="1"/>
          </p:cNvPicPr>
          <p:nvPr/>
        </p:nvPicPr>
        <p:blipFill>
          <a:blip r:embed="rId3"/>
          <a:srcRect l="15040" r="15040"/>
          <a:stretch>
            <a:fillRect/>
          </a:stretch>
        </p:blipFill>
        <p:spPr>
          <a:xfrm>
            <a:off x="4368800" y="1752600"/>
            <a:ext cx="863600" cy="1066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4521200"/>
            <a:ext cx="4826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850" b="0">
                <a:solidFill>
                  <a:srgbClr val="93A0B4"/>
                </a:solidFill>
                <a:latin typeface="Arial"/>
              </a:rPr>
              <a:t>A sea crossing, and a rescue boat. Illustrative imagery.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91200" y="1549400"/>
            <a:ext cx="5791200" cy="990600"/>
          </a:xfrm>
          <a:prstGeom prst="rect">
            <a:avLst/>
          </a:prstGeom>
          <a:solidFill>
            <a:srgbClr val="F1F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91200" y="1549400"/>
            <a:ext cx="44450" cy="990600"/>
          </a:xfrm>
          <a:prstGeom prst="rect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19800" y="1676400"/>
            <a:ext cx="53848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50" b="1">
                <a:solidFill>
                  <a:srgbClr val="7F9B00"/>
                </a:solidFill>
                <a:latin typeface="Arial"/>
              </a:rPr>
              <a:t>PAIN POINT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19800" y="1905000"/>
            <a:ext cx="53848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950" b="0">
                <a:solidFill>
                  <a:srgbClr val="55607A"/>
                </a:solidFill>
                <a:latin typeface="Arial"/>
              </a:rPr>
              <a:t>Quay operations, ship-to-shore traffic and patrol boats all need the same group call, across water and steel.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91200" y="2667000"/>
            <a:ext cx="5334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50" b="1">
                <a:solidFill>
                  <a:srgbClr val="7F9B00"/>
                </a:solidFill>
                <a:latin typeface="Arial"/>
              </a:rPr>
              <a:t>WHAT 450 MHZ DOES</a:t>
            </a:r>
          </a:p>
        </p:txBody>
      </p:sp>
      <p:pic>
        <p:nvPicPr>
          <p:cNvPr id="19" name="Picture 18" descr="a_5ffa94c93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2577" y="2959100"/>
            <a:ext cx="129645" cy="2540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070600" y="2946400"/>
            <a:ext cx="551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300"/>
              </a:spcAft>
            </a:pPr>
            <a:r>
              <a:rPr sz="1050" b="0">
                <a:solidFill>
                  <a:srgbClr val="55607A"/>
                </a:solidFill>
                <a:latin typeface="Arial"/>
              </a:rPr>
              <a:t>Port and terminal dispatch on one group call across the quay</a:t>
            </a:r>
          </a:p>
        </p:txBody>
      </p:sp>
      <p:pic>
        <p:nvPicPr>
          <p:cNvPr id="21" name="Picture 20" descr="a_5ffa94c93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2577" y="3467100"/>
            <a:ext cx="129645" cy="2540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070600" y="3454400"/>
            <a:ext cx="551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300"/>
              </a:spcAft>
            </a:pPr>
            <a:r>
              <a:rPr sz="1050" b="0">
                <a:solidFill>
                  <a:srgbClr val="55607A"/>
                </a:solidFill>
                <a:latin typeface="Arial"/>
              </a:rPr>
              <a:t>Ship-to-shore voice and data from coastal sites</a:t>
            </a:r>
          </a:p>
        </p:txBody>
      </p:sp>
      <p:pic>
        <p:nvPicPr>
          <p:cNvPr id="23" name="Picture 22" descr="a_5ffa94c93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2577" y="3975100"/>
            <a:ext cx="129645" cy="254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070600" y="3962400"/>
            <a:ext cx="551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300"/>
              </a:spcAft>
            </a:pPr>
            <a:r>
              <a:rPr sz="1050" b="0">
                <a:solidFill>
                  <a:srgbClr val="55607A"/>
                </a:solidFill>
                <a:latin typeface="Arial"/>
              </a:rPr>
              <a:t>Coast guard patrols covered far out to sea, on the same network as the port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91200" y="4521200"/>
            <a:ext cx="5791200" cy="381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94400" y="4521200"/>
            <a:ext cx="53848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950" b="1">
                <a:solidFill>
                  <a:srgbClr val="0B308E"/>
                </a:solidFill>
                <a:latin typeface="Arial"/>
              </a:rPr>
              <a:t>The same coastal sites also serve island and rural communities.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6451600"/>
            <a:ext cx="109728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00" b="0">
                <a:solidFill>
                  <a:srgbClr val="93A0B4"/>
                </a:solidFill>
                <a:latin typeface="Arial"/>
              </a:rPr>
              <a:t>Source: 450 MHz Alliance (Dec 2025); Hytera transport and maritime references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228600" cy="635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9800" y="279400"/>
            <a:ext cx="9906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2100" b="1">
                <a:solidFill>
                  <a:srgbClr val="0B308E"/>
                </a:solidFill>
                <a:latin typeface="Arial"/>
              </a:rPr>
              <a:t>End to end: terminal - network -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87400"/>
            <a:ext cx="889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50" b="1">
                <a:solidFill>
                  <a:srgbClr val="7F9B00"/>
                </a:solidFill>
                <a:latin typeface="Arial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23600" y="279400"/>
            <a:ext cx="5588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300"/>
              </a:spcAft>
            </a:pPr>
            <a:r>
              <a:rPr sz="1700" b="1">
                <a:solidFill>
                  <a:srgbClr val="0B308E"/>
                </a:solidFill>
                <a:latin typeface="Arial"/>
              </a:rPr>
              <a:t>14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9600" y="1041400"/>
            <a:ext cx="10972800" cy="0"/>
          </a:xfrm>
          <a:prstGeom prst="line">
            <a:avLst/>
          </a:prstGeom>
          <a:ln w="12700">
            <a:solidFill>
              <a:srgbClr val="D6E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09600" y="11938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0">
                <a:solidFill>
                  <a:srgbClr val="55607A"/>
                </a:solidFill>
                <a:latin typeface="Arial"/>
              </a:rPr>
              <a:t>One architecture, in three layers. Each layer is described by what it contains, not by who supplies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1549400"/>
            <a:ext cx="3556000" cy="3175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1549400"/>
            <a:ext cx="3556000" cy="4572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2800" y="1549400"/>
            <a:ext cx="3149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TERMINAL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2800" y="2159000"/>
            <a:ext cx="203200" cy="381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3" name="Picture 12" descr="a_51ebbb77b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229" y="2032000"/>
            <a:ext cx="105540" cy="304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524000" y="2082800"/>
            <a:ext cx="24384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00" b="1">
                <a:solidFill>
                  <a:srgbClr val="7F9B00"/>
                </a:solidFill>
                <a:latin typeface="Arial"/>
              </a:rPr>
              <a:t>What the field carries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2800" y="2552700"/>
            <a:ext cx="63500" cy="635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5200" y="2489200"/>
            <a:ext cx="3048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950" b="1">
                <a:solidFill>
                  <a:srgbClr val="0B308E"/>
                </a:solidFill>
                <a:latin typeface="Arial"/>
              </a:rPr>
              <a:t>PNC660 450M handheld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2667000"/>
            <a:ext cx="3048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50" b="0">
                <a:solidFill>
                  <a:srgbClr val="55607A"/>
                </a:solidFill>
                <a:latin typeface="Arial"/>
              </a:rPr>
              <a:t>B31/B72, IP68, dual SIM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2800" y="2971800"/>
            <a:ext cx="63500" cy="635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5200" y="2908300"/>
            <a:ext cx="3048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950" b="1">
                <a:solidFill>
                  <a:srgbClr val="0B308E"/>
                </a:solidFill>
                <a:latin typeface="Arial"/>
              </a:rPr>
              <a:t>MNC650 450M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200" y="3086100"/>
            <a:ext cx="3048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50" b="0">
                <a:solidFill>
                  <a:srgbClr val="55607A"/>
                </a:solidFill>
                <a:latin typeface="Arial"/>
              </a:rPr>
              <a:t>vehicle radio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2800" y="3390900"/>
            <a:ext cx="63500" cy="635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5200" y="3327400"/>
            <a:ext cx="3048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950" b="1">
                <a:solidFill>
                  <a:srgbClr val="0B308E"/>
                </a:solidFill>
                <a:latin typeface="Arial"/>
              </a:rPr>
              <a:t>P70 5G+450M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200" y="3505200"/>
            <a:ext cx="3048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50" b="0">
                <a:solidFill>
                  <a:srgbClr val="55607A"/>
                </a:solidFill>
                <a:latin typeface="Arial"/>
              </a:rPr>
              <a:t>radio-style handheld, 2026 Q4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2800" y="3810000"/>
            <a:ext cx="63500" cy="635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5200" y="3746500"/>
            <a:ext cx="3048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950" b="1">
                <a:solidFill>
                  <a:srgbClr val="0B308E"/>
                </a:solidFill>
                <a:latin typeface="Arial"/>
              </a:rPr>
              <a:t>PNC660Ex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5200" y="3924300"/>
            <a:ext cx="3048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50" b="0">
                <a:solidFill>
                  <a:srgbClr val="55607A"/>
                </a:solidFill>
                <a:latin typeface="Arial"/>
              </a:rPr>
              <a:t>ATEX variant, 2027 Q2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7400" y="4089400"/>
            <a:ext cx="3200400" cy="5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8" name="Picture 27" descr="a_d6e477498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952" y="4140200"/>
            <a:ext cx="507295" cy="406400"/>
          </a:xfrm>
          <a:prstGeom prst="rect">
            <a:avLst/>
          </a:prstGeom>
        </p:spPr>
      </p:pic>
      <p:sp>
        <p:nvSpPr>
          <p:cNvPr id="29" name="Isosceles Triangle 28"/>
          <p:cNvSpPr/>
          <p:nvPr/>
        </p:nvSpPr>
        <p:spPr>
          <a:xfrm>
            <a:off x="4191000" y="2946400"/>
            <a:ext cx="152400" cy="330200"/>
          </a:xfrm>
          <a:prstGeom prst="triangle">
            <a:avLst/>
          </a:prstGeom>
          <a:solidFill>
            <a:srgbClr val="3A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68800" y="1549400"/>
            <a:ext cx="3556000" cy="3175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68800" y="1549400"/>
            <a:ext cx="3556000" cy="4572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0" y="1549400"/>
            <a:ext cx="3149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NETWORK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0" y="2159000"/>
            <a:ext cx="203200" cy="381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4" name="Picture 33" descr="a_1d661ea45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943" y="2032000"/>
            <a:ext cx="150512" cy="3048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283200" y="2082800"/>
            <a:ext cx="24384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00" b="1">
                <a:solidFill>
                  <a:srgbClr val="7F9B00"/>
                </a:solidFill>
                <a:latin typeface="Arial"/>
              </a:rPr>
              <a:t>Radio, core and backhaul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0" y="2552700"/>
            <a:ext cx="63500" cy="635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24400" y="2489200"/>
            <a:ext cx="3048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950" b="1">
                <a:solidFill>
                  <a:srgbClr val="0B308E"/>
                </a:solidFill>
                <a:latin typeface="Arial"/>
              </a:rPr>
              <a:t>450 MHz macro eNB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24400" y="2667000"/>
            <a:ext cx="3048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50" b="0">
                <a:solidFill>
                  <a:srgbClr val="55607A"/>
                </a:solidFill>
                <a:latin typeface="Arial"/>
              </a:rPr>
              <a:t>wide area coverage, few sites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0" y="2971800"/>
            <a:ext cx="63500" cy="635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24400" y="2908300"/>
            <a:ext cx="3048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950" b="1">
                <a:solidFill>
                  <a:srgbClr val="0B308E"/>
                </a:solidFill>
                <a:latin typeface="Arial"/>
              </a:rPr>
              <a:t>Private core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24400" y="3086100"/>
            <a:ext cx="3048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50" b="0">
                <a:solidFill>
                  <a:srgbClr val="55607A"/>
                </a:solidFill>
                <a:latin typeface="Arial"/>
              </a:rPr>
              <a:t>or the operator’s own core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390900"/>
            <a:ext cx="63500" cy="635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24400" y="3327400"/>
            <a:ext cx="3048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950" b="1">
                <a:solidFill>
                  <a:srgbClr val="0B308E"/>
                </a:solidFill>
                <a:latin typeface="Arial"/>
              </a:rPr>
              <a:t>Backhaul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24400" y="3505200"/>
            <a:ext cx="3048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50" b="0">
                <a:solidFill>
                  <a:srgbClr val="55607A"/>
                </a:solidFill>
                <a:latin typeface="Arial"/>
              </a:rPr>
              <a:t>fibre, microwave or satellite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0" y="3810000"/>
            <a:ext cx="63500" cy="635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24400" y="3746500"/>
            <a:ext cx="3048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950" b="1">
                <a:solidFill>
                  <a:srgbClr val="0B308E"/>
                </a:solidFill>
                <a:latin typeface="Arial"/>
              </a:rPr>
              <a:t>Rapid deployment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24400" y="3924300"/>
            <a:ext cx="3048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50" b="0">
                <a:solidFill>
                  <a:srgbClr val="55607A"/>
                </a:solidFill>
                <a:latin typeface="Arial"/>
              </a:rPr>
              <a:t>portable base station and satellite kit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46600" y="4089400"/>
            <a:ext cx="3200400" cy="5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9" name="Picture 48" descr="a_d5f6457e9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5851" y="4140200"/>
            <a:ext cx="301897" cy="406400"/>
          </a:xfrm>
          <a:prstGeom prst="rect">
            <a:avLst/>
          </a:prstGeom>
        </p:spPr>
      </p:pic>
      <p:sp>
        <p:nvSpPr>
          <p:cNvPr id="50" name="Isosceles Triangle 49"/>
          <p:cNvSpPr/>
          <p:nvPr/>
        </p:nvSpPr>
        <p:spPr>
          <a:xfrm>
            <a:off x="7950200" y="2946400"/>
            <a:ext cx="152400" cy="330200"/>
          </a:xfrm>
          <a:prstGeom prst="triangle">
            <a:avLst/>
          </a:prstGeom>
          <a:solidFill>
            <a:srgbClr val="3A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128000" y="1549400"/>
            <a:ext cx="3556000" cy="3175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128000" y="1549400"/>
            <a:ext cx="3556000" cy="4572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31200" y="1549400"/>
            <a:ext cx="3149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APPLICATION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331200" y="2159000"/>
            <a:ext cx="203200" cy="381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5" name="Picture 54" descr="a_5ffa94c93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10612" y="2032000"/>
            <a:ext cx="155575" cy="30480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9042400" y="2082800"/>
            <a:ext cx="24384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00" b="1">
                <a:solidFill>
                  <a:srgbClr val="7F9B00"/>
                </a:solidFill>
                <a:latin typeface="Arial"/>
              </a:rPr>
              <a:t>Dispatch, recording and management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331200" y="2552700"/>
            <a:ext cx="63500" cy="635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83600" y="2489200"/>
            <a:ext cx="3048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950" b="1">
                <a:solidFill>
                  <a:srgbClr val="0B308E"/>
                </a:solidFill>
                <a:latin typeface="Arial"/>
              </a:rPr>
              <a:t>MCS services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83600" y="2667000"/>
            <a:ext cx="3048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50" b="0">
                <a:solidFill>
                  <a:srgbClr val="55607A"/>
                </a:solidFill>
                <a:latin typeface="Arial"/>
              </a:rPr>
              <a:t>MCPTT / MCVideo / MCData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331200" y="2971800"/>
            <a:ext cx="63500" cy="635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483600" y="2908300"/>
            <a:ext cx="3048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950" b="1">
                <a:solidFill>
                  <a:srgbClr val="0B308E"/>
                </a:solidFill>
                <a:latin typeface="Arial"/>
              </a:rPr>
              <a:t>Dispatch console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83600" y="3086100"/>
            <a:ext cx="3048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50" b="0">
                <a:solidFill>
                  <a:srgbClr val="55607A"/>
                </a:solidFill>
                <a:latin typeface="Arial"/>
              </a:rPr>
              <a:t>voice, video, GIS and presence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331200" y="3390900"/>
            <a:ext cx="63500" cy="635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483600" y="3327400"/>
            <a:ext cx="3048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950" b="1">
                <a:solidFill>
                  <a:srgbClr val="0B308E"/>
                </a:solidFill>
                <a:latin typeface="Arial"/>
              </a:rPr>
              <a:t>Recording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483600" y="3505200"/>
            <a:ext cx="3048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50" b="0">
                <a:solidFill>
                  <a:srgbClr val="55607A"/>
                </a:solidFill>
                <a:latin typeface="Arial"/>
              </a:rPr>
              <a:t>multimedia capture and playback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331200" y="3810000"/>
            <a:ext cx="63500" cy="635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483600" y="3746500"/>
            <a:ext cx="3048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950" b="1">
                <a:solidFill>
                  <a:srgbClr val="0B308E"/>
                </a:solidFill>
                <a:latin typeface="Arial"/>
              </a:rPr>
              <a:t>Device management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483600" y="3924300"/>
            <a:ext cx="3048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50" b="0">
                <a:solidFill>
                  <a:srgbClr val="55607A"/>
                </a:solidFill>
                <a:latin typeface="Arial"/>
              </a:rPr>
              <a:t>zero-touch deployment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305800" y="4089400"/>
            <a:ext cx="3200400" cy="5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70" name="Picture 69" descr="a_5f06b6905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57764" y="4140200"/>
            <a:ext cx="896470" cy="406400"/>
          </a:xfrm>
          <a:prstGeom prst="rect">
            <a:avLst/>
          </a:prstGeom>
        </p:spPr>
      </p:pic>
      <p:sp>
        <p:nvSpPr>
          <p:cNvPr id="71" name="Rectangle 70"/>
          <p:cNvSpPr/>
          <p:nvPr/>
        </p:nvSpPr>
        <p:spPr>
          <a:xfrm>
            <a:off x="609600" y="4851400"/>
            <a:ext cx="10972800" cy="6604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38200" y="4953000"/>
            <a:ext cx="381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50" b="1">
                <a:solidFill>
                  <a:srgbClr val="7F9B00"/>
                </a:solidFill>
                <a:latin typeface="Arial"/>
              </a:rPr>
              <a:t>THE SAME ARCHITECTURE SERVES ALL SIX INDUSTRIES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38200" y="5181600"/>
            <a:ext cx="1651000" cy="254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38200" y="51816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900" b="1">
                <a:solidFill>
                  <a:srgbClr val="0B308E"/>
                </a:solidFill>
                <a:latin typeface="Arial"/>
              </a:rPr>
              <a:t>Power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616200" y="5181600"/>
            <a:ext cx="1651000" cy="254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616200" y="51816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900" b="1">
                <a:solidFill>
                  <a:srgbClr val="0B308E"/>
                </a:solidFill>
                <a:latin typeface="Arial"/>
              </a:rPr>
              <a:t>Water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394200" y="5181600"/>
            <a:ext cx="1651000" cy="254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394200" y="51816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900" b="1">
                <a:solidFill>
                  <a:srgbClr val="0B308E"/>
                </a:solidFill>
                <a:latin typeface="Arial"/>
              </a:rPr>
              <a:t>Police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172200" y="5181600"/>
            <a:ext cx="1651000" cy="254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172200" y="51816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900" b="1">
                <a:solidFill>
                  <a:srgbClr val="0B308E"/>
                </a:solidFill>
                <a:latin typeface="Arial"/>
              </a:rPr>
              <a:t>Emergency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950200" y="5181600"/>
            <a:ext cx="1651000" cy="254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950200" y="51816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900" b="1">
                <a:solidFill>
                  <a:srgbClr val="0B308E"/>
                </a:solidFill>
                <a:latin typeface="Arial"/>
              </a:rPr>
              <a:t>Rail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728200" y="5181600"/>
            <a:ext cx="1651000" cy="254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728200" y="51816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900" b="1">
                <a:solidFill>
                  <a:srgbClr val="0B308E"/>
                </a:solidFill>
                <a:latin typeface="Arial"/>
              </a:rPr>
              <a:t>Port</a:t>
            </a:r>
          </a:p>
        </p:txBody>
      </p:sp>
      <p:sp>
        <p:nvSpPr>
          <p:cNvPr id="85" name="Rectangle 84"/>
          <p:cNvSpPr/>
          <p:nvPr/>
        </p:nvSpPr>
        <p:spPr>
          <a:xfrm>
            <a:off x="0" y="5740400"/>
            <a:ext cx="12192000" cy="5080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09600" y="5740400"/>
            <a:ext cx="109728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Only the terminals, the applications and the coverage area change.  </a:t>
            </a:r>
            <a:r>
              <a:rPr sz="1200" b="0">
                <a:solidFill>
                  <a:srgbClr val="DCE5F3"/>
                </a:solidFill>
                <a:latin typeface="Arial"/>
              </a:rPr>
              <a:t>The network layer is the same build.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9600" y="6451600"/>
            <a:ext cx="109728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00" b="0">
                <a:solidFill>
                  <a:srgbClr val="93A0B4"/>
                </a:solidFill>
                <a:latin typeface="Arial"/>
              </a:rPr>
              <a:t>Source: 450M Roadmap; HyTalk MC V6.1; 450 MHz Alliance, Equipment Report (May 2025)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228600" cy="635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9800" y="279400"/>
            <a:ext cx="9906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2100" b="1">
                <a:solidFill>
                  <a:srgbClr val="0B308E"/>
                </a:solidFill>
                <a:latin typeface="Arial"/>
              </a:rPr>
              <a:t>450 MHz operators worldwide: the model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87400"/>
            <a:ext cx="889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50" b="1">
                <a:solidFill>
                  <a:srgbClr val="7F9B00"/>
                </a:solidFill>
                <a:latin typeface="Arial"/>
              </a:rPr>
              <a:t>REFERENCE  ·  450 MHZ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23600" y="279400"/>
            <a:ext cx="5588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300"/>
              </a:spcAft>
            </a:pPr>
            <a:r>
              <a:rPr sz="1700" b="1">
                <a:solidFill>
                  <a:srgbClr val="0B308E"/>
                </a:solidFill>
                <a:latin typeface="Arial"/>
              </a:rPr>
              <a:t>15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9600" y="1041400"/>
            <a:ext cx="10972800" cy="0"/>
          </a:xfrm>
          <a:prstGeom prst="line">
            <a:avLst/>
          </a:prstGeom>
          <a:ln w="12700">
            <a:solidFill>
              <a:srgbClr val="D6E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09600" y="11938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0">
                <a:solidFill>
                  <a:srgbClr val="55607A"/>
                </a:solidFill>
                <a:latin typeface="Arial"/>
              </a:rPr>
              <a:t>Two things are the same in every market: a licensed operator carries the traffic, and utilities anchor the demand.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1549400"/>
            <a:ext cx="5080000" cy="3759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0" name="Picture 9" descr="a_b844bd03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00" y="2095838"/>
            <a:ext cx="4724400" cy="218372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87400" y="4724400"/>
            <a:ext cx="4724400" cy="4318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0600" y="4724400"/>
            <a:ext cx="4318000" cy="431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50" b="0">
                <a:solidFill>
                  <a:srgbClr val="55607A"/>
                </a:solidFill>
                <a:latin typeface="Arial"/>
              </a:rPr>
              <a:t>Figure 2. The world map of 380 MHz, 410 MHz and 450 MHz deployment.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" y="1549400"/>
            <a:ext cx="5080000" cy="3759200"/>
          </a:xfrm>
          <a:prstGeom prst="rect">
            <a:avLst/>
          </a:prstGeom>
          <a:noFill/>
          <a:ln w="12700">
            <a:solidFill>
              <a:srgbClr val="D6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0" y="1549400"/>
            <a:ext cx="5638800" cy="4826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6000" y="1587500"/>
            <a:ext cx="1219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950" b="1">
                <a:solidFill>
                  <a:srgbClr val="0B308E"/>
                </a:solidFill>
                <a:latin typeface="Arial"/>
              </a:rPr>
              <a:t>Germany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0" y="1803400"/>
            <a:ext cx="12192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00" b="1">
                <a:solidFill>
                  <a:srgbClr val="7F9B00"/>
                </a:solidFill>
                <a:latin typeface="Arial"/>
              </a:rPr>
              <a:t>450connect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16800" y="1600200"/>
            <a:ext cx="406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50" b="0">
                <a:solidFill>
                  <a:srgbClr val="55607A"/>
                </a:solidFill>
                <a:latin typeface="Arial"/>
              </a:rPr>
              <a:t>Band 72, nationwide utility network; more than 95% of Germany covered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2082800"/>
            <a:ext cx="5638800" cy="4826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6000" y="2120900"/>
            <a:ext cx="1219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950" b="1">
                <a:solidFill>
                  <a:srgbClr val="0B308E"/>
                </a:solidFill>
                <a:latin typeface="Arial"/>
              </a:rPr>
              <a:t>Austria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0" y="2336800"/>
            <a:ext cx="12192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00" b="1">
                <a:solidFill>
                  <a:srgbClr val="7F9B00"/>
                </a:solidFill>
                <a:latin typeface="Arial"/>
              </a:rPr>
              <a:t>ArgoNET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16800" y="2133600"/>
            <a:ext cx="406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50" b="0">
                <a:solidFill>
                  <a:srgbClr val="55607A"/>
                </a:solidFill>
                <a:latin typeface="Arial"/>
              </a:rPr>
              <a:t>Band 72; regional CDMA and LTE networks for utilities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2616200"/>
            <a:ext cx="5638800" cy="4826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6000" y="2654300"/>
            <a:ext cx="1219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950" b="1">
                <a:solidFill>
                  <a:srgbClr val="0B308E"/>
                </a:solidFill>
                <a:latin typeface="Arial"/>
              </a:rPr>
              <a:t>Poland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0" y="2870200"/>
            <a:ext cx="12192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00" b="1">
                <a:solidFill>
                  <a:srgbClr val="7F9B00"/>
                </a:solidFill>
                <a:latin typeface="Arial"/>
              </a:rPr>
              <a:t>PGE / Polkomtel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16800" y="2667000"/>
            <a:ext cx="406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50" b="0">
                <a:solidFill>
                  <a:srgbClr val="55607A"/>
                </a:solidFill>
                <a:latin typeface="Arial"/>
              </a:rPr>
              <a:t>Band 31 and band 87; smart grid and field services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0" y="3149600"/>
            <a:ext cx="5638800" cy="4826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96000" y="3187700"/>
            <a:ext cx="1219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950" b="1">
                <a:solidFill>
                  <a:srgbClr val="0B308E"/>
                </a:solidFill>
                <a:latin typeface="Arial"/>
              </a:rPr>
              <a:t>Malaysia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6000" y="3403600"/>
            <a:ext cx="12192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00" b="1">
                <a:solidFill>
                  <a:srgbClr val="7F9B00"/>
                </a:solidFill>
                <a:latin typeface="Arial"/>
              </a:rPr>
              <a:t>TNB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16800" y="3200400"/>
            <a:ext cx="406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50" b="0">
                <a:solidFill>
                  <a:srgbClr val="55607A"/>
                </a:solidFill>
                <a:latin typeface="Arial"/>
              </a:rPr>
              <a:t>Band 31; procurement for initial deployment in four regions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0" y="3683000"/>
            <a:ext cx="5638800" cy="4826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96000" y="3721100"/>
            <a:ext cx="1219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950" b="1">
                <a:solidFill>
                  <a:srgbClr val="0B308E"/>
                </a:solidFill>
                <a:latin typeface="Arial"/>
              </a:rPr>
              <a:t>Indonesia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96000" y="3937000"/>
            <a:ext cx="12192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00" b="1">
                <a:solidFill>
                  <a:srgbClr val="7F9B00"/>
                </a:solidFill>
                <a:latin typeface="Arial"/>
              </a:rPr>
              <a:t>SeaTelSat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16800" y="3733800"/>
            <a:ext cx="406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50" b="0">
                <a:solidFill>
                  <a:srgbClr val="55607A"/>
                </a:solidFill>
                <a:latin typeface="Arial"/>
              </a:rPr>
              <a:t>Band 31; rural LTE over satellite backhaul, and a private LTE network for MCX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0" y="4216400"/>
            <a:ext cx="5638800" cy="4826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96000" y="4254500"/>
            <a:ext cx="1219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950" b="1">
                <a:solidFill>
                  <a:srgbClr val="0B308E"/>
                </a:solidFill>
                <a:latin typeface="Arial"/>
              </a:rPr>
              <a:t>South Africa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96000" y="4470400"/>
            <a:ext cx="12192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00" b="1">
                <a:solidFill>
                  <a:srgbClr val="7F9B00"/>
                </a:solidFill>
                <a:latin typeface="Arial"/>
              </a:rPr>
              <a:t>Transnet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16800" y="4267200"/>
            <a:ext cx="406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50" b="0">
                <a:solidFill>
                  <a:srgbClr val="55607A"/>
                </a:solidFill>
                <a:latin typeface="Arial"/>
              </a:rPr>
              <a:t>Band 31 allocated for rail, with wider use under discussion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0" y="4749800"/>
            <a:ext cx="5638800" cy="4826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96000" y="4787900"/>
            <a:ext cx="1219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950" b="1">
                <a:solidFill>
                  <a:srgbClr val="0B308E"/>
                </a:solidFill>
                <a:latin typeface="Arial"/>
              </a:rPr>
              <a:t>Singapore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6000" y="5003800"/>
            <a:ext cx="12192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00" b="1">
                <a:solidFill>
                  <a:srgbClr val="7F9B00"/>
                </a:solidFill>
                <a:latin typeface="Arial"/>
              </a:rPr>
              <a:t>Public safety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16800" y="4800600"/>
            <a:ext cx="406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50" b="0">
                <a:solidFill>
                  <a:srgbClr val="55607A"/>
                </a:solidFill>
                <a:latin typeface="Arial"/>
              </a:rPr>
              <a:t>Band 31 allocated for public safety, in service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5740400"/>
            <a:ext cx="12192000" cy="5080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9600" y="5740400"/>
            <a:ext cx="109728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The pattern is the same everywhere.  </a:t>
            </a:r>
            <a:r>
              <a:rPr sz="1200" b="0">
                <a:solidFill>
                  <a:srgbClr val="DCE5F3"/>
                </a:solidFill>
                <a:latin typeface="Arial"/>
              </a:rPr>
              <a:t>A licensed operator carries the traffic; utilities and public safety anchor the demand.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9600" y="6451600"/>
            <a:ext cx="109728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00" b="0">
                <a:solidFill>
                  <a:srgbClr val="93A0B4"/>
                </a:solidFill>
                <a:latin typeface="Arial"/>
              </a:rPr>
              <a:t>Source: 450 MHz Alliance, Annual Global Update (Dec 2025) p7-p9, p14; RFI for devices (2025) p5-p7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228600" cy="635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9800" y="279400"/>
            <a:ext cx="9906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2100" b="1">
                <a:solidFill>
                  <a:srgbClr val="0B308E"/>
                </a:solidFill>
                <a:latin typeface="Arial"/>
              </a:rPr>
              <a:t>Sri Lanka Railways: a national network on public LTE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87400"/>
            <a:ext cx="889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50" b="1">
                <a:solidFill>
                  <a:srgbClr val="7F9B00"/>
                </a:solidFill>
                <a:latin typeface="Arial"/>
              </a:rPr>
              <a:t>CASE 1 OF 3  ·  450 MHZ LICENCE HOLDER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23600" y="279400"/>
            <a:ext cx="5588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300"/>
              </a:spcAft>
            </a:pPr>
            <a:r>
              <a:rPr sz="1700" b="1">
                <a:solidFill>
                  <a:srgbClr val="0B308E"/>
                </a:solidFill>
                <a:latin typeface="Arial"/>
              </a:rPr>
              <a:t>16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9600" y="1041400"/>
            <a:ext cx="10972800" cy="0"/>
          </a:xfrm>
          <a:prstGeom prst="line">
            <a:avLst/>
          </a:prstGeom>
          <a:ln w="12700">
            <a:solidFill>
              <a:srgbClr val="D6E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09600" y="11938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0">
                <a:solidFill>
                  <a:srgbClr val="55607A"/>
                </a:solidFill>
                <a:latin typeface="Arial"/>
              </a:rPr>
              <a:t>Nine lines and 403 stations on a public LTE network. Dialog, the operator, also holds Sri Lanka’s 450 MHz licence.</a:t>
            </a:r>
          </a:p>
        </p:txBody>
      </p:sp>
      <p:pic>
        <p:nvPicPr>
          <p:cNvPr id="9" name="Picture 8" descr="v6_4c49d82c37.jpg"/>
          <p:cNvPicPr>
            <a:picLocks noChangeAspect="1"/>
          </p:cNvPicPr>
          <p:nvPr/>
        </p:nvPicPr>
        <p:blipFill>
          <a:blip r:embed="rId2"/>
          <a:srcRect t="3475" b="3475"/>
          <a:stretch>
            <a:fillRect/>
          </a:stretch>
        </p:blipFill>
        <p:spPr>
          <a:xfrm>
            <a:off x="609600" y="1549400"/>
            <a:ext cx="5969000" cy="31242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09600" y="1549400"/>
            <a:ext cx="5969000" cy="3124200"/>
          </a:xfrm>
          <a:prstGeom prst="rect">
            <a:avLst/>
          </a:prstGeom>
          <a:noFill/>
          <a:ln w="12700">
            <a:solidFill>
              <a:srgbClr val="D6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600" y="4749800"/>
            <a:ext cx="5969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850" b="0">
                <a:solidFill>
                  <a:srgbClr val="93A0B4"/>
                </a:solidFill>
                <a:latin typeface="Arial"/>
              </a:rPr>
              <a:t>Sri Lanka Railways - the customer’s own network, photographed on site.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86600" y="1549400"/>
            <a:ext cx="4495800" cy="9652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86600" y="1549400"/>
            <a:ext cx="44450" cy="9652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0" y="1676400"/>
            <a:ext cx="1778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800" b="1">
                <a:solidFill>
                  <a:srgbClr val="0B308E"/>
                </a:solidFill>
                <a:latin typeface="Arial"/>
              </a:rPr>
              <a:t>1,950+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057400"/>
            <a:ext cx="406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950" b="0">
                <a:solidFill>
                  <a:srgbClr val="55607A"/>
                </a:solidFill>
                <a:latin typeface="Arial"/>
              </a:rPr>
              <a:t>MCS terminals delivered across the island network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86600" y="2641600"/>
            <a:ext cx="4495800" cy="9652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86600" y="2641600"/>
            <a:ext cx="44450" cy="9652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2768600"/>
            <a:ext cx="1778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800" b="1">
                <a:solidFill>
                  <a:srgbClr val="0B308E"/>
                </a:solidFill>
                <a:latin typeface="Arial"/>
              </a:rPr>
              <a:t>9 / 403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3149600"/>
            <a:ext cx="406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950" b="0">
                <a:solidFill>
                  <a:srgbClr val="55607A"/>
                </a:solidFill>
                <a:latin typeface="Arial"/>
              </a:rPr>
              <a:t>railway lines and stations covered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86600" y="3733800"/>
            <a:ext cx="4495800" cy="9652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86600" y="3733800"/>
            <a:ext cx="44450" cy="9652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0" y="3860800"/>
            <a:ext cx="1778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800" b="1">
                <a:solidFill>
                  <a:srgbClr val="0B308E"/>
                </a:solidFill>
                <a:latin typeface="Arial"/>
              </a:rPr>
              <a:t>450 MHz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4241800"/>
            <a:ext cx="406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950" b="0">
                <a:solidFill>
                  <a:srgbClr val="55607A"/>
                </a:solidFill>
                <a:latin typeface="Arial"/>
              </a:rPr>
              <a:t>the operator, Dialog, holds Sri Lanka’s 450 MHz licence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9600" y="5156200"/>
            <a:ext cx="10972800" cy="4318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2000" y="5194300"/>
            <a:ext cx="259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1">
                <a:solidFill>
                  <a:srgbClr val="8CC63F"/>
                </a:solidFill>
                <a:latin typeface="Arial"/>
              </a:rPr>
              <a:t>−10%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000" y="5410200"/>
            <a:ext cx="2590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00" b="0">
                <a:solidFill>
                  <a:srgbClr val="DCE5F3"/>
                </a:solidFill>
                <a:latin typeface="Arial"/>
              </a:rPr>
              <a:t>train delays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54400" y="5194300"/>
            <a:ext cx="259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1">
                <a:solidFill>
                  <a:srgbClr val="8CC63F"/>
                </a:solidFill>
                <a:latin typeface="Arial"/>
              </a:rPr>
              <a:t>−60%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54400" y="5410200"/>
            <a:ext cx="2590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00" b="0">
                <a:solidFill>
                  <a:srgbClr val="DCE5F3"/>
                </a:solidFill>
                <a:latin typeface="Arial"/>
              </a:rPr>
              <a:t>management cost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46800" y="5194300"/>
            <a:ext cx="259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1">
                <a:solidFill>
                  <a:srgbClr val="8CC63F"/>
                </a:solidFill>
                <a:latin typeface="Arial"/>
              </a:rPr>
              <a:t>−40%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6800" y="5410200"/>
            <a:ext cx="2590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00" b="0">
                <a:solidFill>
                  <a:srgbClr val="DCE5F3"/>
                </a:solidFill>
                <a:latin typeface="Arial"/>
              </a:rPr>
              <a:t>track repair time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39200" y="5194300"/>
            <a:ext cx="259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1">
                <a:solidFill>
                  <a:srgbClr val="8CC63F"/>
                </a:solidFill>
                <a:latin typeface="Arial"/>
              </a:rPr>
              <a:t>30 min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39200" y="5410200"/>
            <a:ext cx="2590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00" b="0">
                <a:solidFill>
                  <a:srgbClr val="DCE5F3"/>
                </a:solidFill>
                <a:latin typeface="Arial"/>
              </a:rPr>
              <a:t>landslide response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600" y="6451600"/>
            <a:ext cx="109728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00" b="0">
                <a:solidFill>
                  <a:srgbClr val="93A0B4"/>
                </a:solidFill>
                <a:latin typeface="Arial"/>
              </a:rPr>
              <a:t>Source: Hytera showroom briefing (SRC-0134/0135) L211; Hytera PNC660 450MHz&amp;MCX case records; 450 MHz Alliance, Annual Global Update (Dec 2025) p8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228600" cy="635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9800" y="279400"/>
            <a:ext cx="9906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2100" b="1">
                <a:solidFill>
                  <a:srgbClr val="0B308E"/>
                </a:solidFill>
                <a:latin typeface="Arial"/>
              </a:rPr>
              <a:t>Hong Kong Light Rail: the first MCS over 5G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87400"/>
            <a:ext cx="889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50" b="1">
                <a:solidFill>
                  <a:srgbClr val="7F9B00"/>
                </a:solidFill>
                <a:latin typeface="Arial"/>
              </a:rPr>
              <a:t>CASE 2 OF 3  ·  RAILWAY MCX OVER 5G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23600" y="279400"/>
            <a:ext cx="5588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300"/>
              </a:spcAft>
            </a:pPr>
            <a:r>
              <a:rPr sz="1700" b="1">
                <a:solidFill>
                  <a:srgbClr val="0B308E"/>
                </a:solidFill>
                <a:latin typeface="Arial"/>
              </a:rPr>
              <a:t>17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9600" y="1041400"/>
            <a:ext cx="10972800" cy="0"/>
          </a:xfrm>
          <a:prstGeom prst="line">
            <a:avLst/>
          </a:prstGeom>
          <a:ln w="12700">
            <a:solidFill>
              <a:srgbClr val="D6E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09600" y="11938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0">
                <a:solidFill>
                  <a:srgbClr val="55607A"/>
                </a:solidFill>
                <a:latin typeface="Arial"/>
              </a:rPr>
              <a:t>The world’s first railway MCS over 5G - replacing TETRA rather than overlaying it.</a:t>
            </a:r>
          </a:p>
        </p:txBody>
      </p:sp>
      <p:pic>
        <p:nvPicPr>
          <p:cNvPr id="9" name="Picture 8" descr="v6_62c740dbf1.jpg"/>
          <p:cNvPicPr>
            <a:picLocks noChangeAspect="1"/>
          </p:cNvPicPr>
          <p:nvPr/>
        </p:nvPicPr>
        <p:blipFill>
          <a:blip r:embed="rId2"/>
          <a:srcRect l="18535" r="18535"/>
          <a:stretch>
            <a:fillRect/>
          </a:stretch>
        </p:blipFill>
        <p:spPr>
          <a:xfrm>
            <a:off x="609600" y="1549400"/>
            <a:ext cx="5969000" cy="31242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09600" y="1549400"/>
            <a:ext cx="5969000" cy="3124200"/>
          </a:xfrm>
          <a:prstGeom prst="rect">
            <a:avLst/>
          </a:prstGeom>
          <a:noFill/>
          <a:ln w="12700">
            <a:solidFill>
              <a:srgbClr val="D6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600" y="4749800"/>
            <a:ext cx="5969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850" b="0">
                <a:solidFill>
                  <a:srgbClr val="93A0B4"/>
                </a:solidFill>
                <a:latin typeface="Arial"/>
              </a:rPr>
              <a:t>Illustrative operations imagery; the customer’s own site photography is not cleared for external use.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86600" y="1549400"/>
            <a:ext cx="4495800" cy="9652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86600" y="1549400"/>
            <a:ext cx="44450" cy="9652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0" y="1676400"/>
            <a:ext cx="1778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800" b="1">
                <a:solidFill>
                  <a:srgbClr val="0B308E"/>
                </a:solidFill>
                <a:latin typeface="Arial"/>
              </a:rPr>
              <a:t>810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057400"/>
            <a:ext cx="406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950" b="0">
                <a:solidFill>
                  <a:srgbClr val="55607A"/>
                </a:solidFill>
                <a:latin typeface="Arial"/>
              </a:rPr>
              <a:t>terminals: 511 handheld, 152 bus-mounted and 147 vehicle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86600" y="2641600"/>
            <a:ext cx="4495800" cy="9652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86600" y="2641600"/>
            <a:ext cx="44450" cy="9652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2768600"/>
            <a:ext cx="1778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800" b="1">
                <a:solidFill>
                  <a:srgbClr val="0B308E"/>
                </a:solidFill>
                <a:latin typeface="Arial"/>
              </a:rPr>
              <a:t>5G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3149600"/>
            <a:ext cx="406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950" b="0">
                <a:solidFill>
                  <a:srgbClr val="55607A"/>
                </a:solidFill>
                <a:latin typeface="Arial"/>
              </a:rPr>
              <a:t>the world’s first railway MCS running over 5G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86600" y="3733800"/>
            <a:ext cx="4495800" cy="9652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86600" y="3733800"/>
            <a:ext cx="44450" cy="9652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0" y="3860800"/>
            <a:ext cx="1778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800" b="1">
                <a:solidFill>
                  <a:srgbClr val="0B308E"/>
                </a:solidFill>
                <a:latin typeface="Arial"/>
              </a:rPr>
              <a:t>Full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4241800"/>
            <a:ext cx="406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950" b="0">
                <a:solidFill>
                  <a:srgbClr val="55607A"/>
                </a:solidFill>
                <a:latin typeface="Arial"/>
              </a:rPr>
              <a:t>redundancy, including the wireless links between sites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9600" y="5156200"/>
            <a:ext cx="10972800" cy="4318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2000" y="5194300"/>
            <a:ext cx="259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1">
                <a:solidFill>
                  <a:srgbClr val="8CC63F"/>
                </a:solidFill>
                <a:latin typeface="Arial"/>
              </a:rPr>
              <a:t>TETRA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000" y="5410200"/>
            <a:ext cx="2590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00" b="0">
                <a:solidFill>
                  <a:srgbClr val="DCE5F3"/>
                </a:solidFill>
                <a:latin typeface="Arial"/>
              </a:rPr>
              <a:t>replaced, not overlaid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54400" y="5194300"/>
            <a:ext cx="259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1">
                <a:solidFill>
                  <a:srgbClr val="8CC63F"/>
                </a:solidFill>
                <a:latin typeface="Arial"/>
              </a:rPr>
              <a:t>Shared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54400" y="5410200"/>
            <a:ext cx="2590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00" b="0">
                <a:solidFill>
                  <a:srgbClr val="DCE5F3"/>
                </a:solidFill>
                <a:latin typeface="Arial"/>
              </a:rPr>
              <a:t>operator core network and RAN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46800" y="5194300"/>
            <a:ext cx="259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1">
                <a:solidFill>
                  <a:srgbClr val="8CC63F"/>
                </a:solidFill>
                <a:latin typeface="Arial"/>
              </a:rPr>
              <a:t>Train-borne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6800" y="5410200"/>
            <a:ext cx="2590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00" b="0">
                <a:solidFill>
                  <a:srgbClr val="DCE5F3"/>
                </a:solidFill>
                <a:latin typeface="Arial"/>
              </a:rPr>
              <a:t>MCS-compliant dispatch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39200" y="5194300"/>
            <a:ext cx="259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1">
                <a:solidFill>
                  <a:srgbClr val="8CC63F"/>
                </a:solidFill>
                <a:latin typeface="Arial"/>
              </a:rPr>
              <a:t>One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39200" y="5410200"/>
            <a:ext cx="2590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00" b="0">
                <a:solidFill>
                  <a:srgbClr val="DCE5F3"/>
                </a:solidFill>
                <a:latin typeface="Arial"/>
              </a:rPr>
              <a:t>network for operations and security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600" y="6451600"/>
            <a:ext cx="109728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00" b="0">
                <a:solidFill>
                  <a:srgbClr val="93A0B4"/>
                </a:solidFill>
                <a:latin typeface="Arial"/>
              </a:rPr>
              <a:t>Source: Hytera showroom briefing L170; Hytera PNC660 450MHz&amp;MCX case records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228600" cy="635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9800" y="279400"/>
            <a:ext cx="9906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2100" b="1">
                <a:solidFill>
                  <a:srgbClr val="0B308E"/>
                </a:solidFill>
                <a:latin typeface="Arial"/>
              </a:rPr>
              <a:t>Papua New Guinea: a national command centre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87400"/>
            <a:ext cx="889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50" b="1">
                <a:solidFill>
                  <a:srgbClr val="7F9B00"/>
                </a:solidFill>
                <a:latin typeface="Arial"/>
              </a:rPr>
              <a:t>CASE 3 OF 3  ·  PUBLIC SAFETY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23600" y="279400"/>
            <a:ext cx="5588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300"/>
              </a:spcAft>
            </a:pPr>
            <a:r>
              <a:rPr sz="1700" b="1">
                <a:solidFill>
                  <a:srgbClr val="0B308E"/>
                </a:solidFill>
                <a:latin typeface="Arial"/>
              </a:rPr>
              <a:t>18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9600" y="1041400"/>
            <a:ext cx="10972800" cy="0"/>
          </a:xfrm>
          <a:prstGeom prst="line">
            <a:avLst/>
          </a:prstGeom>
          <a:ln w="12700">
            <a:solidFill>
              <a:srgbClr val="D6E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09600" y="11938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0">
                <a:solidFill>
                  <a:srgbClr val="55607A"/>
                </a:solidFill>
                <a:latin typeface="Arial"/>
              </a:rPr>
              <a:t>A police headquarters command centre on Hytera ICC, used for daily operations and for APEC summit security.</a:t>
            </a:r>
          </a:p>
        </p:txBody>
      </p:sp>
      <p:pic>
        <p:nvPicPr>
          <p:cNvPr id="9" name="Picture 8" descr="v6_0316e38593.jpg"/>
          <p:cNvPicPr>
            <a:picLocks noChangeAspect="1"/>
          </p:cNvPicPr>
          <p:nvPr/>
        </p:nvPicPr>
        <p:blipFill>
          <a:blip r:embed="rId2"/>
          <a:srcRect t="15106" b="15106"/>
          <a:stretch>
            <a:fillRect/>
          </a:stretch>
        </p:blipFill>
        <p:spPr>
          <a:xfrm>
            <a:off x="609600" y="1549400"/>
            <a:ext cx="5969000" cy="31242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09600" y="1549400"/>
            <a:ext cx="5969000" cy="3124200"/>
          </a:xfrm>
          <a:prstGeom prst="rect">
            <a:avLst/>
          </a:prstGeom>
          <a:noFill/>
          <a:ln w="12700">
            <a:solidFill>
              <a:srgbClr val="D6E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600" y="4749800"/>
            <a:ext cx="5969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850" b="0">
                <a:solidFill>
                  <a:srgbClr val="93A0B4"/>
                </a:solidFill>
                <a:latin typeface="Arial"/>
              </a:rPr>
              <a:t>Illustrative operations imagery; the customer’s own site photography is not cleared for external use.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86600" y="1549400"/>
            <a:ext cx="4495800" cy="9652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86600" y="1549400"/>
            <a:ext cx="44450" cy="9652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0" y="1676400"/>
            <a:ext cx="1778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800" b="1">
                <a:solidFill>
                  <a:srgbClr val="0B308E"/>
                </a:solidFill>
                <a:latin typeface="Arial"/>
              </a:rPr>
              <a:t>3,000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057400"/>
            <a:ext cx="406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950" b="0">
                <a:solidFill>
                  <a:srgbClr val="55607A"/>
                </a:solidFill>
                <a:latin typeface="Arial"/>
              </a:rPr>
              <a:t>police officers and 600 police vehicles served by one centre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86600" y="2641600"/>
            <a:ext cx="4495800" cy="9652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86600" y="2641600"/>
            <a:ext cx="44450" cy="9652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2768600"/>
            <a:ext cx="1778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800" b="1">
                <a:solidFill>
                  <a:srgbClr val="0B308E"/>
                </a:solidFill>
                <a:latin typeface="Arial"/>
              </a:rPr>
              <a:t>APEC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3149600"/>
            <a:ext cx="406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950" b="0">
                <a:solidFill>
                  <a:srgbClr val="55607A"/>
                </a:solidFill>
                <a:latin typeface="Arial"/>
              </a:rPr>
              <a:t>summit security: 15,000 foreign visitors and more than 200 meetings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86600" y="3733800"/>
            <a:ext cx="4495800" cy="9652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86600" y="3733800"/>
            <a:ext cx="44450" cy="965200"/>
          </a:xfrm>
          <a:prstGeom prst="rect">
            <a:avLst/>
          </a:prstGeom>
          <a:solidFill>
            <a:srgbClr val="DCE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0" y="3860800"/>
            <a:ext cx="1778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800" b="1">
                <a:solidFill>
                  <a:srgbClr val="0B308E"/>
                </a:solidFill>
                <a:latin typeface="Arial"/>
              </a:rPr>
              <a:t>360°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4241800"/>
            <a:ext cx="406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950" b="0">
                <a:solidFill>
                  <a:srgbClr val="55607A"/>
                </a:solidFill>
                <a:latin typeface="Arial"/>
              </a:rPr>
              <a:t>city-wide video surveillance, with protection around the clock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9600" y="5156200"/>
            <a:ext cx="10972800" cy="4318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2000" y="5194300"/>
            <a:ext cx="259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1">
                <a:solidFill>
                  <a:srgbClr val="8CC63F"/>
                </a:solidFill>
                <a:latin typeface="Arial"/>
              </a:rPr>
              <a:t>60 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000" y="5410200"/>
            <a:ext cx="2590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00" b="0">
                <a:solidFill>
                  <a:srgbClr val="DCE5F3"/>
                </a:solidFill>
                <a:latin typeface="Arial"/>
              </a:rPr>
              <a:t>police dispatch after the alarm bell rings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54400" y="5194300"/>
            <a:ext cx="259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1">
                <a:solidFill>
                  <a:srgbClr val="8CC63F"/>
                </a:solidFill>
                <a:latin typeface="Arial"/>
              </a:rPr>
              <a:t>VIP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54400" y="5410200"/>
            <a:ext cx="2590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00" b="0">
                <a:solidFill>
                  <a:srgbClr val="DCE5F3"/>
                </a:solidFill>
                <a:latin typeface="Arial"/>
              </a:rPr>
              <a:t>automatic vehicle route monitoring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46800" y="5194300"/>
            <a:ext cx="259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1">
                <a:solidFill>
                  <a:srgbClr val="8CC63F"/>
                </a:solidFill>
                <a:latin typeface="Arial"/>
              </a:rPr>
              <a:t>City-wide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6800" y="5410200"/>
            <a:ext cx="2590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00" b="0">
                <a:solidFill>
                  <a:srgbClr val="DCE5F3"/>
                </a:solidFill>
                <a:latin typeface="Arial"/>
              </a:rPr>
              <a:t>emergency video communication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39200" y="5194300"/>
            <a:ext cx="259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1">
                <a:solidFill>
                  <a:srgbClr val="8CC63F"/>
                </a:solidFill>
                <a:latin typeface="Arial"/>
              </a:rPr>
              <a:t>24/7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39200" y="5410200"/>
            <a:ext cx="25908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00" b="0">
                <a:solidFill>
                  <a:srgbClr val="DCE5F3"/>
                </a:solidFill>
                <a:latin typeface="Arial"/>
              </a:rPr>
              <a:t>protection during the summit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600" y="6451600"/>
            <a:ext cx="109728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00" b="0">
                <a:solidFill>
                  <a:srgbClr val="93A0B4"/>
                </a:solidFill>
                <a:latin typeface="Arial"/>
              </a:rPr>
              <a:t>Source: Hytera case records (Papua New Guinea Police HQ command centre), slides 2-4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228600" cy="635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9800" y="279400"/>
            <a:ext cx="9906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2100" b="1">
                <a:solidFill>
                  <a:srgbClr val="0B308E"/>
                </a:solidFill>
                <a:latin typeface="Arial"/>
              </a:rPr>
              <a:t>Who does what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87400"/>
            <a:ext cx="889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50" b="1">
                <a:solidFill>
                  <a:srgbClr val="7F9B00"/>
                </a:solidFill>
                <a:latin typeface="Arial"/>
              </a:rPr>
              <a:t>BUSINESS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23600" y="279400"/>
            <a:ext cx="5588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300"/>
              </a:spcAft>
            </a:pPr>
            <a:r>
              <a:rPr sz="1700" b="1">
                <a:solidFill>
                  <a:srgbClr val="0B308E"/>
                </a:solidFill>
                <a:latin typeface="Arial"/>
              </a:rPr>
              <a:t>19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9600" y="1041400"/>
            <a:ext cx="10972800" cy="0"/>
          </a:xfrm>
          <a:prstGeom prst="line">
            <a:avLst/>
          </a:prstGeom>
          <a:ln w="12700">
            <a:solidFill>
              <a:srgbClr val="D6E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09600" y="11938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0">
                <a:solidFill>
                  <a:srgbClr val="55607A"/>
                </a:solidFill>
                <a:latin typeface="Arial"/>
              </a:rPr>
              <a:t>Three parties, one chain. The question is not whether the technology works, but who commits first.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1549400"/>
            <a:ext cx="3352800" cy="14732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800" y="1701800"/>
            <a:ext cx="50800" cy="3302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0600" y="1701800"/>
            <a:ext cx="27940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450" b="1">
                <a:solidFill>
                  <a:srgbClr val="FFFFFF"/>
                </a:solidFill>
                <a:latin typeface="Arial"/>
              </a:rPr>
              <a:t>Hytera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0600" y="2184400"/>
            <a:ext cx="2768600" cy="736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950" b="0">
                <a:solidFill>
                  <a:srgbClr val="DCE5F3"/>
                </a:solidFill>
                <a:latin typeface="Arial"/>
              </a:rPr>
              <a:t>supplies the radio, terminals, platform and integration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013200" y="2108200"/>
            <a:ext cx="330200" cy="431800"/>
          </a:xfrm>
          <a:prstGeom prst="rightArrow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1549400"/>
            <a:ext cx="3352800" cy="1473200"/>
          </a:xfrm>
          <a:prstGeom prst="rect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22800" y="1701800"/>
            <a:ext cx="50800" cy="3302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0600" y="1701800"/>
            <a:ext cx="27940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450" b="1">
                <a:solidFill>
                  <a:srgbClr val="FFFFFF"/>
                </a:solidFill>
                <a:latin typeface="Arial"/>
              </a:rPr>
              <a:t>Globe Telecom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2184400"/>
            <a:ext cx="2768600" cy="736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950" b="0">
                <a:solidFill>
                  <a:srgbClr val="DCE5F3"/>
                </a:solidFill>
                <a:latin typeface="Arial"/>
              </a:rPr>
              <a:t>holds the spectrum, builds and operates the network, owns the customer relationship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823200" y="2108200"/>
            <a:ext cx="330200" cy="431800"/>
          </a:xfrm>
          <a:prstGeom prst="rightArrow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549400"/>
            <a:ext cx="3352800" cy="1473200"/>
          </a:xfrm>
          <a:prstGeom prst="rect">
            <a:avLst/>
          </a:prstGeom>
          <a:solidFill>
            <a:srgbClr val="3A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32800" y="1701800"/>
            <a:ext cx="50800" cy="3302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10600" y="1701800"/>
            <a:ext cx="27940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450" b="1">
                <a:solidFill>
                  <a:srgbClr val="FFFFFF"/>
                </a:solidFill>
                <a:latin typeface="Arial"/>
              </a:rPr>
              <a:t>Anchor customers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10600" y="2184400"/>
            <a:ext cx="2768600" cy="736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950" b="0">
                <a:solidFill>
                  <a:srgbClr val="DCE5F3"/>
                </a:solidFill>
                <a:latin typeface="Arial"/>
              </a:rPr>
              <a:t>utilities, public safety, transport and ports contract capacity before build-out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3251200"/>
            <a:ext cx="5334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50" b="1">
                <a:solidFill>
                  <a:srgbClr val="7F9B00"/>
                </a:solidFill>
                <a:latin typeface="Arial"/>
              </a:rPr>
              <a:t>THREE WAYS TO CUT THE COST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9600" y="3556000"/>
            <a:ext cx="3556000" cy="1270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9600" y="3556000"/>
            <a:ext cx="44450" cy="12700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6" name="Picture 25" descr="a_1d661ea45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172" y="3733800"/>
            <a:ext cx="250854" cy="508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295400" y="3708400"/>
            <a:ext cx="2667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1">
                <a:solidFill>
                  <a:srgbClr val="0B308E"/>
                </a:solidFill>
                <a:latin typeface="Arial"/>
              </a:rPr>
              <a:t>Reuse what Globe already has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2800" y="4267200"/>
            <a:ext cx="31496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900" b="0">
                <a:solidFill>
                  <a:srgbClr val="55607A"/>
                </a:solidFill>
                <a:latin typeface="Arial"/>
              </a:rPr>
              <a:t>Towers, fibre, equipment rooms and power are already in place along the routes that matter.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18000" y="3556000"/>
            <a:ext cx="3556000" cy="1270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18000" y="3556000"/>
            <a:ext cx="44450" cy="12700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1" name="Picture 30" descr="a_51ebbb77b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1049" y="3733800"/>
            <a:ext cx="175900" cy="5080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003800" y="3708400"/>
            <a:ext cx="2667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1">
                <a:solidFill>
                  <a:srgbClr val="0B308E"/>
                </a:solidFill>
                <a:latin typeface="Arial"/>
              </a:rPr>
              <a:t>Far fewer sites for the same coverage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1200" y="4267200"/>
            <a:ext cx="31496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900" b="0">
                <a:solidFill>
                  <a:srgbClr val="55607A"/>
                </a:solidFill>
                <a:latin typeface="Arial"/>
              </a:rPr>
              <a:t>The site count for the same area is a fraction of mid-band - which is what makes backup power affordable.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26400" y="3556000"/>
            <a:ext cx="3556000" cy="1270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26400" y="3556000"/>
            <a:ext cx="44450" cy="12700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6" name="Picture 35" descr="a_e496277ae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3782109"/>
            <a:ext cx="355600" cy="41138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712200" y="3708400"/>
            <a:ext cx="2667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1">
                <a:solidFill>
                  <a:srgbClr val="0B308E"/>
                </a:solidFill>
                <a:latin typeface="Arial"/>
              </a:rPr>
              <a:t>Contract the demand before the build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4267200"/>
            <a:ext cx="31496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900" b="0">
                <a:solidFill>
                  <a:srgbClr val="55607A"/>
                </a:solidFill>
                <a:latin typeface="Arial"/>
              </a:rPr>
              <a:t>Anchor customers commit capacity first, so the network is built against revenue rather than in front of it.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9600" y="4978400"/>
            <a:ext cx="10972800" cy="5588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09600" y="4978400"/>
            <a:ext cx="44450" cy="558800"/>
          </a:xfrm>
          <a:prstGeom prst="rect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8200" y="4978400"/>
            <a:ext cx="10515600" cy="55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0B308E"/>
                </a:solidFill>
                <a:latin typeface="Arial"/>
              </a:rPr>
              <a:t>A lesson from the Alliance’s country reports:  </a:t>
            </a:r>
            <a:r>
              <a:rPr sz="1100" b="0">
                <a:solidFill>
                  <a:srgbClr val="55607A"/>
                </a:solidFill>
                <a:latin typeface="Arial"/>
              </a:rPr>
              <a:t>Portugal’s 450 MHz trial stalled on commercial terms, not on the technology - so the sequencing matters most.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9600" y="6451600"/>
            <a:ext cx="109728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00" b="0">
                <a:solidFill>
                  <a:srgbClr val="93A0B4"/>
                </a:solidFill>
                <a:latin typeface="Arial"/>
              </a:rPr>
              <a:t>Source: 450 MHz Alliance, Annual Global Update (Dec 2025) p9 (Portugal: trial network, licence award pending on commercial terms); Hytera proposal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228600" cy="635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9800" y="279400"/>
            <a:ext cx="9906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2100" b="1">
                <a:solidFill>
                  <a:srgbClr val="0B308E"/>
                </a:solidFill>
                <a:latin typeface="Arial"/>
              </a:rPr>
              <a:t>Six revenue streams on one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87400"/>
            <a:ext cx="889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50" b="1">
                <a:solidFill>
                  <a:srgbClr val="7F9B00"/>
                </a:solidFill>
                <a:latin typeface="Arial"/>
              </a:rPr>
              <a:t>BUSINESS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23600" y="279400"/>
            <a:ext cx="5588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300"/>
              </a:spcAft>
            </a:pPr>
            <a:r>
              <a:rPr sz="1700" b="1">
                <a:solidFill>
                  <a:srgbClr val="0B308E"/>
                </a:solidFill>
                <a:latin typeface="Arial"/>
              </a:rPr>
              <a:t>20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9600" y="1041400"/>
            <a:ext cx="10972800" cy="0"/>
          </a:xfrm>
          <a:prstGeom prst="line">
            <a:avLst/>
          </a:prstGeom>
          <a:ln w="12700">
            <a:solidFill>
              <a:srgbClr val="D6E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09600" y="11938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0">
                <a:solidFill>
                  <a:srgbClr val="55607A"/>
                </a:solidFill>
                <a:latin typeface="Arial"/>
              </a:rPr>
              <a:t>A single 450 MHz build supports six commercial lines. None of them depends on consumer take-up.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1549400"/>
            <a:ext cx="3556000" cy="18288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1549400"/>
            <a:ext cx="3556000" cy="4445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a_5ffa94c9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554" y="1803400"/>
            <a:ext cx="259291" cy="508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498600" y="1930400"/>
            <a:ext cx="203200" cy="381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98600" y="2057400"/>
            <a:ext cx="2463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50" b="1">
                <a:solidFill>
                  <a:srgbClr val="0B308E"/>
                </a:solidFill>
                <a:latin typeface="Arial"/>
              </a:rPr>
              <a:t>IoT connectivity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800" y="2540000"/>
            <a:ext cx="3149600" cy="71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950" b="0">
                <a:solidFill>
                  <a:srgbClr val="55607A"/>
                </a:solidFill>
                <a:latin typeface="Arial"/>
              </a:rPr>
              <a:t>Monthly fee per meter, sensor or asset, on the same sites as the voice service.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18000" y="1549400"/>
            <a:ext cx="3556000" cy="18288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18000" y="1549400"/>
            <a:ext cx="3556000" cy="4445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" name="Picture 16" descr="a_51ebbb77b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2649" y="1803400"/>
            <a:ext cx="175900" cy="5080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5207000" y="1930400"/>
            <a:ext cx="203200" cy="381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07000" y="2057400"/>
            <a:ext cx="2463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50" b="1">
                <a:solidFill>
                  <a:srgbClr val="0B308E"/>
                </a:solidFill>
                <a:latin typeface="Arial"/>
              </a:rPr>
              <a:t>MCX as a service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1200" y="2540000"/>
            <a:ext cx="3149600" cy="71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950" b="0">
                <a:solidFill>
                  <a:srgbClr val="55607A"/>
                </a:solidFill>
                <a:latin typeface="Arial"/>
              </a:rPr>
              <a:t>Hosted push-to-talk, video and data, charged per user per month.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26400" y="1549400"/>
            <a:ext cx="3556000" cy="18288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26400" y="1549400"/>
            <a:ext cx="3556000" cy="4445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3" name="Picture 22" descr="a_1d661ea45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3572" y="1803400"/>
            <a:ext cx="250854" cy="50800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8915400" y="1930400"/>
            <a:ext cx="203200" cy="381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15400" y="2057400"/>
            <a:ext cx="2463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50" b="1">
                <a:solidFill>
                  <a:srgbClr val="0B308E"/>
                </a:solidFill>
                <a:latin typeface="Arial"/>
              </a:rPr>
              <a:t>Capacity packages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2540000"/>
            <a:ext cx="3149600" cy="71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950" b="0">
                <a:solidFill>
                  <a:srgbClr val="55607A"/>
                </a:solidFill>
                <a:latin typeface="Arial"/>
              </a:rPr>
              <a:t>Reserved network share for an anchor customer, on a fixed annual fee.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9600" y="3530600"/>
            <a:ext cx="3556000" cy="18288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9600" y="3530600"/>
            <a:ext cx="3556000" cy="4445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9" name="Picture 28" descr="a_62ecf1c15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758" y="3784600"/>
            <a:ext cx="278883" cy="508000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1498600" y="3911600"/>
            <a:ext cx="203200" cy="381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98600" y="4038600"/>
            <a:ext cx="2463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50" b="1">
                <a:solidFill>
                  <a:srgbClr val="0B308E"/>
                </a:solidFill>
                <a:latin typeface="Arial"/>
              </a:rPr>
              <a:t>Device as a service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2800" y="4521200"/>
            <a:ext cx="3149600" cy="71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950" b="0">
                <a:solidFill>
                  <a:srgbClr val="55607A"/>
                </a:solidFill>
                <a:latin typeface="Arial"/>
              </a:rPr>
              <a:t>Terminals bundled with the service, billed monthly rather than bought outright.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18000" y="3530600"/>
            <a:ext cx="3556000" cy="18288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18000" y="3530600"/>
            <a:ext cx="3556000" cy="4445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5" name="Picture 34" descr="a_e496277ae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1040" y="3784600"/>
            <a:ext cx="439118" cy="508000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5207000" y="3911600"/>
            <a:ext cx="203200" cy="381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07000" y="4038600"/>
            <a:ext cx="2463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50" b="1">
                <a:solidFill>
                  <a:srgbClr val="0B308E"/>
                </a:solidFill>
                <a:latin typeface="Arial"/>
              </a:rPr>
              <a:t>Integration and O&amp;M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21200" y="4521200"/>
            <a:ext cx="3149600" cy="71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950" b="0">
                <a:solidFill>
                  <a:srgbClr val="55607A"/>
                </a:solidFill>
                <a:latin typeface="Arial"/>
              </a:rPr>
              <a:t>SCADA, telemetry and smart-city projects, delivered and maintained.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26400" y="3530600"/>
            <a:ext cx="3556000" cy="18288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26400" y="3530600"/>
            <a:ext cx="3556000" cy="4445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1" name="Picture 40" descr="a_e38156bd2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5000" y="3815316"/>
            <a:ext cx="508000" cy="446567"/>
          </a:xfrm>
          <a:prstGeom prst="rect">
            <a:avLst/>
          </a:prstGeom>
        </p:spPr>
      </p:pic>
      <p:sp>
        <p:nvSpPr>
          <p:cNvPr id="42" name="Rectangle 41"/>
          <p:cNvSpPr/>
          <p:nvPr/>
        </p:nvSpPr>
        <p:spPr>
          <a:xfrm>
            <a:off x="8915400" y="3911600"/>
            <a:ext cx="203200" cy="381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15400" y="4038600"/>
            <a:ext cx="2463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50" b="1">
                <a:solidFill>
                  <a:srgbClr val="0B308E"/>
                </a:solidFill>
                <a:latin typeface="Arial"/>
              </a:rPr>
              <a:t>Emergency readiness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0" y="4521200"/>
            <a:ext cx="3149600" cy="71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950" b="0">
                <a:solidFill>
                  <a:srgbClr val="55607A"/>
                </a:solidFill>
                <a:latin typeface="Arial"/>
              </a:rPr>
              <a:t>Rapid deployment kit on standby, retained by the province or the agency.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5740400"/>
            <a:ext cx="12192000" cy="5080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9600" y="5740400"/>
            <a:ext cx="109728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One build, six lines.  </a:t>
            </a:r>
            <a:r>
              <a:rPr sz="1200" b="0">
                <a:solidFill>
                  <a:srgbClr val="DCE5F3"/>
                </a:solidFill>
                <a:latin typeface="Arial"/>
              </a:rPr>
              <a:t>The utility contract funds the coverage that the other five then use.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9600" y="6451600"/>
            <a:ext cx="109728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00" b="0">
                <a:solidFill>
                  <a:srgbClr val="93A0B4"/>
                </a:solidFill>
                <a:latin typeface="Arial"/>
              </a:rPr>
              <a:t>Source: Hytera proposal; 450 MHz Alliance business model material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228600" cy="635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9800" y="279400"/>
            <a:ext cx="9906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2100" b="1">
                <a:solidFill>
                  <a:srgbClr val="0B308E"/>
                </a:solidFill>
                <a:latin typeface="Arial"/>
              </a:rPr>
              <a:t>Roadmap: pilot first, then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87400"/>
            <a:ext cx="889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50" b="1">
                <a:solidFill>
                  <a:srgbClr val="7F9B00"/>
                </a:solidFill>
                <a:latin typeface="Arial"/>
              </a:rP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23600" y="279400"/>
            <a:ext cx="5588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300"/>
              </a:spcAft>
            </a:pPr>
            <a:r>
              <a:rPr sz="1700" b="1">
                <a:solidFill>
                  <a:srgbClr val="0B308E"/>
                </a:solidFill>
                <a:latin typeface="Arial"/>
              </a:rPr>
              <a:t>21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9600" y="1041400"/>
            <a:ext cx="10972800" cy="0"/>
          </a:xfrm>
          <a:prstGeom prst="line">
            <a:avLst/>
          </a:prstGeom>
          <a:ln w="12700">
            <a:solidFill>
              <a:srgbClr val="D6E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09600" y="11938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0">
                <a:solidFill>
                  <a:srgbClr val="55607A"/>
                </a:solidFill>
                <a:latin typeface="Arial"/>
              </a:rPr>
              <a:t>One typhoon-belt province, two anchor customers, and the data Globe needs for a national decision.</a:t>
            </a:r>
          </a:p>
        </p:txBody>
      </p:sp>
      <p:sp>
        <p:nvSpPr>
          <p:cNvPr id="9" name="Pentagon 8"/>
          <p:cNvSpPr/>
          <p:nvPr/>
        </p:nvSpPr>
        <p:spPr>
          <a:xfrm>
            <a:off x="609600" y="1549400"/>
            <a:ext cx="2362200" cy="1219200"/>
          </a:xfrm>
          <a:prstGeom prst="homePlate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7400" y="1676400"/>
            <a:ext cx="1905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1">
                <a:solidFill>
                  <a:srgbClr val="8CC63F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7400" y="1905000"/>
            <a:ext cx="190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Confirm the spectrum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7400" y="2311400"/>
            <a:ext cx="1930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50" b="0">
                <a:solidFill>
                  <a:srgbClr val="DCE5F3"/>
                </a:solidFill>
                <a:latin typeface="Arial"/>
              </a:rPr>
              <a:t>Band, bandwidth and licence term</a:t>
            </a:r>
          </a:p>
        </p:txBody>
      </p:sp>
      <p:sp>
        <p:nvSpPr>
          <p:cNvPr id="13" name="Pentagon 12"/>
          <p:cNvSpPr/>
          <p:nvPr/>
        </p:nvSpPr>
        <p:spPr>
          <a:xfrm>
            <a:off x="2743200" y="1549400"/>
            <a:ext cx="2362200" cy="1219200"/>
          </a:xfrm>
          <a:prstGeom prst="homePlate">
            <a:avLst/>
          </a:prstGeom>
          <a:solidFill>
            <a:srgbClr val="3A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1000" y="1676400"/>
            <a:ext cx="1905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1">
                <a:solidFill>
                  <a:srgbClr val="8CC63F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1000" y="1905000"/>
            <a:ext cx="190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Pick the pilot region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1000" y="2311400"/>
            <a:ext cx="1930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50" b="0">
                <a:solidFill>
                  <a:srgbClr val="DCE5F3"/>
                </a:solidFill>
                <a:latin typeface="Arial"/>
              </a:rPr>
              <a:t>One province, plus two anchors</a:t>
            </a:r>
          </a:p>
        </p:txBody>
      </p:sp>
      <p:sp>
        <p:nvSpPr>
          <p:cNvPr id="17" name="Pentagon 16"/>
          <p:cNvSpPr/>
          <p:nvPr/>
        </p:nvSpPr>
        <p:spPr>
          <a:xfrm>
            <a:off x="4876800" y="1549400"/>
            <a:ext cx="2362200" cy="1219200"/>
          </a:xfrm>
          <a:prstGeom prst="homePlate">
            <a:avLst/>
          </a:prstGeom>
          <a:solidFill>
            <a:srgbClr val="3A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54600" y="1676400"/>
            <a:ext cx="1905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1">
                <a:solidFill>
                  <a:srgbClr val="8CC63F"/>
                </a:solidFill>
                <a:latin typeface="Arial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4600" y="1905000"/>
            <a:ext cx="190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Build the pilot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54600" y="2311400"/>
            <a:ext cx="1930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50" b="0">
                <a:solidFill>
                  <a:srgbClr val="DCE5F3"/>
                </a:solidFill>
                <a:latin typeface="Arial"/>
              </a:rPr>
              <a:t>Sites, platform, terminals, meters</a:t>
            </a:r>
          </a:p>
        </p:txBody>
      </p:sp>
      <p:sp>
        <p:nvSpPr>
          <p:cNvPr id="21" name="Pentagon 20"/>
          <p:cNvSpPr/>
          <p:nvPr/>
        </p:nvSpPr>
        <p:spPr>
          <a:xfrm>
            <a:off x="7010400" y="1549400"/>
            <a:ext cx="2362200" cy="1219200"/>
          </a:xfrm>
          <a:prstGeom prst="homePlate">
            <a:avLst/>
          </a:prstGeom>
          <a:solidFill>
            <a:srgbClr val="3A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88200" y="1676400"/>
            <a:ext cx="1905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1">
                <a:solidFill>
                  <a:srgbClr val="8CC63F"/>
                </a:solidFill>
                <a:latin typeface="Arial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88200" y="1905000"/>
            <a:ext cx="190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Prove the case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88200" y="2311400"/>
            <a:ext cx="1930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50" b="0">
                <a:solidFill>
                  <a:srgbClr val="DCE5F3"/>
                </a:solidFill>
                <a:latin typeface="Arial"/>
              </a:rPr>
              <a:t>Coverage, availability and cost data</a:t>
            </a:r>
          </a:p>
        </p:txBody>
      </p:sp>
      <p:sp>
        <p:nvSpPr>
          <p:cNvPr id="25" name="Pentagon 24"/>
          <p:cNvSpPr/>
          <p:nvPr/>
        </p:nvSpPr>
        <p:spPr>
          <a:xfrm>
            <a:off x="9144000" y="1549400"/>
            <a:ext cx="2362200" cy="1219200"/>
          </a:xfrm>
          <a:prstGeom prst="homePlate">
            <a:avLst/>
          </a:prstGeom>
          <a:solidFill>
            <a:srgbClr val="3A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1800" y="1676400"/>
            <a:ext cx="1905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00" b="1">
                <a:solidFill>
                  <a:srgbClr val="8CC63F"/>
                </a:solidFill>
                <a:latin typeface="Arial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1800" y="1905000"/>
            <a:ext cx="190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Scale nationwide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1800" y="2311400"/>
            <a:ext cx="1930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50" b="0">
                <a:solidFill>
                  <a:srgbClr val="DCE5F3"/>
                </a:solidFill>
                <a:latin typeface="Arial"/>
              </a:rPr>
              <a:t>Emergency, transport, smart city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9600" y="3149600"/>
            <a:ext cx="10972800" cy="14732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9600" y="3149600"/>
            <a:ext cx="44450" cy="1473200"/>
          </a:xfrm>
          <a:prstGeom prst="rect">
            <a:avLst/>
          </a:prstGeom>
          <a:solidFill>
            <a:srgbClr val="7F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3600" y="3327400"/>
            <a:ext cx="381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50" b="1">
                <a:solidFill>
                  <a:srgbClr val="0B308E"/>
                </a:solidFill>
                <a:latin typeface="Arial"/>
              </a:rPr>
              <a:t>What we need from Globe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3600" y="3759200"/>
            <a:ext cx="76200" cy="762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6800" y="3708400"/>
            <a:ext cx="31496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b="1">
                <a:solidFill>
                  <a:srgbClr val="0B308E"/>
                </a:solidFill>
                <a:latin typeface="Arial"/>
              </a:rPr>
              <a:t>Spectrum parameters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6800" y="3987800"/>
            <a:ext cx="3175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950" b="0">
                <a:solidFill>
                  <a:srgbClr val="55607A"/>
                </a:solidFill>
                <a:latin typeface="Arial"/>
              </a:rPr>
              <a:t>The band and bandwidth, so the coverage and capacity modelling is exact.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19600" y="3759200"/>
            <a:ext cx="76200" cy="762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22800" y="3708400"/>
            <a:ext cx="31496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b="1">
                <a:solidFill>
                  <a:srgbClr val="0B308E"/>
                </a:solidFill>
                <a:latin typeface="Arial"/>
              </a:rPr>
              <a:t>A candidate province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22800" y="3987800"/>
            <a:ext cx="3175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950" b="0">
                <a:solidFill>
                  <a:srgbClr val="55607A"/>
                </a:solidFill>
                <a:latin typeface="Arial"/>
              </a:rPr>
              <a:t>One region, ideally in the typhoon belt, where the gap is visible.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75600" y="3759200"/>
            <a:ext cx="76200" cy="762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78800" y="3708400"/>
            <a:ext cx="31496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b="1">
                <a:solidFill>
                  <a:srgbClr val="0B308E"/>
                </a:solidFill>
                <a:latin typeface="Arial"/>
              </a:rPr>
              <a:t>Anchor introductions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78800" y="3987800"/>
            <a:ext cx="3175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950" b="0">
                <a:solidFill>
                  <a:srgbClr val="55607A"/>
                </a:solidFill>
                <a:latin typeface="Arial"/>
              </a:rPr>
              <a:t>One electric cooperative and one water district willing to trial.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9600" y="4826000"/>
            <a:ext cx="10972800" cy="508000"/>
          </a:xfrm>
          <a:prstGeom prst="rect">
            <a:avLst/>
          </a:prstGeom>
          <a:solidFill>
            <a:srgbClr val="F1F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8200" y="4826000"/>
            <a:ext cx="105156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7F9B00"/>
                </a:solidFill>
                <a:latin typeface="Arial"/>
              </a:rPr>
              <a:t>We are not proposing a build.  </a:t>
            </a:r>
            <a:r>
              <a:rPr sz="1100" b="0">
                <a:solidFill>
                  <a:srgbClr val="55607A"/>
                </a:solidFill>
                <a:latin typeface="Arial"/>
              </a:rPr>
              <a:t>The next step is a joint pilot design, so Globe can test the assumptions in its own terrain.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5740400"/>
            <a:ext cx="12192000" cy="5080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9600" y="5740400"/>
            <a:ext cx="109728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The technical case is settled.  </a:t>
            </a:r>
            <a:r>
              <a:rPr sz="1200" b="0">
                <a:solidFill>
                  <a:srgbClr val="DCE5F3"/>
                </a:solidFill>
                <a:latin typeface="Arial"/>
              </a:rPr>
              <a:t>What decides the outcome is whether demand is contracted before build-out.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9600" y="6451600"/>
            <a:ext cx="109728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800" b="0">
                <a:solidFill>
                  <a:srgbClr val="93A0B4"/>
                </a:solidFill>
                <a:latin typeface="Arial"/>
              </a:rPr>
              <a:t>Source: Hytera proposal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064000" cy="762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6200"/>
            <a:ext cx="76200" cy="6781800"/>
          </a:xfrm>
          <a:prstGeom prst="rect">
            <a:avLst/>
          </a:prstGeom>
          <a:solidFill>
            <a:srgbClr val="0B3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Picture 5" descr="a_2b6cd945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2800" y="384070"/>
            <a:ext cx="1397000" cy="5526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3600" y="1371600"/>
            <a:ext cx="584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50" b="1">
                <a:solidFill>
                  <a:srgbClr val="7F9B00"/>
                </a:solidFill>
                <a:latin typeface="Arial"/>
              </a:rPr>
              <a:t>HYTERA  ×  GLOBE TELECOM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3600" y="1752600"/>
            <a:ext cx="5969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4000" b="1">
                <a:solidFill>
                  <a:srgbClr val="0B308E"/>
                </a:solidFill>
                <a:latin typeface="Arial"/>
              </a:rPr>
              <a:t>Thank you</a:t>
            </a:r>
          </a:p>
        </p:txBody>
      </p:sp>
      <p:sp>
        <p:nvSpPr>
          <p:cNvPr id="9" name="Rectangle 8"/>
          <p:cNvSpPr/>
          <p:nvPr/>
        </p:nvSpPr>
        <p:spPr>
          <a:xfrm>
            <a:off x="863600" y="3124200"/>
            <a:ext cx="914400" cy="5080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3600" y="3454400"/>
            <a:ext cx="5588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400" b="1">
                <a:solidFill>
                  <a:srgbClr val="7F9B00"/>
                </a:solidFill>
                <a:latin typeface="Arial"/>
              </a:rPr>
              <a:t>Mission First  ·  Safety Always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3600" y="3911600"/>
            <a:ext cx="5715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150" b="0">
                <a:solidFill>
                  <a:srgbClr val="55607A"/>
                </a:solidFill>
                <a:latin typeface="Arial"/>
              </a:rPr>
              <a:t>Hytera × Globe Telecom  ·  450 MHz for critical infrastructure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150" b="0">
                <a:solidFill>
                  <a:srgbClr val="55607A"/>
                </a:solidFill>
                <a:latin typeface="Arial"/>
              </a:rPr>
              <a:t>and remote communities.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3600" y="4699000"/>
            <a:ext cx="5715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150" b="0">
                <a:solidFill>
                  <a:srgbClr val="55607A"/>
                </a:solidFill>
                <a:latin typeface="Arial"/>
              </a:rPr>
              <a:t>Next step: confirm the spectrum parameters and nominate a pilot region,</a:t>
            </a:r>
          </a:p>
          <a:p>
            <a:pPr algn="l">
              <a:lnSpc>
                <a:spcPct val="142000"/>
              </a:lnSpc>
              <a:spcAft>
                <a:spcPts val="300"/>
              </a:spcAft>
            </a:pPr>
            <a:r>
              <a:rPr sz="1150" b="0">
                <a:solidFill>
                  <a:srgbClr val="55607A"/>
                </a:solidFill>
                <a:latin typeface="Arial"/>
              </a:rPr>
              <a:t>and we will design the pilot with you.</a:t>
            </a:r>
          </a:p>
        </p:txBody>
      </p:sp>
      <p:pic>
        <p:nvPicPr>
          <p:cNvPr id="13" name="Picture 12" descr="a_64ddced7b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7553" y="838200"/>
            <a:ext cx="3094892" cy="4470400"/>
          </a:xfrm>
          <a:prstGeom prst="rect">
            <a:avLst/>
          </a:prstGeom>
        </p:spPr>
      </p:pic>
      <p:pic>
        <p:nvPicPr>
          <p:cNvPr id="14" name="Picture 13" descr="a_b7de459c1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3400" y="1884191"/>
            <a:ext cx="1092200" cy="3369016"/>
          </a:xfrm>
          <a:prstGeom prst="rect">
            <a:avLst/>
          </a:prstGeom>
        </p:spPr>
      </p:pic>
      <p:cxnSp>
        <p:nvCxnSpPr>
          <p:cNvPr id="15" name="Connector 14"/>
          <p:cNvCxnSpPr/>
          <p:nvPr/>
        </p:nvCxnSpPr>
        <p:spPr>
          <a:xfrm>
            <a:off x="609600" y="5918200"/>
            <a:ext cx="10972800" cy="0"/>
          </a:xfrm>
          <a:prstGeom prst="line">
            <a:avLst/>
          </a:prstGeom>
          <a:ln w="12700">
            <a:solidFill>
              <a:srgbClr val="D6E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09600" y="6121400"/>
            <a:ext cx="5334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50" b="1">
                <a:solidFill>
                  <a:srgbClr val="0B308E"/>
                </a:solidFill>
                <a:latin typeface="Arial"/>
              </a:rPr>
              <a:t>Hytera Communications Corporation Limited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2000" y="6146800"/>
            <a:ext cx="44704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300"/>
              </a:spcAft>
            </a:pPr>
            <a:r>
              <a:rPr sz="950" b="0">
                <a:solidFill>
                  <a:srgbClr val="93A0B4"/>
                </a:solidFill>
                <a:latin typeface="Arial"/>
              </a:rPr>
              <a:t>Thank you for your time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3459</Words>
  <Application>Microsoft Macintosh PowerPoint</Application>
  <PresentationFormat>宽屏</PresentationFormat>
  <Paragraphs>390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1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stefan yu</dc:creator>
  <cp:lastModifiedBy>stefan yu</cp:lastModifiedBy>
  <cp:revision>1</cp:revision>
  <dcterms:created xsi:type="dcterms:W3CDTF">2026-10-10T01:12:47Z</dcterms:created>
  <dcterms:modified xsi:type="dcterms:W3CDTF">2026-10-10T01:38:43Z</dcterms:modified>
</cp:coreProperties>
</file>