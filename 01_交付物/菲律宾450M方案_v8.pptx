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87603"/>
  </p:normalViewPr>
  <p:slideViewPr>
    <p:cSldViewPr snapToGrid="0">
      <p:cViewPr varScale="1">
        <p:scale>
          <a:sx n="110" d="100"/>
          <a:sy n="11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4660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47FDD-D38F-E8F5-8586-E9662854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90AE4-F9E4-5FD9-42AF-9099DFB8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CE86-5C68-32E7-D4E0-B2761B6C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EA70-862F-65FC-F764-9F45D4A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C33ED-5EBC-FA7B-0C38-EA39C46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37B1B-511C-D4F8-7DF7-64EC8B6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BE62D-2664-56CB-82C4-04C33D46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67FE-6C09-037E-14DD-381C54D5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96919-FD4A-9072-7E35-742516F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BDBD7-22AF-728F-B452-8AA3C2EF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0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9FEF-46D9-58A0-4123-77A3F86E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B04C57-B239-E772-614E-004D45A9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51A5B-944A-D7C3-E6C5-B7BA6FC4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9A231-E1D6-02E5-049E-13B6C93B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85DA2-F919-AB2D-F4AB-9744308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53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ECDE-D311-74B1-0F20-F87A6A7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9B88-FA6C-8ECF-D8A5-00CA3EDE0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993D3-8E45-B3B9-AB74-754EF2E7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EAE69-5CB6-4FFB-A05B-FAFE465F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7215C-0B7F-E4B7-5E41-E225FE47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1607B-F95D-FA9A-48D0-AB90D6E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B30D-EF98-9776-0E67-87371B2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8FDD7-C50E-7D11-4708-BD3BD048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05520-BEDD-DC89-EDB8-29A55A6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A41E8D-4EDE-E951-9249-16343C40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15438-E2BC-3C49-A770-61F2058F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69E29F-2CA3-451B-1588-22B05F1C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0C48-D0FC-01D7-EFB2-E342FFD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2CF963-EAD2-D222-FE32-733BFF92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A2317-4DD0-7705-8F0E-9C1AE46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0B3C6B-F1F3-8087-82E4-22E777BF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57A2B-3769-94B4-A8DA-143705D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69BBB-3D3E-D5C1-373C-4AEBE84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ED18-81E5-087C-CE7B-D43178BA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D668C-C643-0734-3F58-28ECB696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AAAD-C5EF-CB82-DA12-5DCCE44F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5AE71-64EC-7CAF-DCC1-AC7B7F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41FA-757E-CC97-7EBF-8640D3A5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92CD0-2012-EC24-D6A6-D8F0D623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89081-6ADA-73DD-0406-D90801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05348-185C-AEBE-DDBC-FA8F5835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4C1BA-03A9-E84F-1095-593ADDB3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37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98B2-5754-13F5-8B12-C9C8CBC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E2333-142C-3E91-91F4-A347E32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17102-E033-CDC0-B618-299CC91D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05AFF9-9891-A28B-4FBF-DFF53204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2270D-2426-270F-0336-B3337C39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58EA-4E08-6B21-F095-EE06B953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6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809F-C91F-7B47-8C12-D25BA362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A7382-0CA7-7D8B-83FF-08EF7612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417F5-F88C-8CA1-E9BC-7CAC37C4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4339F-FA6A-38A9-D527-0FDC93D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B572A-7476-7FB5-9791-802D508D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8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63993-AF72-23D1-D01C-F973643BA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46C64-EFAA-9A05-E2F3-ABC71945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B8B04-FC76-CEC2-9550-07C425AD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6A49-4F49-DA65-9C97-50D34FC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31544-F576-56EF-205E-90A98A61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02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10477059" y="327570"/>
            <a:ext cx="1306953" cy="520464"/>
            <a:chOff x="1739537" y="98099"/>
            <a:chExt cx="4612704" cy="1836902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65112" y="6498448"/>
            <a:ext cx="1555083" cy="1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4FF59C-D32E-291D-F4BC-2EBEDD3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CB62A-A28B-9E82-A3F3-AF5202CE4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780B2-EC77-5362-71CA-6DDF89EE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DEC29-7515-0103-604F-66D4083E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263E4-CC43-E1F8-6671-5541F77E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jpg"/><Relationship Id="rId7" Type="http://schemas.openxmlformats.org/officeDocument/2006/relationships/image" Target="../media/image19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31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32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12.png"/><Relationship Id="rId6" Type="http://schemas.openxmlformats.org/officeDocument/2006/relationships/image" Target="../media/image58.png"/><Relationship Id="rId7" Type="http://schemas.openxmlformats.org/officeDocument/2006/relationships/image" Target="../media/image8.png"/><Relationship Id="rId8" Type="http://schemas.openxmlformats.org/officeDocument/2006/relationships/image" Target="../media/image59.png"/><Relationship Id="rId9" Type="http://schemas.openxmlformats.org/officeDocument/2006/relationships/image" Target="../media/image35.png"/><Relationship Id="rId10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jp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62.jpg"/><Relationship Id="rId7" Type="http://schemas.openxmlformats.org/officeDocument/2006/relationships/image" Target="../media/image63.jpg"/><Relationship Id="rId8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57.png"/><Relationship Id="rId4" Type="http://schemas.openxmlformats.org/officeDocument/2006/relationships/image" Target="../media/image12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8.png"/><Relationship Id="rId9" Type="http://schemas.openxmlformats.org/officeDocument/2006/relationships/image" Target="../media/image55.png"/><Relationship Id="rId10" Type="http://schemas.openxmlformats.org/officeDocument/2006/relationships/image" Target="../media/image68.png"/><Relationship Id="rId11" Type="http://schemas.openxmlformats.org/officeDocument/2006/relationships/image" Target="../media/image31.png"/><Relationship Id="rId12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57.png"/><Relationship Id="rId4" Type="http://schemas.openxmlformats.org/officeDocument/2006/relationships/image" Target="../media/image70.png"/><Relationship Id="rId5" Type="http://schemas.openxmlformats.org/officeDocument/2006/relationships/image" Target="../media/image64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Relationship Id="rId9" Type="http://schemas.openxmlformats.org/officeDocument/2006/relationships/image" Target="../media/image7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b7de459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49" y="2413000"/>
            <a:ext cx="1029301" cy="3175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969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>
                <a:solidFill>
                  <a:srgbClr val="0B308E"/>
                </a:solidFill>
                <a:latin typeface="Segoe UI Semibold"/>
              </a:rPr>
              <a:t>450 MHz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>
                <a:solidFill>
                  <a:srgbClr val="0B308E"/>
                </a:solidFill>
                <a:latin typeface="Segoe UI Semibold"/>
              </a:rPr>
              <a:t>Mission-Critical Network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>
                <a:solidFill>
                  <a:srgbClr val="0B308E"/>
                </a:solidFill>
                <a:latin typeface="Segoe UI Semibold"/>
              </a:rPr>
              <a:t>for the Philippines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37084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962400"/>
            <a:ext cx="558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Coverage and resilience for utilities,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5607A"/>
                </a:solidFill>
                <a:latin typeface="Segoe UI"/>
              </a:rPr>
              <a:t>public safety and 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Initial technical exchange  · 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A  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450 MHz: the coverage that stays up after the storm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1663700"/>
            <a:ext cx="685800" cy="685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lay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92" y="1828292"/>
            <a:ext cx="356616" cy="35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9400" y="16002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9400" y="18034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0B308E"/>
                </a:solidFill>
                <a:latin typeface="Segoe UI Semibold"/>
              </a:rPr>
              <a:t>A resilience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9400" y="21590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07A"/>
                </a:solidFill>
                <a:latin typeface="Segoe UI"/>
              </a:rPr>
              <a:t>Alongside 4G and 5G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49400" y="2514600"/>
            <a:ext cx="4470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09600" y="2705100"/>
            <a:ext cx="685800" cy="685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2" y="2869692"/>
            <a:ext cx="356616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49400" y="2641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WHY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9400" y="28448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0B308E"/>
                </a:solidFill>
                <a:latin typeface="Segoe UI Semibold"/>
              </a:rPr>
              <a:t>A mainstream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9400" y="32004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07A"/>
                </a:solidFill>
                <a:latin typeface="Segoe UI"/>
              </a:rPr>
              <a:t>77 countries deployed  ·  39 on LTE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9400" y="3556000"/>
            <a:ext cx="4470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9600" y="3746500"/>
            <a:ext cx="685800" cy="685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hand-coin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92" y="3911091"/>
            <a:ext cx="356616" cy="356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49400" y="36830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WHO PAYS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9400" y="38862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0B308E"/>
                </a:solidFill>
                <a:latin typeface="Segoe UI Semibold"/>
              </a:rPr>
              <a:t>The utilities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9400" y="42418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07A"/>
                </a:solidFill>
                <a:latin typeface="Segoe UI"/>
              </a:rPr>
              <a:t>Power and water anchor the build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49400" y="4597400"/>
            <a:ext cx="4470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09600" y="4787900"/>
            <a:ext cx="685800" cy="685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fl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92" y="4952492"/>
            <a:ext cx="356616" cy="3566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49400" y="47244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WE PROPOSE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9400" y="4927600"/>
            <a:ext cx="431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0B308E"/>
                </a:solidFill>
                <a:latin typeface="Segoe UI Semibold"/>
              </a:rPr>
              <a:t>One pilot province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9400" y="5283200"/>
            <a:ext cx="457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07A"/>
                </a:solidFill>
                <a:latin typeface="Segoe UI"/>
              </a:rPr>
              <a:t>Two anchor customers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4000" y="1549400"/>
            <a:ext cx="4978400" cy="4140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88200" y="1752600"/>
            <a:ext cx="3810000" cy="3505200"/>
          </a:xfrm>
          <a:prstGeom prst="ellipse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70800" y="2196591"/>
            <a:ext cx="2844800" cy="2617216"/>
          </a:xfrm>
          <a:prstGeom prst="ellipse">
            <a:avLst/>
          </a:prstGeom>
          <a:solidFill>
            <a:srgbClr val="E4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3400" y="2640584"/>
            <a:ext cx="1879600" cy="1729232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a_64ddced7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2098322"/>
            <a:ext cx="1930400" cy="2788355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8839200" y="2946400"/>
            <a:ext cx="508000" cy="508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radio-tow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0960" y="3058160"/>
            <a:ext cx="284480" cy="2844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04000" y="5334000"/>
            <a:ext cx="49784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One low-band layer across 7,641 islands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867400"/>
            <a:ext cx="10972800" cy="4826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Picture 41" descr="arrow-righ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5981700"/>
            <a:ext cx="254000" cy="254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19200" y="5867400"/>
            <a:ext cx="1524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CC63F"/>
                </a:solidFill>
                <a:latin typeface="Segoe UI Semibold"/>
              </a:rPr>
              <a:t>Today’s 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8600" y="5867400"/>
            <a:ext cx="8636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Confirm the spectrum  ·  Nominate a pilot province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p11 Table 1; NAMRIA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B  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What is missing is coverage that survives the storm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23622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2800" y="17526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ountai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28" y="186232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2800" y="2336800"/>
            <a:ext cx="19558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0B308E"/>
                </a:solidFill>
                <a:latin typeface="Segoe UI Light"/>
              </a:rPr>
              <a:t>7,641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2946400"/>
            <a:ext cx="195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islands, mostly mountainous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4200" y="1549400"/>
            <a:ext cx="23622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27400" y="17526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28" y="1862327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27400" y="2336800"/>
            <a:ext cx="19558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0B308E"/>
                </a:solidFill>
                <a:latin typeface="Segoe UI Light"/>
              </a:rP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7400" y="2946400"/>
            <a:ext cx="195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WorldRiskIndex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606800"/>
            <a:ext cx="23622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2800" y="3810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tornad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28" y="3919728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800" y="4394200"/>
            <a:ext cx="19558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0B308E"/>
                </a:solidFill>
                <a:latin typeface="Segoe UI Light"/>
              </a:rPr>
              <a:t>~20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5003800"/>
            <a:ext cx="195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tropical cyclones a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4200" y="3606800"/>
            <a:ext cx="23622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27400" y="3810000"/>
            <a:ext cx="457200" cy="4572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128" y="3919728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27400" y="4394200"/>
            <a:ext cx="19558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0">
                <a:solidFill>
                  <a:srgbClr val="0B308E"/>
                </a:solidFill>
                <a:latin typeface="Segoe UI Light"/>
              </a:rPr>
              <a:t>1.4M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7400" y="5003800"/>
            <a:ext cx="195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consumers cut off by Typhoon Tino</a:t>
            </a:r>
          </a:p>
        </p:txBody>
      </p:sp>
      <p:pic>
        <p:nvPicPr>
          <p:cNvPr id="30" name="Picture 29" descr="v6_4589fbbd86.jpg"/>
          <p:cNvPicPr>
            <a:picLocks noChangeAspect="1"/>
          </p:cNvPicPr>
          <p:nvPr/>
        </p:nvPicPr>
        <p:blipFill>
          <a:blip r:embed="rId6"/>
          <a:srcRect l="1312" r="1312"/>
          <a:stretch>
            <a:fillRect/>
          </a:stretch>
        </p:blipFill>
        <p:spPr>
          <a:xfrm>
            <a:off x="5791200" y="1549400"/>
            <a:ext cx="5791200" cy="396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91200" y="5562600"/>
            <a:ext cx="579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Flood rescue. Illustrative imagery.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5816600"/>
            <a:ext cx="4876800" cy="533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building-2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956300"/>
            <a:ext cx="254000" cy="254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19200" y="5816600"/>
            <a:ext cx="127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4G / 5G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87600" y="5816600"/>
            <a:ext cx="28956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07A"/>
                </a:solidFill>
                <a:latin typeface="Segoe UI"/>
              </a:rPr>
              <a:t>capacity in the cities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816600"/>
            <a:ext cx="5791200" cy="533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radio-tow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956300"/>
            <a:ext cx="254000" cy="254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00800" y="5816600"/>
            <a:ext cx="127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8CC63F"/>
                </a:solidFill>
                <a:latin typeface="Segoe UI Semibold"/>
              </a:rPr>
              <a:t>450 MHz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9200" y="5816600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coverage that stays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NAMRIA; WorldRiskReport 2025; PAGASA; Department of Energy (5 Nov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B   WHY 450 MHZ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One low-band grid covers what mid-band leaves dark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2032000" cy="381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7018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7F9B00"/>
                </a:solidFill>
                <a:latin typeface="Segoe UI Semibold"/>
              </a:rPr>
              <a:t>410 / 450 MHZ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5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17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58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700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41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383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24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066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49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5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7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58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00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41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383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24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066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07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49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5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17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8585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700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541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383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24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0660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907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749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75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17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58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700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541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383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24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066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907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749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5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7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858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700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541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383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24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066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907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749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75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17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58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700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541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383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224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066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907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3749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5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17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858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700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541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383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24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066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907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3749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75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17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8585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700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4541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383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8224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00660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907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3749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175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17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58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700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541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383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8224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0066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907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3749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75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17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858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2700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4541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383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224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0066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1907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3749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9600" y="38862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7F9B00"/>
                </a:solidFill>
                <a:latin typeface="Segoe UI Light"/>
              </a:rPr>
              <a:t>100%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9600" y="43688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14400" y="4673600"/>
            <a:ext cx="1422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09600" y="4775200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1×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9600" y="50800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5607A"/>
                </a:solidFill>
                <a:latin typeface="Segoe UI"/>
              </a:rPr>
              <a:t>sites to close the gap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94000" y="1549400"/>
            <a:ext cx="20320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94000" y="17018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740 MHZ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9019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0861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702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4544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385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227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068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910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3751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5593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019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861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2702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4544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385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8227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0068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1910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3751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593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9019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861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27025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4544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6385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8227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0068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19100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3751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5593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9019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0861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2702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4544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6385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8227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0068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1910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3751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5593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9019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0861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702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4544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6385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8227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0068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1910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3751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5593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90195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0861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2702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4544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6385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8227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0068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1910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3751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5593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9019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0861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2702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4544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6385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8227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0068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1910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3751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5593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9019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0861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27025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4544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6385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8227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0068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19100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3751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5593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9019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30861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2702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4544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6385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38227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0068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1910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3751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5593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9019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0861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2702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4544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6385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38227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0068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1910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3751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5593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794000" y="38862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91%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794000" y="43688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3098800" y="4673600"/>
            <a:ext cx="1422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2794000" y="4775200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2.5–3×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794000" y="50800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5607A"/>
                </a:solidFill>
                <a:latin typeface="Segoe UI"/>
              </a:rPr>
              <a:t>sites to close the gap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978400" y="1549400"/>
            <a:ext cx="2032000" cy="381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978400" y="17018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0" spc="120">
                <a:solidFill>
                  <a:srgbClr val="0B308E"/>
                </a:solidFill>
                <a:latin typeface="Segoe UI Semibold"/>
              </a:rPr>
              <a:t>2350 MHZ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50863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2705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45465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6388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8229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0071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1912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375400" y="20066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55955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743700" y="20066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086350" y="21907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2705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4546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6388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822950" y="21907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007100" y="21907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1912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59550" y="21907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743700" y="21907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0863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2705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5465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6388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8229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60071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61912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375400" y="237490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655955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6743700" y="23749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5086350" y="25590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52705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54546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6388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822950" y="25590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007100" y="25590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1912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637540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559550" y="25590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743700" y="25590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50863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2705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545465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56388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58229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0071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1912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375400" y="27432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55955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743700" y="27432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508635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527050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45465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563880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82295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00710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19125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6375400" y="29273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55955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743700" y="29273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5086350" y="31115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52705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54546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56388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5822950" y="31115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007100" y="31115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1912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37540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6559550" y="31115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743700" y="31115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0863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52705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545465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56388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58229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60071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61912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6375400" y="3295650"/>
            <a:ext cx="152400" cy="1524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55955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743700" y="32956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5086350" y="347980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52705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54546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56388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8229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0071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912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3754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55955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743700" y="347980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5086350" y="36639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52705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54546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56388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5822950" y="36639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6007100" y="36639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61912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637540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6559550" y="3663950"/>
            <a:ext cx="152400" cy="152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743700" y="3663950"/>
            <a:ext cx="152400" cy="1524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4978400" y="38862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59%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978400" y="43688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5283200" y="4673600"/>
            <a:ext cx="14224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4978400" y="4775200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0B308E"/>
                </a:solidFill>
                <a:latin typeface="Segoe UI Semibold"/>
              </a:rPr>
              <a:t>12–15×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978400" y="50800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55607A"/>
                </a:solidFill>
                <a:latin typeface="Segoe UI"/>
              </a:rPr>
              <a:t>sites to close the gap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09600" y="5562600"/>
            <a:ext cx="127000" cy="127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812800" y="5524500"/>
            <a:ext cx="1143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covered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006600" y="5562600"/>
            <a:ext cx="127000" cy="1270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209800" y="5524500"/>
            <a:ext cx="1143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not covered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3403600" y="5562600"/>
            <a:ext cx="127000" cy="127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606800" y="5524500"/>
            <a:ext cx="1143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55607A"/>
                </a:solidFill>
                <a:latin typeface="Segoe UI"/>
              </a:rPr>
              <a:t>site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7315200" y="1549400"/>
            <a:ext cx="4267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THAT BUYS</a:t>
            </a:r>
          </a:p>
        </p:txBody>
      </p:sp>
      <p:sp>
        <p:nvSpPr>
          <p:cNvPr id="338" name="Oval 337"/>
          <p:cNvSpPr/>
          <p:nvPr/>
        </p:nvSpPr>
        <p:spPr>
          <a:xfrm>
            <a:off x="7315200" y="19304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9" name="Picture 338" descr="mountai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311" y="2064512"/>
            <a:ext cx="290576" cy="290576"/>
          </a:xfrm>
          <a:prstGeom prst="rect">
            <a:avLst/>
          </a:prstGeom>
        </p:spPr>
      </p:pic>
      <p:sp>
        <p:nvSpPr>
          <p:cNvPr id="340" name="TextBox 339"/>
          <p:cNvSpPr txBox="1"/>
          <p:nvPr/>
        </p:nvSpPr>
        <p:spPr>
          <a:xfrm>
            <a:off x="8077200" y="1854200"/>
            <a:ext cx="3505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Reaches over ridges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and into valleys</a:t>
            </a:r>
          </a:p>
        </p:txBody>
      </p:sp>
      <p:sp>
        <p:nvSpPr>
          <p:cNvPr id="341" name="Oval 340"/>
          <p:cNvSpPr/>
          <p:nvPr/>
        </p:nvSpPr>
        <p:spPr>
          <a:xfrm>
            <a:off x="7315200" y="28448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2" name="Picture 341" descr="hou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311" y="2978912"/>
            <a:ext cx="290576" cy="290576"/>
          </a:xfrm>
          <a:prstGeom prst="rect">
            <a:avLst/>
          </a:prstGeom>
        </p:spPr>
      </p:pic>
      <p:sp>
        <p:nvSpPr>
          <p:cNvPr id="343" name="TextBox 342"/>
          <p:cNvSpPr txBox="1"/>
          <p:nvPr/>
        </p:nvSpPr>
        <p:spPr>
          <a:xfrm>
            <a:off x="8077200" y="2768600"/>
            <a:ext cx="3505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Deep indoor: meter boxes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and basements</a:t>
            </a:r>
          </a:p>
        </p:txBody>
      </p:sp>
      <p:sp>
        <p:nvSpPr>
          <p:cNvPr id="344" name="Oval 343"/>
          <p:cNvSpPr/>
          <p:nvPr/>
        </p:nvSpPr>
        <p:spPr>
          <a:xfrm>
            <a:off x="7315200" y="3759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5" name="Picture 344" descr="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311" y="3893312"/>
            <a:ext cx="290576" cy="290576"/>
          </a:xfrm>
          <a:prstGeom prst="rect">
            <a:avLst/>
          </a:prstGeom>
        </p:spPr>
      </p:pic>
      <p:sp>
        <p:nvSpPr>
          <p:cNvPr id="346" name="TextBox 345"/>
          <p:cNvSpPr txBox="1"/>
          <p:nvPr/>
        </p:nvSpPr>
        <p:spPr>
          <a:xfrm>
            <a:off x="8077200" y="3683000"/>
            <a:ext cx="35052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Few sites, so backup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power is affordable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7315200" y="4673600"/>
            <a:ext cx="4267200" cy="1016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8" name="Picture 347" descr="info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400" y="4876800"/>
            <a:ext cx="279400" cy="279400"/>
          </a:xfrm>
          <a:prstGeom prst="rect">
            <a:avLst/>
          </a:prstGeom>
        </p:spPr>
      </p:pic>
      <p:sp>
        <p:nvSpPr>
          <p:cNvPr id="349" name="TextBox 348"/>
          <p:cNvSpPr txBox="1"/>
          <p:nvPr/>
        </p:nvSpPr>
        <p:spPr>
          <a:xfrm>
            <a:off x="7924800" y="482600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Not a capacity layer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7924800" y="5207000"/>
            <a:ext cx="3429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3–5 MHz: voice, telemetry, low-rate video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Brief (Jun 2022) p15 - same site grid, reference modelled at 410 MHz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B  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The band is mainstream, and the operator model is proven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4876800" cy="1193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2800" y="18669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12" y="20010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4800" y="1549400"/>
            <a:ext cx="15240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8800" y="1549400"/>
            <a:ext cx="22352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of the world lives where it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is allocated or consulted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870200"/>
            <a:ext cx="4876800" cy="1193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2800" y="31877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radio-tow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12" y="3321812"/>
            <a:ext cx="290576" cy="290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4800" y="2870200"/>
            <a:ext cx="15240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77 / 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8800" y="2870200"/>
            <a:ext cx="22352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countries with networks /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already on LTE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191000"/>
            <a:ext cx="4876800" cy="1193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2800" y="45085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trending-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12" y="4642612"/>
            <a:ext cx="290576" cy="2905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74800" y="4191000"/>
            <a:ext cx="15240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14M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8800" y="4191000"/>
            <a:ext cx="2235200" cy="1193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sensor connections by 2030,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plus 1.8M broadband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1200" y="1549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OPERATORS RUNNING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91200" y="1828800"/>
            <a:ext cx="57912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4400" y="19177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Germany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4400" y="21717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450connect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06600"/>
            <a:ext cx="6604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006600"/>
            <a:ext cx="66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B72</a:t>
            </a:r>
          </a:p>
        </p:txBody>
      </p:sp>
      <p:pic>
        <p:nvPicPr>
          <p:cNvPr id="31" name="Picture 30" descr="zap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2032000"/>
            <a:ext cx="254000" cy="254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17000" y="1828800"/>
            <a:ext cx="248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Utilities  ·  &gt;95%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1200" y="2552700"/>
            <a:ext cx="5791200" cy="6604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94400" y="26416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Malaysia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4400" y="28956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TNB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730500"/>
            <a:ext cx="6604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730500"/>
            <a:ext cx="66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B31</a:t>
            </a:r>
          </a:p>
        </p:txBody>
      </p:sp>
      <p:pic>
        <p:nvPicPr>
          <p:cNvPr id="38" name="Picture 37" descr="zap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2755900"/>
            <a:ext cx="254000" cy="254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17000" y="2552700"/>
            <a:ext cx="248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Utility grid  ·  4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91200" y="3276600"/>
            <a:ext cx="57912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4400" y="33655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Poland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4400" y="36195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454400"/>
            <a:ext cx="6604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3454400"/>
            <a:ext cx="66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B31</a:t>
            </a:r>
          </a:p>
        </p:txBody>
      </p:sp>
      <p:pic>
        <p:nvPicPr>
          <p:cNvPr id="45" name="Picture 44" descr="zap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3479800"/>
            <a:ext cx="254000" cy="254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017000" y="3276600"/>
            <a:ext cx="248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Smart grid, field 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91200" y="4000500"/>
            <a:ext cx="5791200" cy="6604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94400" y="40894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Singapore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4400" y="43434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Public safety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4178300"/>
            <a:ext cx="6604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178300"/>
            <a:ext cx="66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B31</a:t>
            </a:r>
          </a:p>
        </p:txBody>
      </p:sp>
      <p:pic>
        <p:nvPicPr>
          <p:cNvPr id="52" name="Picture 51" descr="shield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4203700"/>
            <a:ext cx="254000" cy="254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17000" y="4000500"/>
            <a:ext cx="248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Public safety, in service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91200" y="4724400"/>
            <a:ext cx="5791200" cy="660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94400" y="48133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0B308E"/>
                </a:solidFill>
                <a:latin typeface="Segoe UI Semibold"/>
              </a:rPr>
              <a:t>Indonesia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94400" y="5067300"/>
            <a:ext cx="1778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SeaTelSat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4902200"/>
            <a:ext cx="660400" cy="30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4902200"/>
            <a:ext cx="660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B31</a:t>
            </a:r>
          </a:p>
        </p:txBody>
      </p:sp>
      <p:pic>
        <p:nvPicPr>
          <p:cNvPr id="59" name="Picture 58" descr="satellite-dish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000" y="4927600"/>
            <a:ext cx="254000" cy="254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017000" y="4724400"/>
            <a:ext cx="24892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Rural LTE via satellite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" y="58420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2" name="Picture 61" descr="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5969000"/>
            <a:ext cx="254000" cy="2540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19200" y="58420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Same pattern everywhere   </a:t>
            </a:r>
            <a:r>
              <a:rPr sz="1250" b="0">
                <a:solidFill>
                  <a:srgbClr val="16213E"/>
                </a:solidFill>
                <a:latin typeface="Segoe UI"/>
              </a:rPr>
              <a:t>one licensed operator carries it; utilities anchor the demand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p4, p8-p9, p11-p12; RFI for devices (2025) p5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WHO PAYS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Start with the utilities: they pay first and fit best</a:t>
            </a:r>
          </a:p>
        </p:txBody>
      </p:sp>
      <p:pic>
        <p:nvPicPr>
          <p:cNvPr id="10" name="Picture 9" descr="hand-coins_st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00" y="144780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3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ABILITY TO PAY</a:t>
            </a:r>
          </a:p>
        </p:txBody>
      </p:sp>
      <p:pic>
        <p:nvPicPr>
          <p:cNvPr id="12" name="Picture 11" descr="targe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14478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7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FIT WITH 450</a:t>
            </a:r>
          </a:p>
        </p:txBody>
      </p:sp>
      <p:pic>
        <p:nvPicPr>
          <p:cNvPr id="14" name="Picture 13" descr="clock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00" y="144780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1200" y="17272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SPEED TO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0800" y="17272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spc="120">
                <a:solidFill>
                  <a:srgbClr val="55607A"/>
                </a:solidFill>
                <a:latin typeface="Segoe UI Semibold"/>
              </a:rPr>
              <a:t>KEY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1981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198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1219200" y="2070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" y="2161540"/>
            <a:ext cx="198120" cy="198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78000" y="198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Power</a:t>
            </a:r>
          </a:p>
        </p:txBody>
      </p:sp>
      <p:sp>
        <p:nvSpPr>
          <p:cNvPr id="22" name="Oval 21"/>
          <p:cNvSpPr/>
          <p:nvPr/>
        </p:nvSpPr>
        <p:spPr>
          <a:xfrm>
            <a:off x="4508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11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14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32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35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8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565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597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62900" y="2197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0800" y="198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Proven anchor abroad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2616200"/>
            <a:ext cx="10972800" cy="5588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200" y="261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7F9B00"/>
                </a:solidFill>
                <a:latin typeface="Segoe UI Light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219200" y="2705100"/>
            <a:ext cx="381000" cy="381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drople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" y="2796540"/>
            <a:ext cx="198120" cy="1981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78000" y="261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Water</a:t>
            </a:r>
          </a:p>
        </p:txBody>
      </p:sp>
      <p:sp>
        <p:nvSpPr>
          <p:cNvPr id="37" name="Oval 36"/>
          <p:cNvSpPr/>
          <p:nvPr/>
        </p:nvSpPr>
        <p:spPr>
          <a:xfrm>
            <a:off x="4508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11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4900" y="283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2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35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8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565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597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62900" y="2832100"/>
            <a:ext cx="127000" cy="1270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0800" y="261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Same sites as power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325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200" y="325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1219200" y="334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sir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0640" y="3431540"/>
            <a:ext cx="198120" cy="1981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78000" y="325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Emergency</a:t>
            </a:r>
          </a:p>
        </p:txBody>
      </p:sp>
      <p:sp>
        <p:nvSpPr>
          <p:cNvPr id="52" name="Oval 51"/>
          <p:cNvSpPr/>
          <p:nvPr/>
        </p:nvSpPr>
        <p:spPr>
          <a:xfrm>
            <a:off x="4508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11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14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2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35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389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565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9700" y="346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62900" y="346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40800" y="325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Typhoon readiness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388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200" y="388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4</a:t>
            </a:r>
          </a:p>
        </p:txBody>
      </p:sp>
      <p:sp>
        <p:nvSpPr>
          <p:cNvPr id="64" name="Oval 63"/>
          <p:cNvSpPr/>
          <p:nvPr/>
        </p:nvSpPr>
        <p:spPr>
          <a:xfrm>
            <a:off x="1219200" y="397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5" name="Picture 64" descr="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0640" y="4066540"/>
            <a:ext cx="198120" cy="1981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778000" y="388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Police</a:t>
            </a:r>
          </a:p>
        </p:txBody>
      </p:sp>
      <p:sp>
        <p:nvSpPr>
          <p:cNvPr id="67" name="Oval 66"/>
          <p:cNvSpPr/>
          <p:nvPr/>
        </p:nvSpPr>
        <p:spPr>
          <a:xfrm>
            <a:off x="4508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11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149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32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357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38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556500" y="410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7597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2900" y="410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40800" y="388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Interoperate, not replace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600" y="4521200"/>
            <a:ext cx="10972800" cy="55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1200" y="4521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5</a:t>
            </a:r>
          </a:p>
        </p:txBody>
      </p:sp>
      <p:sp>
        <p:nvSpPr>
          <p:cNvPr id="79" name="Oval 78"/>
          <p:cNvSpPr/>
          <p:nvPr/>
        </p:nvSpPr>
        <p:spPr>
          <a:xfrm>
            <a:off x="1219200" y="4610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0" name="Picture 79" descr="train-fron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" y="4701540"/>
            <a:ext cx="198120" cy="19812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778000" y="4521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Rail</a:t>
            </a:r>
          </a:p>
        </p:txBody>
      </p:sp>
      <p:sp>
        <p:nvSpPr>
          <p:cNvPr id="82" name="Oval 81"/>
          <p:cNvSpPr/>
          <p:nvPr/>
        </p:nvSpPr>
        <p:spPr>
          <a:xfrm>
            <a:off x="4508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711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914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032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2357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4389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556500" y="4737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597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962900" y="4737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40800" y="4521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Long project cycles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51562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1200" y="5156200"/>
            <a:ext cx="381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93A0B4"/>
                </a:solidFill>
                <a:latin typeface="Segoe UI Light"/>
              </a:rPr>
              <a:t>6</a:t>
            </a:r>
          </a:p>
        </p:txBody>
      </p:sp>
      <p:sp>
        <p:nvSpPr>
          <p:cNvPr id="94" name="Oval 93"/>
          <p:cNvSpPr/>
          <p:nvPr/>
        </p:nvSpPr>
        <p:spPr>
          <a:xfrm>
            <a:off x="1219200" y="5245100"/>
            <a:ext cx="381000" cy="381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5" name="Picture 94" descr="s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0640" y="5336540"/>
            <a:ext cx="198120" cy="1981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78000" y="5156200"/>
            <a:ext cx="2032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Port</a:t>
            </a:r>
          </a:p>
        </p:txBody>
      </p:sp>
      <p:sp>
        <p:nvSpPr>
          <p:cNvPr id="97" name="Oval 96"/>
          <p:cNvSpPr/>
          <p:nvPr/>
        </p:nvSpPr>
        <p:spPr>
          <a:xfrm>
            <a:off x="4508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711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914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032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235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38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65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59700" y="5372100"/>
            <a:ext cx="127000" cy="127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962900" y="5372100"/>
            <a:ext cx="127000" cy="127000"/>
          </a:xfrm>
          <a:prstGeom prst="ellipse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40800" y="5156200"/>
            <a:ext cx="254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No 450 MHz precedent yet</a:t>
            </a:r>
          </a:p>
        </p:txBody>
      </p:sp>
      <p:pic>
        <p:nvPicPr>
          <p:cNvPr id="107" name="Picture 106" descr="check_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892800"/>
            <a:ext cx="203200" cy="2032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14400" y="5842000"/>
            <a:ext cx="762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Green rows: the anchor customers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6096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07A"/>
                </a:solidFill>
                <a:latin typeface="Segoe UI"/>
              </a:rPr>
              <a:t>Our reading, to be tested in the pilot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assessment; 450 MHz Alliance, Annual Global Update (Dec 2025) p8-p9; LWUA NRW data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1 OF 6  · 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Power anchors the network, as it does in Germany and Malaysia</a:t>
            </a:r>
          </a:p>
        </p:txBody>
      </p:sp>
      <p:pic>
        <p:nvPicPr>
          <p:cNvPr id="10" name="Picture 9" descr="v6_13015b8219.jpg"/>
          <p:cNvPicPr>
            <a:picLocks noChangeAspect="1"/>
          </p:cNvPicPr>
          <p:nvPr/>
        </p:nvPicPr>
        <p:blipFill>
          <a:blip r:embed="rId2"/>
          <a:srcRect l="6800" r="680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electric cooperatives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consumers cut off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by Typhoon Tino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SCADA 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feeder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radi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Push-to-talk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for line crews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Smart meters,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deep indoors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Germany  450connect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B72  ·  &gt;95%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Malaysia  TNB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4 areas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 package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SCADA O&amp;M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NEA; Department of Energy (5 Nov 2025); 450 MHz Alliance, RFI for devices (2025) p5, Annual Global Update (Dec 2025) p8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2 OF 6  ·  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Water: find the losses instead of estimating them</a:t>
            </a:r>
          </a:p>
        </p:txBody>
      </p:sp>
      <p:pic>
        <p:nvPicPr>
          <p:cNvPr id="10" name="Picture 9" descr="v6_5f9dad8d68.jpg"/>
          <p:cNvPicPr>
            <a:picLocks noChangeAspect="1"/>
          </p:cNvPicPr>
          <p:nvPr/>
        </p:nvPicPr>
        <p:blipFill>
          <a:blip r:embed="rId2"/>
          <a:srcRect t="11853" b="1185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drople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 districts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under LWUA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149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kept losses within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the 20% limit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gau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Meters that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ctivit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Pressure sensing,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leak 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pu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Pump &amp; reservoir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Bahrain  EWA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water-meter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Kenya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band reserved for utilities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IoT per meter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Telemetry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LWUA NRW data, end-2025 (reported Aug 2026); 450 MHz Alliance, Annual Global Update (Dec 2025) p6, p8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3 OF 6  ·  EMERGENCY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Emergency: the layer that has to survive the storm</a:t>
            </a:r>
          </a:p>
        </p:txBody>
      </p:sp>
      <p:pic>
        <p:nvPicPr>
          <p:cNvPr id="10" name="Picture 9" descr="v6_4589fbbd86.jpg"/>
          <p:cNvPicPr>
            <a:picLocks noChangeAspect="1"/>
          </p:cNvPicPr>
          <p:nvPr/>
        </p:nvPicPr>
        <p:blipFill>
          <a:blip r:embed="rId2"/>
          <a:srcRect b="2283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ir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WorldRiskIndex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Light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tropical cyclones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 year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ack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Deployed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within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atellite-dis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Satellite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backhaul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us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Field command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Indonesia  SeaTelSat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over satellite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E-pack200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rapid-deployment kit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Readiness retainer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Standby kits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WorldRiskReport 2025; PAGASA; 450 MHz Alliance, RFI for devices (2025) p5; Hytera product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4 OF 6  ·  POLICE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Police: one group call across the agencies</a:t>
            </a:r>
          </a:p>
        </p:txBody>
      </p:sp>
      <p:pic>
        <p:nvPicPr>
          <p:cNvPr id="10" name="Picture 9" descr="v6_6c17f9f128.jpg"/>
          <p:cNvPicPr>
            <a:picLocks noChangeAspect="1"/>
          </p:cNvPicPr>
          <p:nvPr/>
        </p:nvPicPr>
        <p:blipFill>
          <a:blip r:embed="rId2"/>
          <a:srcRect b="1915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Interop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with DMR and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already in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when the public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network congests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Cross-agency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group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Live video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from the scene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networ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DMR / TETRA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interworking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Singapore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Russia  Rostelecom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 ·  public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p8-p9; Hytera public-safety 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5 OF 6  ·  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Rail: coverage that follows the track, not the towns</a:t>
            </a:r>
          </a:p>
        </p:txBody>
      </p:sp>
      <p:pic>
        <p:nvPicPr>
          <p:cNvPr id="10" name="Picture 9" descr="v6_8b437e2f48.jpg"/>
          <p:cNvPicPr>
            <a:picLocks noChangeAspect="1"/>
          </p:cNvPicPr>
          <p:nvPr/>
        </p:nvPicPr>
        <p:blipFill>
          <a:blip r:embed="rId2"/>
          <a:srcRect t="530" b="10530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train-fro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Corridor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coverage, including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cuttings and tunnels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ground voice,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data and video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along the 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vide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On-board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cab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One network,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not a private 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South Africa  Transnet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for 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Hytera  Sri Lanka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MCS on 9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Devices as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Alliance, Annual Global Update (Dec 2025) p6; Hytera showroom briefing L211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C   PRIORITY 6 OF 6  ·  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Port: the case rests on coverage over open water</a:t>
            </a:r>
          </a:p>
        </p:txBody>
      </p:sp>
      <p:pic>
        <p:nvPicPr>
          <p:cNvPr id="10" name="Picture 9" descr="v6_5d04794507.jpg"/>
          <p:cNvPicPr>
            <a:picLocks noChangeAspect="1"/>
          </p:cNvPicPr>
          <p:nvPr/>
        </p:nvPicPr>
        <p:blipFill>
          <a:blip r:embed="rId2"/>
          <a:srcRect l="6124" r="6124"/>
          <a:stretch>
            <a:fillRect/>
          </a:stretch>
        </p:blipFill>
        <p:spPr>
          <a:xfrm>
            <a:off x="609600" y="1549400"/>
            <a:ext cx="4876800" cy="3175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7400" y="1727200"/>
            <a:ext cx="558800" cy="5588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2" y="1861312"/>
            <a:ext cx="290576" cy="290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775200"/>
            <a:ext cx="4876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Illustrative imagery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Quay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to open sea 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one group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73200"/>
            <a:ext cx="2794000" cy="63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Coastal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59000"/>
            <a:ext cx="279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sites also serve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island communities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91200" y="2743200"/>
            <a:ext cx="57912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28956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450 MHZ DOES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12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radi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3378200"/>
            <a:ext cx="431800" cy="43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944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Quay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h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00" y="3378200"/>
            <a:ext cx="431800" cy="431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756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Ship-to-shore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voice &amp;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3600" y="3175000"/>
            <a:ext cx="1828800" cy="154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wave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800" y="3378200"/>
            <a:ext cx="431800" cy="431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56800" y="3987800"/>
            <a:ext cx="1524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Coast guard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patrols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029200"/>
            <a:ext cx="48768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badge-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5207000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446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PROOF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56388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Precedent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8800" y="56388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no 450 MHz port yet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943600"/>
            <a:ext cx="2235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8800" y="59436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low-band reach over sea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5029200"/>
            <a:ext cx="5791200" cy="1270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hand-coins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5207000"/>
            <a:ext cx="304800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6200" y="5207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GLOBE SELLS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94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4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MCX per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359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59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Capacity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7400" y="5664200"/>
            <a:ext cx="1701800" cy="431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7400" y="5664200"/>
            <a:ext cx="170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 Semibold"/>
              </a:rPr>
              <a:t>Coastal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 MHz Alliance reports (no port deployment listed); Hytera transport and maritime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D   HOW WE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One build serves all six industries; only terminals and apps 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smartphon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63700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Terminal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0" y="2184400"/>
            <a:ext cx="3048000" cy="78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a_d6e4774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769" y="2235200"/>
            <a:ext cx="856061" cy="68579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12800" y="31877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30988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PNC660 450M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33147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handheld, B31/B72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6195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35306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MNC650 450M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37465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vehicle radio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0513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600" y="39624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P70 5G+450M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600" y="41783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handheld, 2026 Q4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483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600" y="43942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PNC660Ex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46101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ATEX, 2027 Q2</a:t>
            </a:r>
          </a:p>
        </p:txBody>
      </p:sp>
      <p:pic>
        <p:nvPicPr>
          <p:cNvPr id="28" name="Picture 27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302000"/>
            <a:ext cx="254000" cy="254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3688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63700"/>
            <a:ext cx="279400" cy="279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784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88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184400"/>
            <a:ext cx="3048000" cy="78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a_d5f6457e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1274" y="2235200"/>
            <a:ext cx="509451" cy="685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72000" y="31877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9800" y="30988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450 MHz macro eNB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9800" y="33147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wide area, few sites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6195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49800" y="35306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9800" y="37465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private or Globe’s 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0513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9800" y="39624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Backhaul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9800" y="41783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fibre, microwave, satellite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483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49800" y="43942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Rapid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49800" y="46101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portable site kit</a:t>
            </a:r>
          </a:p>
        </p:txBody>
      </p:sp>
      <p:pic>
        <p:nvPicPr>
          <p:cNvPr id="47" name="Picture 46" descr="arrow-righ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3302000"/>
            <a:ext cx="254000" cy="254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128000" y="1549400"/>
            <a:ext cx="34544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9" name="Picture 48" descr="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00" y="1663700"/>
            <a:ext cx="279400" cy="279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737600" y="15494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Application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28000" y="2057400"/>
            <a:ext cx="3454400" cy="2819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1200" y="2184400"/>
            <a:ext cx="3048000" cy="78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3" name="Picture 52" descr="a_5f06b690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802" y="2235200"/>
            <a:ext cx="1512794" cy="68580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331200" y="31877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9000" y="30988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MCS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9000" y="33147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MCPTT · MCVideo · MCData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1200" y="36195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9000" y="35306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Dispatch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9000" y="37465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voice, video, GIS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1200" y="40513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9000" y="39624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Recording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9000" y="41783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capture and playback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31200" y="4483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9000" y="4394200"/>
            <a:ext cx="2921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0B308E"/>
                </a:solidFill>
                <a:latin typeface="Segoe UI Semibold"/>
              </a:rPr>
              <a:t>Device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9000" y="4610100"/>
            <a:ext cx="2921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607A"/>
                </a:solidFill>
                <a:latin typeface="Segoe UI"/>
              </a:rPr>
              <a:t>zero-touch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" y="5080000"/>
            <a:ext cx="53340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7" name="Picture 66" descr="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257800"/>
            <a:ext cx="304800" cy="3048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44600" y="52578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MCS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28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 3GPP standard: runs on any LTE or 5G radio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48400" y="5080000"/>
            <a:ext cx="5334000" cy="1219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1" name="Picture 70" descr="badge-check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600" y="5257800"/>
            <a:ext cx="304800" cy="304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883400" y="52578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0B308E"/>
                </a:solidFill>
                <a:latin typeface="Segoe UI Semibold"/>
              </a:rPr>
              <a:t>HYTERA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1600" y="5664200"/>
            <a:ext cx="4927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6213E"/>
                </a:solidFill>
                <a:latin typeface="Segoe UI"/>
              </a:rPr>
              <a:t>Alliance-listed device and eNB supplier; 450connect whitelisted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450M Roadmap; HyTalk MC V6.1; 450 MHz Alliance, Equipment Report (May 2025) p5; 450connect whitelist certificate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D   DELIVERY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We already run mission-critical services at national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10972800" cy="457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inf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51000"/>
            <a:ext cx="254000" cy="25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15494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Read this right: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these run MCS on public LTE and 5G, not on 450 MHz. They prove the service layer.</a:t>
            </a:r>
          </a:p>
        </p:txBody>
      </p:sp>
      <p:pic>
        <p:nvPicPr>
          <p:cNvPr id="13" name="Picture 12" descr="v6_4c49d82c37.jpg"/>
          <p:cNvPicPr>
            <a:picLocks noChangeAspect="1"/>
          </p:cNvPicPr>
          <p:nvPr/>
        </p:nvPicPr>
        <p:blipFill>
          <a:blip r:embed="rId3"/>
          <a:srcRect t="7516" b="7516"/>
          <a:stretch>
            <a:fillRect/>
          </a:stretch>
        </p:blipFill>
        <p:spPr>
          <a:xfrm>
            <a:off x="609600" y="2159000"/>
            <a:ext cx="3454400" cy="16510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812800" y="35560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train-fro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19" y="3677920"/>
            <a:ext cx="264160" cy="264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47800" y="38608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SRI LANKA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41148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Sri Lanka Railways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4196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1,950+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76800"/>
            <a:ext cx="304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MCS terminals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2800" y="5181600"/>
            <a:ext cx="30480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5295900"/>
            <a:ext cx="203200" cy="2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7600" y="52578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9 lines  ·  403 stations</a:t>
            </a:r>
          </a:p>
        </p:txBody>
      </p:sp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5600700"/>
            <a:ext cx="203200" cy="20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7600" y="55626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Public LTE (Dialog)</a:t>
            </a:r>
          </a:p>
        </p:txBody>
      </p:sp>
      <p:pic>
        <p:nvPicPr>
          <p:cNvPr id="25" name="Picture 24" descr="v6_62c740dbf1.jpg"/>
          <p:cNvPicPr>
            <a:picLocks noChangeAspect="1"/>
          </p:cNvPicPr>
          <p:nvPr/>
        </p:nvPicPr>
        <p:blipFill>
          <a:blip r:embed="rId6"/>
          <a:srcRect l="15542" r="15542"/>
          <a:stretch>
            <a:fillRect/>
          </a:stretch>
        </p:blipFill>
        <p:spPr>
          <a:xfrm>
            <a:off x="4368800" y="2159000"/>
            <a:ext cx="3454400" cy="16510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572000" y="35560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train-fro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920" y="3677920"/>
            <a:ext cx="264160" cy="264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07000" y="38608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HONG KONG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Light 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4196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810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876800"/>
            <a:ext cx="304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terminals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0" y="5181600"/>
            <a:ext cx="30480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295900"/>
            <a:ext cx="203200" cy="203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76800" y="52578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First railway MCS over 5G</a:t>
            </a:r>
          </a:p>
        </p:txBody>
      </p:sp>
      <p:pic>
        <p:nvPicPr>
          <p:cNvPr id="35" name="Picture 34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600700"/>
            <a:ext cx="203200" cy="20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76800" y="55626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Replaced TETRA</a:t>
            </a:r>
          </a:p>
        </p:txBody>
      </p:sp>
      <p:pic>
        <p:nvPicPr>
          <p:cNvPr id="37" name="Picture 36" descr="v6_0316e38593.jpg"/>
          <p:cNvPicPr>
            <a:picLocks noChangeAspect="1"/>
          </p:cNvPicPr>
          <p:nvPr/>
        </p:nvPicPr>
        <p:blipFill>
          <a:blip r:embed="rId7"/>
          <a:srcRect t="8137" b="28137"/>
          <a:stretch>
            <a:fillRect/>
          </a:stretch>
        </p:blipFill>
        <p:spPr>
          <a:xfrm>
            <a:off x="8128000" y="2159000"/>
            <a:ext cx="3454400" cy="16510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8331200" y="35560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120" y="3677920"/>
            <a:ext cx="264160" cy="2641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66200" y="38608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PAPUA NEW GUINEA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1200" y="41148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Police HQ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1200" y="44196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0B308E"/>
                </a:solidFill>
                <a:latin typeface="Segoe UI Light"/>
              </a:rPr>
              <a:t>3,000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1200" y="4876800"/>
            <a:ext cx="3048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officers, one centre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31200" y="5181600"/>
            <a:ext cx="30480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5295900"/>
            <a:ext cx="203200" cy="203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36000" y="52578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APEC summit security</a:t>
            </a:r>
          </a:p>
        </p:txBody>
      </p:sp>
      <p:pic>
        <p:nvPicPr>
          <p:cNvPr id="47" name="Picture 46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5600700"/>
            <a:ext cx="203200" cy="203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36000" y="55626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6213E"/>
                </a:solidFill>
                <a:latin typeface="Segoe UI"/>
              </a:rPr>
              <a:t>60 s dispatch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197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93A0B4"/>
                </a:solidFill>
                <a:latin typeface="Segoe UI"/>
              </a:rPr>
              <a:t>Hong Kong and Papua New Guinea images are illustrative.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showroom briefing L170, L211; Hytera PNC660 450MHz&amp;MCX case records; PNG Police HQ case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D  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The utility contract funds the coverage; five more lines use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35280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packag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78000"/>
            <a:ext cx="508000" cy="5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Hytera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Radio, terminals, platform</a:t>
            </a:r>
          </a:p>
        </p:txBody>
      </p:sp>
      <p:pic>
        <p:nvPicPr>
          <p:cNvPr id="14" name="Picture 13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05000"/>
            <a:ext cx="304800" cy="30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19600" y="1549400"/>
            <a:ext cx="3352800" cy="9652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radio-t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1778000"/>
            <a:ext cx="508000" cy="50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8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Globe Telecom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Spectrum, network, customers</a:t>
            </a:r>
          </a:p>
        </p:txBody>
      </p:sp>
      <p:pic>
        <p:nvPicPr>
          <p:cNvPr id="19" name="Picture 18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905000"/>
            <a:ext cx="304800" cy="304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549400"/>
            <a:ext cx="3352800" cy="9652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building-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1778000"/>
            <a:ext cx="508000" cy="50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3200" y="165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Anchor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200" y="2006600"/>
            <a:ext cx="2362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DCE5F3"/>
                </a:solidFill>
                <a:latin typeface="Segoe UI"/>
              </a:rPr>
              <a:t>Contract capacity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432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SIX REVENUE LINES  ·  AND WHO BUYS THEM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800" y="3340100"/>
            <a:ext cx="533400" cy="5334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16" y="3468116"/>
            <a:ext cx="277368" cy="2773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40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IoT connectivity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88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radi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68116"/>
            <a:ext cx="277368" cy="2773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832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MCX as a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32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  ·  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0" y="30226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31200" y="33401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Picture 36" descr="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16" y="3468116"/>
            <a:ext cx="277368" cy="277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42400" y="32512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Capacity packages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2400" y="36068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28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Picture 41" descr="smartpho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16" y="4788916"/>
            <a:ext cx="277368" cy="2773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240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Devices as a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Police  ·  Rail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688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cpu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788916"/>
            <a:ext cx="277368" cy="27736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2832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Integration &amp; O&amp;M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32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Power  ·  Water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8000" y="4343400"/>
            <a:ext cx="3454400" cy="1168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31200" y="4660900"/>
            <a:ext cx="533400" cy="533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sire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216" y="4788916"/>
            <a:ext cx="277368" cy="2773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42400" y="4572000"/>
            <a:ext cx="241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Emergency readiness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2400" y="4927600"/>
            <a:ext cx="2413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7F9B00"/>
                </a:solidFill>
                <a:latin typeface="Segoe UI"/>
              </a:rPr>
              <a:t>Emergency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816600"/>
            <a:ext cx="10972800" cy="50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6" name="Picture 55" descr="info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5943600"/>
            <a:ext cx="254000" cy="254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19200" y="58166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B308E"/>
                </a:solidFill>
                <a:latin typeface="Segoe UI Semibold"/>
              </a:rPr>
              <a:t>Sign demand before the build:   </a:t>
            </a:r>
            <a:r>
              <a:rPr sz="1250" b="0">
                <a:solidFill>
                  <a:srgbClr val="16213E"/>
                </a:solidFill>
                <a:latin typeface="Segoe UI"/>
              </a:rPr>
              <a:t>Portugal’s 450 MHz trial stalled on commercial terms, not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proposal; 450 MHz Alliance, Annual Global Update (Dec 2025) p9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D  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266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822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7800" y="361950"/>
            <a:ext cx="304800" cy="381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3400" y="361950"/>
            <a:ext cx="304800" cy="381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2794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0B308E"/>
                </a:solidFill>
                <a:latin typeface="Segoe UI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8000"/>
            <a:ext cx="109728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0B308E"/>
                </a:solidFill>
                <a:latin typeface="Segoe UI Semibold"/>
              </a:rPr>
              <a:t>Pilot first: test the case in Globe’s own terrain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2032000" cy="1905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2800" y="1752600"/>
            <a:ext cx="508000" cy="50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adio-tower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9" y="1874520"/>
            <a:ext cx="264160" cy="26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22400" y="1752600"/>
            <a:ext cx="1143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8CC63F"/>
                </a:solidFill>
                <a:latin typeface="Segoe UI Semibold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24130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Confirm the spectrum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0226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DCE5F3"/>
                </a:solidFill>
                <a:latin typeface="Segoe UI"/>
              </a:rPr>
              <a:t>band, bandwidth</a:t>
            </a:r>
          </a:p>
        </p:txBody>
      </p:sp>
      <p:pic>
        <p:nvPicPr>
          <p:cNvPr id="16" name="Picture 15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2400300"/>
            <a:ext cx="203200" cy="203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844800" y="1549400"/>
            <a:ext cx="20320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8000" y="17526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map-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920" y="1874520"/>
            <a:ext cx="264160" cy="264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0" y="1752600"/>
            <a:ext cx="1143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24130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Pick a province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0" y="30226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typhoon belt</a:t>
            </a:r>
          </a:p>
        </p:txBody>
      </p:sp>
      <p:pic>
        <p:nvPicPr>
          <p:cNvPr id="23" name="Picture 22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400300"/>
            <a:ext cx="203200" cy="203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80000" y="1549400"/>
            <a:ext cx="20320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83200" y="17526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pack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120" y="1874520"/>
            <a:ext cx="264160" cy="264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92800" y="1752600"/>
            <a:ext cx="1143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200" y="24130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Build the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3200" y="30226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sites, terminals, meters</a:t>
            </a:r>
          </a:p>
        </p:txBody>
      </p:sp>
      <p:pic>
        <p:nvPicPr>
          <p:cNvPr id="30" name="Picture 29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2400300"/>
            <a:ext cx="203200" cy="2032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315200" y="1549400"/>
            <a:ext cx="20320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18400" y="17526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activit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0320" y="1874520"/>
            <a:ext cx="264160" cy="2641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28000" y="1752600"/>
            <a:ext cx="1143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8400" y="24130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Measure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8400" y="30226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coverage, uptime, cost</a:t>
            </a:r>
          </a:p>
        </p:txBody>
      </p:sp>
      <p:pic>
        <p:nvPicPr>
          <p:cNvPr id="37" name="Picture 36" descr="arrow-right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2400300"/>
            <a:ext cx="203200" cy="2032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550400" y="1549400"/>
            <a:ext cx="2032000" cy="190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53600" y="1752600"/>
            <a:ext cx="508000" cy="5080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Picture 39" descr="trending-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1874520"/>
            <a:ext cx="264160" cy="264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363200" y="1752600"/>
            <a:ext cx="1143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STEP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3600" y="24130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Decide on 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3600" y="3022600"/>
            <a:ext cx="167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55607A"/>
                </a:solidFill>
                <a:latin typeface="Segoe UI"/>
              </a:rPr>
              <a:t>national roll-out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3708400"/>
            <a:ext cx="508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WHAT WE NEED FROM GLOBE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3987800"/>
            <a:ext cx="34544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2800" y="43180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radio-towe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912" y="4452112"/>
            <a:ext cx="290576" cy="2905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49400" y="419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Spectrum parameters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49400" y="4546600"/>
            <a:ext cx="2362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B31 or B72  ·  3 or 5 MHz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68800" y="3987800"/>
            <a:ext cx="34544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72000" y="43180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2" name="Picture 51" descr="map-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112" y="4452112"/>
            <a:ext cx="290576" cy="29057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308600" y="419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One candidate province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8600" y="4546600"/>
            <a:ext cx="2362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ideally in the typhoon belt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8000" y="3987800"/>
            <a:ext cx="3454400" cy="12192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31200" y="4318000"/>
            <a:ext cx="558800" cy="558800"/>
          </a:xfrm>
          <a:prstGeom prst="ellipse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handshak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5312" y="4452112"/>
            <a:ext cx="290576" cy="29057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067800" y="41910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0B308E"/>
                </a:solidFill>
                <a:latin typeface="Segoe UI Semibold"/>
              </a:rPr>
              <a:t>Two introductions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67800" y="4546600"/>
            <a:ext cx="2362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5607A"/>
                </a:solidFill>
                <a:latin typeface="Segoe UI"/>
              </a:rPr>
              <a:t>a cooperative, a water district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5435600"/>
            <a:ext cx="10972800" cy="558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Picture 60" descr="handshak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588000"/>
            <a:ext cx="254000" cy="254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219200" y="54356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CC63F"/>
                </a:solidFill>
                <a:latin typeface="Segoe UI Semibold"/>
              </a:rPr>
              <a:t>Not a build.   </a:t>
            </a:r>
            <a:r>
              <a:rPr sz="1250" b="0">
                <a:solidFill>
                  <a:srgbClr val="FFFFFF"/>
                </a:solidFill>
                <a:latin typeface="Segoe UI"/>
              </a:rPr>
              <a:t>The next step is a joint pilot design, in Globe’s own terrain.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5024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50" b="0">
                <a:solidFill>
                  <a:srgbClr val="93A0B4"/>
                </a:solidFill>
                <a:latin typeface="Segoe UI"/>
              </a:rPr>
              <a:t>Source: Hytera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244" y="431800"/>
            <a:ext cx="1284111" cy="50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959600" y="1626615"/>
            <a:ext cx="4470400" cy="4112768"/>
          </a:xfrm>
          <a:prstGeom prst="ellipse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18400" y="2140712"/>
            <a:ext cx="3352800" cy="3084576"/>
          </a:xfrm>
          <a:prstGeom prst="ellipse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77200" y="2654808"/>
            <a:ext cx="2235200" cy="2056384"/>
          </a:xfrm>
          <a:prstGeom prst="ellipse">
            <a:avLst/>
          </a:prstGeom>
          <a:solidFill>
            <a:srgbClr val="DF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022122"/>
            <a:ext cx="2159000" cy="3118555"/>
          </a:xfrm>
          <a:prstGeom prst="rect">
            <a:avLst/>
          </a:prstGeom>
        </p:spPr>
      </p:pic>
      <p:pic>
        <p:nvPicPr>
          <p:cNvPr id="11" name="Picture 10" descr="a_b7de459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49" y="2413000"/>
            <a:ext cx="1029301" cy="3175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609600" y="5969000"/>
            <a:ext cx="10972800" cy="0"/>
          </a:xfrm>
          <a:prstGeom prst="line">
            <a:avLst/>
          </a:prstGeom>
          <a:ln w="9525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3600" y="16002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HYTERA  ×  GLOBE TELECOM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1905000"/>
            <a:ext cx="558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0">
                <a:solidFill>
                  <a:srgbClr val="0B308E"/>
                </a:solidFill>
                <a:latin typeface="Segoe UI Semibold"/>
              </a:rPr>
              <a:t>Thank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2870200"/>
            <a:ext cx="8128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3225800"/>
            <a:ext cx="558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120">
                <a:solidFill>
                  <a:srgbClr val="7F9B00"/>
                </a:solidFill>
                <a:latin typeface="Segoe UI Semibold"/>
              </a:rPr>
              <a:t>NEXT STEP</a:t>
            </a:r>
          </a:p>
        </p:txBody>
      </p:sp>
      <p:sp>
        <p:nvSpPr>
          <p:cNvPr id="17" name="Oval 16"/>
          <p:cNvSpPr/>
          <p:nvPr/>
        </p:nvSpPr>
        <p:spPr>
          <a:xfrm>
            <a:off x="863600" y="35306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radio-to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136" y="3628136"/>
            <a:ext cx="211328" cy="21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35306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Confirm the spectrum</a:t>
            </a:r>
          </a:p>
        </p:txBody>
      </p:sp>
      <p:sp>
        <p:nvSpPr>
          <p:cNvPr id="20" name="Oval 19"/>
          <p:cNvSpPr/>
          <p:nvPr/>
        </p:nvSpPr>
        <p:spPr>
          <a:xfrm>
            <a:off x="863600" y="40894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map-p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36" y="4186936"/>
            <a:ext cx="211328" cy="21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22400" y="40894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Nominate a pilot province</a:t>
            </a:r>
          </a:p>
        </p:txBody>
      </p:sp>
      <p:sp>
        <p:nvSpPr>
          <p:cNvPr id="23" name="Oval 22"/>
          <p:cNvSpPr/>
          <p:nvPr/>
        </p:nvSpPr>
        <p:spPr>
          <a:xfrm>
            <a:off x="863600" y="4648200"/>
            <a:ext cx="406400" cy="406400"/>
          </a:xfrm>
          <a:prstGeom prst="ellips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handshak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" y="4745736"/>
            <a:ext cx="211328" cy="211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2400" y="46482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308E"/>
                </a:solidFill>
                <a:latin typeface="Segoe UI Semibold"/>
              </a:rPr>
              <a:t>Design the pilot together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070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9B00"/>
                </a:solidFill>
                <a:latin typeface="Segoe UI Semibold"/>
              </a:rPr>
              <a:t>Mission First  ·  Safety Always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400" y="60706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3A0B4"/>
                </a:solidFill>
                <a:latin typeface="Segoe UI"/>
              </a:rPr>
              <a:t>Hytera Communications Corporation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3459</Words>
  <Application>Microsoft Macintosh PowerPoint</Application>
  <PresentationFormat>宽屏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yu</dc:creator>
  <cp:lastModifiedBy>stefan yu</cp:lastModifiedBy>
  <cp:revision>1</cp:revision>
  <dcterms:created xsi:type="dcterms:W3CDTF">2026-10-10T01:12:47Z</dcterms:created>
  <dcterms:modified xsi:type="dcterms:W3CDTF">2026-10-10T01:38:43Z</dcterms:modified>
</cp:coreProperties>
</file>