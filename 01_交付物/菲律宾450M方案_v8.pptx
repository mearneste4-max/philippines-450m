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In 2020 the regulator reserved the band for energy and water infrastructure, and 450connect won the licence in 2021, running to 2040. It is owned in equal shares by four utility groups, including E.ON and Alliander, and Nokia supplies the network. About sixteen hundred sites, each with seventy-two hours of battery backup. One operator, one physical network, many utility customers, and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1.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image" Target="../media/image37.png"/><Relationship Id="rId4" Type="http://schemas.openxmlformats.org/officeDocument/2006/relationships/image" Target="../media/image45.png"/><Relationship Id="rId5" Type="http://schemas.openxmlformats.org/officeDocument/2006/relationships/image" Target="../media/image49.png"/><Relationship Id="rId6" Type="http://schemas.openxmlformats.org/officeDocument/2006/relationships/image" Target="../media/image4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38.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9.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0.png"/><Relationship Id="rId4" Type="http://schemas.openxmlformats.org/officeDocument/2006/relationships/image" Target="../media/image44.png"/><Relationship Id="rId5" Type="http://schemas.openxmlformats.org/officeDocument/2006/relationships/image" Target="../media/image55.png"/><Relationship Id="rId6" Type="http://schemas.openxmlformats.org/officeDocument/2006/relationships/image" Target="../media/image58.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41.png"/><Relationship Id="rId4" Type="http://schemas.openxmlformats.org/officeDocument/2006/relationships/image" Target="../media/image44.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8.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16.png"/><Relationship Id="rId11" Type="http://schemas.openxmlformats.org/officeDocument/2006/relationships/image" Target="../media/image46.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68.png"/><Relationship Id="rId6" Type="http://schemas.openxmlformats.org/officeDocument/2006/relationships/image" Target="../media/image66.png"/><Relationship Id="rId7" Type="http://schemas.openxmlformats.org/officeDocument/2006/relationships/image" Target="../media/image69.png"/><Relationship Id="rId8" Type="http://schemas.openxmlformats.org/officeDocument/2006/relationships/image" Target="../media/image16.png"/><Relationship Id="rId9" Type="http://schemas.openxmlformats.org/officeDocument/2006/relationships/image" Target="../media/image56.png"/><Relationship Id="rId10" Type="http://schemas.openxmlformats.org/officeDocument/2006/relationships/image" Target="../media/image12.pn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8.png"/><Relationship Id="rId4"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71.png"/><Relationship Id="rId8" Type="http://schemas.openxmlformats.org/officeDocument/2006/relationships/image" Target="../media/image18.png"/><Relationship Id="rId9" Type="http://schemas.openxmlformats.org/officeDocument/2006/relationships/image" Target="../media/image32.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16.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jpg"/><Relationship Id="rId9" Type="http://schemas.openxmlformats.org/officeDocument/2006/relationships/image" Target="../media/image78.jpg"/><Relationship Id="rId10" Type="http://schemas.openxmlformats.org/officeDocument/2006/relationships/image" Target="../media/image79.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63.png"/><Relationship Id="rId4" Type="http://schemas.openxmlformats.org/officeDocument/2006/relationships/image" Target="../media/image8.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66.png"/><Relationship Id="rId9" Type="http://schemas.openxmlformats.org/officeDocument/2006/relationships/image" Target="../media/image18.png"/><Relationship Id="rId10" Type="http://schemas.openxmlformats.org/officeDocument/2006/relationships/image" Target="../media/image84.png"/><Relationship Id="rId11" Type="http://schemas.openxmlformats.org/officeDocument/2006/relationships/image" Target="../media/image38.png"/><Relationship Id="rId12" Type="http://schemas.openxmlformats.org/officeDocument/2006/relationships/image" Target="../media/image21.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5.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sp>
        <p:nvSpPr>
          <p:cNvPr id="35" name="TextBox 34"/>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36" name="Rectangle 35"/>
          <p:cNvSpPr/>
          <p:nvPr/>
        </p:nvSpPr>
        <p:spPr>
          <a:xfrm>
            <a:off x="5791200" y="185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5994400" y="214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4"/>
          <a:stretch>
            <a:fillRect/>
          </a:stretch>
        </p:blipFill>
        <p:spPr>
          <a:xfrm>
            <a:off x="6128512" y="2280412"/>
            <a:ext cx="290576" cy="290576"/>
          </a:xfrm>
          <a:prstGeom prst="rect">
            <a:avLst/>
          </a:prstGeom>
        </p:spPr>
      </p:pic>
      <p:sp>
        <p:nvSpPr>
          <p:cNvPr id="39" name="TextBox 38"/>
          <p:cNvSpPr txBox="1"/>
          <p:nvPr/>
        </p:nvSpPr>
        <p:spPr>
          <a:xfrm>
            <a:off x="6756400" y="198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No consumer handsets</a:t>
            </a:r>
          </a:p>
        </p:txBody>
      </p:sp>
      <p:sp>
        <p:nvSpPr>
          <p:cNvPr id="40" name="TextBox 39"/>
          <p:cNvSpPr txBox="1"/>
          <p:nvPr/>
        </p:nvSpPr>
        <p:spPr>
          <a:xfrm>
            <a:off x="6756400" y="228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Mainstream smartphones do not support Band 31 or 72. Devices are routers, meters and rugged handhelds.</a:t>
            </a:r>
          </a:p>
        </p:txBody>
      </p:sp>
      <p:sp>
        <p:nvSpPr>
          <p:cNvPr id="41" name="Rectangle 40"/>
          <p:cNvSpPr/>
          <p:nvPr/>
        </p:nvSpPr>
        <p:spPr>
          <a:xfrm>
            <a:off x="5791200" y="312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5994400" y="341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badge-check_white.png"/>
          <p:cNvPicPr>
            <a:picLocks noChangeAspect="1"/>
          </p:cNvPicPr>
          <p:nvPr/>
        </p:nvPicPr>
        <p:blipFill>
          <a:blip r:embed="rId5"/>
          <a:stretch>
            <a:fillRect/>
          </a:stretch>
        </p:blipFill>
        <p:spPr>
          <a:xfrm>
            <a:off x="6128512" y="3550412"/>
            <a:ext cx="290576" cy="290576"/>
          </a:xfrm>
          <a:prstGeom prst="rect">
            <a:avLst/>
          </a:prstGeom>
        </p:spPr>
      </p:pic>
      <p:sp>
        <p:nvSpPr>
          <p:cNvPr id="44" name="TextBox 43"/>
          <p:cNvSpPr txBox="1"/>
          <p:nvPr/>
        </p:nvSpPr>
        <p:spPr>
          <a:xfrm>
            <a:off x="6756400" y="325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Licensed for critical infrastructure</a:t>
            </a:r>
          </a:p>
        </p:txBody>
      </p:sp>
      <p:sp>
        <p:nvSpPr>
          <p:cNvPr id="45" name="TextBox 44"/>
          <p:cNvSpPr txBox="1"/>
          <p:nvPr/>
        </p:nvSpPr>
        <p:spPr>
          <a:xfrm>
            <a:off x="6756400" y="355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Germany reserved the band for energy and water; Singapore for public safety; South Africa for rail.</a:t>
            </a:r>
          </a:p>
        </p:txBody>
      </p:sp>
      <p:sp>
        <p:nvSpPr>
          <p:cNvPr id="46" name="Rectangle 45"/>
          <p:cNvSpPr/>
          <p:nvPr/>
        </p:nvSpPr>
        <p:spPr>
          <a:xfrm>
            <a:off x="5791200" y="4394200"/>
            <a:ext cx="5791200" cy="1143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Oval 46"/>
          <p:cNvSpPr/>
          <p:nvPr/>
        </p:nvSpPr>
        <p:spPr>
          <a:xfrm>
            <a:off x="5994400" y="46863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zap_white.png"/>
          <p:cNvPicPr>
            <a:picLocks noChangeAspect="1"/>
          </p:cNvPicPr>
          <p:nvPr/>
        </p:nvPicPr>
        <p:blipFill>
          <a:blip r:embed="rId6"/>
          <a:stretch>
            <a:fillRect/>
          </a:stretch>
        </p:blipFill>
        <p:spPr>
          <a:xfrm>
            <a:off x="6128512" y="4820412"/>
            <a:ext cx="290576" cy="290576"/>
          </a:xfrm>
          <a:prstGeom prst="rect">
            <a:avLst/>
          </a:prstGeom>
        </p:spPr>
      </p:pic>
      <p:sp>
        <p:nvSpPr>
          <p:cNvPr id="49" name="TextBox 48"/>
          <p:cNvSpPr txBox="1"/>
          <p:nvPr/>
        </p:nvSpPr>
        <p:spPr>
          <a:xfrm>
            <a:off x="6756400" y="4521200"/>
            <a:ext cx="4622800" cy="2794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Built for resilience, not consumer cost</a:t>
            </a:r>
          </a:p>
        </p:txBody>
      </p:sp>
      <p:sp>
        <p:nvSpPr>
          <p:cNvPr id="50" name="TextBox 49"/>
          <p:cNvSpPr txBox="1"/>
          <p:nvPr/>
        </p:nvSpPr>
        <p:spPr>
          <a:xfrm>
            <a:off x="6756400" y="4826000"/>
            <a:ext cx="4622800" cy="609600"/>
          </a:xfrm>
          <a:prstGeom prst="rect">
            <a:avLst/>
          </a:prstGeom>
          <a:noFill/>
        </p:spPr>
        <p:txBody>
          <a:bodyPr wrap="square" lIns="0" rIns="0" tIns="0" bIns="0" anchor="t">
            <a:spAutoFit/>
          </a:bodyPr>
          <a:lstStyle/>
          <a:p>
            <a:pPr algn="l">
              <a:lnSpc>
                <a:spcPct val="120000"/>
              </a:lnSpc>
              <a:spcAft>
                <a:spcPts val="0"/>
              </a:spcAft>
            </a:pPr>
            <a:r>
              <a:rPr sz="1100" b="0">
                <a:solidFill>
                  <a:srgbClr val="55607A"/>
                </a:solidFill>
                <a:latin typeface="Segoe UI"/>
              </a:rPr>
              <a:t>Sites carry long backup power (72 h at 450connect) and priority for mission-critical traffic.</a:t>
            </a:r>
          </a:p>
        </p:txBody>
      </p:sp>
      <p:sp>
        <p:nvSpPr>
          <p:cNvPr id="51" name="Rectangle 50"/>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info_navy.png"/>
          <p:cNvPicPr>
            <a:picLocks noChangeAspect="1"/>
          </p:cNvPicPr>
          <p:nvPr/>
        </p:nvPicPr>
        <p:blipFill>
          <a:blip r:embed="rId7"/>
          <a:stretch>
            <a:fillRect/>
          </a:stretch>
        </p:blipFill>
        <p:spPr>
          <a:xfrm>
            <a:off x="812800" y="5918200"/>
            <a:ext cx="254000" cy="254000"/>
          </a:xfrm>
          <a:prstGeom prst="rect">
            <a:avLst/>
          </a:prstGeom>
        </p:spPr>
      </p:pic>
      <p:sp>
        <p:nvSpPr>
          <p:cNvPr id="53" name="TextBox 52"/>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54" name="TextBox 53"/>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sp>
        <p:nvSpPr>
          <p:cNvPr id="10" name="Rectangle 9"/>
          <p:cNvSpPr/>
          <p:nvPr/>
        </p:nvSpPr>
        <p:spPr>
          <a:xfrm>
            <a:off x="609600" y="1549400"/>
            <a:ext cx="3429000" cy="4064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oc_germany_sites.png"/>
          <p:cNvPicPr>
            <a:picLocks noChangeAspect="1"/>
          </p:cNvPicPr>
          <p:nvPr/>
        </p:nvPicPr>
        <p:blipFill>
          <a:blip r:embed="rId2"/>
          <a:stretch>
            <a:fillRect/>
          </a:stretch>
        </p:blipFill>
        <p:spPr>
          <a:xfrm>
            <a:off x="1136650" y="1574800"/>
            <a:ext cx="2374900" cy="3429000"/>
          </a:xfrm>
          <a:prstGeom prst="rect">
            <a:avLst/>
          </a:prstGeom>
        </p:spPr>
      </p:pic>
      <p:sp>
        <p:nvSpPr>
          <p:cNvPr id="12" name="TextBox 11"/>
          <p:cNvSpPr txBox="1"/>
          <p:nvPr/>
        </p:nvSpPr>
        <p:spPr>
          <a:xfrm>
            <a:off x="609600" y="4991100"/>
            <a:ext cx="3429000" cy="177800"/>
          </a:xfrm>
          <a:prstGeom prst="rect">
            <a:avLst/>
          </a:prstGeom>
          <a:noFill/>
        </p:spPr>
        <p:txBody>
          <a:bodyPr wrap="square" lIns="0" rIns="0" tIns="0" bIns="0" anchor="ctr">
            <a:spAutoFit/>
          </a:bodyPr>
          <a:lstStyle/>
          <a:p>
            <a:pPr algn="ctr">
              <a:lnSpc>
                <a:spcPct val="120000"/>
              </a:lnSpc>
              <a:spcAft>
                <a:spcPts val="0"/>
              </a:spcAft>
            </a:pPr>
            <a:r>
              <a:rPr sz="800" b="0">
                <a:solidFill>
                  <a:srgbClr val="93A0B4"/>
                </a:solidFill>
                <a:latin typeface="Segoe UI"/>
              </a:rPr>
              <a:t>Illustrative: &gt;95% of Germany covered, ~1,600 sites</a:t>
            </a:r>
          </a:p>
        </p:txBody>
      </p:sp>
      <p:sp>
        <p:nvSpPr>
          <p:cNvPr id="13" name="Rounded Rectangle 12"/>
          <p:cNvSpPr/>
          <p:nvPr/>
        </p:nvSpPr>
        <p:spPr>
          <a:xfrm>
            <a:off x="812800" y="5232400"/>
            <a:ext cx="1397000" cy="2794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2800" y="5232400"/>
            <a:ext cx="1397000" cy="279400"/>
          </a:xfrm>
          <a:prstGeom prst="rect">
            <a:avLst/>
          </a:prstGeom>
          <a:noFill/>
        </p:spPr>
        <p:txBody>
          <a:bodyPr wrap="square" lIns="0" rIns="0" tIns="0" bIns="0" anchor="ctr">
            <a:spAutoFit/>
          </a:bodyPr>
          <a:lstStyle/>
          <a:p>
            <a:pPr algn="ctr">
              <a:lnSpc>
                <a:spcPct val="120000"/>
              </a:lnSpc>
              <a:spcAft>
                <a:spcPts val="0"/>
              </a:spcAft>
            </a:pPr>
            <a:r>
              <a:rPr sz="1050" b="0">
                <a:solidFill>
                  <a:srgbClr val="FFFFFF"/>
                </a:solidFill>
                <a:latin typeface="Segoe UI Semibold"/>
              </a:rPr>
              <a:t>Band 72</a:t>
            </a:r>
          </a:p>
        </p:txBody>
      </p:sp>
      <p:sp>
        <p:nvSpPr>
          <p:cNvPr id="15" name="Rounded Rectangle 14"/>
          <p:cNvSpPr/>
          <p:nvPr/>
        </p:nvSpPr>
        <p:spPr>
          <a:xfrm>
            <a:off x="2311400" y="5232400"/>
            <a:ext cx="1524000" cy="279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400" y="5232400"/>
            <a:ext cx="1524000" cy="2794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Licence to 2040</a:t>
            </a:r>
          </a:p>
        </p:txBody>
      </p:sp>
      <p:sp>
        <p:nvSpPr>
          <p:cNvPr id="17" name="Rectangle 16"/>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20" name="TextBox 19"/>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~1,600</a:t>
            </a:r>
          </a:p>
        </p:txBody>
      </p:sp>
      <p:sp>
        <p:nvSpPr>
          <p:cNvPr id="21" name="TextBox 20"/>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for nationwide coverage</a:t>
            </a:r>
          </a:p>
        </p:txBody>
      </p:sp>
      <p:sp>
        <p:nvSpPr>
          <p:cNvPr id="22" name="Rectangle 21"/>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zap_white.png"/>
          <p:cNvPicPr>
            <a:picLocks noChangeAspect="1"/>
          </p:cNvPicPr>
          <p:nvPr/>
        </p:nvPicPr>
        <p:blipFill>
          <a:blip r:embed="rId4"/>
          <a:stretch>
            <a:fillRect/>
          </a:stretch>
        </p:blipFill>
        <p:spPr>
          <a:xfrm>
            <a:off x="8339328" y="1900427"/>
            <a:ext cx="237744" cy="237744"/>
          </a:xfrm>
          <a:prstGeom prst="rect">
            <a:avLst/>
          </a:prstGeom>
        </p:spPr>
      </p:pic>
      <p:sp>
        <p:nvSpPr>
          <p:cNvPr id="25" name="TextBox 24"/>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26" name="TextBox 25"/>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at every site</a:t>
            </a:r>
          </a:p>
        </p:txBody>
      </p:sp>
      <p:sp>
        <p:nvSpPr>
          <p:cNvPr id="27" name="Rectangle 26"/>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waves_white.png"/>
          <p:cNvPicPr>
            <a:picLocks noChangeAspect="1"/>
          </p:cNvPicPr>
          <p:nvPr/>
        </p:nvPicPr>
        <p:blipFill>
          <a:blip r:embed="rId5"/>
          <a:stretch>
            <a:fillRect/>
          </a:stretch>
        </p:blipFill>
        <p:spPr>
          <a:xfrm>
            <a:off x="4656328" y="2941828"/>
            <a:ext cx="237744" cy="237744"/>
          </a:xfrm>
          <a:prstGeom prst="rect">
            <a:avLst/>
          </a:prstGeom>
        </p:spPr>
      </p:pic>
      <p:sp>
        <p:nvSpPr>
          <p:cNvPr id="30" name="TextBox 29"/>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2×4.74 MHz</a:t>
            </a:r>
          </a:p>
        </p:txBody>
      </p:sp>
      <p:sp>
        <p:nvSpPr>
          <p:cNvPr id="31" name="TextBox 30"/>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451.00–455.74 / 461.00–465.74 MHz</a:t>
            </a:r>
          </a:p>
        </p:txBody>
      </p:sp>
      <p:sp>
        <p:nvSpPr>
          <p:cNvPr id="32" name="Rectangle 31"/>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users_white.png"/>
          <p:cNvPicPr>
            <a:picLocks noChangeAspect="1"/>
          </p:cNvPicPr>
          <p:nvPr/>
        </p:nvPicPr>
        <p:blipFill>
          <a:blip r:embed="rId6"/>
          <a:stretch>
            <a:fillRect/>
          </a:stretch>
        </p:blipFill>
        <p:spPr>
          <a:xfrm>
            <a:off x="8339328" y="2941828"/>
            <a:ext cx="237744" cy="237744"/>
          </a:xfrm>
          <a:prstGeom prst="rect">
            <a:avLst/>
          </a:prstGeom>
        </p:spPr>
      </p:pic>
      <p:sp>
        <p:nvSpPr>
          <p:cNvPr id="35" name="TextBox 34"/>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4 × 25%</a:t>
            </a:r>
          </a:p>
        </p:txBody>
      </p:sp>
      <p:sp>
        <p:nvSpPr>
          <p:cNvPr id="36" name="TextBox 35"/>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owned by utility groups incl. E.ON and Alliander</a:t>
            </a:r>
          </a:p>
        </p:txBody>
      </p:sp>
      <p:sp>
        <p:nvSpPr>
          <p:cNvPr id="37" name="Rectangle 36"/>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9" name="Picture 38"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40" name="TextBox 39"/>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1" name="TextBox 40"/>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2" name="Rectangle 41"/>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5" name="TextBox 44"/>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6" name="TextBox 45"/>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on the 450connect whitelist</a:t>
            </a:r>
          </a:p>
        </p:txBody>
      </p:sp>
      <p:sp>
        <p:nvSpPr>
          <p:cNvPr id="47" name="TextBox 46"/>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8" name="Rectangle 47"/>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50" name="TextBox 49"/>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1" name="Rectangle 50"/>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3" name="TextBox 52"/>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4" name="Rectangle 53"/>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Feb 2022</a:t>
            </a:r>
          </a:p>
        </p:txBody>
      </p:sp>
      <p:sp>
        <p:nvSpPr>
          <p:cNvPr id="56" name="TextBox 55"/>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Nokia selected</a:t>
            </a:r>
          </a:p>
        </p:txBody>
      </p:sp>
      <p:sp>
        <p:nvSpPr>
          <p:cNvPr id="57" name="Rectangle 56"/>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End 2024</a:t>
            </a:r>
          </a:p>
        </p:txBody>
      </p:sp>
      <p:sp>
        <p:nvSpPr>
          <p:cNvPr id="59" name="TextBox 58"/>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Full operation planned</a:t>
            </a:r>
          </a:p>
        </p:txBody>
      </p:sp>
      <p:sp>
        <p:nvSpPr>
          <p:cNvPr id="60" name="Rectangle 59"/>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check_navy.png"/>
          <p:cNvPicPr>
            <a:picLocks noChangeAspect="1"/>
          </p:cNvPicPr>
          <p:nvPr/>
        </p:nvPicPr>
        <p:blipFill>
          <a:blip r:embed="rId9"/>
          <a:stretch>
            <a:fillRect/>
          </a:stretch>
        </p:blipFill>
        <p:spPr>
          <a:xfrm>
            <a:off x="812800" y="5918200"/>
            <a:ext cx="254000" cy="254000"/>
          </a:xfrm>
          <a:prstGeom prst="rect">
            <a:avLst/>
          </a:prstGeom>
        </p:spPr>
      </p:pic>
      <p:sp>
        <p:nvSpPr>
          <p:cNvPr id="62" name="TextBox 61"/>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press releases (Mar 2021); Nokia newsroom (Feb 2022); 450 MHz Alliance, RFI (2025) p5, Global Update (Dec 2025) p9; 450connect; Hytera whitelist certificate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