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 id="276" r:id="rId27"/>
    <p:sldId id="277"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Before the industries, one point on positioning. 450 MHz is a scarce low band, and its value is in business and government use, not consumer service. The reason is simple: the channel is narrow. About two by five megahertz is a quarter of one ordinary LTE carrier, and one 450 cell covers a very large area, so that capacity is shared by many users. Consumer phones do not support the band, and Germany reserved it for critical infrastructure. Even Norway's ice moved its 450 consumers to industrial use.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best-documented 450 MHz network is Germany's 450connect. The regulator reserved the band for energy and water in 2020 and licensed 450connect in 2021, to 2040. Seventy-plus utilities stand behind it; Nokia supplies the network. During 2025 coverage rose from thirty to over ninety percent of Germany, on a thousand sites with seventy-two hours of backup, and over ten thousand substations are connected. One operator, one network, many utilities, no consumer service. Our PNC660 is on its whitelist.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24.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23.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16.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23.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40.png"/><Relationship Id="rId4" Type="http://schemas.openxmlformats.org/officeDocument/2006/relationships/image" Target="../media/image47.png"/><Relationship Id="rId5" Type="http://schemas.openxmlformats.org/officeDocument/2006/relationships/image" Target="../media/image51.png"/><Relationship Id="rId6" Type="http://schemas.openxmlformats.org/officeDocument/2006/relationships/image" Target="../media/image45.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image" Target="../media/image4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2.png"/><Relationship Id="rId4" Type="http://schemas.openxmlformats.org/officeDocument/2006/relationships/image" Target="../media/image54.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image" Target="../media/image43.png"/><Relationship Id="rId4" Type="http://schemas.openxmlformats.org/officeDocument/2006/relationships/image" Target="../media/image46.png"/><Relationship Id="rId5" Type="http://schemas.openxmlformats.org/officeDocument/2006/relationships/image" Target="../media/image56.png"/><Relationship Id="rId6" Type="http://schemas.openxmlformats.org/officeDocument/2006/relationships/image" Target="../media/image59.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8.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 Id="rId10" Type="http://schemas.openxmlformats.org/officeDocument/2006/relationships/image" Target="../media/image16.png"/><Relationship Id="rId11" Type="http://schemas.openxmlformats.org/officeDocument/2006/relationships/image" Target="../media/image48.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8.png"/><Relationship Id="rId4" Type="http://schemas.openxmlformats.org/officeDocument/2006/relationships/image" Target="../media/image68.png"/><Relationship Id="rId5" Type="http://schemas.openxmlformats.org/officeDocument/2006/relationships/image" Target="../media/image66.png"/><Relationship Id="rId6" Type="http://schemas.openxmlformats.org/officeDocument/2006/relationships/image" Target="../media/image69.png"/><Relationship Id="rId7" Type="http://schemas.openxmlformats.org/officeDocument/2006/relationships/image" Target="../media/image21.png"/><Relationship Id="rId8" Type="http://schemas.openxmlformats.org/officeDocument/2006/relationships/image" Target="../media/image70.png"/><Relationship Id="rId9" Type="http://schemas.openxmlformats.org/officeDocument/2006/relationships/image" Target="../media/image16.png"/><Relationship Id="rId10" Type="http://schemas.openxmlformats.org/officeDocument/2006/relationships/image" Target="../media/image57.png"/><Relationship Id="rId11" Type="http://schemas.openxmlformats.org/officeDocument/2006/relationships/image" Target="../media/image12.png"/><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jpg"/><Relationship Id="rId3" Type="http://schemas.openxmlformats.org/officeDocument/2006/relationships/image" Target="../media/image8.png"/><Relationship Id="rId4" Type="http://schemas.openxmlformats.org/officeDocument/2006/relationships/image" Target="../media/image72.png"/><Relationship Id="rId5" Type="http://schemas.openxmlformats.org/officeDocument/2006/relationships/image" Target="../media/image9.png"/><Relationship Id="rId6" Type="http://schemas.openxmlformats.org/officeDocument/2006/relationships/image" Target="../media/image23.png"/><Relationship Id="rId7" Type="http://schemas.openxmlformats.org/officeDocument/2006/relationships/image" Target="../media/image73.png"/><Relationship Id="rId8" Type="http://schemas.openxmlformats.org/officeDocument/2006/relationships/image" Target="../media/image21.png"/><Relationship Id="rId9" Type="http://schemas.openxmlformats.org/officeDocument/2006/relationships/image" Target="../media/image35.png"/><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16.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jpg"/><Relationship Id="rId9" Type="http://schemas.openxmlformats.org/officeDocument/2006/relationships/image" Target="../media/image80.jpg"/><Relationship Id="rId10" Type="http://schemas.openxmlformats.org/officeDocument/2006/relationships/image" Target="../media/image81.jpg"/><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63.png"/><Relationship Id="rId4" Type="http://schemas.openxmlformats.org/officeDocument/2006/relationships/image" Target="../media/image8.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66.png"/><Relationship Id="rId9" Type="http://schemas.openxmlformats.org/officeDocument/2006/relationships/image" Target="../media/image21.png"/><Relationship Id="rId10" Type="http://schemas.openxmlformats.org/officeDocument/2006/relationships/image" Target="../media/image72.png"/><Relationship Id="rId11" Type="http://schemas.openxmlformats.org/officeDocument/2006/relationships/image" Target="../media/image41.png"/><Relationship Id="rId12" Type="http://schemas.openxmlformats.org/officeDocument/2006/relationships/image" Target="../media/image24.pn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6.png"/><Relationship Id="rId8"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6</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7 – 14</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15 – 19</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20 – 21</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POSITIONING</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scarce low band, best spent on B2B and B2G, not on consumer service</a:t>
            </a:r>
          </a:p>
        </p:txBody>
      </p:sp>
      <p:sp>
        <p:nvSpPr>
          <p:cNvPr id="10" name="TextBox 9"/>
          <p:cNvSpPr txBox="1"/>
          <p:nvPr/>
        </p:nvSpPr>
        <p:spPr>
          <a:xfrm>
            <a:off x="6096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WHY NOT CONSUMER: THE CHANNEL IS NARROW</a:t>
            </a:r>
          </a:p>
        </p:txBody>
      </p:sp>
      <p:sp>
        <p:nvSpPr>
          <p:cNvPr id="11" name="TextBox 10"/>
          <p:cNvSpPr txBox="1"/>
          <p:nvPr/>
        </p:nvSpPr>
        <p:spPr>
          <a:xfrm>
            <a:off x="609600" y="1854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450 MHz (Band 31 / 72)</a:t>
            </a:r>
          </a:p>
        </p:txBody>
      </p:sp>
      <p:sp>
        <p:nvSpPr>
          <p:cNvPr id="12" name="Rectangle 11"/>
          <p:cNvSpPr/>
          <p:nvPr/>
        </p:nvSpPr>
        <p:spPr>
          <a:xfrm>
            <a:off x="609600" y="2070100"/>
            <a:ext cx="190500" cy="177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1700" y="2044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 2×5 MHz</a:t>
            </a:r>
          </a:p>
        </p:txBody>
      </p:sp>
      <p:sp>
        <p:nvSpPr>
          <p:cNvPr id="14" name="TextBox 13"/>
          <p:cNvSpPr txBox="1"/>
          <p:nvPr/>
        </p:nvSpPr>
        <p:spPr>
          <a:xfrm>
            <a:off x="609600" y="2362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LTE carrier</a:t>
            </a:r>
          </a:p>
        </p:txBody>
      </p:sp>
      <p:sp>
        <p:nvSpPr>
          <p:cNvPr id="15" name="Rectangle 14"/>
          <p:cNvSpPr/>
          <p:nvPr/>
        </p:nvSpPr>
        <p:spPr>
          <a:xfrm>
            <a:off x="609600" y="2578100"/>
            <a:ext cx="762000" cy="1778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73200" y="2552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20 MHz</a:t>
            </a:r>
          </a:p>
        </p:txBody>
      </p:sp>
      <p:sp>
        <p:nvSpPr>
          <p:cNvPr id="17" name="TextBox 16"/>
          <p:cNvSpPr txBox="1"/>
          <p:nvPr/>
        </p:nvSpPr>
        <p:spPr>
          <a:xfrm>
            <a:off x="609600" y="2870200"/>
            <a:ext cx="4876800" cy="1778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One typical 5G carrier (3.5 GHz)</a:t>
            </a:r>
          </a:p>
        </p:txBody>
      </p:sp>
      <p:sp>
        <p:nvSpPr>
          <p:cNvPr id="18" name="Rectangle 17"/>
          <p:cNvSpPr/>
          <p:nvPr/>
        </p:nvSpPr>
        <p:spPr>
          <a:xfrm>
            <a:off x="609600" y="3086100"/>
            <a:ext cx="3810000" cy="177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21200" y="3060700"/>
            <a:ext cx="1143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100 MHz</a:t>
            </a:r>
          </a:p>
        </p:txBody>
      </p:sp>
      <p:sp>
        <p:nvSpPr>
          <p:cNvPr id="20" name="TextBox 19"/>
          <p:cNvSpPr txBox="1"/>
          <p:nvPr/>
        </p:nvSpPr>
        <p:spPr>
          <a:xfrm>
            <a:off x="609600" y="3403600"/>
            <a:ext cx="4876800" cy="431800"/>
          </a:xfrm>
          <a:prstGeom prst="rect">
            <a:avLst/>
          </a:prstGeom>
          <a:noFill/>
        </p:spPr>
        <p:txBody>
          <a:bodyPr wrap="square" lIns="0" rIns="0" tIns="0" bIns="0" anchor="t">
            <a:spAutoFit/>
          </a:bodyPr>
          <a:lstStyle/>
          <a:p>
            <a:pPr algn="l">
              <a:lnSpc>
                <a:spcPct val="120000"/>
              </a:lnSpc>
              <a:spcAft>
                <a:spcPts val="0"/>
              </a:spcAft>
            </a:pPr>
            <a:r>
              <a:rPr sz="1050" b="0">
                <a:solidFill>
                  <a:srgbClr val="55607A"/>
                </a:solidFill>
                <a:latin typeface="Segoe UI"/>
              </a:rPr>
              <a:t>One 450 MHz cell covers a very large area, so this narrow channel</a:t>
            </a:r>
          </a:p>
          <a:p>
            <a:pPr algn="l">
              <a:lnSpc>
                <a:spcPct val="120000"/>
              </a:lnSpc>
              <a:spcAft>
                <a:spcPts val="0"/>
              </a:spcAft>
            </a:pPr>
            <a:r>
              <a:rPr sz="1050" b="0">
                <a:solidFill>
                  <a:srgbClr val="55607A"/>
                </a:solidFill>
                <a:latin typeface="Segoe UI"/>
              </a:rPr>
              <a:t>is shared by far more users than a mid-band cell.</a:t>
            </a:r>
          </a:p>
        </p:txBody>
      </p:sp>
      <p:sp>
        <p:nvSpPr>
          <p:cNvPr id="21" name="Rectangle 20"/>
          <p:cNvSpPr/>
          <p:nvPr/>
        </p:nvSpPr>
        <p:spPr>
          <a:xfrm>
            <a:off x="609600" y="3987800"/>
            <a:ext cx="2362200" cy="1651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09600" y="3987800"/>
            <a:ext cx="23622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green.png"/>
          <p:cNvPicPr>
            <a:picLocks noChangeAspect="1"/>
          </p:cNvPicPr>
          <p:nvPr/>
        </p:nvPicPr>
        <p:blipFill>
          <a:blip r:embed="rId2"/>
          <a:stretch>
            <a:fillRect/>
          </a:stretch>
        </p:blipFill>
        <p:spPr>
          <a:xfrm>
            <a:off x="812800" y="4140200"/>
            <a:ext cx="228600" cy="228600"/>
          </a:xfrm>
          <a:prstGeom prst="rect">
            <a:avLst/>
          </a:prstGeom>
        </p:spPr>
      </p:pic>
      <p:sp>
        <p:nvSpPr>
          <p:cNvPr id="24" name="TextBox 23"/>
          <p:cNvSpPr txBox="1"/>
          <p:nvPr/>
        </p:nvSpPr>
        <p:spPr>
          <a:xfrm>
            <a:off x="11684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FITS: B2B AND B2G</a:t>
            </a:r>
          </a:p>
        </p:txBody>
      </p:sp>
      <p:sp>
        <p:nvSpPr>
          <p:cNvPr id="25" name="TextBox 24"/>
          <p:cNvSpPr txBox="1"/>
          <p:nvPr/>
        </p:nvSpPr>
        <p:spPr>
          <a:xfrm>
            <a:off x="8128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Power, water, oil &amp; gas, rail</a:t>
            </a:r>
          </a:p>
        </p:txBody>
      </p:sp>
      <p:sp>
        <p:nvSpPr>
          <p:cNvPr id="26" name="TextBox 25"/>
          <p:cNvSpPr txBox="1"/>
          <p:nvPr/>
        </p:nvSpPr>
        <p:spPr>
          <a:xfrm>
            <a:off x="8128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Emergency and public safety</a:t>
            </a:r>
          </a:p>
        </p:txBody>
      </p:sp>
      <p:sp>
        <p:nvSpPr>
          <p:cNvPr id="27" name="TextBox 26"/>
          <p:cNvSpPr txBox="1"/>
          <p:nvPr/>
        </p:nvSpPr>
        <p:spPr>
          <a:xfrm>
            <a:off x="8128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IoT, SCADA, MCPTT</a:t>
            </a:r>
          </a:p>
        </p:txBody>
      </p:sp>
      <p:sp>
        <p:nvSpPr>
          <p:cNvPr id="28" name="Rectangle 27"/>
          <p:cNvSpPr/>
          <p:nvPr/>
        </p:nvSpPr>
        <p:spPr>
          <a:xfrm>
            <a:off x="3124200" y="3987800"/>
            <a:ext cx="2362200" cy="1651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124200" y="3987800"/>
            <a:ext cx="2362200" cy="50800"/>
          </a:xfrm>
          <a:prstGeom prst="rect">
            <a:avLst/>
          </a:prstGeom>
          <a:solidFill>
            <a:srgbClr val="55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info_steel.png"/>
          <p:cNvPicPr>
            <a:picLocks noChangeAspect="1"/>
          </p:cNvPicPr>
          <p:nvPr/>
        </p:nvPicPr>
        <p:blipFill>
          <a:blip r:embed="rId3"/>
          <a:stretch>
            <a:fillRect/>
          </a:stretch>
        </p:blipFill>
        <p:spPr>
          <a:xfrm>
            <a:off x="3327400" y="4140200"/>
            <a:ext cx="228600" cy="228600"/>
          </a:xfrm>
          <a:prstGeom prst="rect">
            <a:avLst/>
          </a:prstGeom>
        </p:spPr>
      </p:pic>
      <p:sp>
        <p:nvSpPr>
          <p:cNvPr id="31" name="TextBox 30"/>
          <p:cNvSpPr txBox="1"/>
          <p:nvPr/>
        </p:nvSpPr>
        <p:spPr>
          <a:xfrm>
            <a:off x="3683000" y="41402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55607A"/>
                </a:solidFill>
                <a:latin typeface="Segoe UI Semibold"/>
              </a:rPr>
              <a:t>NOT FOR CONSUMERS</a:t>
            </a:r>
          </a:p>
        </p:txBody>
      </p:sp>
      <p:sp>
        <p:nvSpPr>
          <p:cNvPr id="32" name="TextBox 31"/>
          <p:cNvSpPr txBox="1"/>
          <p:nvPr/>
        </p:nvSpPr>
        <p:spPr>
          <a:xfrm>
            <a:off x="3327400" y="45212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Smartphone internet</a:t>
            </a:r>
          </a:p>
        </p:txBody>
      </p:sp>
      <p:sp>
        <p:nvSpPr>
          <p:cNvPr id="33" name="TextBox 32"/>
          <p:cNvSpPr txBox="1"/>
          <p:nvPr/>
        </p:nvSpPr>
        <p:spPr>
          <a:xfrm>
            <a:off x="3327400" y="48514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Video streaming</a:t>
            </a:r>
          </a:p>
        </p:txBody>
      </p:sp>
      <p:sp>
        <p:nvSpPr>
          <p:cNvPr id="34" name="TextBox 33"/>
          <p:cNvSpPr txBox="1"/>
          <p:nvPr/>
        </p:nvSpPr>
        <p:spPr>
          <a:xfrm>
            <a:off x="3327400" y="5181600"/>
            <a:ext cx="2032000" cy="2794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a:rPr>
              <a:t>Home broadband</a:t>
            </a:r>
          </a:p>
        </p:txBody>
      </p:sp>
      <p:pic>
        <p:nvPicPr>
          <p:cNvPr id="35" name="Picture 34" descr="v6_13015b8219.jpg"/>
          <p:cNvPicPr>
            <a:picLocks noChangeAspect="1"/>
          </p:cNvPicPr>
          <p:nvPr/>
        </p:nvPicPr>
        <p:blipFill>
          <a:blip r:embed="rId4"/>
          <a:srcRect l="12835" r="12835"/>
          <a:stretch>
            <a:fillRect/>
          </a:stretch>
        </p:blipFill>
        <p:spPr>
          <a:xfrm>
            <a:off x="5791200" y="1549400"/>
            <a:ext cx="1879600" cy="1422400"/>
          </a:xfrm>
          <a:prstGeom prst="rect">
            <a:avLst/>
          </a:prstGeom>
        </p:spPr>
      </p:pic>
      <p:sp>
        <p:nvSpPr>
          <p:cNvPr id="36" name="Rounded Rectangle 35"/>
          <p:cNvSpPr/>
          <p:nvPr/>
        </p:nvSpPr>
        <p:spPr>
          <a:xfrm>
            <a:off x="5892800" y="2590800"/>
            <a:ext cx="937260" cy="254000"/>
          </a:xfrm>
          <a:prstGeom prst="round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892800" y="2590800"/>
            <a:ext cx="937260" cy="254000"/>
          </a:xfrm>
          <a:prstGeom prst="rect">
            <a:avLst/>
          </a:prstGeom>
          <a:noFill/>
        </p:spPr>
        <p:txBody>
          <a:bodyPr wrap="square" lIns="0" rIns="0" tIns="0" bIns="0" anchor="ctr">
            <a:spAutoFit/>
          </a:bodyPr>
          <a:lstStyle/>
          <a:p>
            <a:pPr algn="ctr">
              <a:lnSpc>
                <a:spcPct val="120000"/>
              </a:lnSpc>
              <a:spcAft>
                <a:spcPts val="0"/>
              </a:spcAft>
            </a:pPr>
            <a:r>
              <a:rPr sz="950" b="0">
                <a:solidFill>
                  <a:srgbClr val="FFFFFF"/>
                </a:solidFill>
                <a:latin typeface="Segoe UI Semibold"/>
              </a:rPr>
              <a:t>Utilities</a:t>
            </a:r>
          </a:p>
        </p:txBody>
      </p:sp>
      <p:pic>
        <p:nvPicPr>
          <p:cNvPr id="38" name="Picture 37" descr="v6_4589fbbd86.jpg"/>
          <p:cNvPicPr>
            <a:picLocks noChangeAspect="1"/>
          </p:cNvPicPr>
          <p:nvPr/>
        </p:nvPicPr>
        <p:blipFill>
          <a:blip r:embed="rId5"/>
          <a:srcRect l="5980" r="5980"/>
          <a:stretch>
            <a:fillRect/>
          </a:stretch>
        </p:blipFill>
        <p:spPr>
          <a:xfrm>
            <a:off x="7747000" y="1549400"/>
            <a:ext cx="1879600" cy="1422400"/>
          </a:xfrm>
          <a:prstGeom prst="rect">
            <a:avLst/>
          </a:prstGeom>
        </p:spPr>
      </p:pic>
      <p:sp>
        <p:nvSpPr>
          <p:cNvPr id="39" name="Rounded Rectangle 38"/>
          <p:cNvSpPr/>
          <p:nvPr/>
        </p:nvSpPr>
        <p:spPr>
          <a:xfrm>
            <a:off x="7848600" y="2590800"/>
            <a:ext cx="1252220" cy="254000"/>
          </a:xfrm>
          <a:prstGeom prst="round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48600" y="2590800"/>
            <a:ext cx="1252220" cy="254000"/>
          </a:xfrm>
          <a:prstGeom prst="rect">
            <a:avLst/>
          </a:prstGeom>
          <a:noFill/>
        </p:spPr>
        <p:txBody>
          <a:bodyPr wrap="square" lIns="0" rIns="0" tIns="0" bIns="0" anchor="ctr">
            <a:spAutoFit/>
          </a:bodyPr>
          <a:lstStyle/>
          <a:p>
            <a:pPr algn="ctr">
              <a:lnSpc>
                <a:spcPct val="120000"/>
              </a:lnSpc>
              <a:spcAft>
                <a:spcPts val="0"/>
              </a:spcAft>
            </a:pPr>
            <a:r>
              <a:rPr sz="950" b="0">
                <a:solidFill>
                  <a:srgbClr val="FFFFFF"/>
                </a:solidFill>
                <a:latin typeface="Segoe UI Semibold"/>
              </a:rPr>
              <a:t>Public safety</a:t>
            </a:r>
          </a:p>
        </p:txBody>
      </p:sp>
      <p:pic>
        <p:nvPicPr>
          <p:cNvPr id="41" name="Picture 40" descr="v6_b6694edb9e.jpg"/>
          <p:cNvPicPr>
            <a:picLocks noChangeAspect="1"/>
          </p:cNvPicPr>
          <p:nvPr/>
        </p:nvPicPr>
        <p:blipFill>
          <a:blip r:embed="rId6"/>
          <a:srcRect l="12835" r="12835"/>
          <a:stretch>
            <a:fillRect/>
          </a:stretch>
        </p:blipFill>
        <p:spPr>
          <a:xfrm>
            <a:off x="9702800" y="1549400"/>
            <a:ext cx="1879600" cy="1422400"/>
          </a:xfrm>
          <a:prstGeom prst="rect">
            <a:avLst/>
          </a:prstGeom>
        </p:spPr>
      </p:pic>
      <p:sp>
        <p:nvSpPr>
          <p:cNvPr id="42" name="Rounded Rectangle 41"/>
          <p:cNvSpPr/>
          <p:nvPr/>
        </p:nvSpPr>
        <p:spPr>
          <a:xfrm>
            <a:off x="9804400" y="2590800"/>
            <a:ext cx="937260" cy="254000"/>
          </a:xfrm>
          <a:prstGeom prst="round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804400" y="2590800"/>
            <a:ext cx="937260" cy="254000"/>
          </a:xfrm>
          <a:prstGeom prst="rect">
            <a:avLst/>
          </a:prstGeom>
          <a:noFill/>
        </p:spPr>
        <p:txBody>
          <a:bodyPr wrap="square" lIns="0" rIns="0" tIns="0" bIns="0" anchor="ctr">
            <a:spAutoFit/>
          </a:bodyPr>
          <a:lstStyle/>
          <a:p>
            <a:pPr algn="ctr">
              <a:lnSpc>
                <a:spcPct val="120000"/>
              </a:lnSpc>
              <a:spcAft>
                <a:spcPts val="0"/>
              </a:spcAft>
            </a:pPr>
            <a:r>
              <a:rPr sz="950" b="0">
                <a:solidFill>
                  <a:srgbClr val="FFFFFF"/>
                </a:solidFill>
                <a:latin typeface="Segoe UI Semibold"/>
              </a:rPr>
              <a:t>Transport</a:t>
            </a:r>
          </a:p>
        </p:txBody>
      </p:sp>
      <p:sp>
        <p:nvSpPr>
          <p:cNvPr id="44" name="TextBox 43"/>
          <p:cNvSpPr txBox="1"/>
          <p:nvPr/>
        </p:nvSpPr>
        <p:spPr>
          <a:xfrm>
            <a:off x="5791200" y="30988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THREE MORE REASONS</a:t>
            </a:r>
          </a:p>
        </p:txBody>
      </p:sp>
      <p:sp>
        <p:nvSpPr>
          <p:cNvPr id="45" name="Rectangle 44"/>
          <p:cNvSpPr/>
          <p:nvPr/>
        </p:nvSpPr>
        <p:spPr>
          <a:xfrm>
            <a:off x="5791200" y="33528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5994400" y="3492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smartphone_white.png"/>
          <p:cNvPicPr>
            <a:picLocks noChangeAspect="1"/>
          </p:cNvPicPr>
          <p:nvPr/>
        </p:nvPicPr>
        <p:blipFill>
          <a:blip r:embed="rId7"/>
          <a:stretch>
            <a:fillRect/>
          </a:stretch>
        </p:blipFill>
        <p:spPr>
          <a:xfrm>
            <a:off x="6098032" y="3596132"/>
            <a:ext cx="224536" cy="224536"/>
          </a:xfrm>
          <a:prstGeom prst="rect">
            <a:avLst/>
          </a:prstGeom>
        </p:spPr>
      </p:pic>
      <p:sp>
        <p:nvSpPr>
          <p:cNvPr id="48" name="TextBox 47"/>
          <p:cNvSpPr txBox="1"/>
          <p:nvPr/>
        </p:nvSpPr>
        <p:spPr>
          <a:xfrm>
            <a:off x="6604000" y="34290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No consumer handsets</a:t>
            </a:r>
          </a:p>
        </p:txBody>
      </p:sp>
      <p:sp>
        <p:nvSpPr>
          <p:cNvPr id="49" name="TextBox 48"/>
          <p:cNvSpPr txBox="1"/>
          <p:nvPr/>
        </p:nvSpPr>
        <p:spPr>
          <a:xfrm>
            <a:off x="6604000" y="36957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Phones lack Band 31/72; devices are routers, meters, rugged handhelds.</a:t>
            </a:r>
          </a:p>
        </p:txBody>
      </p:sp>
      <p:sp>
        <p:nvSpPr>
          <p:cNvPr id="50" name="Rectangle 49"/>
          <p:cNvSpPr/>
          <p:nvPr/>
        </p:nvSpPr>
        <p:spPr>
          <a:xfrm>
            <a:off x="5791200" y="41402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5994400" y="4279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badge-check_white.png"/>
          <p:cNvPicPr>
            <a:picLocks noChangeAspect="1"/>
          </p:cNvPicPr>
          <p:nvPr/>
        </p:nvPicPr>
        <p:blipFill>
          <a:blip r:embed="rId8"/>
          <a:stretch>
            <a:fillRect/>
          </a:stretch>
        </p:blipFill>
        <p:spPr>
          <a:xfrm>
            <a:off x="6098032" y="4383532"/>
            <a:ext cx="224536" cy="224536"/>
          </a:xfrm>
          <a:prstGeom prst="rect">
            <a:avLst/>
          </a:prstGeom>
        </p:spPr>
      </p:pic>
      <p:sp>
        <p:nvSpPr>
          <p:cNvPr id="53" name="TextBox 52"/>
          <p:cNvSpPr txBox="1"/>
          <p:nvPr/>
        </p:nvSpPr>
        <p:spPr>
          <a:xfrm>
            <a:off x="6604000" y="42164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Licensed for critical infrastructure</a:t>
            </a:r>
          </a:p>
        </p:txBody>
      </p:sp>
      <p:sp>
        <p:nvSpPr>
          <p:cNvPr id="54" name="TextBox 53"/>
          <p:cNvSpPr txBox="1"/>
          <p:nvPr/>
        </p:nvSpPr>
        <p:spPr>
          <a:xfrm>
            <a:off x="6604000" y="44831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Germany: energy &amp; water. Singapore: public safety. South Africa: rail.</a:t>
            </a:r>
          </a:p>
        </p:txBody>
      </p:sp>
      <p:sp>
        <p:nvSpPr>
          <p:cNvPr id="55" name="Rectangle 54"/>
          <p:cNvSpPr/>
          <p:nvPr/>
        </p:nvSpPr>
        <p:spPr>
          <a:xfrm>
            <a:off x="5791200" y="4927600"/>
            <a:ext cx="5791200" cy="7112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5994400" y="5067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zap_white.png"/>
          <p:cNvPicPr>
            <a:picLocks noChangeAspect="1"/>
          </p:cNvPicPr>
          <p:nvPr/>
        </p:nvPicPr>
        <p:blipFill>
          <a:blip r:embed="rId9"/>
          <a:stretch>
            <a:fillRect/>
          </a:stretch>
        </p:blipFill>
        <p:spPr>
          <a:xfrm>
            <a:off x="6098032" y="5170932"/>
            <a:ext cx="224536" cy="224536"/>
          </a:xfrm>
          <a:prstGeom prst="rect">
            <a:avLst/>
          </a:prstGeom>
        </p:spPr>
      </p:pic>
      <p:sp>
        <p:nvSpPr>
          <p:cNvPr id="58" name="TextBox 57"/>
          <p:cNvSpPr txBox="1"/>
          <p:nvPr/>
        </p:nvSpPr>
        <p:spPr>
          <a:xfrm>
            <a:off x="6604000" y="5003800"/>
            <a:ext cx="4775200" cy="254000"/>
          </a:xfrm>
          <a:prstGeom prst="rect">
            <a:avLst/>
          </a:prstGeom>
          <a:noFill/>
        </p:spPr>
        <p:txBody>
          <a:bodyPr wrap="square" lIns="0" rIns="0" tIns="0" bIns="0" anchor="ctr">
            <a:spAutoFit/>
          </a:bodyPr>
          <a:lstStyle/>
          <a:p>
            <a:pPr algn="l">
              <a:lnSpc>
                <a:spcPct val="120000"/>
              </a:lnSpc>
              <a:spcAft>
                <a:spcPts val="0"/>
              </a:spcAft>
            </a:pPr>
            <a:r>
              <a:rPr sz="1250" b="0">
                <a:solidFill>
                  <a:srgbClr val="0B308E"/>
                </a:solidFill>
                <a:latin typeface="Segoe UI Semibold"/>
              </a:rPr>
              <a:t>Built for resilience, not consumer cost</a:t>
            </a:r>
          </a:p>
        </p:txBody>
      </p:sp>
      <p:sp>
        <p:nvSpPr>
          <p:cNvPr id="59" name="TextBox 58"/>
          <p:cNvSpPr txBox="1"/>
          <p:nvPr/>
        </p:nvSpPr>
        <p:spPr>
          <a:xfrm>
            <a:off x="6604000" y="5270500"/>
            <a:ext cx="4775200" cy="2794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Long backup power (72 h at 450connect) and mission-critical priority.</a:t>
            </a:r>
          </a:p>
        </p:txBody>
      </p:sp>
      <p:sp>
        <p:nvSpPr>
          <p:cNvPr id="60" name="Rectangle 59"/>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10"/>
          <a:stretch>
            <a:fillRect/>
          </a:stretch>
        </p:blipFill>
        <p:spPr>
          <a:xfrm>
            <a:off x="812800" y="5918200"/>
            <a:ext cx="254000" cy="254000"/>
          </a:xfrm>
          <a:prstGeom prst="rect">
            <a:avLst/>
          </a:prstGeom>
        </p:spPr>
      </p:pic>
      <p:sp>
        <p:nvSpPr>
          <p:cNvPr id="62" name="TextBox 61"/>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Market signal:   </a:t>
            </a:r>
            <a:r>
              <a:rPr sz="1250" b="0">
                <a:solidFill>
                  <a:srgbClr val="16213E"/>
                </a:solidFill>
                <a:latin typeface="Segoe UI"/>
              </a:rPr>
              <a:t>Norway’s ice began moving its 450 MHz consumer users to industrial service in 2024.</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3GPP LTE / NR channel bandwidths; Bundesnetzagentur (Nov 2020, Mar 2021); 450 MHz Alliance, Equipment Report (May 2025) p4-p5; Annual Global Update (Dec 2025) p6-p9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90%+ area</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c40f559451.png"/>
          <p:cNvPicPr>
            <a:picLocks noChangeAspect="1"/>
          </p:cNvPicPr>
          <p:nvPr/>
        </p:nvPicPr>
        <p:blipFill>
          <a:blip r:embed="rId6"/>
          <a:stretch>
            <a:fillRect/>
          </a:stretch>
        </p:blipFill>
        <p:spPr>
          <a:xfrm>
            <a:off x="4984966" y="2235200"/>
            <a:ext cx="698066" cy="10922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Fixed site  ·  RRU5800M</a:t>
            </a:r>
          </a:p>
        </p:txBody>
      </p:sp>
      <p:pic>
        <p:nvPicPr>
          <p:cNvPr id="36" name="Picture 35" descr="a_81c7398aec.png"/>
          <p:cNvPicPr>
            <a:picLocks noChangeAspect="1"/>
          </p:cNvPicPr>
          <p:nvPr/>
        </p:nvPicPr>
        <p:blipFill>
          <a:blip r:embed="rId7"/>
          <a:stretch>
            <a:fillRect/>
          </a:stretch>
        </p:blipFill>
        <p:spPr>
          <a:xfrm>
            <a:off x="6452325" y="2235200"/>
            <a:ext cx="811348" cy="1092199"/>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00" b="0">
                <a:solidFill>
                  <a:srgbClr val="55607A"/>
                </a:solidFill>
                <a:latin typeface="Segoe UI Semibold"/>
              </a:rPr>
              <a:t>Mobile site  ·  iBS3800</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RRU5800M</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on tower, Band 31</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BBU5801M</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baseband in shelter</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iBS3800</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mobile, Band 31</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RRU5800M Product Description V3.5.01 §6.5; iBS3800 Product Description V3.0; MNC650 EU DoC (B31/B72); HyTalk MC V6.1; Alliance Equipment Report (May 2025) p5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and macro eNB supplier lists</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 (below)</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layers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1" name="Rectangle 30"/>
          <p:cNvSpPr/>
          <p:nvPr/>
        </p:nvSpPr>
        <p:spPr>
          <a:xfrm>
            <a:off x="609600" y="4775200"/>
            <a:ext cx="4876800" cy="838200"/>
          </a:xfrm>
          <a:prstGeom prst="rect">
            <a:avLst/>
          </a:prstGeom>
          <a:solidFill>
            <a:srgbClr val="FFFFFF"/>
          </a:solidFill>
          <a:ln w="9525">
            <a:solidFill>
              <a:srgbClr val="D6E0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a_e8b6d055b5.png"/>
          <p:cNvPicPr>
            <a:picLocks noChangeAspect="1"/>
          </p:cNvPicPr>
          <p:nvPr/>
        </p:nvPicPr>
        <p:blipFill>
          <a:blip r:embed="rId6"/>
          <a:stretch>
            <a:fillRect/>
          </a:stretch>
        </p:blipFill>
        <p:spPr>
          <a:xfrm>
            <a:off x="1098176" y="4826000"/>
            <a:ext cx="3899647" cy="736600"/>
          </a:xfrm>
          <a:prstGeom prst="rect">
            <a:avLst/>
          </a:prstGeom>
        </p:spPr>
      </p:pic>
      <p:sp>
        <p:nvSpPr>
          <p:cNvPr id="33" name="TextBox 32"/>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4" name="Rectangle 33"/>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martphone_white.png"/>
          <p:cNvPicPr>
            <a:picLocks noChangeAspect="1"/>
          </p:cNvPicPr>
          <p:nvPr/>
        </p:nvPicPr>
        <p:blipFill>
          <a:blip r:embed="rId7"/>
          <a:stretch>
            <a:fillRect/>
          </a:stretch>
        </p:blipFill>
        <p:spPr>
          <a:xfrm>
            <a:off x="5943600" y="2057400"/>
            <a:ext cx="304800" cy="304800"/>
          </a:xfrm>
          <a:prstGeom prst="rect">
            <a:avLst/>
          </a:prstGeom>
        </p:spPr>
      </p:pic>
      <p:sp>
        <p:nvSpPr>
          <p:cNvPr id="36" name="TextBox 35"/>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37" name="Connector 36"/>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0" name="Rectangle 39"/>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1" name="Picture 40" descr="radio-tower_white.png"/>
          <p:cNvPicPr>
            <a:picLocks noChangeAspect="1"/>
          </p:cNvPicPr>
          <p:nvPr/>
        </p:nvPicPr>
        <p:blipFill>
          <a:blip r:embed="rId3"/>
          <a:stretch>
            <a:fillRect/>
          </a:stretch>
        </p:blipFill>
        <p:spPr>
          <a:xfrm>
            <a:off x="5943600" y="2971800"/>
            <a:ext cx="304800" cy="304800"/>
          </a:xfrm>
          <a:prstGeom prst="rect">
            <a:avLst/>
          </a:prstGeom>
        </p:spPr>
      </p:pic>
      <p:sp>
        <p:nvSpPr>
          <p:cNvPr id="42" name="TextBox 41"/>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3" name="Connector 42"/>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6" name="Rectangle 45"/>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layers_white.png"/>
          <p:cNvPicPr>
            <a:picLocks noChangeAspect="1"/>
          </p:cNvPicPr>
          <p:nvPr/>
        </p:nvPicPr>
        <p:blipFill>
          <a:blip r:embed="rId5"/>
          <a:stretch>
            <a:fillRect/>
          </a:stretch>
        </p:blipFill>
        <p:spPr>
          <a:xfrm>
            <a:off x="5943600" y="3886200"/>
            <a:ext cx="304800" cy="304800"/>
          </a:xfrm>
          <a:prstGeom prst="rect">
            <a:avLst/>
          </a:prstGeom>
        </p:spPr>
      </p:pic>
      <p:sp>
        <p:nvSpPr>
          <p:cNvPr id="48" name="TextBox 47"/>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49" name="Connector 48"/>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2" name="Rectangle 51"/>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4" name="Picture 53" descr="server_green.png"/>
          <p:cNvPicPr>
            <a:picLocks noChangeAspect="1"/>
          </p:cNvPicPr>
          <p:nvPr/>
        </p:nvPicPr>
        <p:blipFill>
          <a:blip r:embed="rId8"/>
          <a:stretch>
            <a:fillRect/>
          </a:stretch>
        </p:blipFill>
        <p:spPr>
          <a:xfrm>
            <a:off x="9652000" y="2057400"/>
            <a:ext cx="381000" cy="381000"/>
          </a:xfrm>
          <a:prstGeom prst="rect">
            <a:avLst/>
          </a:prstGeom>
        </p:spPr>
      </p:pic>
      <p:sp>
        <p:nvSpPr>
          <p:cNvPr id="55" name="TextBox 54"/>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6" name="TextBox 55"/>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57" name="Picture 56" descr="check_green.png"/>
          <p:cNvPicPr>
            <a:picLocks noChangeAspect="1"/>
          </p:cNvPicPr>
          <p:nvPr/>
        </p:nvPicPr>
        <p:blipFill>
          <a:blip r:embed="rId9"/>
          <a:stretch>
            <a:fillRect/>
          </a:stretch>
        </p:blipFill>
        <p:spPr>
          <a:xfrm>
            <a:off x="9652000" y="3327400"/>
            <a:ext cx="152400" cy="152400"/>
          </a:xfrm>
          <a:prstGeom prst="rect">
            <a:avLst/>
          </a:prstGeom>
        </p:spPr>
      </p:pic>
      <p:sp>
        <p:nvSpPr>
          <p:cNvPr id="58" name="TextBox 57"/>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59" name="Picture 58" descr="check_green.png"/>
          <p:cNvPicPr>
            <a:picLocks noChangeAspect="1"/>
          </p:cNvPicPr>
          <p:nvPr/>
        </p:nvPicPr>
        <p:blipFill>
          <a:blip r:embed="rId9"/>
          <a:stretch>
            <a:fillRect/>
          </a:stretch>
        </p:blipFill>
        <p:spPr>
          <a:xfrm>
            <a:off x="9652000" y="3581400"/>
            <a:ext cx="152400" cy="152400"/>
          </a:xfrm>
          <a:prstGeom prst="rect">
            <a:avLst/>
          </a:prstGeom>
        </p:spPr>
      </p:pic>
      <p:sp>
        <p:nvSpPr>
          <p:cNvPr id="60" name="TextBox 59"/>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1" name="Picture 60" descr="check_green.png"/>
          <p:cNvPicPr>
            <a:picLocks noChangeAspect="1"/>
          </p:cNvPicPr>
          <p:nvPr/>
        </p:nvPicPr>
        <p:blipFill>
          <a:blip r:embed="rId9"/>
          <a:stretch>
            <a:fillRect/>
          </a:stretch>
        </p:blipFill>
        <p:spPr>
          <a:xfrm>
            <a:off x="9652000" y="3835400"/>
            <a:ext cx="152400" cy="152400"/>
          </a:xfrm>
          <a:prstGeom prst="rect">
            <a:avLst/>
          </a:prstGeom>
        </p:spPr>
      </p:pic>
      <p:sp>
        <p:nvSpPr>
          <p:cNvPr id="62" name="TextBox 61"/>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3" name="Picture 62" descr="check_green.png"/>
          <p:cNvPicPr>
            <a:picLocks noChangeAspect="1"/>
          </p:cNvPicPr>
          <p:nvPr/>
        </p:nvPicPr>
        <p:blipFill>
          <a:blip r:embed="rId9"/>
          <a:stretch>
            <a:fillRect/>
          </a:stretch>
        </p:blipFill>
        <p:spPr>
          <a:xfrm>
            <a:off x="9652000" y="4089400"/>
            <a:ext cx="152400" cy="152400"/>
          </a:xfrm>
          <a:prstGeom prst="rect">
            <a:avLst/>
          </a:prstGeom>
        </p:spPr>
      </p:pic>
      <p:sp>
        <p:nvSpPr>
          <p:cNvPr id="64" name="TextBox 63"/>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5" name="Rectangle 64"/>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6" name="Picture 65" descr="network_navy.png"/>
          <p:cNvPicPr>
            <a:picLocks noChangeAspect="1"/>
          </p:cNvPicPr>
          <p:nvPr/>
        </p:nvPicPr>
        <p:blipFill>
          <a:blip r:embed="rId10"/>
          <a:stretch>
            <a:fillRect/>
          </a:stretch>
        </p:blipFill>
        <p:spPr>
          <a:xfrm>
            <a:off x="5994400" y="4826000"/>
            <a:ext cx="381000" cy="381000"/>
          </a:xfrm>
          <a:prstGeom prst="rect">
            <a:avLst/>
          </a:prstGeom>
        </p:spPr>
      </p:pic>
      <p:sp>
        <p:nvSpPr>
          <p:cNvPr id="67" name="TextBox 66"/>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68" name="TextBox 67"/>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69" name="Rectangle 68"/>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0" name="Picture 69" descr="handshake_navy.png"/>
          <p:cNvPicPr>
            <a:picLocks noChangeAspect="1"/>
          </p:cNvPicPr>
          <p:nvPr/>
        </p:nvPicPr>
        <p:blipFill>
          <a:blip r:embed="rId11"/>
          <a:stretch>
            <a:fillRect/>
          </a:stretch>
        </p:blipFill>
        <p:spPr>
          <a:xfrm>
            <a:off x="812800" y="5867400"/>
            <a:ext cx="254000" cy="254000"/>
          </a:xfrm>
          <a:prstGeom prst="rect">
            <a:avLst/>
          </a:prstGeom>
        </p:spPr>
      </p:pic>
      <p:sp>
        <p:nvSpPr>
          <p:cNvPr id="71" name="TextBox 70"/>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2" name="TextBox 71"/>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  ·  GERMANY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450connect: one nationwide 450 MHz network, shared by Germany’s utilities</a:t>
            </a:r>
          </a:p>
        </p:txBody>
      </p:sp>
      <p:pic>
        <p:nvPicPr>
          <p:cNvPr id="10" name="Picture 9" descr="v6_f102d88041.jpg"/>
          <p:cNvPicPr>
            <a:picLocks noChangeAspect="1"/>
          </p:cNvPicPr>
          <p:nvPr/>
        </p:nvPicPr>
        <p:blipFill>
          <a:blip r:embed="rId2"/>
          <a:srcRect l="19875" r="23875"/>
          <a:stretch>
            <a:fillRect/>
          </a:stretch>
        </p:blipFill>
        <p:spPr>
          <a:xfrm>
            <a:off x="609600" y="1549400"/>
            <a:ext cx="3429000" cy="4064000"/>
          </a:xfrm>
          <a:prstGeom prst="rect">
            <a:avLst/>
          </a:prstGeom>
        </p:spPr>
      </p:pic>
      <p:sp>
        <p:nvSpPr>
          <p:cNvPr id="11" name="Rectangle 10"/>
          <p:cNvSpPr/>
          <p:nvPr/>
        </p:nvSpPr>
        <p:spPr>
          <a:xfrm>
            <a:off x="609600" y="4292600"/>
            <a:ext cx="3429000" cy="1320800"/>
          </a:xfrm>
          <a:prstGeom prst="rect">
            <a:avLst/>
          </a:prstGeom>
          <a:solidFill>
            <a:srgbClr val="0B308E">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38200" y="4419600"/>
            <a:ext cx="2921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8CC63F"/>
                </a:solidFill>
                <a:latin typeface="Segoe UI Semibold"/>
              </a:rPr>
              <a:t>COVERAGE</a:t>
            </a:r>
          </a:p>
        </p:txBody>
      </p:sp>
      <p:sp>
        <p:nvSpPr>
          <p:cNvPr id="13" name="TextBox 12"/>
          <p:cNvSpPr txBox="1"/>
          <p:nvPr/>
        </p:nvSpPr>
        <p:spPr>
          <a:xfrm>
            <a:off x="812800" y="4597400"/>
            <a:ext cx="1524000" cy="558800"/>
          </a:xfrm>
          <a:prstGeom prst="rect">
            <a:avLst/>
          </a:prstGeom>
          <a:noFill/>
        </p:spPr>
        <p:txBody>
          <a:bodyPr wrap="square" lIns="0" rIns="0" tIns="0" bIns="0" anchor="ctr">
            <a:spAutoFit/>
          </a:bodyPr>
          <a:lstStyle/>
          <a:p>
            <a:pPr algn="l">
              <a:lnSpc>
                <a:spcPct val="120000"/>
              </a:lnSpc>
              <a:spcAft>
                <a:spcPts val="0"/>
              </a:spcAft>
            </a:pPr>
            <a:r>
              <a:rPr sz="3200" b="0">
                <a:solidFill>
                  <a:srgbClr val="FFFFFF"/>
                </a:solidFill>
                <a:latin typeface="Segoe UI Light"/>
              </a:rPr>
              <a:t>90%+</a:t>
            </a:r>
          </a:p>
        </p:txBody>
      </p:sp>
      <p:sp>
        <p:nvSpPr>
          <p:cNvPr id="14" name="TextBox 13"/>
          <p:cNvSpPr txBox="1"/>
          <p:nvPr/>
        </p:nvSpPr>
        <p:spPr>
          <a:xfrm>
            <a:off x="2184400" y="4648200"/>
            <a:ext cx="1727200" cy="508000"/>
          </a:xfrm>
          <a:prstGeom prst="rect">
            <a:avLst/>
          </a:prstGeom>
          <a:noFill/>
        </p:spPr>
        <p:txBody>
          <a:bodyPr wrap="square" lIns="0" rIns="0" tIns="0" bIns="0" anchor="ctr">
            <a:spAutoFit/>
          </a:bodyPr>
          <a:lstStyle/>
          <a:p>
            <a:pPr algn="l">
              <a:lnSpc>
                <a:spcPct val="115000"/>
              </a:lnSpc>
              <a:spcAft>
                <a:spcPts val="0"/>
              </a:spcAft>
            </a:pPr>
            <a:r>
              <a:rPr sz="1050" b="0">
                <a:solidFill>
                  <a:srgbClr val="DCE5F3"/>
                </a:solidFill>
                <a:latin typeface="Segoe UI"/>
              </a:rPr>
              <a:t>of Germany’s area</a:t>
            </a:r>
          </a:p>
          <a:p>
            <a:pPr algn="l">
              <a:lnSpc>
                <a:spcPct val="115000"/>
              </a:lnSpc>
              <a:spcAft>
                <a:spcPts val="0"/>
              </a:spcAft>
            </a:pPr>
            <a:r>
              <a:rPr sz="1050" b="0">
                <a:solidFill>
                  <a:srgbClr val="DCE5F3"/>
                </a:solidFill>
                <a:latin typeface="Segoe UI"/>
              </a:rPr>
              <a:t>by Q4 2025</a:t>
            </a:r>
          </a:p>
        </p:txBody>
      </p:sp>
      <p:sp>
        <p:nvSpPr>
          <p:cNvPr id="15" name="TextBox 14"/>
          <p:cNvSpPr txBox="1"/>
          <p:nvPr/>
        </p:nvSpPr>
        <p:spPr>
          <a:xfrm>
            <a:off x="838200" y="5232400"/>
            <a:ext cx="3048000" cy="254000"/>
          </a:xfrm>
          <a:prstGeom prst="rect">
            <a:avLst/>
          </a:prstGeom>
          <a:noFill/>
        </p:spPr>
        <p:txBody>
          <a:bodyPr wrap="square" lIns="0" rIns="0" tIns="0" bIns="0" anchor="ctr">
            <a:spAutoFit/>
          </a:bodyPr>
          <a:lstStyle/>
          <a:p>
            <a:pPr algn="l">
              <a:lnSpc>
                <a:spcPct val="120000"/>
              </a:lnSpc>
              <a:spcAft>
                <a:spcPts val="0"/>
              </a:spcAft>
            </a:pPr>
            <a:r>
              <a:rPr sz="950" b="0">
                <a:solidFill>
                  <a:srgbClr val="FFFFFF"/>
                </a:solidFill>
                <a:latin typeface="Segoe UI Semibold"/>
              </a:rPr>
              <a:t>Band 72  ·  2×4.74 MHz  ·  licence to 2040</a:t>
            </a:r>
          </a:p>
        </p:txBody>
      </p:sp>
      <p:sp>
        <p:nvSpPr>
          <p:cNvPr id="16" name="Rectangle 15"/>
          <p:cNvSpPr/>
          <p:nvPr/>
        </p:nvSpPr>
        <p:spPr>
          <a:xfrm>
            <a:off x="4343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46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3"/>
          <a:stretch>
            <a:fillRect/>
          </a:stretch>
        </p:blipFill>
        <p:spPr>
          <a:xfrm>
            <a:off x="4656328" y="1900427"/>
            <a:ext cx="237744" cy="237744"/>
          </a:xfrm>
          <a:prstGeom prst="rect">
            <a:avLst/>
          </a:prstGeom>
        </p:spPr>
      </p:pic>
      <p:sp>
        <p:nvSpPr>
          <p:cNvPr id="19" name="TextBox 18"/>
          <p:cNvSpPr txBox="1"/>
          <p:nvPr/>
        </p:nvSpPr>
        <p:spPr>
          <a:xfrm>
            <a:off x="5156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a:t>
            </a:r>
          </a:p>
        </p:txBody>
      </p:sp>
      <p:sp>
        <p:nvSpPr>
          <p:cNvPr id="20" name="TextBox 19"/>
          <p:cNvSpPr txBox="1"/>
          <p:nvPr/>
        </p:nvSpPr>
        <p:spPr>
          <a:xfrm>
            <a:off x="5156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sites live (Oct 2025), ~1,600 planned</a:t>
            </a:r>
          </a:p>
        </p:txBody>
      </p:sp>
      <p:sp>
        <p:nvSpPr>
          <p:cNvPr id="21" name="Rectangle 20"/>
          <p:cNvSpPr/>
          <p:nvPr/>
        </p:nvSpPr>
        <p:spPr>
          <a:xfrm>
            <a:off x="8026400" y="15494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29600" y="17907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pu_white.png"/>
          <p:cNvPicPr>
            <a:picLocks noChangeAspect="1"/>
          </p:cNvPicPr>
          <p:nvPr/>
        </p:nvPicPr>
        <p:blipFill>
          <a:blip r:embed="rId4"/>
          <a:stretch>
            <a:fillRect/>
          </a:stretch>
        </p:blipFill>
        <p:spPr>
          <a:xfrm>
            <a:off x="8339328" y="1900427"/>
            <a:ext cx="237744" cy="237744"/>
          </a:xfrm>
          <a:prstGeom prst="rect">
            <a:avLst/>
          </a:prstGeom>
        </p:spPr>
      </p:pic>
      <p:sp>
        <p:nvSpPr>
          <p:cNvPr id="24" name="TextBox 23"/>
          <p:cNvSpPr txBox="1"/>
          <p:nvPr/>
        </p:nvSpPr>
        <p:spPr>
          <a:xfrm>
            <a:off x="8839200" y="16510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10,000+</a:t>
            </a:r>
          </a:p>
        </p:txBody>
      </p:sp>
      <p:sp>
        <p:nvSpPr>
          <p:cNvPr id="25" name="TextBox 24"/>
          <p:cNvSpPr txBox="1"/>
          <p:nvPr/>
        </p:nvSpPr>
        <p:spPr>
          <a:xfrm>
            <a:off x="8839200" y="20574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substations connected (Feb 2026)</a:t>
            </a:r>
          </a:p>
        </p:txBody>
      </p:sp>
      <p:sp>
        <p:nvSpPr>
          <p:cNvPr id="26" name="Rectangle 25"/>
          <p:cNvSpPr/>
          <p:nvPr/>
        </p:nvSpPr>
        <p:spPr>
          <a:xfrm>
            <a:off x="4343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4546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users_white.png"/>
          <p:cNvPicPr>
            <a:picLocks noChangeAspect="1"/>
          </p:cNvPicPr>
          <p:nvPr/>
        </p:nvPicPr>
        <p:blipFill>
          <a:blip r:embed="rId5"/>
          <a:stretch>
            <a:fillRect/>
          </a:stretch>
        </p:blipFill>
        <p:spPr>
          <a:xfrm>
            <a:off x="4656328" y="2941828"/>
            <a:ext cx="237744" cy="237744"/>
          </a:xfrm>
          <a:prstGeom prst="rect">
            <a:avLst/>
          </a:prstGeom>
        </p:spPr>
      </p:pic>
      <p:sp>
        <p:nvSpPr>
          <p:cNvPr id="29" name="TextBox 28"/>
          <p:cNvSpPr txBox="1"/>
          <p:nvPr/>
        </p:nvSpPr>
        <p:spPr>
          <a:xfrm>
            <a:off x="5156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70+</a:t>
            </a:r>
          </a:p>
        </p:txBody>
      </p:sp>
      <p:sp>
        <p:nvSpPr>
          <p:cNvPr id="30" name="TextBox 29"/>
          <p:cNvSpPr txBox="1"/>
          <p:nvPr/>
        </p:nvSpPr>
        <p:spPr>
          <a:xfrm>
            <a:off x="5156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energy and water utilities behind it, via 4 equal shareholders</a:t>
            </a:r>
          </a:p>
        </p:txBody>
      </p:sp>
      <p:sp>
        <p:nvSpPr>
          <p:cNvPr id="31" name="Rectangle 30"/>
          <p:cNvSpPr/>
          <p:nvPr/>
        </p:nvSpPr>
        <p:spPr>
          <a:xfrm>
            <a:off x="8026400" y="25908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229600" y="28321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zap_white.png"/>
          <p:cNvPicPr>
            <a:picLocks noChangeAspect="1"/>
          </p:cNvPicPr>
          <p:nvPr/>
        </p:nvPicPr>
        <p:blipFill>
          <a:blip r:embed="rId6"/>
          <a:stretch>
            <a:fillRect/>
          </a:stretch>
        </p:blipFill>
        <p:spPr>
          <a:xfrm>
            <a:off x="8339328" y="2941828"/>
            <a:ext cx="237744" cy="237744"/>
          </a:xfrm>
          <a:prstGeom prst="rect">
            <a:avLst/>
          </a:prstGeom>
        </p:spPr>
      </p:pic>
      <p:sp>
        <p:nvSpPr>
          <p:cNvPr id="34" name="TextBox 33"/>
          <p:cNvSpPr txBox="1"/>
          <p:nvPr/>
        </p:nvSpPr>
        <p:spPr>
          <a:xfrm>
            <a:off x="8839200" y="26924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72 h</a:t>
            </a:r>
          </a:p>
        </p:txBody>
      </p:sp>
      <p:sp>
        <p:nvSpPr>
          <p:cNvPr id="35" name="TextBox 34"/>
          <p:cNvSpPr txBox="1"/>
          <p:nvPr/>
        </p:nvSpPr>
        <p:spPr>
          <a:xfrm>
            <a:off x="8839200" y="30988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battery backup; data plus MCPTT voice with dispatch</a:t>
            </a:r>
          </a:p>
        </p:txBody>
      </p:sp>
      <p:sp>
        <p:nvSpPr>
          <p:cNvPr id="36" name="Rectangle 35"/>
          <p:cNvSpPr/>
          <p:nvPr/>
        </p:nvSpPr>
        <p:spPr>
          <a:xfrm>
            <a:off x="4343400" y="3632200"/>
            <a:ext cx="3556000" cy="939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Oval 36"/>
          <p:cNvSpPr/>
          <p:nvPr/>
        </p:nvSpPr>
        <p:spPr>
          <a:xfrm>
            <a:off x="4546600" y="38735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erver_white.png"/>
          <p:cNvPicPr>
            <a:picLocks noChangeAspect="1"/>
          </p:cNvPicPr>
          <p:nvPr/>
        </p:nvPicPr>
        <p:blipFill>
          <a:blip r:embed="rId7"/>
          <a:stretch>
            <a:fillRect/>
          </a:stretch>
        </p:blipFill>
        <p:spPr>
          <a:xfrm>
            <a:off x="4656328" y="3983228"/>
            <a:ext cx="237744" cy="237744"/>
          </a:xfrm>
          <a:prstGeom prst="rect">
            <a:avLst/>
          </a:prstGeom>
        </p:spPr>
      </p:pic>
      <p:sp>
        <p:nvSpPr>
          <p:cNvPr id="39" name="TextBox 38"/>
          <p:cNvSpPr txBox="1"/>
          <p:nvPr/>
        </p:nvSpPr>
        <p:spPr>
          <a:xfrm>
            <a:off x="5156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0B308E"/>
                </a:solidFill>
                <a:latin typeface="Segoe UI Light"/>
              </a:rPr>
              <a:t>Nokia</a:t>
            </a:r>
          </a:p>
        </p:txBody>
      </p:sp>
      <p:sp>
        <p:nvSpPr>
          <p:cNvPr id="40" name="TextBox 39"/>
          <p:cNvSpPr txBox="1"/>
          <p:nvPr/>
        </p:nvSpPr>
        <p:spPr>
          <a:xfrm>
            <a:off x="5156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radio, core, backhaul and power backup; O&amp;M to 2040</a:t>
            </a:r>
          </a:p>
        </p:txBody>
      </p:sp>
      <p:sp>
        <p:nvSpPr>
          <p:cNvPr id="41" name="Rectangle 40"/>
          <p:cNvSpPr/>
          <p:nvPr/>
        </p:nvSpPr>
        <p:spPr>
          <a:xfrm>
            <a:off x="8026400" y="3632200"/>
            <a:ext cx="3556000" cy="939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8229600" y="3873500"/>
            <a:ext cx="457200" cy="4572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3" name="Picture 42" descr="smartphone_white.png"/>
          <p:cNvPicPr>
            <a:picLocks noChangeAspect="1"/>
          </p:cNvPicPr>
          <p:nvPr/>
        </p:nvPicPr>
        <p:blipFill>
          <a:blip r:embed="rId8"/>
          <a:stretch>
            <a:fillRect/>
          </a:stretch>
        </p:blipFill>
        <p:spPr>
          <a:xfrm>
            <a:off x="8339328" y="3983228"/>
            <a:ext cx="237744" cy="237744"/>
          </a:xfrm>
          <a:prstGeom prst="rect">
            <a:avLst/>
          </a:prstGeom>
        </p:spPr>
      </p:pic>
      <p:sp>
        <p:nvSpPr>
          <p:cNvPr id="44" name="TextBox 43"/>
          <p:cNvSpPr txBox="1"/>
          <p:nvPr/>
        </p:nvSpPr>
        <p:spPr>
          <a:xfrm>
            <a:off x="8839200" y="3733800"/>
            <a:ext cx="2616200" cy="406400"/>
          </a:xfrm>
          <a:prstGeom prst="rect">
            <a:avLst/>
          </a:prstGeom>
          <a:noFill/>
        </p:spPr>
        <p:txBody>
          <a:bodyPr wrap="square" lIns="0" rIns="0" tIns="0" bIns="0" anchor="ctr">
            <a:spAutoFit/>
          </a:bodyPr>
          <a:lstStyle/>
          <a:p>
            <a:pPr algn="l">
              <a:lnSpc>
                <a:spcPct val="120000"/>
              </a:lnSpc>
              <a:spcAft>
                <a:spcPts val="0"/>
              </a:spcAft>
            </a:pPr>
            <a:r>
              <a:rPr sz="2200" b="0">
                <a:solidFill>
                  <a:srgbClr val="7F9B00"/>
                </a:solidFill>
                <a:latin typeface="Segoe UI Light"/>
              </a:rPr>
              <a:t>PNC660</a:t>
            </a:r>
          </a:p>
        </p:txBody>
      </p:sp>
      <p:sp>
        <p:nvSpPr>
          <p:cNvPr id="45" name="TextBox 44"/>
          <p:cNvSpPr txBox="1"/>
          <p:nvPr/>
        </p:nvSpPr>
        <p:spPr>
          <a:xfrm>
            <a:off x="8839200" y="4140200"/>
            <a:ext cx="2616200" cy="355600"/>
          </a:xfrm>
          <a:prstGeom prst="rect">
            <a:avLst/>
          </a:prstGeom>
          <a:noFill/>
        </p:spPr>
        <p:txBody>
          <a:bodyPr wrap="square" lIns="0" rIns="0" tIns="0" bIns="0" anchor="ctr">
            <a:spAutoFit/>
          </a:bodyPr>
          <a:lstStyle/>
          <a:p>
            <a:pPr algn="l">
              <a:lnSpc>
                <a:spcPct val="110000"/>
              </a:lnSpc>
              <a:spcAft>
                <a:spcPts val="0"/>
              </a:spcAft>
            </a:pPr>
            <a:r>
              <a:rPr sz="1000" b="0">
                <a:solidFill>
                  <a:srgbClr val="55607A"/>
                </a:solidFill>
                <a:latin typeface="Segoe UI"/>
              </a:rPr>
              <a:t>Hytera handheld whitelisted (announced MWC 2026)</a:t>
            </a:r>
          </a:p>
        </p:txBody>
      </p:sp>
      <p:sp>
        <p:nvSpPr>
          <p:cNvPr id="46" name="TextBox 45"/>
          <p:cNvSpPr txBox="1"/>
          <p:nvPr/>
        </p:nvSpPr>
        <p:spPr>
          <a:xfrm>
            <a:off x="4343400" y="47498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FROM LICENCE TO NETWORK</a:t>
            </a:r>
          </a:p>
        </p:txBody>
      </p:sp>
      <p:sp>
        <p:nvSpPr>
          <p:cNvPr id="47" name="Rectangle 46"/>
          <p:cNvSpPr/>
          <p:nvPr/>
        </p:nvSpPr>
        <p:spPr>
          <a:xfrm>
            <a:off x="43434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4704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Nov 2020</a:t>
            </a:r>
          </a:p>
        </p:txBody>
      </p:sp>
      <p:sp>
        <p:nvSpPr>
          <p:cNvPr id="49" name="TextBox 48"/>
          <p:cNvSpPr txBox="1"/>
          <p:nvPr/>
        </p:nvSpPr>
        <p:spPr>
          <a:xfrm>
            <a:off x="44704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Band reserved for energy &amp; water</a:t>
            </a:r>
          </a:p>
        </p:txBody>
      </p:sp>
      <p:sp>
        <p:nvSpPr>
          <p:cNvPr id="50" name="Rectangle 49"/>
          <p:cNvSpPr/>
          <p:nvPr/>
        </p:nvSpPr>
        <p:spPr>
          <a:xfrm>
            <a:off x="61595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2865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Mar 2021</a:t>
            </a:r>
          </a:p>
        </p:txBody>
      </p:sp>
      <p:sp>
        <p:nvSpPr>
          <p:cNvPr id="52" name="TextBox 51"/>
          <p:cNvSpPr txBox="1"/>
          <p:nvPr/>
        </p:nvSpPr>
        <p:spPr>
          <a:xfrm>
            <a:off x="62865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Licence awarded</a:t>
            </a:r>
          </a:p>
        </p:txBody>
      </p:sp>
      <p:sp>
        <p:nvSpPr>
          <p:cNvPr id="53" name="Rectangle 52"/>
          <p:cNvSpPr/>
          <p:nvPr/>
        </p:nvSpPr>
        <p:spPr>
          <a:xfrm>
            <a:off x="79756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026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Oct 2025</a:t>
            </a:r>
          </a:p>
        </p:txBody>
      </p:sp>
      <p:sp>
        <p:nvSpPr>
          <p:cNvPr id="55" name="TextBox 54"/>
          <p:cNvSpPr txBox="1"/>
          <p:nvPr/>
        </p:nvSpPr>
        <p:spPr>
          <a:xfrm>
            <a:off x="81026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1,000 sites, 90% area</a:t>
            </a:r>
          </a:p>
        </p:txBody>
      </p:sp>
      <p:sp>
        <p:nvSpPr>
          <p:cNvPr id="56" name="Rectangle 55"/>
          <p:cNvSpPr/>
          <p:nvPr/>
        </p:nvSpPr>
        <p:spPr>
          <a:xfrm>
            <a:off x="9791700" y="5054600"/>
            <a:ext cx="17145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918700" y="5080000"/>
            <a:ext cx="1524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2026</a:t>
            </a:r>
          </a:p>
        </p:txBody>
      </p:sp>
      <p:sp>
        <p:nvSpPr>
          <p:cNvPr id="58" name="TextBox 57"/>
          <p:cNvSpPr txBox="1"/>
          <p:nvPr/>
        </p:nvSpPr>
        <p:spPr>
          <a:xfrm>
            <a:off x="9918700" y="5308600"/>
            <a:ext cx="1524000" cy="279400"/>
          </a:xfrm>
          <a:prstGeom prst="rect">
            <a:avLst/>
          </a:prstGeom>
          <a:noFill/>
        </p:spPr>
        <p:txBody>
          <a:bodyPr wrap="square" lIns="0" rIns="0" tIns="0" bIns="0" anchor="ctr">
            <a:spAutoFit/>
          </a:bodyPr>
          <a:lstStyle/>
          <a:p>
            <a:pPr algn="l">
              <a:lnSpc>
                <a:spcPct val="105000"/>
              </a:lnSpc>
              <a:spcAft>
                <a:spcPts val="0"/>
              </a:spcAft>
            </a:pPr>
            <a:r>
              <a:rPr sz="950" b="0">
                <a:solidFill>
                  <a:srgbClr val="16213E"/>
                </a:solidFill>
                <a:latin typeface="Segoe UI"/>
              </a:rPr>
              <a:t>Nationwide target</a:t>
            </a:r>
          </a:p>
        </p:txBody>
      </p:sp>
      <p:sp>
        <p:nvSpPr>
          <p:cNvPr id="59" name="Rectangle 58"/>
          <p:cNvSpPr/>
          <p:nvPr/>
        </p:nvSpPr>
        <p:spPr>
          <a:xfrm>
            <a:off x="609600" y="57912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0" name="Picture 59" descr="check_navy.png"/>
          <p:cNvPicPr>
            <a:picLocks noChangeAspect="1"/>
          </p:cNvPicPr>
          <p:nvPr/>
        </p:nvPicPr>
        <p:blipFill>
          <a:blip r:embed="rId9"/>
          <a:stretch>
            <a:fillRect/>
          </a:stretch>
        </p:blipFill>
        <p:spPr>
          <a:xfrm>
            <a:off x="812800" y="5918200"/>
            <a:ext cx="254000" cy="254000"/>
          </a:xfrm>
          <a:prstGeom prst="rect">
            <a:avLst/>
          </a:prstGeom>
        </p:spPr>
      </p:pic>
      <p:sp>
        <p:nvSpPr>
          <p:cNvPr id="61" name="TextBox 60"/>
          <p:cNvSpPr txBox="1"/>
          <p:nvPr/>
        </p:nvSpPr>
        <p:spPr>
          <a:xfrm>
            <a:off x="1219200" y="57912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one operator, one network, many utility customers — and no consumer service.</a:t>
            </a:r>
          </a:p>
        </p:txBody>
      </p:sp>
      <p:sp>
        <p:nvSpPr>
          <p:cNvPr id="62" name="TextBox 61"/>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Bundesnetzagentur (Mar 2021); Nokia (Feb 2022); 450connect press releases (Feb 2025, Oct 2025, Feb 2026); 50komma2 (Feb 2026); Hytera MWC 2026. Photo © Westfalen Weser Netz GmbH, via 450connect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90%+ area (Q4 2025)</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9add975c86.jpg"/>
          <p:cNvPicPr>
            <a:picLocks noChangeAspect="1"/>
          </p:cNvPicPr>
          <p:nvPr/>
        </p:nvPicPr>
        <p:blipFill>
          <a:blip r:embed="rId9"/>
          <a:srcRect t="33" b="3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PNG photo is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21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