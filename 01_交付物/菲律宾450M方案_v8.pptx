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6"/>
    <p:sldId id="269" r:id="rId5"/>
    <p:sldId id="270" r:id="rId4"/>
    <p:sldId id="271" r:id="rId3"/>
    <p:sldId id="272" r:id="rId2"/>
    <p:sldId id="273" r:id="rId24"/>
    <p:sldId id="274" r:id="rId25"/>
    <p:sldId id="275" r:id="rId26"/>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594"/>
    <p:restoredTop sz="87603"/>
  </p:normalViewPr>
  <p:slideViewPr>
    <p:cSldViewPr snapToGrid="0">
      <p:cViewPr varScale="1">
        <p:scale>
          <a:sx n="110" d="100"/>
          <a:sy n="110" d="100"/>
        </p:scale>
        <p:origin x="880" y="1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7.xml"/><Relationship Id="rId3" Type="http://schemas.openxmlformats.org/officeDocument/2006/relationships/slide" Target="slides/slide16.xml"/><Relationship Id="rId4" Type="http://schemas.openxmlformats.org/officeDocument/2006/relationships/slide" Target="slides/slide15.xml"/><Relationship Id="rId5" Type="http://schemas.openxmlformats.org/officeDocument/2006/relationships/slide" Target="slides/slide14.xml"/><Relationship Id="rId6" Type="http://schemas.openxmlformats.org/officeDocument/2006/relationships/slide" Target="slides/slide13.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99" name="Notes Placeholder"/>
          <p:cNvSpPr>
            <a:spLocks noGrp="1"/>
          </p:cNvSpPr>
          <p:nvPr>
            <p:ph type="body" sz="quarter" idx="1"/>
          </p:nvPr>
        </p:nvSpPr>
        <p:spPr>
          <a:xfrm>
            <a:off x="685800" y="4343400"/>
            <a:ext cx="5486400" cy="4114800"/>
          </a:xfrm>
        </p:spPr>
        <p:txBody>
          <a:bodyPr/>
          <a:lstStyle/>
          <a:p/>
        </p:txBody>
      </p:sp>
    </p:spTree>
    <p:extLst>
      <p:ext uri="{BB962C8B-B14F-4D97-AF65-F5344CB8AC3E}">
        <p14:creationId xmlns:p14="http://schemas.microsoft.com/office/powerpoint/2010/main" val="38466017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Thank you for your time today. Globe already holds 450 MHz spectrum, so the interesting question is what it could be used for. Today is an exchange of ideas, not a proposal. We will look at four questions together, and please interrupt at any point.</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Four questions frame the discussion. First, what can this band do that mid-band cannot. Second, which industries need it, and who would pay first. Third, how such a network is built, and where it runs today. And fourth, how it could pay for itself. The spectrum is Globe's; these are options to explore together.</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Let us start with the band itself: what can 450 megahertz do that mid-band cannot?</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The Philippines asks three things of a network: reach more than seven thousand islands, cross mountainous terrain, and stay up through around twenty cyclones a year. On the right is the same site grid at three frequencies. At 450 the grid covers everything; at 740 megahertz about nine percent goes dark, at 2.35 gigahertz about forty-one percent. Fewer sites also makes backup power affordable. It is not a capacity layer: three to five megahertz carries voice, telemetry and low-rate video.</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The band is mainstream. Eighty-six percent of the world lives where it is allocated or under consultation, seventy-seven countries have networks, and thirty-nine already run LTE. The colours show what the networks are used for: dark blue is utilities and smart grid, which is the largest group. The pattern repeats: one licensed operator per country, and utilities are the largest group of users. The Philippines licence is Band 31, the same band as Malaysia and Singapore.</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Second question: which industries need this network, and who would pay first?</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Six industries can use this network, but they do not pay at the same speed. We rank power and water first: they have the budget, the fit is strong, and revenue comes quickly. Emergency is next, paid as standby readiness. Police budgets are large, but the path is slowest, because DMR and TETRA are already in service. Rail and port come later. This ranking is our reading, and we would like to test it against yours.</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Power is the anchor customer. There are one hundred and twenty-one electric cooperatives under NEA, and a single typhoon cut off one point four million consumers. The network gives them three things: a private data path for SCADA and feeder automation, push-to-talk for line crews, and smart meters deep indoors. This is exactly how 450connect in Germany and TNB in Malaysia started. For Globe it is a capacity package, IoT per meter, and integration.</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Water uses the same sites as power with a different payoff. Of five hundred and thirty-two water districts, only one hundred and forty-nine kept their losses within LWUA's twenty percent limit. Most districts know their losses as a percentage, not as a location. On this network meters report, pressure sensors locate the leaks, and pump and reservoir sites send telemetry. Bahrain already runs a water-meter network in this band range.</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Emergency is the industry that matches the typhoon risk most directly. When the public network fails, a 450 MHz layer with satellite backhaul can be extended within hours, with a field command post on the same network. In Indonesia, SeaTelSat is sourcing equipment for Band 31 rural LTE over satellite backhaul. For Globe this is a readiness retainer: kits on standby, paid by the province or the agency whether or not a storm comes.</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For police, the requirement is not another private network. It is one group call across agencies that already run DMR and TETRA, with priority when the public network congests. The network provides cross-agency group calls, live video from the scene, and interworking with the radio systems already in service. Singapore runs Band 31 for public safety today. For Globe it is MCX as a service, per user per month.</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Rail needs coverage that follows the track, not the towns, including cuttings and tunnels. A 450 MHz corridor gives dispatch along the line and on-board video on one network, rather than a separate private system. South Africa has assigned Band 31 to Transnet for rail, and our own MCS runs on nine lines in Sri Lanka. For Globe this is MCX as a service and devices as a service.</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Port is the last on our list, and we will be candid: there is no 450 MHz port network to point to yet. The case rests on coverage over open water: quay dispatch, ship-to-shore voice and data, and coast guard patrols on one group call. The same coastal sites also serve island communities. For Globe it is MCX as a service plus capacity, if the data supports it.</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Third question: how is such a network built, and where does it run today?</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One build serves all six industries. Only the terminals and the applications change. At the terminal layer: the PNC660 450M handheld, a vehicle radio, and a 5G plus 450 model coming in 2026. At the network layer: fixed eNodeBs on towers, mobile eNodeBs for rapid deployment, a private or shared core, and backhaul. On top sit the mission-critical services. MCS is a 3GPP standard and runs on any LTE or 5G radio, so it carries over to 450 MHz unchanged.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We are part of the 450 MHz ecosystem, not a newcomer to it. Hytera joined the 450 MHz Alliance in 2024 and is on its supplier lists for both devices and macro base stations, and our handheld is accepted on 450connect's network in Germany. Just as important for Globe: everything is built on 3GPP standard interfaces, so our radio and terminals can plug into the core you already run, whether that is Huawei, ZTE, Nokia or Ericsson. Interoperability is verified for each project.</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Two kinds of evidence, three of each. Top row: 450 MHz operator networks. 450connect covers over ninety-five percent of Germany, with our PNC660 on its whitelist. TNB in Malaysia is rolling out Band 31, and Singapore's public safety network runs on Band 31, the same band as yours. Bottom row: our own mission-critical deployments. Sri Lanka Railways with one thousand nine hundred and fifty terminals, Hong Kong Light Rail, the first railway MCS on 5G, and the Papua New Guinea police command centre.</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Last question: how could the network pay for itself?</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Three parties, one chain. Hytera supplies the radio, terminals and platform. Globe holds the spectrum, runs the network and owns the customer. The anchor customers contract capacity first. Utilities fund the coverage, and the other industries build on it: six revenue lines, each tied to an industry page you have seen. The lesson from Portugal is simple: the 450 MHz trial there stalled on commercial terms, not on technology. So the sequence matters: contract the demand before the build.</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Thank you. To open the discussion, three questions we would value your view on: the band and bandwidth you are considering, which industries matter most to Globe, and where coverage is needed first. We are happy to follow up with a technical workshop for your network planning team if that is useful.</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svg"/><Relationship Id="rId5" Type="http://schemas.openxmlformats.org/officeDocument/2006/relationships/image" Target="../media/image4.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F947FDD-D38F-E8F5-8586-E9662854F614}"/>
              </a:ext>
            </a:extLst>
          </p:cNvPr>
          <p:cNvSpPr>
            <a:spLocks noGrp="1"/>
          </p:cNvSpPr>
          <p:nvPr>
            <p:ph type="ctrTitle"/>
          </p:nvPr>
        </p:nvSpPr>
        <p:spPr>
          <a:xfrm>
            <a:off x="1524000" y="1122363"/>
            <a:ext cx="9144000" cy="2387600"/>
          </a:xfrm>
        </p:spPr>
        <p:txBody>
          <a:bodyPr anchor="b"/>
          <a:lstStyle>
            <a:lvl1pPr algn="ctr">
              <a:defRPr sz="6000"/>
            </a:lvl1pPr>
          </a:lstStyle>
          <a:p>
            <a:r>
              <a:rPr kumimoji="1" lang="zh-CN" altLang="en-US"/>
              <a:t>单击此处编辑母版标题样式</a:t>
            </a:r>
          </a:p>
        </p:txBody>
      </p:sp>
      <p:sp>
        <p:nvSpPr>
          <p:cNvPr id="3" name="副标题 2">
            <a:extLst>
              <a:ext uri="{FF2B5EF4-FFF2-40B4-BE49-F238E27FC236}">
                <a16:creationId xmlns:a16="http://schemas.microsoft.com/office/drawing/2014/main" id="{B3190AE4-F9E4-5FD9-42AF-9099DFB806C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zh-CN" altLang="en-US"/>
              <a:t>单击此处编辑母版副标题样式</a:t>
            </a:r>
          </a:p>
        </p:txBody>
      </p:sp>
      <p:sp>
        <p:nvSpPr>
          <p:cNvPr id="4" name="日期占位符 3">
            <a:extLst>
              <a:ext uri="{FF2B5EF4-FFF2-40B4-BE49-F238E27FC236}">
                <a16:creationId xmlns:a16="http://schemas.microsoft.com/office/drawing/2014/main" id="{9444CE86-5C68-32E7-D4E0-B2761B6CF044}"/>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5" name="页脚占位符 4">
            <a:extLst>
              <a:ext uri="{FF2B5EF4-FFF2-40B4-BE49-F238E27FC236}">
                <a16:creationId xmlns:a16="http://schemas.microsoft.com/office/drawing/2014/main" id="{BDB1EA70-862F-65FC-F764-9F45D4A993EA}"/>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A5FC33ED-5EBC-FA7B-0C38-EA39C46DC309}"/>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379284595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B537B1B-511C-D4F8-7DF7-64EC8B6C7056}"/>
              </a:ext>
            </a:extLst>
          </p:cNvPr>
          <p:cNvSpPr>
            <a:spLocks noGrp="1"/>
          </p:cNvSpPr>
          <p:nvPr>
            <p:ph type="title"/>
          </p:nvPr>
        </p:nvSpPr>
        <p:spPr/>
        <p:txBody>
          <a:bodyPr/>
          <a:lstStyle/>
          <a:p>
            <a:r>
              <a:rPr kumimoji="1" lang="zh-CN" altLang="en-US"/>
              <a:t>单击此处编辑母版标题样式</a:t>
            </a:r>
          </a:p>
        </p:txBody>
      </p:sp>
      <p:sp>
        <p:nvSpPr>
          <p:cNvPr id="3" name="内容占位符 2">
            <a:extLst>
              <a:ext uri="{FF2B5EF4-FFF2-40B4-BE49-F238E27FC236}">
                <a16:creationId xmlns:a16="http://schemas.microsoft.com/office/drawing/2014/main" id="{83EBE62D-2664-56CB-82C4-04C33D46D385}"/>
              </a:ext>
            </a:extLst>
          </p:cNvPr>
          <p:cNvSpPr>
            <a:spLocks noGrp="1"/>
          </p:cNvSpPr>
          <p:nvPr>
            <p:ph idx="1"/>
          </p:nvPr>
        </p:nvSpPr>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BD5467FE-6C09-037E-14DD-381C54D5CBA6}"/>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5" name="页脚占位符 4">
            <a:extLst>
              <a:ext uri="{FF2B5EF4-FFF2-40B4-BE49-F238E27FC236}">
                <a16:creationId xmlns:a16="http://schemas.microsoft.com/office/drawing/2014/main" id="{D1396919-FD4A-9072-7E35-742516F97F38}"/>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A27BDBD7-22AF-728F-B452-8AA3C2EF1340}"/>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145900382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83A9FEF-46D9-58A0-4123-77A3F86E55F3}"/>
              </a:ext>
            </a:extLst>
          </p:cNvPr>
          <p:cNvSpPr>
            <a:spLocks noGrp="1"/>
          </p:cNvSpPr>
          <p:nvPr>
            <p:ph type="title"/>
          </p:nvPr>
        </p:nvSpPr>
        <p:spPr>
          <a:xfrm>
            <a:off x="831850" y="1709738"/>
            <a:ext cx="10515600" cy="2852737"/>
          </a:xfrm>
        </p:spPr>
        <p:txBody>
          <a:bodyPr anchor="b"/>
          <a:lstStyle>
            <a:lvl1pPr>
              <a:defRPr sz="6000"/>
            </a:lvl1pPr>
          </a:lstStyle>
          <a:p>
            <a:r>
              <a:rPr kumimoji="1" lang="zh-CN" altLang="en-US"/>
              <a:t>单击此处编辑母版标题样式</a:t>
            </a:r>
          </a:p>
        </p:txBody>
      </p:sp>
      <p:sp>
        <p:nvSpPr>
          <p:cNvPr id="3" name="文本占位符 2">
            <a:extLst>
              <a:ext uri="{FF2B5EF4-FFF2-40B4-BE49-F238E27FC236}">
                <a16:creationId xmlns:a16="http://schemas.microsoft.com/office/drawing/2014/main" id="{53B04C57-B239-E772-614E-004D45A92311}"/>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zh-CN" altLang="en-US"/>
              <a:t>单击此处编辑母版文本样式</a:t>
            </a:r>
          </a:p>
        </p:txBody>
      </p:sp>
      <p:sp>
        <p:nvSpPr>
          <p:cNvPr id="4" name="日期占位符 3">
            <a:extLst>
              <a:ext uri="{FF2B5EF4-FFF2-40B4-BE49-F238E27FC236}">
                <a16:creationId xmlns:a16="http://schemas.microsoft.com/office/drawing/2014/main" id="{55D51A5B-944A-D7C3-E6C5-B7BA6FC4AF29}"/>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5" name="页脚占位符 4">
            <a:extLst>
              <a:ext uri="{FF2B5EF4-FFF2-40B4-BE49-F238E27FC236}">
                <a16:creationId xmlns:a16="http://schemas.microsoft.com/office/drawing/2014/main" id="{01F9A231-E1D6-02E5-049E-13B6C93B374A}"/>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0F785DA2-F919-AB2D-F4AB-9744308204FA}"/>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196453804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319ECDE-D311-74B1-0F20-F87A6A7A78D6}"/>
              </a:ext>
            </a:extLst>
          </p:cNvPr>
          <p:cNvSpPr>
            <a:spLocks noGrp="1"/>
          </p:cNvSpPr>
          <p:nvPr>
            <p:ph type="title"/>
          </p:nvPr>
        </p:nvSpPr>
        <p:spPr/>
        <p:txBody>
          <a:bodyPr/>
          <a:lstStyle/>
          <a:p>
            <a:r>
              <a:rPr kumimoji="1" lang="zh-CN" altLang="en-US"/>
              <a:t>单击此处编辑母版标题样式</a:t>
            </a:r>
          </a:p>
        </p:txBody>
      </p:sp>
      <p:sp>
        <p:nvSpPr>
          <p:cNvPr id="3" name="内容占位符 2">
            <a:extLst>
              <a:ext uri="{FF2B5EF4-FFF2-40B4-BE49-F238E27FC236}">
                <a16:creationId xmlns:a16="http://schemas.microsoft.com/office/drawing/2014/main" id="{9E3C9B88-FA6C-8ECF-D8A5-00CA3EDE00D5}"/>
              </a:ext>
            </a:extLst>
          </p:cNvPr>
          <p:cNvSpPr>
            <a:spLocks noGrp="1"/>
          </p:cNvSpPr>
          <p:nvPr>
            <p:ph sz="half" idx="1"/>
          </p:nvPr>
        </p:nvSpPr>
        <p:spPr>
          <a:xfrm>
            <a:off x="838200" y="1825625"/>
            <a:ext cx="5181600" cy="435133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内容占位符 3">
            <a:extLst>
              <a:ext uri="{FF2B5EF4-FFF2-40B4-BE49-F238E27FC236}">
                <a16:creationId xmlns:a16="http://schemas.microsoft.com/office/drawing/2014/main" id="{DAC993D3-8E45-B3B9-AB74-754EF2E7E086}"/>
              </a:ext>
            </a:extLst>
          </p:cNvPr>
          <p:cNvSpPr>
            <a:spLocks noGrp="1"/>
          </p:cNvSpPr>
          <p:nvPr>
            <p:ph sz="half" idx="2"/>
          </p:nvPr>
        </p:nvSpPr>
        <p:spPr>
          <a:xfrm>
            <a:off x="6172200" y="1825625"/>
            <a:ext cx="5181600" cy="435133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5" name="日期占位符 4">
            <a:extLst>
              <a:ext uri="{FF2B5EF4-FFF2-40B4-BE49-F238E27FC236}">
                <a16:creationId xmlns:a16="http://schemas.microsoft.com/office/drawing/2014/main" id="{22EEAE69-5CB6-4FFB-A05B-FAFE465FA368}"/>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6" name="页脚占位符 5">
            <a:extLst>
              <a:ext uri="{FF2B5EF4-FFF2-40B4-BE49-F238E27FC236}">
                <a16:creationId xmlns:a16="http://schemas.microsoft.com/office/drawing/2014/main" id="{8B47215C-0B7F-E4B7-5E41-E225FE479C11}"/>
              </a:ext>
            </a:extLst>
          </p:cNvPr>
          <p:cNvSpPr>
            <a:spLocks noGrp="1"/>
          </p:cNvSpPr>
          <p:nvPr>
            <p:ph type="ftr" sz="quarter" idx="11"/>
          </p:nvPr>
        </p:nvSpPr>
        <p:spPr/>
        <p:txBody>
          <a:bodyPr/>
          <a:lstStyle/>
          <a:p>
            <a:endParaRPr kumimoji="1" lang="zh-CN" altLang="en-US"/>
          </a:p>
        </p:txBody>
      </p:sp>
      <p:sp>
        <p:nvSpPr>
          <p:cNvPr id="7" name="灯片编号占位符 6">
            <a:extLst>
              <a:ext uri="{FF2B5EF4-FFF2-40B4-BE49-F238E27FC236}">
                <a16:creationId xmlns:a16="http://schemas.microsoft.com/office/drawing/2014/main" id="{ECF1607B-F95D-FA9A-48D0-AB90D6EDA81F}"/>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185959002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469B30D-EF98-9776-0E67-87371B217684}"/>
              </a:ext>
            </a:extLst>
          </p:cNvPr>
          <p:cNvSpPr>
            <a:spLocks noGrp="1"/>
          </p:cNvSpPr>
          <p:nvPr>
            <p:ph type="title"/>
          </p:nvPr>
        </p:nvSpPr>
        <p:spPr>
          <a:xfrm>
            <a:off x="839788" y="365125"/>
            <a:ext cx="10515600" cy="1325563"/>
          </a:xfrm>
        </p:spPr>
        <p:txBody>
          <a:bodyPr/>
          <a:lstStyle/>
          <a:p>
            <a:r>
              <a:rPr kumimoji="1" lang="zh-CN" altLang="en-US"/>
              <a:t>单击此处编辑母版标题样式</a:t>
            </a:r>
          </a:p>
        </p:txBody>
      </p:sp>
      <p:sp>
        <p:nvSpPr>
          <p:cNvPr id="3" name="文本占位符 2">
            <a:extLst>
              <a:ext uri="{FF2B5EF4-FFF2-40B4-BE49-F238E27FC236}">
                <a16:creationId xmlns:a16="http://schemas.microsoft.com/office/drawing/2014/main" id="{37E8FDD7-C50E-7D11-4708-BD3BD0488D2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zh-CN" altLang="en-US"/>
              <a:t>单击此处编辑母版文本样式</a:t>
            </a:r>
          </a:p>
        </p:txBody>
      </p:sp>
      <p:sp>
        <p:nvSpPr>
          <p:cNvPr id="4" name="内容占位符 3">
            <a:extLst>
              <a:ext uri="{FF2B5EF4-FFF2-40B4-BE49-F238E27FC236}">
                <a16:creationId xmlns:a16="http://schemas.microsoft.com/office/drawing/2014/main" id="{93F05520-BEDD-DC89-EDB8-29A55A688142}"/>
              </a:ext>
            </a:extLst>
          </p:cNvPr>
          <p:cNvSpPr>
            <a:spLocks noGrp="1"/>
          </p:cNvSpPr>
          <p:nvPr>
            <p:ph sz="half" idx="2"/>
          </p:nvPr>
        </p:nvSpPr>
        <p:spPr>
          <a:xfrm>
            <a:off x="839788" y="2505075"/>
            <a:ext cx="5157787" cy="368458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5" name="文本占位符 4">
            <a:extLst>
              <a:ext uri="{FF2B5EF4-FFF2-40B4-BE49-F238E27FC236}">
                <a16:creationId xmlns:a16="http://schemas.microsoft.com/office/drawing/2014/main" id="{88A41E8D-4EDE-E951-9249-16343C408DF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zh-CN" altLang="en-US"/>
              <a:t>单击此处编辑母版文本样式</a:t>
            </a:r>
          </a:p>
        </p:txBody>
      </p:sp>
      <p:sp>
        <p:nvSpPr>
          <p:cNvPr id="6" name="内容占位符 5">
            <a:extLst>
              <a:ext uri="{FF2B5EF4-FFF2-40B4-BE49-F238E27FC236}">
                <a16:creationId xmlns:a16="http://schemas.microsoft.com/office/drawing/2014/main" id="{C3A15438-E2BC-3C49-A770-61F2058F0C5B}"/>
              </a:ext>
            </a:extLst>
          </p:cNvPr>
          <p:cNvSpPr>
            <a:spLocks noGrp="1"/>
          </p:cNvSpPr>
          <p:nvPr>
            <p:ph sz="quarter" idx="4"/>
          </p:nvPr>
        </p:nvSpPr>
        <p:spPr>
          <a:xfrm>
            <a:off x="6172200" y="2505075"/>
            <a:ext cx="5183188" cy="368458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7" name="日期占位符 6">
            <a:extLst>
              <a:ext uri="{FF2B5EF4-FFF2-40B4-BE49-F238E27FC236}">
                <a16:creationId xmlns:a16="http://schemas.microsoft.com/office/drawing/2014/main" id="{A469E29F-2CA3-451B-1588-22B05F1C1FF4}"/>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8" name="页脚占位符 7">
            <a:extLst>
              <a:ext uri="{FF2B5EF4-FFF2-40B4-BE49-F238E27FC236}">
                <a16:creationId xmlns:a16="http://schemas.microsoft.com/office/drawing/2014/main" id="{7D3E0C48-D0FC-01D7-EFB2-E342FFD1CAB9}"/>
              </a:ext>
            </a:extLst>
          </p:cNvPr>
          <p:cNvSpPr>
            <a:spLocks noGrp="1"/>
          </p:cNvSpPr>
          <p:nvPr>
            <p:ph type="ftr" sz="quarter" idx="11"/>
          </p:nvPr>
        </p:nvSpPr>
        <p:spPr/>
        <p:txBody>
          <a:bodyPr/>
          <a:lstStyle/>
          <a:p>
            <a:endParaRPr kumimoji="1" lang="zh-CN" altLang="en-US"/>
          </a:p>
        </p:txBody>
      </p:sp>
      <p:sp>
        <p:nvSpPr>
          <p:cNvPr id="9" name="灯片编号占位符 8">
            <a:extLst>
              <a:ext uri="{FF2B5EF4-FFF2-40B4-BE49-F238E27FC236}">
                <a16:creationId xmlns:a16="http://schemas.microsoft.com/office/drawing/2014/main" id="{EB2CF963-EAD2-D222-FE32-733BFF9279B7}"/>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18451725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D9A2317-4DD0-7705-8F0E-9C1AE468940F}"/>
              </a:ext>
            </a:extLst>
          </p:cNvPr>
          <p:cNvSpPr>
            <a:spLocks noGrp="1"/>
          </p:cNvSpPr>
          <p:nvPr>
            <p:ph type="title"/>
          </p:nvPr>
        </p:nvSpPr>
        <p:spPr/>
        <p:txBody>
          <a:bodyPr/>
          <a:lstStyle/>
          <a:p>
            <a:r>
              <a:rPr kumimoji="1" lang="zh-CN" altLang="en-US"/>
              <a:t>单击此处编辑母版标题样式</a:t>
            </a:r>
          </a:p>
        </p:txBody>
      </p:sp>
      <p:sp>
        <p:nvSpPr>
          <p:cNvPr id="3" name="日期占位符 2">
            <a:extLst>
              <a:ext uri="{FF2B5EF4-FFF2-40B4-BE49-F238E27FC236}">
                <a16:creationId xmlns:a16="http://schemas.microsoft.com/office/drawing/2014/main" id="{D80B3C6B-F1F3-8087-82E4-22E777BFA3C3}"/>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4" name="页脚占位符 3">
            <a:extLst>
              <a:ext uri="{FF2B5EF4-FFF2-40B4-BE49-F238E27FC236}">
                <a16:creationId xmlns:a16="http://schemas.microsoft.com/office/drawing/2014/main" id="{7BE57A2B-3769-94B4-A8DA-143705DFDD31}"/>
              </a:ext>
            </a:extLst>
          </p:cNvPr>
          <p:cNvSpPr>
            <a:spLocks noGrp="1"/>
          </p:cNvSpPr>
          <p:nvPr>
            <p:ph type="ftr" sz="quarter" idx="11"/>
          </p:nvPr>
        </p:nvSpPr>
        <p:spPr/>
        <p:txBody>
          <a:bodyPr/>
          <a:lstStyle/>
          <a:p>
            <a:endParaRPr kumimoji="1" lang="zh-CN" altLang="en-US"/>
          </a:p>
        </p:txBody>
      </p:sp>
      <p:sp>
        <p:nvSpPr>
          <p:cNvPr id="5" name="灯片编号占位符 4">
            <a:extLst>
              <a:ext uri="{FF2B5EF4-FFF2-40B4-BE49-F238E27FC236}">
                <a16:creationId xmlns:a16="http://schemas.microsoft.com/office/drawing/2014/main" id="{E6269BBB-3D3E-D5C1-373C-4AEBE84F81FA}"/>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117348872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3053ED18-81E5-087C-CE7B-D43178BA1583}"/>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3" name="页脚占位符 2">
            <a:extLst>
              <a:ext uri="{FF2B5EF4-FFF2-40B4-BE49-F238E27FC236}">
                <a16:creationId xmlns:a16="http://schemas.microsoft.com/office/drawing/2014/main" id="{A2BD668C-C643-0734-3F58-28ECB6961713}"/>
              </a:ext>
            </a:extLst>
          </p:cNvPr>
          <p:cNvSpPr>
            <a:spLocks noGrp="1"/>
          </p:cNvSpPr>
          <p:nvPr>
            <p:ph type="ftr" sz="quarter" idx="11"/>
          </p:nvPr>
        </p:nvSpPr>
        <p:spPr/>
        <p:txBody>
          <a:bodyPr/>
          <a:lstStyle/>
          <a:p>
            <a:endParaRPr kumimoji="1" lang="zh-CN" altLang="en-US"/>
          </a:p>
        </p:txBody>
      </p:sp>
      <p:sp>
        <p:nvSpPr>
          <p:cNvPr id="4" name="灯片编号占位符 3">
            <a:extLst>
              <a:ext uri="{FF2B5EF4-FFF2-40B4-BE49-F238E27FC236}">
                <a16:creationId xmlns:a16="http://schemas.microsoft.com/office/drawing/2014/main" id="{F2FAAAAD-C5EF-CB82-DA12-5DCCE44FC6BF}"/>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54456145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175AE71-64EC-7CAF-DCC1-AC7B7F2512A4}"/>
              </a:ext>
            </a:extLst>
          </p:cNvPr>
          <p:cNvSpPr>
            <a:spLocks noGrp="1"/>
          </p:cNvSpPr>
          <p:nvPr>
            <p:ph type="title"/>
          </p:nvPr>
        </p:nvSpPr>
        <p:spPr>
          <a:xfrm>
            <a:off x="839788" y="457200"/>
            <a:ext cx="3932237" cy="1600200"/>
          </a:xfrm>
        </p:spPr>
        <p:txBody>
          <a:bodyPr anchor="b"/>
          <a:lstStyle>
            <a:lvl1pPr>
              <a:defRPr sz="3200"/>
            </a:lvl1pPr>
          </a:lstStyle>
          <a:p>
            <a:r>
              <a:rPr kumimoji="1" lang="zh-CN" altLang="en-US"/>
              <a:t>单击此处编辑母版标题样式</a:t>
            </a:r>
          </a:p>
        </p:txBody>
      </p:sp>
      <p:sp>
        <p:nvSpPr>
          <p:cNvPr id="3" name="内容占位符 2">
            <a:extLst>
              <a:ext uri="{FF2B5EF4-FFF2-40B4-BE49-F238E27FC236}">
                <a16:creationId xmlns:a16="http://schemas.microsoft.com/office/drawing/2014/main" id="{371341FA-757E-CC97-7EBF-8640D3A5859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文本占位符 3">
            <a:extLst>
              <a:ext uri="{FF2B5EF4-FFF2-40B4-BE49-F238E27FC236}">
                <a16:creationId xmlns:a16="http://schemas.microsoft.com/office/drawing/2014/main" id="{6AD92CD0-2012-EC24-D6A6-D8F0D6235C9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zh-CN" altLang="en-US"/>
              <a:t>单击此处编辑母版文本样式</a:t>
            </a:r>
          </a:p>
        </p:txBody>
      </p:sp>
      <p:sp>
        <p:nvSpPr>
          <p:cNvPr id="5" name="日期占位符 4">
            <a:extLst>
              <a:ext uri="{FF2B5EF4-FFF2-40B4-BE49-F238E27FC236}">
                <a16:creationId xmlns:a16="http://schemas.microsoft.com/office/drawing/2014/main" id="{A8589081-6ADA-73DD-0406-D90801775B10}"/>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6" name="页脚占位符 5">
            <a:extLst>
              <a:ext uri="{FF2B5EF4-FFF2-40B4-BE49-F238E27FC236}">
                <a16:creationId xmlns:a16="http://schemas.microsoft.com/office/drawing/2014/main" id="{2E305348-185C-AEBE-DDBC-FA8F58358714}"/>
              </a:ext>
            </a:extLst>
          </p:cNvPr>
          <p:cNvSpPr>
            <a:spLocks noGrp="1"/>
          </p:cNvSpPr>
          <p:nvPr>
            <p:ph type="ftr" sz="quarter" idx="11"/>
          </p:nvPr>
        </p:nvSpPr>
        <p:spPr/>
        <p:txBody>
          <a:bodyPr/>
          <a:lstStyle/>
          <a:p>
            <a:endParaRPr kumimoji="1" lang="zh-CN" altLang="en-US"/>
          </a:p>
        </p:txBody>
      </p:sp>
      <p:sp>
        <p:nvSpPr>
          <p:cNvPr id="7" name="灯片编号占位符 6">
            <a:extLst>
              <a:ext uri="{FF2B5EF4-FFF2-40B4-BE49-F238E27FC236}">
                <a16:creationId xmlns:a16="http://schemas.microsoft.com/office/drawing/2014/main" id="{C434C1BA-03A9-E84F-1095-593ADDB3722D}"/>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346374440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C5198B2-5754-13F5-8B12-C9C8CBC44565}"/>
              </a:ext>
            </a:extLst>
          </p:cNvPr>
          <p:cNvSpPr>
            <a:spLocks noGrp="1"/>
          </p:cNvSpPr>
          <p:nvPr>
            <p:ph type="title"/>
          </p:nvPr>
        </p:nvSpPr>
        <p:spPr>
          <a:xfrm>
            <a:off x="839788" y="457200"/>
            <a:ext cx="3932237" cy="1600200"/>
          </a:xfrm>
        </p:spPr>
        <p:txBody>
          <a:bodyPr anchor="b"/>
          <a:lstStyle>
            <a:lvl1pPr>
              <a:defRPr sz="3200"/>
            </a:lvl1pPr>
          </a:lstStyle>
          <a:p>
            <a:r>
              <a:rPr kumimoji="1" lang="zh-CN" altLang="en-US"/>
              <a:t>单击此处编辑母版标题样式</a:t>
            </a:r>
          </a:p>
        </p:txBody>
      </p:sp>
      <p:sp>
        <p:nvSpPr>
          <p:cNvPr id="3" name="图片占位符 2">
            <a:extLst>
              <a:ext uri="{FF2B5EF4-FFF2-40B4-BE49-F238E27FC236}">
                <a16:creationId xmlns:a16="http://schemas.microsoft.com/office/drawing/2014/main" id="{5E5E2333-142C-3E91-91F4-A347E32A479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zh-CN" altLang="en-US"/>
          </a:p>
        </p:txBody>
      </p:sp>
      <p:sp>
        <p:nvSpPr>
          <p:cNvPr id="4" name="文本占位符 3">
            <a:extLst>
              <a:ext uri="{FF2B5EF4-FFF2-40B4-BE49-F238E27FC236}">
                <a16:creationId xmlns:a16="http://schemas.microsoft.com/office/drawing/2014/main" id="{1AE17102-E033-CDC0-B618-299CC91D401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zh-CN" altLang="en-US"/>
              <a:t>单击此处编辑母版文本样式</a:t>
            </a:r>
          </a:p>
        </p:txBody>
      </p:sp>
      <p:sp>
        <p:nvSpPr>
          <p:cNvPr id="5" name="日期占位符 4">
            <a:extLst>
              <a:ext uri="{FF2B5EF4-FFF2-40B4-BE49-F238E27FC236}">
                <a16:creationId xmlns:a16="http://schemas.microsoft.com/office/drawing/2014/main" id="{3F05AFF9-9891-A28B-4FBF-DFF532046A32}"/>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6" name="页脚占位符 5">
            <a:extLst>
              <a:ext uri="{FF2B5EF4-FFF2-40B4-BE49-F238E27FC236}">
                <a16:creationId xmlns:a16="http://schemas.microsoft.com/office/drawing/2014/main" id="{D942270D-2426-270F-0336-B3337C395059}"/>
              </a:ext>
            </a:extLst>
          </p:cNvPr>
          <p:cNvSpPr>
            <a:spLocks noGrp="1"/>
          </p:cNvSpPr>
          <p:nvPr>
            <p:ph type="ftr" sz="quarter" idx="11"/>
          </p:nvPr>
        </p:nvSpPr>
        <p:spPr/>
        <p:txBody>
          <a:bodyPr/>
          <a:lstStyle/>
          <a:p>
            <a:endParaRPr kumimoji="1" lang="zh-CN" altLang="en-US"/>
          </a:p>
        </p:txBody>
      </p:sp>
      <p:sp>
        <p:nvSpPr>
          <p:cNvPr id="7" name="灯片编号占位符 6">
            <a:extLst>
              <a:ext uri="{FF2B5EF4-FFF2-40B4-BE49-F238E27FC236}">
                <a16:creationId xmlns:a16="http://schemas.microsoft.com/office/drawing/2014/main" id="{7EA358EA-4E08-6B21-F095-EE06B95312D0}"/>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45961426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CCA809F-C91F-7B47-8C12-D25BA362AFC6}"/>
              </a:ext>
            </a:extLst>
          </p:cNvPr>
          <p:cNvSpPr>
            <a:spLocks noGrp="1"/>
          </p:cNvSpPr>
          <p:nvPr>
            <p:ph type="title"/>
          </p:nvPr>
        </p:nvSpPr>
        <p:spPr/>
        <p:txBody>
          <a:bodyPr/>
          <a:lstStyle/>
          <a:p>
            <a:r>
              <a:rPr kumimoji="1" lang="zh-CN" altLang="en-US"/>
              <a:t>单击此处编辑母版标题样式</a:t>
            </a:r>
          </a:p>
        </p:txBody>
      </p:sp>
      <p:sp>
        <p:nvSpPr>
          <p:cNvPr id="3" name="竖排文字占位符 2">
            <a:extLst>
              <a:ext uri="{FF2B5EF4-FFF2-40B4-BE49-F238E27FC236}">
                <a16:creationId xmlns:a16="http://schemas.microsoft.com/office/drawing/2014/main" id="{904A7382-0CA7-7D8B-83FF-08EF76126FD7}"/>
              </a:ext>
            </a:extLst>
          </p:cNvPr>
          <p:cNvSpPr>
            <a:spLocks noGrp="1"/>
          </p:cNvSpPr>
          <p:nvPr>
            <p:ph type="body" orient="vert" idx="1"/>
          </p:nvPr>
        </p:nvSpPr>
        <p:spPr/>
        <p:txBody>
          <a:bodyPr vert="eaVert"/>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9B9417F5-F88C-8CA1-E9BC-7CAC37C486D7}"/>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5" name="页脚占位符 4">
            <a:extLst>
              <a:ext uri="{FF2B5EF4-FFF2-40B4-BE49-F238E27FC236}">
                <a16:creationId xmlns:a16="http://schemas.microsoft.com/office/drawing/2014/main" id="{2724339F-FA6A-38A9-D527-0FDC93D8D7AD}"/>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47AB572A-7476-7FB5-9791-802D508D7519}"/>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364728079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EFF63993-AF72-23D1-D01C-F973643BA679}"/>
              </a:ext>
            </a:extLst>
          </p:cNvPr>
          <p:cNvSpPr>
            <a:spLocks noGrp="1"/>
          </p:cNvSpPr>
          <p:nvPr>
            <p:ph type="title" orient="vert"/>
          </p:nvPr>
        </p:nvSpPr>
        <p:spPr>
          <a:xfrm>
            <a:off x="8724900" y="365125"/>
            <a:ext cx="2628900" cy="5811838"/>
          </a:xfrm>
        </p:spPr>
        <p:txBody>
          <a:bodyPr vert="eaVert"/>
          <a:lstStyle/>
          <a:p>
            <a:r>
              <a:rPr kumimoji="1" lang="zh-CN" altLang="en-US"/>
              <a:t>单击此处编辑母版标题样式</a:t>
            </a:r>
          </a:p>
        </p:txBody>
      </p:sp>
      <p:sp>
        <p:nvSpPr>
          <p:cNvPr id="3" name="竖排文字占位符 2">
            <a:extLst>
              <a:ext uri="{FF2B5EF4-FFF2-40B4-BE49-F238E27FC236}">
                <a16:creationId xmlns:a16="http://schemas.microsoft.com/office/drawing/2014/main" id="{E1A46C64-EFAA-9A05-E2F3-ABC719457BB3}"/>
              </a:ext>
            </a:extLst>
          </p:cNvPr>
          <p:cNvSpPr>
            <a:spLocks noGrp="1"/>
          </p:cNvSpPr>
          <p:nvPr>
            <p:ph type="body" orient="vert" idx="1"/>
          </p:nvPr>
        </p:nvSpPr>
        <p:spPr>
          <a:xfrm>
            <a:off x="838200" y="365125"/>
            <a:ext cx="7734300" cy="5811838"/>
          </a:xfrm>
        </p:spPr>
        <p:txBody>
          <a:bodyPr vert="eaVert"/>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452B8B04-FC76-CEC2-9550-07C425ADE2DE}"/>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5" name="页脚占位符 4">
            <a:extLst>
              <a:ext uri="{FF2B5EF4-FFF2-40B4-BE49-F238E27FC236}">
                <a16:creationId xmlns:a16="http://schemas.microsoft.com/office/drawing/2014/main" id="{00466A49-4F49-DA65-9C97-50D34FC9A11E}"/>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69331544-F576-56EF-205E-90A98A61DCBD}"/>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329402791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仅标题">
    <p:spTree>
      <p:nvGrpSpPr>
        <p:cNvPr id="1" name=""/>
        <p:cNvGrpSpPr/>
        <p:nvPr/>
      </p:nvGrpSpPr>
      <p:grpSpPr>
        <a:xfrm>
          <a:off x="0" y="0"/>
          <a:ext cx="0" cy="0"/>
          <a:chOff x="0" y="0"/>
          <a:chExt cx="0" cy="0"/>
        </a:xfrm>
      </p:grpSpPr>
      <p:pic>
        <p:nvPicPr>
          <p:cNvPr id="6" name="图片 5">
            <a:extLst>
              <a:ext uri="{FF2B5EF4-FFF2-40B4-BE49-F238E27FC236}">
                <a16:creationId xmlns:a16="http://schemas.microsoft.com/office/drawing/2014/main" id="{F96E172E-41BA-F174-FF99-50C83FEBC34E}"/>
              </a:ext>
            </a:extLst>
          </p:cNvPr>
          <p:cNvPicPr>
            <a:picLocks noChangeAspect="1"/>
          </p:cNvPicPr>
          <p:nvPr userDrawn="1"/>
        </p:nvPicPr>
        <p:blipFill>
          <a:blip r:embed="rId2">
            <a:alphaModFix amt="15000"/>
          </a:blip>
          <a:stretch>
            <a:fillRect/>
          </a:stretch>
        </p:blipFill>
        <p:spPr>
          <a:xfrm>
            <a:off x="-600" y="6136968"/>
            <a:ext cx="12193200" cy="721032"/>
          </a:xfrm>
          <a:prstGeom prst="rect">
            <a:avLst/>
          </a:prstGeom>
        </p:spPr>
      </p:pic>
      <p:grpSp>
        <p:nvGrpSpPr>
          <p:cNvPr id="7" name="图形 12">
            <a:extLst>
              <a:ext uri="{FF2B5EF4-FFF2-40B4-BE49-F238E27FC236}">
                <a16:creationId xmlns:a16="http://schemas.microsoft.com/office/drawing/2014/main" id="{1E6E911F-38F1-42B3-AAB8-57311022C81E}"/>
              </a:ext>
            </a:extLst>
          </p:cNvPr>
          <p:cNvGrpSpPr/>
          <p:nvPr userDrawn="1"/>
        </p:nvGrpSpPr>
        <p:grpSpPr>
          <a:xfrm>
            <a:off x="10477059" y="327570"/>
            <a:ext cx="1306953" cy="520464"/>
            <a:chOff x="1739537" y="98099"/>
            <a:chExt cx="4612704" cy="1836902"/>
          </a:xfrm>
        </p:grpSpPr>
        <p:sp>
          <p:nvSpPr>
            <p:cNvPr id="8" name="任意形状 7">
              <a:extLst>
                <a:ext uri="{FF2B5EF4-FFF2-40B4-BE49-F238E27FC236}">
                  <a16:creationId xmlns:a16="http://schemas.microsoft.com/office/drawing/2014/main" id="{1FF87494-65BD-1CE3-B49E-C51C092D8D37}"/>
                </a:ext>
              </a:extLst>
            </p:cNvPr>
            <p:cNvSpPr/>
            <p:nvPr/>
          </p:nvSpPr>
          <p:spPr>
            <a:xfrm>
              <a:off x="1739537" y="771564"/>
              <a:ext cx="650741" cy="894889"/>
            </a:xfrm>
            <a:custGeom>
              <a:avLst/>
              <a:gdLst>
                <a:gd name="connsiteX0" fmla="*/ 495249 w 650741"/>
                <a:gd name="connsiteY0" fmla="*/ 368834 h 894889"/>
                <a:gd name="connsiteX1" fmla="*/ 155316 w 650741"/>
                <a:gd name="connsiteY1" fmla="*/ 368834 h 894889"/>
                <a:gd name="connsiteX2" fmla="*/ 155316 w 650741"/>
                <a:gd name="connsiteY2" fmla="*/ 0 h 894889"/>
                <a:gd name="connsiteX3" fmla="*/ 0 w 650741"/>
                <a:gd name="connsiteY3" fmla="*/ 0 h 894889"/>
                <a:gd name="connsiteX4" fmla="*/ 0 w 650741"/>
                <a:gd name="connsiteY4" fmla="*/ 894890 h 894889"/>
                <a:gd name="connsiteX5" fmla="*/ 155316 w 650741"/>
                <a:gd name="connsiteY5" fmla="*/ 894890 h 894889"/>
                <a:gd name="connsiteX6" fmla="*/ 155316 w 650741"/>
                <a:gd name="connsiteY6" fmla="*/ 488856 h 894889"/>
                <a:gd name="connsiteX7" fmla="*/ 495249 w 650741"/>
                <a:gd name="connsiteY7" fmla="*/ 488856 h 894889"/>
                <a:gd name="connsiteX8" fmla="*/ 495249 w 650741"/>
                <a:gd name="connsiteY8" fmla="*/ 894890 h 894889"/>
                <a:gd name="connsiteX9" fmla="*/ 510839 w 650741"/>
                <a:gd name="connsiteY9" fmla="*/ 894890 h 894889"/>
                <a:gd name="connsiteX10" fmla="*/ 650742 w 650741"/>
                <a:gd name="connsiteY10" fmla="*/ 894890 h 894889"/>
                <a:gd name="connsiteX11" fmla="*/ 650742 w 650741"/>
                <a:gd name="connsiteY11" fmla="*/ 0 h 894889"/>
                <a:gd name="connsiteX12" fmla="*/ 495249 w 650741"/>
                <a:gd name="connsiteY12" fmla="*/ 0 h 894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50741" h="894889">
                  <a:moveTo>
                    <a:pt x="495249" y="368834"/>
                  </a:moveTo>
                  <a:lnTo>
                    <a:pt x="155316" y="368834"/>
                  </a:lnTo>
                  <a:lnTo>
                    <a:pt x="155316" y="0"/>
                  </a:lnTo>
                  <a:lnTo>
                    <a:pt x="0" y="0"/>
                  </a:lnTo>
                  <a:lnTo>
                    <a:pt x="0" y="894890"/>
                  </a:lnTo>
                  <a:lnTo>
                    <a:pt x="155316" y="894890"/>
                  </a:lnTo>
                  <a:lnTo>
                    <a:pt x="155316" y="488856"/>
                  </a:lnTo>
                  <a:lnTo>
                    <a:pt x="495249" y="488856"/>
                  </a:lnTo>
                  <a:lnTo>
                    <a:pt x="495249" y="894890"/>
                  </a:lnTo>
                  <a:lnTo>
                    <a:pt x="510839" y="894890"/>
                  </a:lnTo>
                  <a:lnTo>
                    <a:pt x="650742" y="894890"/>
                  </a:lnTo>
                  <a:lnTo>
                    <a:pt x="650742" y="0"/>
                  </a:lnTo>
                  <a:lnTo>
                    <a:pt x="495249" y="0"/>
                  </a:lnTo>
                  <a:close/>
                </a:path>
              </a:pathLst>
            </a:custGeom>
            <a:solidFill>
              <a:srgbClr val="656464"/>
            </a:solidFill>
            <a:ln w="109" cap="flat">
              <a:noFill/>
              <a:prstDash val="solid"/>
              <a:miter/>
            </a:ln>
          </p:spPr>
          <p:txBody>
            <a:bodyPr rtlCol="0" anchor="ctr"/>
            <a:lstStyle/>
            <a:p>
              <a:endParaRPr lang="zh-CN" altLang="en-US"/>
            </a:p>
          </p:txBody>
        </p:sp>
        <p:sp>
          <p:nvSpPr>
            <p:cNvPr id="9" name="任意形状 8">
              <a:extLst>
                <a:ext uri="{FF2B5EF4-FFF2-40B4-BE49-F238E27FC236}">
                  <a16:creationId xmlns:a16="http://schemas.microsoft.com/office/drawing/2014/main" id="{4F5D7A08-87FA-A7AA-66DC-CC3FFCCD16AF}"/>
                </a:ext>
              </a:extLst>
            </p:cNvPr>
            <p:cNvSpPr/>
            <p:nvPr/>
          </p:nvSpPr>
          <p:spPr>
            <a:xfrm>
              <a:off x="2459620" y="1005434"/>
              <a:ext cx="592694" cy="929567"/>
            </a:xfrm>
            <a:custGeom>
              <a:avLst/>
              <a:gdLst>
                <a:gd name="connsiteX0" fmla="*/ 436748 w 592694"/>
                <a:gd name="connsiteY0" fmla="*/ 12476 h 929567"/>
                <a:gd name="connsiteX1" fmla="*/ 310454 w 592694"/>
                <a:gd name="connsiteY1" fmla="*/ 485449 h 929567"/>
                <a:gd name="connsiteX2" fmla="*/ 161943 w 592694"/>
                <a:gd name="connsiteY2" fmla="*/ 11764 h 929567"/>
                <a:gd name="connsiteX3" fmla="*/ 158997 w 592694"/>
                <a:gd name="connsiteY3" fmla="*/ 0 h 929567"/>
                <a:gd name="connsiteX4" fmla="*/ 0 w 592694"/>
                <a:gd name="connsiteY4" fmla="*/ 0 h 929567"/>
                <a:gd name="connsiteX5" fmla="*/ 5002 w 592694"/>
                <a:gd name="connsiteY5" fmla="*/ 19361 h 929567"/>
                <a:gd name="connsiteX6" fmla="*/ 223669 w 592694"/>
                <a:gd name="connsiteY6" fmla="*/ 647854 h 929567"/>
                <a:gd name="connsiteX7" fmla="*/ 147979 w 592694"/>
                <a:gd name="connsiteY7" fmla="*/ 785362 h 929567"/>
                <a:gd name="connsiteX8" fmla="*/ 93871 w 592694"/>
                <a:gd name="connsiteY8" fmla="*/ 815643 h 929567"/>
                <a:gd name="connsiteX9" fmla="*/ 12975 w 592694"/>
                <a:gd name="connsiteY9" fmla="*/ 815643 h 929567"/>
                <a:gd name="connsiteX10" fmla="*/ 6806 w 592694"/>
                <a:gd name="connsiteY10" fmla="*/ 916128 h 929567"/>
                <a:gd name="connsiteX11" fmla="*/ 19348 w 592694"/>
                <a:gd name="connsiteY11" fmla="*/ 919258 h 929567"/>
                <a:gd name="connsiteX12" fmla="*/ 103087 w 592694"/>
                <a:gd name="connsiteY12" fmla="*/ 929567 h 929567"/>
                <a:gd name="connsiteX13" fmla="*/ 104889 w 592694"/>
                <a:gd name="connsiteY13" fmla="*/ 929567 h 929567"/>
                <a:gd name="connsiteX14" fmla="*/ 243016 w 592694"/>
                <a:gd name="connsiteY14" fmla="*/ 871489 h 929567"/>
                <a:gd name="connsiteX15" fmla="*/ 378346 w 592694"/>
                <a:gd name="connsiteY15" fmla="*/ 652078 h 929567"/>
                <a:gd name="connsiteX16" fmla="*/ 587872 w 592694"/>
                <a:gd name="connsiteY16" fmla="*/ 19287 h 929567"/>
                <a:gd name="connsiteX17" fmla="*/ 592695 w 592694"/>
                <a:gd name="connsiteY17" fmla="*/ 2 h 929567"/>
                <a:gd name="connsiteX18" fmla="*/ 439078 w 592694"/>
                <a:gd name="connsiteY18" fmla="*/ 2 h 929567"/>
                <a:gd name="connsiteX19" fmla="*/ 436748 w 592694"/>
                <a:gd name="connsiteY19" fmla="*/ 12478 h 9295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592694" h="929567">
                  <a:moveTo>
                    <a:pt x="436748" y="12476"/>
                  </a:moveTo>
                  <a:cubicBezTo>
                    <a:pt x="404955" y="174421"/>
                    <a:pt x="360448" y="339438"/>
                    <a:pt x="310454" y="485449"/>
                  </a:cubicBezTo>
                  <a:cubicBezTo>
                    <a:pt x="255533" y="333879"/>
                    <a:pt x="204855" y="182322"/>
                    <a:pt x="161943" y="11764"/>
                  </a:cubicBezTo>
                  <a:lnTo>
                    <a:pt x="158997" y="0"/>
                  </a:lnTo>
                  <a:lnTo>
                    <a:pt x="0" y="0"/>
                  </a:lnTo>
                  <a:lnTo>
                    <a:pt x="5002" y="19361"/>
                  </a:lnTo>
                  <a:cubicBezTo>
                    <a:pt x="62158" y="239336"/>
                    <a:pt x="146988" y="470850"/>
                    <a:pt x="223669" y="647854"/>
                  </a:cubicBezTo>
                  <a:cubicBezTo>
                    <a:pt x="192133" y="717948"/>
                    <a:pt x="168114" y="761067"/>
                    <a:pt x="147979" y="785362"/>
                  </a:cubicBezTo>
                  <a:cubicBezTo>
                    <a:pt x="126752" y="810281"/>
                    <a:pt x="113296" y="815216"/>
                    <a:pt x="93871" y="815643"/>
                  </a:cubicBezTo>
                  <a:lnTo>
                    <a:pt x="12975" y="815643"/>
                  </a:lnTo>
                  <a:lnTo>
                    <a:pt x="6806" y="916128"/>
                  </a:lnTo>
                  <a:lnTo>
                    <a:pt x="19348" y="919258"/>
                  </a:lnTo>
                  <a:cubicBezTo>
                    <a:pt x="40043" y="924358"/>
                    <a:pt x="69597" y="929567"/>
                    <a:pt x="103087" y="929567"/>
                  </a:cubicBezTo>
                  <a:lnTo>
                    <a:pt x="104889" y="929567"/>
                  </a:lnTo>
                  <a:cubicBezTo>
                    <a:pt x="155951" y="929567"/>
                    <a:pt x="201171" y="913896"/>
                    <a:pt x="243016" y="871489"/>
                  </a:cubicBezTo>
                  <a:cubicBezTo>
                    <a:pt x="285545" y="828732"/>
                    <a:pt x="326678" y="760432"/>
                    <a:pt x="378346" y="652078"/>
                  </a:cubicBezTo>
                  <a:cubicBezTo>
                    <a:pt x="447061" y="509460"/>
                    <a:pt x="516553" y="303411"/>
                    <a:pt x="587872" y="19287"/>
                  </a:cubicBezTo>
                  <a:lnTo>
                    <a:pt x="592695" y="2"/>
                  </a:lnTo>
                  <a:lnTo>
                    <a:pt x="439078" y="2"/>
                  </a:lnTo>
                  <a:lnTo>
                    <a:pt x="436748" y="12478"/>
                  </a:lnTo>
                  <a:close/>
                </a:path>
              </a:pathLst>
            </a:custGeom>
            <a:solidFill>
              <a:srgbClr val="656464"/>
            </a:solidFill>
            <a:ln w="109" cap="flat">
              <a:noFill/>
              <a:prstDash val="solid"/>
              <a:miter/>
            </a:ln>
          </p:spPr>
          <p:txBody>
            <a:bodyPr rtlCol="0" anchor="ctr"/>
            <a:lstStyle/>
            <a:p>
              <a:endParaRPr lang="zh-CN" altLang="en-US"/>
            </a:p>
          </p:txBody>
        </p:sp>
        <p:sp>
          <p:nvSpPr>
            <p:cNvPr id="10" name="任意形状 9">
              <a:extLst>
                <a:ext uri="{FF2B5EF4-FFF2-40B4-BE49-F238E27FC236}">
                  <a16:creationId xmlns:a16="http://schemas.microsoft.com/office/drawing/2014/main" id="{50E9FEE1-E93A-F1E5-E543-3E55DCA60665}"/>
                </a:ext>
              </a:extLst>
            </p:cNvPr>
            <p:cNvSpPr/>
            <p:nvPr/>
          </p:nvSpPr>
          <p:spPr>
            <a:xfrm>
              <a:off x="3117596" y="822326"/>
              <a:ext cx="394925" cy="853987"/>
            </a:xfrm>
            <a:custGeom>
              <a:avLst/>
              <a:gdLst>
                <a:gd name="connsiteX0" fmla="*/ 263816 w 394925"/>
                <a:gd name="connsiteY0" fmla="*/ 726822 h 853987"/>
                <a:gd name="connsiteX1" fmla="*/ 245453 w 394925"/>
                <a:gd name="connsiteY1" fmla="*/ 649176 h 853987"/>
                <a:gd name="connsiteX2" fmla="*/ 245453 w 394925"/>
                <a:gd name="connsiteY2" fmla="*/ 292104 h 853987"/>
                <a:gd name="connsiteX3" fmla="*/ 394859 w 394925"/>
                <a:gd name="connsiteY3" fmla="*/ 292104 h 853987"/>
                <a:gd name="connsiteX4" fmla="*/ 394859 w 394925"/>
                <a:gd name="connsiteY4" fmla="*/ 183108 h 853987"/>
                <a:gd name="connsiteX5" fmla="*/ 245453 w 394925"/>
                <a:gd name="connsiteY5" fmla="*/ 183108 h 853987"/>
                <a:gd name="connsiteX6" fmla="*/ 245453 w 394925"/>
                <a:gd name="connsiteY6" fmla="*/ 0 h 853987"/>
                <a:gd name="connsiteX7" fmla="*/ 122994 w 394925"/>
                <a:gd name="connsiteY7" fmla="*/ 0 h 853987"/>
                <a:gd name="connsiteX8" fmla="*/ 94329 w 394925"/>
                <a:gd name="connsiteY8" fmla="*/ 183108 h 853987"/>
                <a:gd name="connsiteX9" fmla="*/ 0 w 394925"/>
                <a:gd name="connsiteY9" fmla="*/ 183108 h 853987"/>
                <a:gd name="connsiteX10" fmla="*/ 0 w 394925"/>
                <a:gd name="connsiteY10" fmla="*/ 292104 h 853987"/>
                <a:gd name="connsiteX11" fmla="*/ 93695 w 394925"/>
                <a:gd name="connsiteY11" fmla="*/ 292104 h 853987"/>
                <a:gd name="connsiteX12" fmla="*/ 93695 w 394925"/>
                <a:gd name="connsiteY12" fmla="*/ 678954 h 853987"/>
                <a:gd name="connsiteX13" fmla="*/ 144573 w 394925"/>
                <a:gd name="connsiteY13" fmla="*/ 818311 h 853987"/>
                <a:gd name="connsiteX14" fmla="*/ 272215 w 394925"/>
                <a:gd name="connsiteY14" fmla="*/ 853988 h 853987"/>
                <a:gd name="connsiteX15" fmla="*/ 382840 w 394925"/>
                <a:gd name="connsiteY15" fmla="*/ 842420 h 853987"/>
                <a:gd name="connsiteX16" fmla="*/ 394925 w 394925"/>
                <a:gd name="connsiteY16" fmla="*/ 839750 h 853987"/>
                <a:gd name="connsiteX17" fmla="*/ 394925 w 394925"/>
                <a:gd name="connsiteY17" fmla="*/ 740162 h 853987"/>
                <a:gd name="connsiteX18" fmla="*/ 324985 w 394925"/>
                <a:gd name="connsiteY18" fmla="*/ 740162 h 853987"/>
                <a:gd name="connsiteX19" fmla="*/ 263816 w 394925"/>
                <a:gd name="connsiteY19" fmla="*/ 726822 h 8539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94925" h="853987">
                  <a:moveTo>
                    <a:pt x="263816" y="726822"/>
                  </a:moveTo>
                  <a:cubicBezTo>
                    <a:pt x="253426" y="717574"/>
                    <a:pt x="245354" y="695621"/>
                    <a:pt x="245453" y="649176"/>
                  </a:cubicBezTo>
                  <a:lnTo>
                    <a:pt x="245453" y="292104"/>
                  </a:lnTo>
                  <a:lnTo>
                    <a:pt x="394859" y="292104"/>
                  </a:lnTo>
                  <a:lnTo>
                    <a:pt x="394859" y="183108"/>
                  </a:lnTo>
                  <a:lnTo>
                    <a:pt x="245453" y="183108"/>
                  </a:lnTo>
                  <a:lnTo>
                    <a:pt x="245453" y="0"/>
                  </a:lnTo>
                  <a:lnTo>
                    <a:pt x="122994" y="0"/>
                  </a:lnTo>
                  <a:lnTo>
                    <a:pt x="94329" y="183108"/>
                  </a:lnTo>
                  <a:lnTo>
                    <a:pt x="0" y="183108"/>
                  </a:lnTo>
                  <a:lnTo>
                    <a:pt x="0" y="292104"/>
                  </a:lnTo>
                  <a:lnTo>
                    <a:pt x="93695" y="292104"/>
                  </a:lnTo>
                  <a:lnTo>
                    <a:pt x="93695" y="678954"/>
                  </a:lnTo>
                  <a:cubicBezTo>
                    <a:pt x="93618" y="745010"/>
                    <a:pt x="111270" y="790722"/>
                    <a:pt x="144573" y="818311"/>
                  </a:cubicBezTo>
                  <a:cubicBezTo>
                    <a:pt x="177820" y="845922"/>
                    <a:pt x="222322" y="853911"/>
                    <a:pt x="272215" y="853988"/>
                  </a:cubicBezTo>
                  <a:cubicBezTo>
                    <a:pt x="312790" y="853911"/>
                    <a:pt x="354175" y="848975"/>
                    <a:pt x="382840" y="842420"/>
                  </a:cubicBezTo>
                  <a:lnTo>
                    <a:pt x="394925" y="839750"/>
                  </a:lnTo>
                  <a:lnTo>
                    <a:pt x="394925" y="740162"/>
                  </a:lnTo>
                  <a:lnTo>
                    <a:pt x="324985" y="740162"/>
                  </a:lnTo>
                  <a:cubicBezTo>
                    <a:pt x="293093" y="740337"/>
                    <a:pt x="273670" y="736572"/>
                    <a:pt x="263816" y="726822"/>
                  </a:cubicBezTo>
                  <a:close/>
                </a:path>
              </a:pathLst>
            </a:custGeom>
            <a:solidFill>
              <a:srgbClr val="656464"/>
            </a:solidFill>
            <a:ln w="109" cap="flat">
              <a:noFill/>
              <a:prstDash val="solid"/>
              <a:miter/>
            </a:ln>
          </p:spPr>
          <p:txBody>
            <a:bodyPr rtlCol="0" anchor="ctr"/>
            <a:lstStyle/>
            <a:p>
              <a:endParaRPr lang="zh-CN" altLang="en-US"/>
            </a:p>
          </p:txBody>
        </p:sp>
        <p:sp>
          <p:nvSpPr>
            <p:cNvPr id="11" name="任意形状 10">
              <a:extLst>
                <a:ext uri="{FF2B5EF4-FFF2-40B4-BE49-F238E27FC236}">
                  <a16:creationId xmlns:a16="http://schemas.microsoft.com/office/drawing/2014/main" id="{C63A48D9-4FC7-12B4-7763-ECF778419844}"/>
                </a:ext>
              </a:extLst>
            </p:cNvPr>
            <p:cNvSpPr/>
            <p:nvPr/>
          </p:nvSpPr>
          <p:spPr>
            <a:xfrm>
              <a:off x="3556629" y="991891"/>
              <a:ext cx="579088" cy="688176"/>
            </a:xfrm>
            <a:custGeom>
              <a:avLst/>
              <a:gdLst>
                <a:gd name="connsiteX0" fmla="*/ 302411 w 579088"/>
                <a:gd name="connsiteY0" fmla="*/ 106382 h 688176"/>
                <a:gd name="connsiteX1" fmla="*/ 392519 w 579088"/>
                <a:gd name="connsiteY1" fmla="*/ 147363 h 688176"/>
                <a:gd name="connsiteX2" fmla="*/ 424586 w 579088"/>
                <a:gd name="connsiteY2" fmla="*/ 266121 h 688176"/>
                <a:gd name="connsiteX3" fmla="*/ 157379 w 579088"/>
                <a:gd name="connsiteY3" fmla="*/ 266121 h 688176"/>
                <a:gd name="connsiteX4" fmla="*/ 192847 w 579088"/>
                <a:gd name="connsiteY4" fmla="*/ 160347 h 688176"/>
                <a:gd name="connsiteX5" fmla="*/ 302411 w 579088"/>
                <a:gd name="connsiteY5" fmla="*/ 106384 h 688176"/>
                <a:gd name="connsiteX6" fmla="*/ 309925 w 579088"/>
                <a:gd name="connsiteY6" fmla="*/ 2 h 688176"/>
                <a:gd name="connsiteX7" fmla="*/ 77924 w 579088"/>
                <a:gd name="connsiteY7" fmla="*/ 94567 h 688176"/>
                <a:gd name="connsiteX8" fmla="*/ 0 w 579088"/>
                <a:gd name="connsiteY8" fmla="*/ 345967 h 688176"/>
                <a:gd name="connsiteX9" fmla="*/ 76043 w 579088"/>
                <a:gd name="connsiteY9" fmla="*/ 600802 h 688176"/>
                <a:gd name="connsiteX10" fmla="*/ 310909 w 579088"/>
                <a:gd name="connsiteY10" fmla="*/ 688177 h 688176"/>
                <a:gd name="connsiteX11" fmla="*/ 311445 w 579088"/>
                <a:gd name="connsiteY11" fmla="*/ 688177 h 688176"/>
                <a:gd name="connsiteX12" fmla="*/ 549713 w 579088"/>
                <a:gd name="connsiteY12" fmla="*/ 654131 h 688176"/>
                <a:gd name="connsiteX13" fmla="*/ 563504 w 579088"/>
                <a:gd name="connsiteY13" fmla="*/ 650093 h 688176"/>
                <a:gd name="connsiteX14" fmla="*/ 540570 w 579088"/>
                <a:gd name="connsiteY14" fmla="*/ 540743 h 688176"/>
                <a:gd name="connsiteX15" fmla="*/ 524733 w 579088"/>
                <a:gd name="connsiteY15" fmla="*/ 545131 h 688176"/>
                <a:gd name="connsiteX16" fmla="*/ 329633 w 579088"/>
                <a:gd name="connsiteY16" fmla="*/ 574253 h 688176"/>
                <a:gd name="connsiteX17" fmla="*/ 193941 w 579088"/>
                <a:gd name="connsiteY17" fmla="*/ 518330 h 688176"/>
                <a:gd name="connsiteX18" fmla="*/ 156417 w 579088"/>
                <a:gd name="connsiteY18" fmla="*/ 370076 h 688176"/>
                <a:gd name="connsiteX19" fmla="*/ 577568 w 579088"/>
                <a:gd name="connsiteY19" fmla="*/ 370076 h 688176"/>
                <a:gd name="connsiteX20" fmla="*/ 577568 w 579088"/>
                <a:gd name="connsiteY20" fmla="*/ 354481 h 688176"/>
                <a:gd name="connsiteX21" fmla="*/ 579089 w 579088"/>
                <a:gd name="connsiteY21" fmla="*/ 295232 h 688176"/>
                <a:gd name="connsiteX22" fmla="*/ 517110 w 579088"/>
                <a:gd name="connsiteY22" fmla="*/ 82269 h 688176"/>
                <a:gd name="connsiteX23" fmla="*/ 309925 w 579088"/>
                <a:gd name="connsiteY23" fmla="*/ 1 h 6881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579088" h="688176">
                  <a:moveTo>
                    <a:pt x="302411" y="106382"/>
                  </a:moveTo>
                  <a:cubicBezTo>
                    <a:pt x="343260" y="106763"/>
                    <a:pt x="371903" y="120991"/>
                    <a:pt x="392519" y="147363"/>
                  </a:cubicBezTo>
                  <a:cubicBezTo>
                    <a:pt x="412861" y="173787"/>
                    <a:pt x="424586" y="214128"/>
                    <a:pt x="424586" y="266121"/>
                  </a:cubicBezTo>
                  <a:lnTo>
                    <a:pt x="157379" y="266121"/>
                  </a:lnTo>
                  <a:cubicBezTo>
                    <a:pt x="161229" y="227118"/>
                    <a:pt x="172538" y="189033"/>
                    <a:pt x="192847" y="160347"/>
                  </a:cubicBezTo>
                  <a:cubicBezTo>
                    <a:pt x="216153" y="128004"/>
                    <a:pt x="249467" y="106764"/>
                    <a:pt x="302411" y="106384"/>
                  </a:cubicBezTo>
                  <a:close/>
                  <a:moveTo>
                    <a:pt x="309925" y="2"/>
                  </a:moveTo>
                  <a:cubicBezTo>
                    <a:pt x="209351" y="-175"/>
                    <a:pt x="130431" y="33437"/>
                    <a:pt x="77924" y="94567"/>
                  </a:cubicBezTo>
                  <a:cubicBezTo>
                    <a:pt x="25439" y="155519"/>
                    <a:pt x="0" y="242001"/>
                    <a:pt x="0" y="345967"/>
                  </a:cubicBezTo>
                  <a:cubicBezTo>
                    <a:pt x="0" y="456312"/>
                    <a:pt x="23744" y="542089"/>
                    <a:pt x="76043" y="600802"/>
                  </a:cubicBezTo>
                  <a:cubicBezTo>
                    <a:pt x="128178" y="659493"/>
                    <a:pt x="207546" y="688177"/>
                    <a:pt x="310909" y="688177"/>
                  </a:cubicBezTo>
                  <a:lnTo>
                    <a:pt x="311445" y="688177"/>
                  </a:lnTo>
                  <a:cubicBezTo>
                    <a:pt x="400667" y="688177"/>
                    <a:pt x="480647" y="674278"/>
                    <a:pt x="549713" y="654131"/>
                  </a:cubicBezTo>
                  <a:lnTo>
                    <a:pt x="563504" y="650093"/>
                  </a:lnTo>
                  <a:lnTo>
                    <a:pt x="540570" y="540743"/>
                  </a:lnTo>
                  <a:lnTo>
                    <a:pt x="524733" y="545131"/>
                  </a:lnTo>
                  <a:cubicBezTo>
                    <a:pt x="463280" y="562160"/>
                    <a:pt x="406409" y="574176"/>
                    <a:pt x="329633" y="574253"/>
                  </a:cubicBezTo>
                  <a:cubicBezTo>
                    <a:pt x="260666" y="573892"/>
                    <a:pt x="220091" y="553821"/>
                    <a:pt x="193941" y="518330"/>
                  </a:cubicBezTo>
                  <a:cubicBezTo>
                    <a:pt x="169661" y="484996"/>
                    <a:pt x="157937" y="434720"/>
                    <a:pt x="156417" y="370076"/>
                  </a:cubicBezTo>
                  <a:lnTo>
                    <a:pt x="577568" y="370076"/>
                  </a:lnTo>
                  <a:lnTo>
                    <a:pt x="577568" y="354481"/>
                  </a:lnTo>
                  <a:cubicBezTo>
                    <a:pt x="577568" y="336566"/>
                    <a:pt x="579089" y="308419"/>
                    <a:pt x="579089" y="295232"/>
                  </a:cubicBezTo>
                  <a:cubicBezTo>
                    <a:pt x="579012" y="209028"/>
                    <a:pt x="561010" y="135241"/>
                    <a:pt x="517110" y="82269"/>
                  </a:cubicBezTo>
                  <a:cubicBezTo>
                    <a:pt x="473309" y="29321"/>
                    <a:pt x="404254" y="-177"/>
                    <a:pt x="309925" y="1"/>
                  </a:cubicBezTo>
                  <a:close/>
                </a:path>
              </a:pathLst>
            </a:custGeom>
            <a:solidFill>
              <a:srgbClr val="656464"/>
            </a:solidFill>
            <a:ln w="109" cap="flat">
              <a:noFill/>
              <a:prstDash val="solid"/>
              <a:miter/>
            </a:ln>
          </p:spPr>
          <p:txBody>
            <a:bodyPr rtlCol="0" anchor="ctr"/>
            <a:lstStyle/>
            <a:p>
              <a:endParaRPr lang="zh-CN" altLang="en-US"/>
            </a:p>
          </p:txBody>
        </p:sp>
        <p:sp>
          <p:nvSpPr>
            <p:cNvPr id="12" name="任意形状 11">
              <a:extLst>
                <a:ext uri="{FF2B5EF4-FFF2-40B4-BE49-F238E27FC236}">
                  <a16:creationId xmlns:a16="http://schemas.microsoft.com/office/drawing/2014/main" id="{341E5E21-2A07-AD8F-3B28-E1CBFDE6C95C}"/>
                </a:ext>
              </a:extLst>
            </p:cNvPr>
            <p:cNvSpPr/>
            <p:nvPr/>
          </p:nvSpPr>
          <p:spPr>
            <a:xfrm>
              <a:off x="4227181" y="991914"/>
              <a:ext cx="380685" cy="674561"/>
            </a:xfrm>
            <a:custGeom>
              <a:avLst/>
              <a:gdLst>
                <a:gd name="connsiteX0" fmla="*/ 288773 w 380685"/>
                <a:gd name="connsiteY0" fmla="*/ 5 h 674561"/>
                <a:gd name="connsiteX1" fmla="*/ 198403 w 380685"/>
                <a:gd name="connsiteY1" fmla="*/ 32906 h 674561"/>
                <a:gd name="connsiteX2" fmla="*/ 133811 w 380685"/>
                <a:gd name="connsiteY2" fmla="*/ 102802 h 674561"/>
                <a:gd name="connsiteX3" fmla="*/ 124493 w 380685"/>
                <a:gd name="connsiteY3" fmla="*/ 13546 h 674561"/>
                <a:gd name="connsiteX4" fmla="*/ 0 w 380685"/>
                <a:gd name="connsiteY4" fmla="*/ 13546 h 674561"/>
                <a:gd name="connsiteX5" fmla="*/ 0 w 380685"/>
                <a:gd name="connsiteY5" fmla="*/ 674562 h 674561"/>
                <a:gd name="connsiteX6" fmla="*/ 151627 w 380685"/>
                <a:gd name="connsiteY6" fmla="*/ 674562 h 674561"/>
                <a:gd name="connsiteX7" fmla="*/ 151627 w 380685"/>
                <a:gd name="connsiteY7" fmla="*/ 244704 h 674561"/>
                <a:gd name="connsiteX8" fmla="*/ 233160 w 380685"/>
                <a:gd name="connsiteY8" fmla="*/ 148356 h 674561"/>
                <a:gd name="connsiteX9" fmla="*/ 284191 w 380685"/>
                <a:gd name="connsiteY9" fmla="*/ 122542 h 674561"/>
                <a:gd name="connsiteX10" fmla="*/ 340460 w 380685"/>
                <a:gd name="connsiteY10" fmla="*/ 131943 h 674561"/>
                <a:gd name="connsiteX11" fmla="*/ 356482 w 380685"/>
                <a:gd name="connsiteY11" fmla="*/ 136338 h 674561"/>
                <a:gd name="connsiteX12" fmla="*/ 359807 w 380685"/>
                <a:gd name="connsiteY12" fmla="*/ 120027 h 674561"/>
                <a:gd name="connsiteX13" fmla="*/ 380685 w 380685"/>
                <a:gd name="connsiteY13" fmla="*/ 15681 h 674561"/>
                <a:gd name="connsiteX14" fmla="*/ 366971 w 380685"/>
                <a:gd name="connsiteY14" fmla="*/ 11844 h 674561"/>
                <a:gd name="connsiteX15" fmla="*/ 288773 w 380685"/>
                <a:gd name="connsiteY15" fmla="*/ 5 h 6745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80685" h="674561">
                  <a:moveTo>
                    <a:pt x="288773" y="5"/>
                  </a:moveTo>
                  <a:cubicBezTo>
                    <a:pt x="255525" y="-275"/>
                    <a:pt x="225898" y="10574"/>
                    <a:pt x="198403" y="32906"/>
                  </a:cubicBezTo>
                  <a:cubicBezTo>
                    <a:pt x="177426" y="49650"/>
                    <a:pt x="157095" y="72618"/>
                    <a:pt x="133811" y="102802"/>
                  </a:cubicBezTo>
                  <a:lnTo>
                    <a:pt x="124493" y="13546"/>
                  </a:lnTo>
                  <a:lnTo>
                    <a:pt x="0" y="13546"/>
                  </a:lnTo>
                  <a:lnTo>
                    <a:pt x="0" y="674562"/>
                  </a:lnTo>
                  <a:lnTo>
                    <a:pt x="151627" y="674562"/>
                  </a:lnTo>
                  <a:lnTo>
                    <a:pt x="151627" y="244704"/>
                  </a:lnTo>
                  <a:cubicBezTo>
                    <a:pt x="186919" y="198815"/>
                    <a:pt x="212643" y="167437"/>
                    <a:pt x="233160" y="148356"/>
                  </a:cubicBezTo>
                  <a:cubicBezTo>
                    <a:pt x="254815" y="128539"/>
                    <a:pt x="268814" y="122619"/>
                    <a:pt x="284191" y="122542"/>
                  </a:cubicBezTo>
                  <a:cubicBezTo>
                    <a:pt x="300246" y="122542"/>
                    <a:pt x="318598" y="125845"/>
                    <a:pt x="340460" y="131943"/>
                  </a:cubicBezTo>
                  <a:lnTo>
                    <a:pt x="356482" y="136338"/>
                  </a:lnTo>
                  <a:lnTo>
                    <a:pt x="359807" y="120027"/>
                  </a:lnTo>
                  <a:lnTo>
                    <a:pt x="380685" y="15681"/>
                  </a:lnTo>
                  <a:lnTo>
                    <a:pt x="366971" y="11844"/>
                  </a:lnTo>
                  <a:cubicBezTo>
                    <a:pt x="340285" y="3943"/>
                    <a:pt x="314485" y="5"/>
                    <a:pt x="288773" y="5"/>
                  </a:cubicBezTo>
                  <a:close/>
                </a:path>
              </a:pathLst>
            </a:custGeom>
            <a:solidFill>
              <a:srgbClr val="656464"/>
            </a:solidFill>
            <a:ln w="109" cap="flat">
              <a:noFill/>
              <a:prstDash val="solid"/>
              <a:miter/>
            </a:ln>
          </p:spPr>
          <p:txBody>
            <a:bodyPr rtlCol="0" anchor="ctr"/>
            <a:lstStyle/>
            <a:p>
              <a:endParaRPr lang="zh-CN" altLang="en-US"/>
            </a:p>
          </p:txBody>
        </p:sp>
        <p:sp>
          <p:nvSpPr>
            <p:cNvPr id="13" name="任意形状 12">
              <a:extLst>
                <a:ext uri="{FF2B5EF4-FFF2-40B4-BE49-F238E27FC236}">
                  <a16:creationId xmlns:a16="http://schemas.microsoft.com/office/drawing/2014/main" id="{797F1EB2-7BFE-7EFE-A850-707DBB310097}"/>
                </a:ext>
              </a:extLst>
            </p:cNvPr>
            <p:cNvSpPr/>
            <p:nvPr/>
          </p:nvSpPr>
          <p:spPr>
            <a:xfrm>
              <a:off x="4620026" y="991866"/>
              <a:ext cx="539861" cy="688201"/>
            </a:xfrm>
            <a:custGeom>
              <a:avLst/>
              <a:gdLst>
                <a:gd name="connsiteX0" fmla="*/ 187108 w 539861"/>
                <a:gd name="connsiteY0" fmla="*/ 410329 h 688201"/>
                <a:gd name="connsiteX1" fmla="*/ 296136 w 539861"/>
                <a:gd name="connsiteY1" fmla="*/ 381208 h 688201"/>
                <a:gd name="connsiteX2" fmla="*/ 296311 w 539861"/>
                <a:gd name="connsiteY2" fmla="*/ 381208 h 688201"/>
                <a:gd name="connsiteX3" fmla="*/ 389547 w 539861"/>
                <a:gd name="connsiteY3" fmla="*/ 381208 h 688201"/>
                <a:gd name="connsiteX4" fmla="*/ 389547 w 539861"/>
                <a:gd name="connsiteY4" fmla="*/ 501589 h 688201"/>
                <a:gd name="connsiteX5" fmla="*/ 248015 w 539861"/>
                <a:gd name="connsiteY5" fmla="*/ 579202 h 688201"/>
                <a:gd name="connsiteX6" fmla="*/ 176084 w 539861"/>
                <a:gd name="connsiteY6" fmla="*/ 554743 h 688201"/>
                <a:gd name="connsiteX7" fmla="*/ 153336 w 539861"/>
                <a:gd name="connsiteY7" fmla="*/ 488325 h 688201"/>
                <a:gd name="connsiteX8" fmla="*/ 187108 w 539861"/>
                <a:gd name="connsiteY8" fmla="*/ 410329 h 688201"/>
                <a:gd name="connsiteX9" fmla="*/ 481634 w 539861"/>
                <a:gd name="connsiteY9" fmla="*/ 63926 h 688201"/>
                <a:gd name="connsiteX10" fmla="*/ 282772 w 539861"/>
                <a:gd name="connsiteY10" fmla="*/ 0 h 688201"/>
                <a:gd name="connsiteX11" fmla="*/ 53932 w 539861"/>
                <a:gd name="connsiteY11" fmla="*/ 41872 h 688201"/>
                <a:gd name="connsiteX12" fmla="*/ 40042 w 539861"/>
                <a:gd name="connsiteY12" fmla="*/ 46877 h 688201"/>
                <a:gd name="connsiteX13" fmla="*/ 73880 w 539861"/>
                <a:gd name="connsiteY13" fmla="*/ 152291 h 688201"/>
                <a:gd name="connsiteX14" fmla="*/ 89225 w 539861"/>
                <a:gd name="connsiteY14" fmla="*/ 146194 h 688201"/>
                <a:gd name="connsiteX15" fmla="*/ 264595 w 539861"/>
                <a:gd name="connsiteY15" fmla="*/ 110242 h 688201"/>
                <a:gd name="connsiteX16" fmla="*/ 363113 w 539861"/>
                <a:gd name="connsiteY16" fmla="*/ 140198 h 688201"/>
                <a:gd name="connsiteX17" fmla="*/ 389547 w 539861"/>
                <a:gd name="connsiteY17" fmla="*/ 237003 h 688201"/>
                <a:gd name="connsiteX18" fmla="*/ 389547 w 539861"/>
                <a:gd name="connsiteY18" fmla="*/ 279727 h 688201"/>
                <a:gd name="connsiteX19" fmla="*/ 309993 w 539861"/>
                <a:gd name="connsiteY19" fmla="*/ 279727 h 688201"/>
                <a:gd name="connsiteX20" fmla="*/ 88765 w 539861"/>
                <a:gd name="connsiteY20" fmla="*/ 330571 h 688201"/>
                <a:gd name="connsiteX21" fmla="*/ 3 w 539861"/>
                <a:gd name="connsiteY21" fmla="*/ 493250 h 688201"/>
                <a:gd name="connsiteX22" fmla="*/ 61084 w 539861"/>
                <a:gd name="connsiteY22" fmla="*/ 636930 h 688201"/>
                <a:gd name="connsiteX23" fmla="*/ 220870 w 539861"/>
                <a:gd name="connsiteY23" fmla="*/ 688201 h 688201"/>
                <a:gd name="connsiteX24" fmla="*/ 221056 w 539861"/>
                <a:gd name="connsiteY24" fmla="*/ 688201 h 688201"/>
                <a:gd name="connsiteX25" fmla="*/ 407899 w 539861"/>
                <a:gd name="connsiteY25" fmla="*/ 618183 h 688201"/>
                <a:gd name="connsiteX26" fmla="*/ 413641 w 539861"/>
                <a:gd name="connsiteY26" fmla="*/ 674664 h 688201"/>
                <a:gd name="connsiteX27" fmla="*/ 427607 w 539861"/>
                <a:gd name="connsiteY27" fmla="*/ 674664 h 688201"/>
                <a:gd name="connsiteX28" fmla="*/ 539861 w 539861"/>
                <a:gd name="connsiteY28" fmla="*/ 674664 h 688201"/>
                <a:gd name="connsiteX29" fmla="*/ 539861 w 539861"/>
                <a:gd name="connsiteY29" fmla="*/ 217282 h 688201"/>
                <a:gd name="connsiteX30" fmla="*/ 481634 w 539861"/>
                <a:gd name="connsiteY30" fmla="*/ 63924 h 6882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539861" h="688201">
                  <a:moveTo>
                    <a:pt x="187108" y="410329"/>
                  </a:moveTo>
                  <a:cubicBezTo>
                    <a:pt x="209594" y="392316"/>
                    <a:pt x="245423" y="381208"/>
                    <a:pt x="296136" y="381208"/>
                  </a:cubicBezTo>
                  <a:lnTo>
                    <a:pt x="296311" y="381208"/>
                  </a:lnTo>
                  <a:lnTo>
                    <a:pt x="389547" y="381208"/>
                  </a:lnTo>
                  <a:lnTo>
                    <a:pt x="389547" y="501589"/>
                  </a:lnTo>
                  <a:cubicBezTo>
                    <a:pt x="343339" y="547301"/>
                    <a:pt x="301134" y="579278"/>
                    <a:pt x="248015" y="579202"/>
                  </a:cubicBezTo>
                  <a:cubicBezTo>
                    <a:pt x="213816" y="579103"/>
                    <a:pt x="191067" y="569703"/>
                    <a:pt x="176084" y="554743"/>
                  </a:cubicBezTo>
                  <a:cubicBezTo>
                    <a:pt x="161407" y="539772"/>
                    <a:pt x="153336" y="517720"/>
                    <a:pt x="153336" y="488325"/>
                  </a:cubicBezTo>
                  <a:cubicBezTo>
                    <a:pt x="153434" y="453371"/>
                    <a:pt x="164710" y="428364"/>
                    <a:pt x="187108" y="410329"/>
                  </a:cubicBezTo>
                  <a:close/>
                  <a:moveTo>
                    <a:pt x="481634" y="63926"/>
                  </a:moveTo>
                  <a:cubicBezTo>
                    <a:pt x="439976" y="23578"/>
                    <a:pt x="375045" y="0"/>
                    <a:pt x="282772" y="0"/>
                  </a:cubicBezTo>
                  <a:cubicBezTo>
                    <a:pt x="208074" y="0"/>
                    <a:pt x="126650" y="15144"/>
                    <a:pt x="53932" y="41872"/>
                  </a:cubicBezTo>
                  <a:lnTo>
                    <a:pt x="40042" y="46877"/>
                  </a:lnTo>
                  <a:lnTo>
                    <a:pt x="73880" y="152291"/>
                  </a:lnTo>
                  <a:lnTo>
                    <a:pt x="89225" y="146194"/>
                  </a:lnTo>
                  <a:cubicBezTo>
                    <a:pt x="149322" y="122183"/>
                    <a:pt x="211027" y="110242"/>
                    <a:pt x="264595" y="110242"/>
                  </a:cubicBezTo>
                  <a:cubicBezTo>
                    <a:pt x="315484" y="110242"/>
                    <a:pt x="345472" y="121193"/>
                    <a:pt x="363113" y="140198"/>
                  </a:cubicBezTo>
                  <a:cubicBezTo>
                    <a:pt x="380940" y="159101"/>
                    <a:pt x="389645" y="190377"/>
                    <a:pt x="389547" y="237003"/>
                  </a:cubicBezTo>
                  <a:lnTo>
                    <a:pt x="389547" y="279727"/>
                  </a:lnTo>
                  <a:lnTo>
                    <a:pt x="309993" y="279727"/>
                  </a:lnTo>
                  <a:cubicBezTo>
                    <a:pt x="220443" y="279727"/>
                    <a:pt x="144302" y="295683"/>
                    <a:pt x="88765" y="330571"/>
                  </a:cubicBezTo>
                  <a:cubicBezTo>
                    <a:pt x="33239" y="365252"/>
                    <a:pt x="-358" y="421174"/>
                    <a:pt x="3" y="493250"/>
                  </a:cubicBezTo>
                  <a:cubicBezTo>
                    <a:pt x="-106" y="553210"/>
                    <a:pt x="21679" y="603136"/>
                    <a:pt x="61084" y="636930"/>
                  </a:cubicBezTo>
                  <a:cubicBezTo>
                    <a:pt x="100314" y="670724"/>
                    <a:pt x="155490" y="688201"/>
                    <a:pt x="220870" y="688201"/>
                  </a:cubicBezTo>
                  <a:lnTo>
                    <a:pt x="221056" y="688201"/>
                  </a:lnTo>
                  <a:cubicBezTo>
                    <a:pt x="301845" y="688201"/>
                    <a:pt x="362763" y="656005"/>
                    <a:pt x="407899" y="618183"/>
                  </a:cubicBezTo>
                  <a:lnTo>
                    <a:pt x="413641" y="674664"/>
                  </a:lnTo>
                  <a:lnTo>
                    <a:pt x="427607" y="674664"/>
                  </a:lnTo>
                  <a:lnTo>
                    <a:pt x="539861" y="674664"/>
                  </a:lnTo>
                  <a:lnTo>
                    <a:pt x="539861" y="217282"/>
                  </a:lnTo>
                  <a:cubicBezTo>
                    <a:pt x="539861" y="159454"/>
                    <a:pt x="523456" y="104244"/>
                    <a:pt x="481634" y="63924"/>
                  </a:cubicBezTo>
                  <a:close/>
                </a:path>
              </a:pathLst>
            </a:custGeom>
            <a:solidFill>
              <a:srgbClr val="656464"/>
            </a:solidFill>
            <a:ln w="109" cap="flat">
              <a:noFill/>
              <a:prstDash val="solid"/>
              <a:miter/>
            </a:ln>
          </p:spPr>
          <p:txBody>
            <a:bodyPr rtlCol="0" anchor="ctr"/>
            <a:lstStyle/>
            <a:p>
              <a:endParaRPr lang="zh-CN" altLang="en-US"/>
            </a:p>
          </p:txBody>
        </p:sp>
        <p:sp>
          <p:nvSpPr>
            <p:cNvPr id="14" name="任意形状 13">
              <a:extLst>
                <a:ext uri="{FF2B5EF4-FFF2-40B4-BE49-F238E27FC236}">
                  <a16:creationId xmlns:a16="http://schemas.microsoft.com/office/drawing/2014/main" id="{19BC152C-2577-764E-802F-9B05F4CFABCE}"/>
                </a:ext>
              </a:extLst>
            </p:cNvPr>
            <p:cNvSpPr/>
            <p:nvPr/>
          </p:nvSpPr>
          <p:spPr>
            <a:xfrm>
              <a:off x="5059160" y="682028"/>
              <a:ext cx="1293081" cy="539038"/>
            </a:xfrm>
            <a:custGeom>
              <a:avLst/>
              <a:gdLst>
                <a:gd name="connsiteX0" fmla="*/ 0 w 1293081"/>
                <a:gd name="connsiteY0" fmla="*/ 167611 h 539038"/>
                <a:gd name="connsiteX1" fmla="*/ 1128189 w 1293081"/>
                <a:gd name="connsiteY1" fmla="*/ 172185 h 539038"/>
                <a:gd name="connsiteX2" fmla="*/ 1128189 w 1293081"/>
                <a:gd name="connsiteY2" fmla="*/ 172185 h 539038"/>
                <a:gd name="connsiteX3" fmla="*/ 1128189 w 1293081"/>
                <a:gd name="connsiteY3" fmla="*/ 172082 h 539038"/>
                <a:gd name="connsiteX4" fmla="*/ 1293082 w 1293081"/>
                <a:gd name="connsiteY4" fmla="*/ 0 h 539038"/>
                <a:gd name="connsiteX5" fmla="*/ 0 w 1293081"/>
                <a:gd name="connsiteY5" fmla="*/ 167611 h 539038"/>
                <a:gd name="connsiteX6" fmla="*/ 952085 w 1293081"/>
                <a:gd name="connsiteY6" fmla="*/ 329836 h 539038"/>
                <a:gd name="connsiteX7" fmla="*/ 1066188 w 1293081"/>
                <a:gd name="connsiteY7" fmla="*/ 230546 h 539038"/>
                <a:gd name="connsiteX8" fmla="*/ 1066188 w 1293081"/>
                <a:gd name="connsiteY8" fmla="*/ 230546 h 539038"/>
                <a:gd name="connsiteX9" fmla="*/ 48723 w 1293081"/>
                <a:gd name="connsiteY9" fmla="*/ 206054 h 539038"/>
                <a:gd name="connsiteX10" fmla="*/ 48723 w 1293081"/>
                <a:gd name="connsiteY10" fmla="*/ 206054 h 539038"/>
                <a:gd name="connsiteX11" fmla="*/ 952085 w 1293081"/>
                <a:gd name="connsiteY11" fmla="*/ 329837 h 539038"/>
                <a:gd name="connsiteX12" fmla="*/ 800776 w 1293081"/>
                <a:gd name="connsiteY12" fmla="*/ 445820 h 539038"/>
                <a:gd name="connsiteX13" fmla="*/ 889287 w 1293081"/>
                <a:gd name="connsiteY13" fmla="*/ 380039 h 539038"/>
                <a:gd name="connsiteX14" fmla="*/ 889287 w 1293081"/>
                <a:gd name="connsiteY14" fmla="*/ 380039 h 539038"/>
                <a:gd name="connsiteX15" fmla="*/ 94045 w 1293081"/>
                <a:gd name="connsiteY15" fmla="*/ 251963 h 539038"/>
                <a:gd name="connsiteX16" fmla="*/ 94045 w 1293081"/>
                <a:gd name="connsiteY16" fmla="*/ 251963 h 539038"/>
                <a:gd name="connsiteX17" fmla="*/ 800776 w 1293081"/>
                <a:gd name="connsiteY17" fmla="*/ 445820 h 539038"/>
                <a:gd name="connsiteX18" fmla="*/ 657822 w 1293081"/>
                <a:gd name="connsiteY18" fmla="*/ 539038 h 539038"/>
                <a:gd name="connsiteX19" fmla="*/ 745349 w 1293081"/>
                <a:gd name="connsiteY19" fmla="*/ 484006 h 539038"/>
                <a:gd name="connsiteX20" fmla="*/ 745349 w 1293081"/>
                <a:gd name="connsiteY20" fmla="*/ 484006 h 539038"/>
                <a:gd name="connsiteX21" fmla="*/ 202625 w 1293081"/>
                <a:gd name="connsiteY21" fmla="*/ 337457 h 539038"/>
                <a:gd name="connsiteX22" fmla="*/ 202625 w 1293081"/>
                <a:gd name="connsiteY22" fmla="*/ 337457 h 539038"/>
                <a:gd name="connsiteX23" fmla="*/ 657822 w 1293081"/>
                <a:gd name="connsiteY23" fmla="*/ 539038 h 5390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293081" h="539038">
                  <a:moveTo>
                    <a:pt x="0" y="167611"/>
                  </a:moveTo>
                  <a:cubicBezTo>
                    <a:pt x="536741" y="245762"/>
                    <a:pt x="1127915" y="172185"/>
                    <a:pt x="1128189" y="172185"/>
                  </a:cubicBezTo>
                  <a:lnTo>
                    <a:pt x="1128189" y="172185"/>
                  </a:lnTo>
                  <a:lnTo>
                    <a:pt x="1128189" y="172082"/>
                  </a:lnTo>
                  <a:lnTo>
                    <a:pt x="1293082" y="0"/>
                  </a:lnTo>
                  <a:cubicBezTo>
                    <a:pt x="504489" y="190197"/>
                    <a:pt x="0" y="167611"/>
                    <a:pt x="0" y="167611"/>
                  </a:cubicBezTo>
                  <a:close/>
                  <a:moveTo>
                    <a:pt x="952085" y="329836"/>
                  </a:moveTo>
                  <a:cubicBezTo>
                    <a:pt x="992836" y="296221"/>
                    <a:pt x="1031071" y="262812"/>
                    <a:pt x="1066188" y="230546"/>
                  </a:cubicBezTo>
                  <a:lnTo>
                    <a:pt x="1066188" y="230546"/>
                  </a:lnTo>
                  <a:cubicBezTo>
                    <a:pt x="551331" y="289058"/>
                    <a:pt x="48723" y="206054"/>
                    <a:pt x="48723" y="206054"/>
                  </a:cubicBezTo>
                  <a:lnTo>
                    <a:pt x="48723" y="206054"/>
                  </a:lnTo>
                  <a:cubicBezTo>
                    <a:pt x="381856" y="318201"/>
                    <a:pt x="859812" y="328946"/>
                    <a:pt x="952085" y="329837"/>
                  </a:cubicBezTo>
                  <a:close/>
                  <a:moveTo>
                    <a:pt x="800776" y="445820"/>
                  </a:moveTo>
                  <a:cubicBezTo>
                    <a:pt x="831147" y="424223"/>
                    <a:pt x="860796" y="402271"/>
                    <a:pt x="889287" y="380039"/>
                  </a:cubicBezTo>
                  <a:lnTo>
                    <a:pt x="889287" y="380039"/>
                  </a:lnTo>
                  <a:cubicBezTo>
                    <a:pt x="790135" y="376178"/>
                    <a:pt x="372712" y="358443"/>
                    <a:pt x="94045" y="251963"/>
                  </a:cubicBezTo>
                  <a:lnTo>
                    <a:pt x="94045" y="251963"/>
                  </a:lnTo>
                  <a:cubicBezTo>
                    <a:pt x="94045" y="251963"/>
                    <a:pt x="346300" y="401738"/>
                    <a:pt x="800776" y="445820"/>
                  </a:cubicBezTo>
                  <a:close/>
                  <a:moveTo>
                    <a:pt x="657822" y="539038"/>
                  </a:moveTo>
                  <a:cubicBezTo>
                    <a:pt x="687658" y="521299"/>
                    <a:pt x="716935" y="502832"/>
                    <a:pt x="745349" y="484006"/>
                  </a:cubicBezTo>
                  <a:lnTo>
                    <a:pt x="745349" y="484006"/>
                  </a:lnTo>
                  <a:cubicBezTo>
                    <a:pt x="682375" y="478263"/>
                    <a:pt x="476611" y="442870"/>
                    <a:pt x="202625" y="337457"/>
                  </a:cubicBezTo>
                  <a:lnTo>
                    <a:pt x="202625" y="337457"/>
                  </a:lnTo>
                  <a:cubicBezTo>
                    <a:pt x="202625" y="337457"/>
                    <a:pt x="440881" y="503824"/>
                    <a:pt x="657822" y="539038"/>
                  </a:cubicBezTo>
                  <a:close/>
                </a:path>
              </a:pathLst>
            </a:custGeom>
            <a:gradFill>
              <a:gsLst>
                <a:gs pos="0">
                  <a:srgbClr val="FFFFFF"/>
                </a:gs>
                <a:gs pos="50000">
                  <a:srgbClr val="4550A4"/>
                </a:gs>
                <a:gs pos="100000">
                  <a:srgbClr val="0B308E"/>
                </a:gs>
              </a:gsLst>
              <a:lin ang="380415" scaled="1"/>
            </a:gradFill>
            <a:ln w="109" cap="flat">
              <a:noFill/>
              <a:prstDash val="solid"/>
              <a:miter/>
            </a:ln>
          </p:spPr>
          <p:txBody>
            <a:bodyPr rtlCol="0" anchor="ctr"/>
            <a:lstStyle/>
            <a:p>
              <a:endParaRPr lang="zh-CN" altLang="en-US"/>
            </a:p>
          </p:txBody>
        </p:sp>
        <p:sp>
          <p:nvSpPr>
            <p:cNvPr id="15" name="任意形状 14">
              <a:extLst>
                <a:ext uri="{FF2B5EF4-FFF2-40B4-BE49-F238E27FC236}">
                  <a16:creationId xmlns:a16="http://schemas.microsoft.com/office/drawing/2014/main" id="{9581C1DF-FC14-054E-3982-7B96D62B6852}"/>
                </a:ext>
              </a:extLst>
            </p:cNvPr>
            <p:cNvSpPr/>
            <p:nvPr/>
          </p:nvSpPr>
          <p:spPr>
            <a:xfrm>
              <a:off x="4797706" y="98099"/>
              <a:ext cx="809109" cy="689987"/>
            </a:xfrm>
            <a:custGeom>
              <a:avLst/>
              <a:gdLst>
                <a:gd name="connsiteX0" fmla="*/ 0 w 809109"/>
                <a:gd name="connsiteY0" fmla="*/ 0 h 689987"/>
                <a:gd name="connsiteX1" fmla="*/ 0 w 809109"/>
                <a:gd name="connsiteY1" fmla="*/ 2540 h 689987"/>
                <a:gd name="connsiteX2" fmla="*/ 13507 w 809109"/>
                <a:gd name="connsiteY2" fmla="*/ 192331 h 689987"/>
                <a:gd name="connsiteX3" fmla="*/ 14043 w 809109"/>
                <a:gd name="connsiteY3" fmla="*/ 193043 h 689987"/>
                <a:gd name="connsiteX4" fmla="*/ 809110 w 809109"/>
                <a:gd name="connsiteY4" fmla="*/ 646128 h 689987"/>
                <a:gd name="connsiteX5" fmla="*/ 809110 w 809109"/>
                <a:gd name="connsiteY5" fmla="*/ 646128 h 689987"/>
                <a:gd name="connsiteX6" fmla="*/ 0 w 809109"/>
                <a:gd name="connsiteY6" fmla="*/ 1 h 689987"/>
                <a:gd name="connsiteX7" fmla="*/ 53196 w 809109"/>
                <a:gd name="connsiteY7" fmla="*/ 378134 h 689987"/>
                <a:gd name="connsiteX8" fmla="*/ 747383 w 809109"/>
                <a:gd name="connsiteY8" fmla="*/ 658857 h 689987"/>
                <a:gd name="connsiteX9" fmla="*/ 747383 w 809109"/>
                <a:gd name="connsiteY9" fmla="*/ 658857 h 689987"/>
                <a:gd name="connsiteX10" fmla="*/ 23645 w 809109"/>
                <a:gd name="connsiteY10" fmla="*/ 253995 h 689987"/>
                <a:gd name="connsiteX11" fmla="*/ 23645 w 809109"/>
                <a:gd name="connsiteY11" fmla="*/ 253995 h 689987"/>
                <a:gd name="connsiteX12" fmla="*/ 53196 w 809109"/>
                <a:gd name="connsiteY12" fmla="*/ 378134 h 689987"/>
                <a:gd name="connsiteX13" fmla="*/ 109083 w 809109"/>
                <a:gd name="connsiteY13" fmla="*/ 527553 h 689987"/>
                <a:gd name="connsiteX14" fmla="*/ 660775 w 809109"/>
                <a:gd name="connsiteY14" fmla="*/ 668002 h 689987"/>
                <a:gd name="connsiteX15" fmla="*/ 660775 w 809109"/>
                <a:gd name="connsiteY15" fmla="*/ 668002 h 689987"/>
                <a:gd name="connsiteX16" fmla="*/ 68158 w 809109"/>
                <a:gd name="connsiteY16" fmla="*/ 425009 h 689987"/>
                <a:gd name="connsiteX17" fmla="*/ 68158 w 809109"/>
                <a:gd name="connsiteY17" fmla="*/ 425009 h 689987"/>
                <a:gd name="connsiteX18" fmla="*/ 109083 w 809109"/>
                <a:gd name="connsiteY18" fmla="*/ 527553 h 689987"/>
                <a:gd name="connsiteX19" fmla="*/ 129425 w 809109"/>
                <a:gd name="connsiteY19" fmla="*/ 569424 h 689987"/>
                <a:gd name="connsiteX20" fmla="*/ 186930 w 809109"/>
                <a:gd name="connsiteY20" fmla="*/ 665588 h 689987"/>
                <a:gd name="connsiteX21" fmla="*/ 186930 w 809109"/>
                <a:gd name="connsiteY21" fmla="*/ 665588 h 689987"/>
                <a:gd name="connsiteX22" fmla="*/ 186930 w 809109"/>
                <a:gd name="connsiteY22" fmla="*/ 665665 h 689987"/>
                <a:gd name="connsiteX23" fmla="*/ 587138 w 809109"/>
                <a:gd name="connsiteY23" fmla="*/ 686550 h 689987"/>
                <a:gd name="connsiteX24" fmla="*/ 587138 w 809109"/>
                <a:gd name="connsiteY24" fmla="*/ 686550 h 689987"/>
                <a:gd name="connsiteX25" fmla="*/ 129775 w 809109"/>
                <a:gd name="connsiteY25" fmla="*/ 569424 h 689987"/>
                <a:gd name="connsiteX26" fmla="*/ 129775 w 809109"/>
                <a:gd name="connsiteY26" fmla="*/ 569424 h 689987"/>
                <a:gd name="connsiteX27" fmla="*/ 129425 w 809109"/>
                <a:gd name="connsiteY27" fmla="*/ 569424 h 6899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809109" h="689987">
                  <a:moveTo>
                    <a:pt x="0" y="0"/>
                  </a:moveTo>
                  <a:lnTo>
                    <a:pt x="0" y="2540"/>
                  </a:lnTo>
                  <a:cubicBezTo>
                    <a:pt x="284" y="55818"/>
                    <a:pt x="3631" y="120886"/>
                    <a:pt x="13507" y="192331"/>
                  </a:cubicBezTo>
                  <a:lnTo>
                    <a:pt x="14043" y="193043"/>
                  </a:lnTo>
                  <a:cubicBezTo>
                    <a:pt x="393591" y="495286"/>
                    <a:pt x="809110" y="646128"/>
                    <a:pt x="809110" y="646128"/>
                  </a:cubicBezTo>
                  <a:lnTo>
                    <a:pt x="809110" y="646128"/>
                  </a:lnTo>
                  <a:cubicBezTo>
                    <a:pt x="275693" y="342819"/>
                    <a:pt x="0" y="1"/>
                    <a:pt x="0" y="1"/>
                  </a:cubicBezTo>
                  <a:close/>
                  <a:moveTo>
                    <a:pt x="53196" y="378134"/>
                  </a:moveTo>
                  <a:cubicBezTo>
                    <a:pt x="476436" y="613250"/>
                    <a:pt x="747383" y="658857"/>
                    <a:pt x="747383" y="658857"/>
                  </a:cubicBezTo>
                  <a:lnTo>
                    <a:pt x="747383" y="658857"/>
                  </a:lnTo>
                  <a:cubicBezTo>
                    <a:pt x="287964" y="461849"/>
                    <a:pt x="23897" y="254273"/>
                    <a:pt x="23645" y="253995"/>
                  </a:cubicBezTo>
                  <a:lnTo>
                    <a:pt x="23645" y="253995"/>
                  </a:lnTo>
                  <a:cubicBezTo>
                    <a:pt x="31082" y="294341"/>
                    <a:pt x="40761" y="335932"/>
                    <a:pt x="53196" y="378134"/>
                  </a:cubicBezTo>
                  <a:close/>
                  <a:moveTo>
                    <a:pt x="109083" y="527553"/>
                  </a:moveTo>
                  <a:cubicBezTo>
                    <a:pt x="428326" y="649811"/>
                    <a:pt x="660775" y="668002"/>
                    <a:pt x="660775" y="668002"/>
                  </a:cubicBezTo>
                  <a:lnTo>
                    <a:pt x="660775" y="668002"/>
                  </a:lnTo>
                  <a:cubicBezTo>
                    <a:pt x="286433" y="551485"/>
                    <a:pt x="68508" y="425287"/>
                    <a:pt x="68158" y="425009"/>
                  </a:cubicBezTo>
                  <a:lnTo>
                    <a:pt x="68158" y="425009"/>
                  </a:lnTo>
                  <a:cubicBezTo>
                    <a:pt x="79707" y="459156"/>
                    <a:pt x="93236" y="493581"/>
                    <a:pt x="109083" y="527553"/>
                  </a:cubicBezTo>
                  <a:close/>
                  <a:moveTo>
                    <a:pt x="129425" y="569424"/>
                  </a:moveTo>
                  <a:cubicBezTo>
                    <a:pt x="146355" y="601868"/>
                    <a:pt x="165429" y="634211"/>
                    <a:pt x="186930" y="665588"/>
                  </a:cubicBezTo>
                  <a:lnTo>
                    <a:pt x="186930" y="665588"/>
                  </a:lnTo>
                  <a:lnTo>
                    <a:pt x="186930" y="665665"/>
                  </a:lnTo>
                  <a:cubicBezTo>
                    <a:pt x="397878" y="702506"/>
                    <a:pt x="587138" y="686550"/>
                    <a:pt x="587138" y="686550"/>
                  </a:cubicBezTo>
                  <a:lnTo>
                    <a:pt x="587138" y="686550"/>
                  </a:lnTo>
                  <a:cubicBezTo>
                    <a:pt x="316629" y="642290"/>
                    <a:pt x="166238" y="583219"/>
                    <a:pt x="129775" y="569424"/>
                  </a:cubicBezTo>
                  <a:lnTo>
                    <a:pt x="129775" y="569424"/>
                  </a:lnTo>
                  <a:lnTo>
                    <a:pt x="129425" y="569424"/>
                  </a:lnTo>
                  <a:close/>
                </a:path>
              </a:pathLst>
            </a:custGeom>
            <a:gradFill>
              <a:gsLst>
                <a:gs pos="0">
                  <a:srgbClr val="FFFFFF"/>
                </a:gs>
                <a:gs pos="50000">
                  <a:srgbClr val="BFCD7F"/>
                </a:gs>
                <a:gs pos="100000">
                  <a:srgbClr val="809B00"/>
                </a:gs>
              </a:gsLst>
              <a:lin ang="12509132" scaled="1"/>
            </a:gradFill>
            <a:ln w="109" cap="flat">
              <a:noFill/>
              <a:prstDash val="solid"/>
              <a:miter/>
            </a:ln>
          </p:spPr>
          <p:txBody>
            <a:bodyPr rtlCol="0" anchor="ctr"/>
            <a:lstStyle/>
            <a:p>
              <a:endParaRPr lang="zh-CN" altLang="en-US"/>
            </a:p>
          </p:txBody>
        </p:sp>
      </p:grpSp>
      <p:grpSp>
        <p:nvGrpSpPr>
          <p:cNvPr id="28" name="组合 27">
            <a:extLst>
              <a:ext uri="{FF2B5EF4-FFF2-40B4-BE49-F238E27FC236}">
                <a16:creationId xmlns:a16="http://schemas.microsoft.com/office/drawing/2014/main" id="{EF36AEA8-3AEE-2BD2-6A1A-683B2C33F84A}"/>
              </a:ext>
            </a:extLst>
          </p:cNvPr>
          <p:cNvGrpSpPr/>
          <p:nvPr userDrawn="1"/>
        </p:nvGrpSpPr>
        <p:grpSpPr>
          <a:xfrm>
            <a:off x="407988" y="416022"/>
            <a:ext cx="446425" cy="432024"/>
            <a:chOff x="3157789" y="1162600"/>
            <a:chExt cx="2232000" cy="2160000"/>
          </a:xfrm>
        </p:grpSpPr>
        <p:sp>
          <p:nvSpPr>
            <p:cNvPr id="29" name="椭圆 28">
              <a:extLst>
                <a:ext uri="{FF2B5EF4-FFF2-40B4-BE49-F238E27FC236}">
                  <a16:creationId xmlns:a16="http://schemas.microsoft.com/office/drawing/2014/main" id="{6314E6E3-A28B-A97E-0AE5-88C0DE0B414D}"/>
                </a:ext>
              </a:extLst>
            </p:cNvPr>
            <p:cNvSpPr>
              <a:spLocks noChangeAspect="1"/>
            </p:cNvSpPr>
            <p:nvPr/>
          </p:nvSpPr>
          <p:spPr>
            <a:xfrm>
              <a:off x="3193787" y="1162600"/>
              <a:ext cx="2159999" cy="2160000"/>
            </a:xfrm>
            <a:prstGeom prst="ellipse">
              <a:avLst/>
            </a:prstGeom>
            <a:solidFill>
              <a:srgbClr val="0B308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pic>
          <p:nvPicPr>
            <p:cNvPr id="30" name="图形 29">
              <a:extLst>
                <a:ext uri="{FF2B5EF4-FFF2-40B4-BE49-F238E27FC236}">
                  <a16:creationId xmlns:a16="http://schemas.microsoft.com/office/drawing/2014/main" id="{46565262-88D8-725C-5ACD-4D69907B94B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157789" y="1461401"/>
              <a:ext cx="2232000" cy="1562399"/>
            </a:xfrm>
            <a:prstGeom prst="rect">
              <a:avLst/>
            </a:prstGeom>
          </p:spPr>
        </p:pic>
      </p:grpSp>
      <p:sp>
        <p:nvSpPr>
          <p:cNvPr id="32" name="任意形状 31">
            <a:extLst>
              <a:ext uri="{FF2B5EF4-FFF2-40B4-BE49-F238E27FC236}">
                <a16:creationId xmlns:a16="http://schemas.microsoft.com/office/drawing/2014/main" id="{B149AD21-405B-D537-EB6C-FEB360C5FB03}"/>
              </a:ext>
            </a:extLst>
          </p:cNvPr>
          <p:cNvSpPr/>
          <p:nvPr userDrawn="1"/>
        </p:nvSpPr>
        <p:spPr>
          <a:xfrm>
            <a:off x="777665" y="416034"/>
            <a:ext cx="8213621" cy="432000"/>
          </a:xfrm>
          <a:custGeom>
            <a:avLst/>
            <a:gdLst>
              <a:gd name="connsiteX0" fmla="*/ 0 w 8213621"/>
              <a:gd name="connsiteY0" fmla="*/ 0 h 432000"/>
              <a:gd name="connsiteX1" fmla="*/ 7997621 w 8213621"/>
              <a:gd name="connsiteY1" fmla="*/ 0 h 432000"/>
              <a:gd name="connsiteX2" fmla="*/ 8213621 w 8213621"/>
              <a:gd name="connsiteY2" fmla="*/ 216000 h 432000"/>
              <a:gd name="connsiteX3" fmla="*/ 7997621 w 8213621"/>
              <a:gd name="connsiteY3" fmla="*/ 432000 h 432000"/>
              <a:gd name="connsiteX4" fmla="*/ 0 w 8213621"/>
              <a:gd name="connsiteY4" fmla="*/ 432000 h 432000"/>
              <a:gd name="connsiteX5" fmla="*/ 38100 w 8213621"/>
              <a:gd name="connsiteY5" fmla="*/ 400565 h 432000"/>
              <a:gd name="connsiteX6" fmla="*/ 114549 w 8213621"/>
              <a:gd name="connsiteY6" fmla="*/ 216000 h 432000"/>
              <a:gd name="connsiteX7" fmla="*/ 38100 w 8213621"/>
              <a:gd name="connsiteY7" fmla="*/ 31435 h 43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213621" h="432000">
                <a:moveTo>
                  <a:pt x="0" y="0"/>
                </a:moveTo>
                <a:lnTo>
                  <a:pt x="7997621" y="0"/>
                </a:lnTo>
                <a:cubicBezTo>
                  <a:pt x="8116915" y="0"/>
                  <a:pt x="8213621" y="96706"/>
                  <a:pt x="8213621" y="216000"/>
                </a:cubicBezTo>
                <a:cubicBezTo>
                  <a:pt x="8213621" y="335294"/>
                  <a:pt x="8116915" y="432000"/>
                  <a:pt x="7997621" y="432000"/>
                </a:cubicBezTo>
                <a:lnTo>
                  <a:pt x="0" y="432000"/>
                </a:lnTo>
                <a:lnTo>
                  <a:pt x="38100" y="400565"/>
                </a:lnTo>
                <a:cubicBezTo>
                  <a:pt x="85334" y="353331"/>
                  <a:pt x="114549" y="288077"/>
                  <a:pt x="114549" y="216000"/>
                </a:cubicBezTo>
                <a:cubicBezTo>
                  <a:pt x="114549" y="143923"/>
                  <a:pt x="85334" y="78670"/>
                  <a:pt x="38100" y="31435"/>
                </a:cubicBezTo>
                <a:close/>
              </a:path>
            </a:pathLst>
          </a:custGeom>
          <a:gradFill flip="none" rotWithShape="1">
            <a:gsLst>
              <a:gs pos="0">
                <a:srgbClr val="6492D4">
                  <a:alpha val="2000"/>
                </a:srgbClr>
              </a:gs>
              <a:gs pos="50000">
                <a:srgbClr val="6492D4">
                  <a:alpha val="10000"/>
                </a:srgbClr>
              </a:gs>
              <a:gs pos="98000">
                <a:srgbClr val="6492D4">
                  <a:alpha val="15000"/>
                </a:srgb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zh-CN" altLang="en-US"/>
          </a:p>
        </p:txBody>
      </p:sp>
      <p:pic>
        <p:nvPicPr>
          <p:cNvPr id="16" name="图片 15">
            <a:extLst>
              <a:ext uri="{FF2B5EF4-FFF2-40B4-BE49-F238E27FC236}">
                <a16:creationId xmlns:a16="http://schemas.microsoft.com/office/drawing/2014/main" id="{4AAD96DA-A547-44C3-527A-3BB8CA701C33}"/>
              </a:ext>
            </a:extLst>
          </p:cNvPr>
          <p:cNvPicPr>
            <a:picLocks noChangeAspect="1"/>
          </p:cNvPicPr>
          <p:nvPr userDrawn="1"/>
        </p:nvPicPr>
        <p:blipFill>
          <a:blip r:embed="rId5"/>
          <a:srcRect/>
          <a:stretch/>
        </p:blipFill>
        <p:spPr>
          <a:xfrm>
            <a:off x="265112" y="6498448"/>
            <a:ext cx="1555083" cy="101928"/>
          </a:xfrm>
          <a:prstGeom prst="rect">
            <a:avLst/>
          </a:prstGeom>
        </p:spPr>
      </p:pic>
    </p:spTree>
    <p:extLst>
      <p:ext uri="{BB962C8B-B14F-4D97-AF65-F5344CB8AC3E}">
        <p14:creationId xmlns:p14="http://schemas.microsoft.com/office/powerpoint/2010/main" val="79837990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CC4FF59C-D32E-291D-F4BC-2EBEDD3FC65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zh-CN" altLang="en-US"/>
              <a:t>单击此处编辑母版标题样式</a:t>
            </a:r>
          </a:p>
        </p:txBody>
      </p:sp>
      <p:sp>
        <p:nvSpPr>
          <p:cNvPr id="3" name="文本占位符 2">
            <a:extLst>
              <a:ext uri="{FF2B5EF4-FFF2-40B4-BE49-F238E27FC236}">
                <a16:creationId xmlns:a16="http://schemas.microsoft.com/office/drawing/2014/main" id="{2FCCB62A-A28B-9E82-A3F3-AF5202CE418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790780B2-EC77-5362-71CA-6DDF89EE997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D146ACC-1619-E242-AD15-F336193CCCB6}" type="datetimeFigureOut">
              <a:rPr kumimoji="1" lang="zh-CN" altLang="en-US" smtClean="0"/>
              <a:t>2026/10/10</a:t>
            </a:fld>
            <a:endParaRPr kumimoji="1" lang="zh-CN" altLang="en-US"/>
          </a:p>
        </p:txBody>
      </p:sp>
      <p:sp>
        <p:nvSpPr>
          <p:cNvPr id="5" name="页脚占位符 4">
            <a:extLst>
              <a:ext uri="{FF2B5EF4-FFF2-40B4-BE49-F238E27FC236}">
                <a16:creationId xmlns:a16="http://schemas.microsoft.com/office/drawing/2014/main" id="{B95DEC29-7515-0103-604F-66D4083E185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zh-CN" altLang="en-US"/>
          </a:p>
        </p:txBody>
      </p:sp>
      <p:sp>
        <p:nvSpPr>
          <p:cNvPr id="6" name="灯片编号占位符 5">
            <a:extLst>
              <a:ext uri="{FF2B5EF4-FFF2-40B4-BE49-F238E27FC236}">
                <a16:creationId xmlns:a16="http://schemas.microsoft.com/office/drawing/2014/main" id="{049263E4-CC43-E1F8-6671-5541F77EC6F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165361097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21.png"/><Relationship Id="rId8" Type="http://schemas.openxmlformats.org/officeDocument/2006/relationships/image" Target="../media/image22.png"/><Relationship Id="rId9" Type="http://schemas.openxmlformats.org/officeDocument/2006/relationships/image" Target="../media/image23.png"/><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10.png"/><Relationship Id="rId5" Type="http://schemas.openxmlformats.org/officeDocument/2006/relationships/image" Target="../media/image8.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9.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33.png"/><Relationship Id="rId7" Type="http://schemas.openxmlformats.org/officeDocument/2006/relationships/image" Target="../media/image34.png"/><Relationship Id="rId8" Type="http://schemas.openxmlformats.org/officeDocument/2006/relationships/image" Target="../media/image35.png"/><Relationship Id="rId9" Type="http://schemas.openxmlformats.org/officeDocument/2006/relationships/image" Target="../media/image36.png"/><Relationship Id="rId10" Type="http://schemas.openxmlformats.org/officeDocument/2006/relationships/image" Target="../media/image37.png"/><Relationship Id="rId11" Type="http://schemas.openxmlformats.org/officeDocument/2006/relationships/image" Target="../media/image38.png"/><Relationship Id="rId1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jpg"/><Relationship Id="rId3" Type="http://schemas.openxmlformats.org/officeDocument/2006/relationships/image" Target="../media/image32.png"/><Relationship Id="rId4" Type="http://schemas.openxmlformats.org/officeDocument/2006/relationships/image" Target="../media/image40.png"/><Relationship Id="rId5" Type="http://schemas.openxmlformats.org/officeDocument/2006/relationships/image" Target="../media/image41.png"/><Relationship Id="rId6" Type="http://schemas.openxmlformats.org/officeDocument/2006/relationships/image" Target="../media/image42.png"/><Relationship Id="rId7" Type="http://schemas.openxmlformats.org/officeDocument/2006/relationships/image" Target="../media/image43.png"/><Relationship Id="rId8" Type="http://schemas.openxmlformats.org/officeDocument/2006/relationships/image" Target="../media/image44.png"/><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jpg"/><Relationship Id="rId3" Type="http://schemas.openxmlformats.org/officeDocument/2006/relationships/image" Target="../media/image33.png"/><Relationship Id="rId4" Type="http://schemas.openxmlformats.org/officeDocument/2006/relationships/image" Target="../media/image42.png"/><Relationship Id="rId5" Type="http://schemas.openxmlformats.org/officeDocument/2006/relationships/image" Target="../media/image46.png"/><Relationship Id="rId6" Type="http://schemas.openxmlformats.org/officeDocument/2006/relationships/image" Target="../media/image40.png"/><Relationship Id="rId7" Type="http://schemas.openxmlformats.org/officeDocument/2006/relationships/image" Target="../media/image43.png"/><Relationship Id="rId8" Type="http://schemas.openxmlformats.org/officeDocument/2006/relationships/image" Target="../media/image44.png"/><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jpg"/><Relationship Id="rId3" Type="http://schemas.openxmlformats.org/officeDocument/2006/relationships/image" Target="../media/image34.png"/><Relationship Id="rId4" Type="http://schemas.openxmlformats.org/officeDocument/2006/relationships/image" Target="../media/image48.png"/><Relationship Id="rId5" Type="http://schemas.openxmlformats.org/officeDocument/2006/relationships/image" Target="../media/image49.png"/><Relationship Id="rId6" Type="http://schemas.openxmlformats.org/officeDocument/2006/relationships/image" Target="../media/image50.png"/><Relationship Id="rId7" Type="http://schemas.openxmlformats.org/officeDocument/2006/relationships/image" Target="../media/image43.png"/><Relationship Id="rId8" Type="http://schemas.openxmlformats.org/officeDocument/2006/relationships/image" Target="../media/image44.png"/><Relationship Id="rId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jpg"/><Relationship Id="rId3" Type="http://schemas.openxmlformats.org/officeDocument/2006/relationships/image" Target="../media/image35.png"/><Relationship Id="rId4" Type="http://schemas.openxmlformats.org/officeDocument/2006/relationships/image" Target="../media/image50.png"/><Relationship Id="rId5" Type="http://schemas.openxmlformats.org/officeDocument/2006/relationships/image" Target="../media/image52.png"/><Relationship Id="rId6" Type="http://schemas.openxmlformats.org/officeDocument/2006/relationships/image" Target="../media/image53.png"/><Relationship Id="rId7" Type="http://schemas.openxmlformats.org/officeDocument/2006/relationships/image" Target="../media/image43.png"/><Relationship Id="rId8" Type="http://schemas.openxmlformats.org/officeDocument/2006/relationships/image" Target="../media/image44.png"/><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jpg"/><Relationship Id="rId3" Type="http://schemas.openxmlformats.org/officeDocument/2006/relationships/image" Target="../media/image36.png"/><Relationship Id="rId4" Type="http://schemas.openxmlformats.org/officeDocument/2006/relationships/image" Target="../media/image41.png"/><Relationship Id="rId5" Type="http://schemas.openxmlformats.org/officeDocument/2006/relationships/image" Target="../media/image52.png"/><Relationship Id="rId6" Type="http://schemas.openxmlformats.org/officeDocument/2006/relationships/image" Target="../media/image55.png"/><Relationship Id="rId7" Type="http://schemas.openxmlformats.org/officeDocument/2006/relationships/image" Target="../media/image43.png"/><Relationship Id="rId8" Type="http://schemas.openxmlformats.org/officeDocument/2006/relationships/image" Target="../media/image44.png"/><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jpg"/><Relationship Id="rId3" Type="http://schemas.openxmlformats.org/officeDocument/2006/relationships/image" Target="../media/image37.png"/><Relationship Id="rId4" Type="http://schemas.openxmlformats.org/officeDocument/2006/relationships/image" Target="../media/image41.png"/><Relationship Id="rId5" Type="http://schemas.openxmlformats.org/officeDocument/2006/relationships/image" Target="../media/image57.png"/><Relationship Id="rId6" Type="http://schemas.openxmlformats.org/officeDocument/2006/relationships/image" Target="../media/image58.png"/><Relationship Id="rId7" Type="http://schemas.openxmlformats.org/officeDocument/2006/relationships/image" Target="../media/image43.png"/><Relationship Id="rId8" Type="http://schemas.openxmlformats.org/officeDocument/2006/relationships/image" Target="../media/image44.png"/><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13.png"/><Relationship Id="rId4" Type="http://schemas.openxmlformats.org/officeDocument/2006/relationships/image" Target="../media/image10.png"/><Relationship Id="rId5" Type="http://schemas.openxmlformats.org/officeDocument/2006/relationships/image" Target="../media/image15.png"/><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image" Target="../media/image60.png"/><Relationship Id="rId4" Type="http://schemas.openxmlformats.org/officeDocument/2006/relationships/image" Target="../media/image61.png"/><Relationship Id="rId5" Type="http://schemas.openxmlformats.org/officeDocument/2006/relationships/image" Target="../media/image8.png"/><Relationship Id="rId6" Type="http://schemas.openxmlformats.org/officeDocument/2006/relationships/image" Target="../media/image62.png"/><Relationship Id="rId7" Type="http://schemas.openxmlformats.org/officeDocument/2006/relationships/image" Target="../media/image63.png"/><Relationship Id="rId8" Type="http://schemas.openxmlformats.org/officeDocument/2006/relationships/image" Target="../media/image64.png"/><Relationship Id="rId9" Type="http://schemas.openxmlformats.org/officeDocument/2006/relationships/image" Target="../media/image65.png"/><Relationship Id="rId10" Type="http://schemas.openxmlformats.org/officeDocument/2006/relationships/image" Target="../media/image38.png"/><Relationship Id="rId11" Type="http://schemas.openxmlformats.org/officeDocument/2006/relationships/image" Target="../media/image43.png"/><Relationship Id="rId1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 Id="rId3" Type="http://schemas.openxmlformats.org/officeDocument/2006/relationships/image" Target="../media/image59.png"/><Relationship Id="rId4" Type="http://schemas.openxmlformats.org/officeDocument/2006/relationships/image" Target="../media/image8.png"/><Relationship Id="rId5" Type="http://schemas.openxmlformats.org/officeDocument/2006/relationships/image" Target="../media/image67.png"/><Relationship Id="rId6" Type="http://schemas.openxmlformats.org/officeDocument/2006/relationships/image" Target="../media/image64.png"/><Relationship Id="rId7" Type="http://schemas.openxmlformats.org/officeDocument/2006/relationships/image" Target="../media/image68.png"/><Relationship Id="rId8" Type="http://schemas.openxmlformats.org/officeDocument/2006/relationships/image" Target="../media/image38.png"/><Relationship Id="rId9" Type="http://schemas.openxmlformats.org/officeDocument/2006/relationships/image" Target="../media/image53.png"/><Relationship Id="rId10" Type="http://schemas.openxmlformats.org/officeDocument/2006/relationships/image" Target="../media/image12.png"/><Relationship Id="rId11"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 Id="rId3" Type="http://schemas.openxmlformats.org/officeDocument/2006/relationships/image" Target="../media/image70.png"/><Relationship Id="rId4" Type="http://schemas.openxmlformats.org/officeDocument/2006/relationships/image" Target="../media/image38.png"/><Relationship Id="rId5" Type="http://schemas.openxmlformats.org/officeDocument/2006/relationships/image" Target="../media/image71.png"/><Relationship Id="rId6" Type="http://schemas.openxmlformats.org/officeDocument/2006/relationships/image" Target="../media/image72.png"/><Relationship Id="rId7" Type="http://schemas.openxmlformats.org/officeDocument/2006/relationships/image" Target="../media/image73.png"/><Relationship Id="rId8" Type="http://schemas.openxmlformats.org/officeDocument/2006/relationships/image" Target="../media/image74.jpg"/><Relationship Id="rId9" Type="http://schemas.openxmlformats.org/officeDocument/2006/relationships/image" Target="../media/image75.jpg"/><Relationship Id="rId10" Type="http://schemas.openxmlformats.org/officeDocument/2006/relationships/image" Target="../media/image76.jpg"/><Relationship Id="rId11"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1.png"/><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png"/><Relationship Id="rId3" Type="http://schemas.openxmlformats.org/officeDocument/2006/relationships/image" Target="../media/image61.png"/><Relationship Id="rId4" Type="http://schemas.openxmlformats.org/officeDocument/2006/relationships/image" Target="../media/image8.png"/><Relationship Id="rId5" Type="http://schemas.openxmlformats.org/officeDocument/2006/relationships/image" Target="../media/image78.png"/><Relationship Id="rId6" Type="http://schemas.openxmlformats.org/officeDocument/2006/relationships/image" Target="../media/image79.png"/><Relationship Id="rId7" Type="http://schemas.openxmlformats.org/officeDocument/2006/relationships/image" Target="../media/image80.png"/><Relationship Id="rId8" Type="http://schemas.openxmlformats.org/officeDocument/2006/relationships/image" Target="../media/image64.png"/><Relationship Id="rId9" Type="http://schemas.openxmlformats.org/officeDocument/2006/relationships/image" Target="../media/image59.png"/><Relationship Id="rId10" Type="http://schemas.openxmlformats.org/officeDocument/2006/relationships/image" Target="../media/image81.png"/><Relationship Id="rId11" Type="http://schemas.openxmlformats.org/officeDocument/2006/relationships/image" Target="../media/image34.png"/><Relationship Id="rId12" Type="http://schemas.openxmlformats.org/officeDocument/2006/relationships/image" Target="../media/image23.png"/><Relationship Id="rId1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82.png"/><Relationship Id="rId8"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000" cy="76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0"/>
            <a:ext cx="40640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0" y="76200"/>
            <a:ext cx="76200" cy="67818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a_2b6cd945d1.png"/>
          <p:cNvPicPr>
            <a:picLocks noChangeAspect="1"/>
          </p:cNvPicPr>
          <p:nvPr/>
        </p:nvPicPr>
        <p:blipFill>
          <a:blip r:embed="rId2"/>
          <a:stretch>
            <a:fillRect/>
          </a:stretch>
        </p:blipFill>
        <p:spPr>
          <a:xfrm>
            <a:off x="10013244" y="431800"/>
            <a:ext cx="1284111" cy="508000"/>
          </a:xfrm>
          <a:prstGeom prst="rect">
            <a:avLst/>
          </a:prstGeom>
        </p:spPr>
      </p:pic>
      <p:sp>
        <p:nvSpPr>
          <p:cNvPr id="7" name="Oval 6"/>
          <p:cNvSpPr/>
          <p:nvPr/>
        </p:nvSpPr>
        <p:spPr>
          <a:xfrm>
            <a:off x="6959600" y="1626615"/>
            <a:ext cx="4470400" cy="4112768"/>
          </a:xfrm>
          <a:prstGeom prst="ellipse">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Oval 7"/>
          <p:cNvSpPr/>
          <p:nvPr/>
        </p:nvSpPr>
        <p:spPr>
          <a:xfrm>
            <a:off x="7518400" y="2140712"/>
            <a:ext cx="3352800" cy="3084576"/>
          </a:xfrm>
          <a:prstGeom prst="ellipse">
            <a:avLst/>
          </a:prstGeom>
          <a:solidFill>
            <a:srgbClr val="EAF0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Oval 8"/>
          <p:cNvSpPr/>
          <p:nvPr/>
        </p:nvSpPr>
        <p:spPr>
          <a:xfrm>
            <a:off x="8077200" y="2654808"/>
            <a:ext cx="2235200" cy="2056384"/>
          </a:xfrm>
          <a:prstGeom prst="ellipse">
            <a:avLst/>
          </a:prstGeom>
          <a:solidFill>
            <a:srgbClr val="DFE7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0" name="Picture 9" descr="a_64ddced7b1.png"/>
          <p:cNvPicPr>
            <a:picLocks noChangeAspect="1"/>
          </p:cNvPicPr>
          <p:nvPr/>
        </p:nvPicPr>
        <p:blipFill>
          <a:blip r:embed="rId3"/>
          <a:stretch>
            <a:fillRect/>
          </a:stretch>
        </p:blipFill>
        <p:spPr>
          <a:xfrm>
            <a:off x="8255000" y="2022122"/>
            <a:ext cx="2159000" cy="3118555"/>
          </a:xfrm>
          <a:prstGeom prst="rect">
            <a:avLst/>
          </a:prstGeom>
        </p:spPr>
      </p:pic>
      <p:pic>
        <p:nvPicPr>
          <p:cNvPr id="11" name="Picture 10" descr="a_7405c6dee5.png"/>
          <p:cNvPicPr>
            <a:picLocks noChangeAspect="1"/>
          </p:cNvPicPr>
          <p:nvPr/>
        </p:nvPicPr>
        <p:blipFill>
          <a:blip r:embed="rId4"/>
          <a:stretch>
            <a:fillRect/>
          </a:stretch>
        </p:blipFill>
        <p:spPr>
          <a:xfrm>
            <a:off x="6604000" y="2501900"/>
            <a:ext cx="2159000" cy="3022600"/>
          </a:xfrm>
          <a:prstGeom prst="rect">
            <a:avLst/>
          </a:prstGeom>
        </p:spPr>
      </p:pic>
      <p:cxnSp>
        <p:nvCxnSpPr>
          <p:cNvPr id="12" name="Connector 11"/>
          <p:cNvCxnSpPr/>
          <p:nvPr/>
        </p:nvCxnSpPr>
        <p:spPr>
          <a:xfrm>
            <a:off x="609600" y="5969000"/>
            <a:ext cx="109728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63600" y="1600200"/>
            <a:ext cx="5588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HYTERA  ×  GLOBE TELECOM</a:t>
            </a:r>
          </a:p>
        </p:txBody>
      </p:sp>
      <p:sp>
        <p:nvSpPr>
          <p:cNvPr id="14" name="TextBox 13"/>
          <p:cNvSpPr txBox="1"/>
          <p:nvPr/>
        </p:nvSpPr>
        <p:spPr>
          <a:xfrm>
            <a:off x="863600" y="1905000"/>
            <a:ext cx="5969000" cy="1651000"/>
          </a:xfrm>
          <a:prstGeom prst="rect">
            <a:avLst/>
          </a:prstGeom>
          <a:noFill/>
        </p:spPr>
        <p:txBody>
          <a:bodyPr wrap="square" lIns="0" rIns="0" tIns="0" bIns="0" anchor="t">
            <a:spAutoFit/>
          </a:bodyPr>
          <a:lstStyle/>
          <a:p>
            <a:pPr algn="l">
              <a:lnSpc>
                <a:spcPct val="106000"/>
              </a:lnSpc>
              <a:spcAft>
                <a:spcPts val="0"/>
              </a:spcAft>
            </a:pPr>
            <a:r>
              <a:rPr sz="3000" b="0">
                <a:solidFill>
                  <a:srgbClr val="0B308E"/>
                </a:solidFill>
                <a:latin typeface="Segoe UI Semibold"/>
              </a:rPr>
              <a:t>Exploring Application</a:t>
            </a:r>
          </a:p>
          <a:p>
            <a:pPr algn="l">
              <a:lnSpc>
                <a:spcPct val="106000"/>
              </a:lnSpc>
              <a:spcAft>
                <a:spcPts val="0"/>
              </a:spcAft>
            </a:pPr>
            <a:r>
              <a:rPr sz="3000" b="0">
                <a:solidFill>
                  <a:srgbClr val="0B308E"/>
                </a:solidFill>
                <a:latin typeface="Segoe UI Semibold"/>
              </a:rPr>
              <a:t>Scenarios for a 450 MHz</a:t>
            </a:r>
          </a:p>
          <a:p>
            <a:pPr algn="l">
              <a:lnSpc>
                <a:spcPct val="106000"/>
              </a:lnSpc>
              <a:spcAft>
                <a:spcPts val="0"/>
              </a:spcAft>
            </a:pPr>
            <a:r>
              <a:rPr sz="3000" b="0">
                <a:solidFill>
                  <a:srgbClr val="0B308E"/>
                </a:solidFill>
                <a:latin typeface="Segoe UI Semibold"/>
              </a:rPr>
              <a:t>Mission-Critical Network</a:t>
            </a:r>
          </a:p>
        </p:txBody>
      </p:sp>
      <p:sp>
        <p:nvSpPr>
          <p:cNvPr id="15" name="Rectangle 14"/>
          <p:cNvSpPr/>
          <p:nvPr/>
        </p:nvSpPr>
        <p:spPr>
          <a:xfrm>
            <a:off x="863600" y="3708400"/>
            <a:ext cx="812800" cy="508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63600" y="3962400"/>
            <a:ext cx="5588000" cy="635000"/>
          </a:xfrm>
          <a:prstGeom prst="rect">
            <a:avLst/>
          </a:prstGeom>
          <a:noFill/>
        </p:spPr>
        <p:txBody>
          <a:bodyPr wrap="square" lIns="0" rIns="0" tIns="0" bIns="0" anchor="t">
            <a:spAutoFit/>
          </a:bodyPr>
          <a:lstStyle/>
          <a:p>
            <a:pPr algn="l">
              <a:lnSpc>
                <a:spcPct val="130000"/>
              </a:lnSpc>
              <a:spcAft>
                <a:spcPts val="0"/>
              </a:spcAft>
            </a:pPr>
            <a:r>
              <a:rPr sz="1400" b="0">
                <a:solidFill>
                  <a:srgbClr val="55607A"/>
                </a:solidFill>
                <a:latin typeface="Segoe UI"/>
              </a:rPr>
              <a:t>Coverage and resilience for utilities,</a:t>
            </a:r>
          </a:p>
          <a:p>
            <a:pPr algn="l">
              <a:lnSpc>
                <a:spcPct val="130000"/>
              </a:lnSpc>
              <a:spcAft>
                <a:spcPts val="0"/>
              </a:spcAft>
            </a:pPr>
            <a:r>
              <a:rPr sz="1400" b="0">
                <a:solidFill>
                  <a:srgbClr val="55607A"/>
                </a:solidFill>
                <a:latin typeface="Segoe UI"/>
              </a:rPr>
              <a:t>public safety and transport</a:t>
            </a:r>
          </a:p>
        </p:txBody>
      </p:sp>
      <p:sp>
        <p:nvSpPr>
          <p:cNvPr id="17" name="TextBox 16"/>
          <p:cNvSpPr txBox="1"/>
          <p:nvPr/>
        </p:nvSpPr>
        <p:spPr>
          <a:xfrm>
            <a:off x="609600" y="6070600"/>
            <a:ext cx="5334000" cy="304800"/>
          </a:xfrm>
          <a:prstGeom prst="rect">
            <a:avLst/>
          </a:prstGeom>
          <a:noFill/>
        </p:spPr>
        <p:txBody>
          <a:bodyPr wrap="square" lIns="0" rIns="0" tIns="0" bIns="0" anchor="ctr">
            <a:spAutoFit/>
          </a:bodyPr>
          <a:lstStyle/>
          <a:p>
            <a:pPr algn="l">
              <a:lnSpc>
                <a:spcPct val="120000"/>
              </a:lnSpc>
              <a:spcAft>
                <a:spcPts val="0"/>
              </a:spcAft>
            </a:pPr>
            <a:r>
              <a:rPr sz="1100" b="0">
                <a:solidFill>
                  <a:srgbClr val="0B308E"/>
                </a:solidFill>
                <a:latin typeface="Segoe UI Semibold"/>
              </a:rPr>
              <a:t>Initial technical exchange  ·  October 2026</a:t>
            </a:r>
          </a:p>
        </p:txBody>
      </p:sp>
      <p:sp>
        <p:nvSpPr>
          <p:cNvPr id="18" name="TextBox 17"/>
          <p:cNvSpPr txBox="1"/>
          <p:nvPr/>
        </p:nvSpPr>
        <p:spPr>
          <a:xfrm>
            <a:off x="6502400" y="6070600"/>
            <a:ext cx="5080000" cy="304800"/>
          </a:xfrm>
          <a:prstGeom prst="rect">
            <a:avLst/>
          </a:prstGeom>
          <a:noFill/>
        </p:spPr>
        <p:txBody>
          <a:bodyPr wrap="square" lIns="0" rIns="0" tIns="0" bIns="0" anchor="ctr">
            <a:spAutoFit/>
          </a:bodyPr>
          <a:lstStyle/>
          <a:p>
            <a:pPr algn="r">
              <a:lnSpc>
                <a:spcPct val="120000"/>
              </a:lnSpc>
              <a:spcAft>
                <a:spcPts val="0"/>
              </a:spcAft>
            </a:pPr>
            <a:r>
              <a:rPr sz="950" b="0">
                <a:solidFill>
                  <a:srgbClr val="93A0B4"/>
                </a:solidFill>
                <a:latin typeface="Segoe UI"/>
              </a:rPr>
              <a:t>Hytera Communications Corporation Limited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AGENDA</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02</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Four questions for today’s discussion</a:t>
            </a:r>
          </a:p>
        </p:txBody>
      </p:sp>
      <p:sp>
        <p:nvSpPr>
          <p:cNvPr id="10" name="Rectangle 9"/>
          <p:cNvSpPr/>
          <p:nvPr/>
        </p:nvSpPr>
        <p:spPr>
          <a:xfrm>
            <a:off x="609600" y="1574800"/>
            <a:ext cx="2514600" cy="381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09600" y="1574800"/>
            <a:ext cx="2514600" cy="508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812800" y="1879600"/>
            <a:ext cx="711200" cy="711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radio-tower_white.png"/>
          <p:cNvPicPr>
            <a:picLocks noChangeAspect="1"/>
          </p:cNvPicPr>
          <p:nvPr/>
        </p:nvPicPr>
        <p:blipFill>
          <a:blip r:embed="rId2"/>
          <a:stretch>
            <a:fillRect/>
          </a:stretch>
        </p:blipFill>
        <p:spPr>
          <a:xfrm>
            <a:off x="983488" y="2050288"/>
            <a:ext cx="369824" cy="369824"/>
          </a:xfrm>
          <a:prstGeom prst="rect">
            <a:avLst/>
          </a:prstGeom>
        </p:spPr>
      </p:pic>
      <p:sp>
        <p:nvSpPr>
          <p:cNvPr id="14" name="Oval 13"/>
          <p:cNvSpPr/>
          <p:nvPr/>
        </p:nvSpPr>
        <p:spPr>
          <a:xfrm>
            <a:off x="1299972" y="1819859"/>
            <a:ext cx="298704" cy="298704"/>
          </a:xfrm>
          <a:prstGeom prst="ellipse">
            <a:avLst/>
          </a:prstGeom>
          <a:solidFill>
            <a:srgbClr val="8CC63F"/>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299972" y="1819859"/>
            <a:ext cx="298704" cy="298704"/>
          </a:xfrm>
          <a:prstGeom prst="rect">
            <a:avLst/>
          </a:prstGeom>
          <a:noFill/>
        </p:spPr>
        <p:txBody>
          <a:bodyPr wrap="square" lIns="0" rIns="0" tIns="0" bIns="0" anchor="ctr">
            <a:spAutoFit/>
          </a:bodyPr>
          <a:lstStyle/>
          <a:p>
            <a:pPr algn="ctr">
              <a:lnSpc>
                <a:spcPct val="120000"/>
              </a:lnSpc>
              <a:spcAft>
                <a:spcPts val="0"/>
              </a:spcAft>
            </a:pPr>
            <a:r>
              <a:rPr sz="1176" b="0">
                <a:solidFill>
                  <a:srgbClr val="0B308E"/>
                </a:solidFill>
                <a:latin typeface="Segoe UI Semibold"/>
              </a:rPr>
              <a:t>01</a:t>
            </a:r>
          </a:p>
        </p:txBody>
      </p:sp>
      <p:sp>
        <p:nvSpPr>
          <p:cNvPr id="16" name="TextBox 15"/>
          <p:cNvSpPr txBox="1"/>
          <p:nvPr/>
        </p:nvSpPr>
        <p:spPr>
          <a:xfrm>
            <a:off x="812800" y="2819400"/>
            <a:ext cx="2032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01</a:t>
            </a:r>
          </a:p>
        </p:txBody>
      </p:sp>
      <p:sp>
        <p:nvSpPr>
          <p:cNvPr id="17" name="TextBox 16"/>
          <p:cNvSpPr txBox="1"/>
          <p:nvPr/>
        </p:nvSpPr>
        <p:spPr>
          <a:xfrm>
            <a:off x="812800" y="3048000"/>
            <a:ext cx="2133600" cy="635000"/>
          </a:xfrm>
          <a:prstGeom prst="rect">
            <a:avLst/>
          </a:prstGeom>
          <a:noFill/>
        </p:spPr>
        <p:txBody>
          <a:bodyPr wrap="square" lIns="0" rIns="0" tIns="0" bIns="0" anchor="t">
            <a:spAutoFit/>
          </a:bodyPr>
          <a:lstStyle/>
          <a:p>
            <a:pPr algn="l">
              <a:lnSpc>
                <a:spcPct val="110000"/>
              </a:lnSpc>
              <a:spcAft>
                <a:spcPts val="0"/>
              </a:spcAft>
            </a:pPr>
            <a:r>
              <a:rPr sz="1700" b="0">
                <a:solidFill>
                  <a:srgbClr val="0B308E"/>
                </a:solidFill>
                <a:latin typeface="Segoe UI Semibold"/>
              </a:rPr>
              <a:t>450 MHz advantages</a:t>
            </a:r>
          </a:p>
        </p:txBody>
      </p:sp>
      <p:cxnSp>
        <p:nvCxnSpPr>
          <p:cNvPr id="18" name="Connector 17"/>
          <p:cNvCxnSpPr/>
          <p:nvPr/>
        </p:nvCxnSpPr>
        <p:spPr>
          <a:xfrm>
            <a:off x="812800" y="3810000"/>
            <a:ext cx="2108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12800" y="3937000"/>
            <a:ext cx="2133600" cy="889000"/>
          </a:xfrm>
          <a:prstGeom prst="rect">
            <a:avLst/>
          </a:prstGeom>
          <a:noFill/>
        </p:spPr>
        <p:txBody>
          <a:bodyPr wrap="square" lIns="0" rIns="0" tIns="0" bIns="0" anchor="t">
            <a:spAutoFit/>
          </a:bodyPr>
          <a:lstStyle/>
          <a:p>
            <a:pPr algn="l">
              <a:lnSpc>
                <a:spcPct val="125000"/>
              </a:lnSpc>
              <a:spcAft>
                <a:spcPts val="0"/>
              </a:spcAft>
            </a:pPr>
            <a:r>
              <a:rPr sz="1250" b="0">
                <a:solidFill>
                  <a:srgbClr val="55607A"/>
                </a:solidFill>
                <a:latin typeface="Segoe UI"/>
              </a:rPr>
              <a:t>What can this band do that mid-band cannot?</a:t>
            </a:r>
          </a:p>
        </p:txBody>
      </p:sp>
      <p:sp>
        <p:nvSpPr>
          <p:cNvPr id="20" name="TextBox 19"/>
          <p:cNvSpPr txBox="1"/>
          <p:nvPr/>
        </p:nvSpPr>
        <p:spPr>
          <a:xfrm>
            <a:off x="812800" y="5029200"/>
            <a:ext cx="2032000" cy="177800"/>
          </a:xfrm>
          <a:prstGeom prst="rect">
            <a:avLst/>
          </a:prstGeom>
          <a:noFill/>
        </p:spPr>
        <p:txBody>
          <a:bodyPr wrap="square" lIns="0" rIns="0" tIns="0" bIns="0" anchor="t">
            <a:spAutoFit/>
          </a:bodyPr>
          <a:lstStyle/>
          <a:p>
            <a:pPr algn="l">
              <a:lnSpc>
                <a:spcPct val="120000"/>
              </a:lnSpc>
              <a:spcAft>
                <a:spcPts val="0"/>
              </a:spcAft>
            </a:pPr>
            <a:r>
              <a:rPr sz="850" b="0" spc="120">
                <a:solidFill>
                  <a:srgbClr val="93A0B4"/>
                </a:solidFill>
                <a:latin typeface="Segoe UI Semibold"/>
              </a:rPr>
              <a:t>PAGES 3 – 5</a:t>
            </a:r>
          </a:p>
        </p:txBody>
      </p:sp>
      <p:sp>
        <p:nvSpPr>
          <p:cNvPr id="21" name="Rectangle 20"/>
          <p:cNvSpPr/>
          <p:nvPr/>
        </p:nvSpPr>
        <p:spPr>
          <a:xfrm>
            <a:off x="3429000" y="1574800"/>
            <a:ext cx="2514600" cy="381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3429000" y="1574800"/>
            <a:ext cx="2514600" cy="508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3632200" y="1879600"/>
            <a:ext cx="711200" cy="711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users_white.png"/>
          <p:cNvPicPr>
            <a:picLocks noChangeAspect="1"/>
          </p:cNvPicPr>
          <p:nvPr/>
        </p:nvPicPr>
        <p:blipFill>
          <a:blip r:embed="rId3"/>
          <a:stretch>
            <a:fillRect/>
          </a:stretch>
        </p:blipFill>
        <p:spPr>
          <a:xfrm>
            <a:off x="3802888" y="2050288"/>
            <a:ext cx="369824" cy="369824"/>
          </a:xfrm>
          <a:prstGeom prst="rect">
            <a:avLst/>
          </a:prstGeom>
        </p:spPr>
      </p:pic>
      <p:sp>
        <p:nvSpPr>
          <p:cNvPr id="25" name="Oval 24"/>
          <p:cNvSpPr/>
          <p:nvPr/>
        </p:nvSpPr>
        <p:spPr>
          <a:xfrm>
            <a:off x="4119372" y="1819859"/>
            <a:ext cx="298704" cy="298704"/>
          </a:xfrm>
          <a:prstGeom prst="ellipse">
            <a:avLst/>
          </a:prstGeom>
          <a:solidFill>
            <a:srgbClr val="8CC63F"/>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119372" y="1819859"/>
            <a:ext cx="298704" cy="298704"/>
          </a:xfrm>
          <a:prstGeom prst="rect">
            <a:avLst/>
          </a:prstGeom>
          <a:noFill/>
        </p:spPr>
        <p:txBody>
          <a:bodyPr wrap="square" lIns="0" rIns="0" tIns="0" bIns="0" anchor="ctr">
            <a:spAutoFit/>
          </a:bodyPr>
          <a:lstStyle/>
          <a:p>
            <a:pPr algn="ctr">
              <a:lnSpc>
                <a:spcPct val="120000"/>
              </a:lnSpc>
              <a:spcAft>
                <a:spcPts val="0"/>
              </a:spcAft>
            </a:pPr>
            <a:r>
              <a:rPr sz="1176" b="0">
                <a:solidFill>
                  <a:srgbClr val="0B308E"/>
                </a:solidFill>
                <a:latin typeface="Segoe UI Semibold"/>
              </a:rPr>
              <a:t>02</a:t>
            </a:r>
          </a:p>
        </p:txBody>
      </p:sp>
      <p:sp>
        <p:nvSpPr>
          <p:cNvPr id="27" name="TextBox 26"/>
          <p:cNvSpPr txBox="1"/>
          <p:nvPr/>
        </p:nvSpPr>
        <p:spPr>
          <a:xfrm>
            <a:off x="3632200" y="2819400"/>
            <a:ext cx="2032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02</a:t>
            </a:r>
          </a:p>
        </p:txBody>
      </p:sp>
      <p:sp>
        <p:nvSpPr>
          <p:cNvPr id="28" name="TextBox 27"/>
          <p:cNvSpPr txBox="1"/>
          <p:nvPr/>
        </p:nvSpPr>
        <p:spPr>
          <a:xfrm>
            <a:off x="3632200" y="3048000"/>
            <a:ext cx="2133600" cy="635000"/>
          </a:xfrm>
          <a:prstGeom prst="rect">
            <a:avLst/>
          </a:prstGeom>
          <a:noFill/>
        </p:spPr>
        <p:txBody>
          <a:bodyPr wrap="square" lIns="0" rIns="0" tIns="0" bIns="0" anchor="t">
            <a:spAutoFit/>
          </a:bodyPr>
          <a:lstStyle/>
          <a:p>
            <a:pPr algn="l">
              <a:lnSpc>
                <a:spcPct val="110000"/>
              </a:lnSpc>
              <a:spcAft>
                <a:spcPts val="0"/>
              </a:spcAft>
            </a:pPr>
            <a:r>
              <a:rPr sz="1700" b="0">
                <a:solidFill>
                  <a:srgbClr val="0B308E"/>
                </a:solidFill>
                <a:latin typeface="Segoe UI Semibold"/>
              </a:rPr>
              <a:t>Target industries</a:t>
            </a:r>
          </a:p>
        </p:txBody>
      </p:sp>
      <p:cxnSp>
        <p:nvCxnSpPr>
          <p:cNvPr id="29" name="Connector 28"/>
          <p:cNvCxnSpPr/>
          <p:nvPr/>
        </p:nvCxnSpPr>
        <p:spPr>
          <a:xfrm>
            <a:off x="3632200" y="3810000"/>
            <a:ext cx="2108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3632200" y="3937000"/>
            <a:ext cx="2133600" cy="889000"/>
          </a:xfrm>
          <a:prstGeom prst="rect">
            <a:avLst/>
          </a:prstGeom>
          <a:noFill/>
        </p:spPr>
        <p:txBody>
          <a:bodyPr wrap="square" lIns="0" rIns="0" tIns="0" bIns="0" anchor="t">
            <a:spAutoFit/>
          </a:bodyPr>
          <a:lstStyle/>
          <a:p>
            <a:pPr algn="l">
              <a:lnSpc>
                <a:spcPct val="125000"/>
              </a:lnSpc>
              <a:spcAft>
                <a:spcPts val="0"/>
              </a:spcAft>
            </a:pPr>
            <a:r>
              <a:rPr sz="1250" b="0">
                <a:solidFill>
                  <a:srgbClr val="55607A"/>
                </a:solidFill>
                <a:latin typeface="Segoe UI"/>
              </a:rPr>
              <a:t>Who needs it, and who would pay first?</a:t>
            </a:r>
          </a:p>
        </p:txBody>
      </p:sp>
      <p:sp>
        <p:nvSpPr>
          <p:cNvPr id="31" name="TextBox 30"/>
          <p:cNvSpPr txBox="1"/>
          <p:nvPr/>
        </p:nvSpPr>
        <p:spPr>
          <a:xfrm>
            <a:off x="3632200" y="5029200"/>
            <a:ext cx="2032000" cy="177800"/>
          </a:xfrm>
          <a:prstGeom prst="rect">
            <a:avLst/>
          </a:prstGeom>
          <a:noFill/>
        </p:spPr>
        <p:txBody>
          <a:bodyPr wrap="square" lIns="0" rIns="0" tIns="0" bIns="0" anchor="t">
            <a:spAutoFit/>
          </a:bodyPr>
          <a:lstStyle/>
          <a:p>
            <a:pPr algn="l">
              <a:lnSpc>
                <a:spcPct val="120000"/>
              </a:lnSpc>
              <a:spcAft>
                <a:spcPts val="0"/>
              </a:spcAft>
            </a:pPr>
            <a:r>
              <a:rPr sz="850" b="0" spc="120">
                <a:solidFill>
                  <a:srgbClr val="93A0B4"/>
                </a:solidFill>
                <a:latin typeface="Segoe UI Semibold"/>
              </a:rPr>
              <a:t>PAGES 6 – 13</a:t>
            </a:r>
          </a:p>
        </p:txBody>
      </p:sp>
      <p:sp>
        <p:nvSpPr>
          <p:cNvPr id="32" name="Rectangle 31"/>
          <p:cNvSpPr/>
          <p:nvPr/>
        </p:nvSpPr>
        <p:spPr>
          <a:xfrm>
            <a:off x="6248400" y="1574800"/>
            <a:ext cx="2514600" cy="381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6248400" y="1574800"/>
            <a:ext cx="2514600" cy="508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Oval 33"/>
          <p:cNvSpPr/>
          <p:nvPr/>
        </p:nvSpPr>
        <p:spPr>
          <a:xfrm>
            <a:off x="6451600" y="1879600"/>
            <a:ext cx="711200" cy="711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5" name="Picture 34" descr="globe_white.png"/>
          <p:cNvPicPr>
            <a:picLocks noChangeAspect="1"/>
          </p:cNvPicPr>
          <p:nvPr/>
        </p:nvPicPr>
        <p:blipFill>
          <a:blip r:embed="rId4"/>
          <a:stretch>
            <a:fillRect/>
          </a:stretch>
        </p:blipFill>
        <p:spPr>
          <a:xfrm>
            <a:off x="6622288" y="2050288"/>
            <a:ext cx="369824" cy="369824"/>
          </a:xfrm>
          <a:prstGeom prst="rect">
            <a:avLst/>
          </a:prstGeom>
        </p:spPr>
      </p:pic>
      <p:sp>
        <p:nvSpPr>
          <p:cNvPr id="36" name="Oval 35"/>
          <p:cNvSpPr/>
          <p:nvPr/>
        </p:nvSpPr>
        <p:spPr>
          <a:xfrm>
            <a:off x="6938772" y="1819859"/>
            <a:ext cx="298704" cy="298704"/>
          </a:xfrm>
          <a:prstGeom prst="ellipse">
            <a:avLst/>
          </a:prstGeom>
          <a:solidFill>
            <a:srgbClr val="8CC63F"/>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938772" y="1819859"/>
            <a:ext cx="298704" cy="298704"/>
          </a:xfrm>
          <a:prstGeom prst="rect">
            <a:avLst/>
          </a:prstGeom>
          <a:noFill/>
        </p:spPr>
        <p:txBody>
          <a:bodyPr wrap="square" lIns="0" rIns="0" tIns="0" bIns="0" anchor="ctr">
            <a:spAutoFit/>
          </a:bodyPr>
          <a:lstStyle/>
          <a:p>
            <a:pPr algn="ctr">
              <a:lnSpc>
                <a:spcPct val="120000"/>
              </a:lnSpc>
              <a:spcAft>
                <a:spcPts val="0"/>
              </a:spcAft>
            </a:pPr>
            <a:r>
              <a:rPr sz="1176" b="0">
                <a:solidFill>
                  <a:srgbClr val="0B308E"/>
                </a:solidFill>
                <a:latin typeface="Segoe UI Semibold"/>
              </a:rPr>
              <a:t>03</a:t>
            </a:r>
          </a:p>
        </p:txBody>
      </p:sp>
      <p:sp>
        <p:nvSpPr>
          <p:cNvPr id="38" name="TextBox 37"/>
          <p:cNvSpPr txBox="1"/>
          <p:nvPr/>
        </p:nvSpPr>
        <p:spPr>
          <a:xfrm>
            <a:off x="6451600" y="2819400"/>
            <a:ext cx="2032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03</a:t>
            </a:r>
          </a:p>
        </p:txBody>
      </p:sp>
      <p:sp>
        <p:nvSpPr>
          <p:cNvPr id="39" name="TextBox 38"/>
          <p:cNvSpPr txBox="1"/>
          <p:nvPr/>
        </p:nvSpPr>
        <p:spPr>
          <a:xfrm>
            <a:off x="6451600" y="3048000"/>
            <a:ext cx="2133600" cy="635000"/>
          </a:xfrm>
          <a:prstGeom prst="rect">
            <a:avLst/>
          </a:prstGeom>
          <a:noFill/>
        </p:spPr>
        <p:txBody>
          <a:bodyPr wrap="square" lIns="0" rIns="0" tIns="0" bIns="0" anchor="t">
            <a:spAutoFit/>
          </a:bodyPr>
          <a:lstStyle/>
          <a:p>
            <a:pPr algn="l">
              <a:lnSpc>
                <a:spcPct val="110000"/>
              </a:lnSpc>
              <a:spcAft>
                <a:spcPts val="0"/>
              </a:spcAft>
            </a:pPr>
            <a:r>
              <a:rPr sz="1700" b="0">
                <a:solidFill>
                  <a:srgbClr val="0B308E"/>
                </a:solidFill>
                <a:latin typeface="Segoe UI Semibold"/>
              </a:rPr>
              <a:t>Reference cases</a:t>
            </a:r>
          </a:p>
        </p:txBody>
      </p:sp>
      <p:cxnSp>
        <p:nvCxnSpPr>
          <p:cNvPr id="40" name="Connector 39"/>
          <p:cNvCxnSpPr/>
          <p:nvPr/>
        </p:nvCxnSpPr>
        <p:spPr>
          <a:xfrm>
            <a:off x="6451600" y="3810000"/>
            <a:ext cx="2108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6451600" y="3937000"/>
            <a:ext cx="2133600" cy="889000"/>
          </a:xfrm>
          <a:prstGeom prst="rect">
            <a:avLst/>
          </a:prstGeom>
          <a:noFill/>
        </p:spPr>
        <p:txBody>
          <a:bodyPr wrap="square" lIns="0" rIns="0" tIns="0" bIns="0" anchor="t">
            <a:spAutoFit/>
          </a:bodyPr>
          <a:lstStyle/>
          <a:p>
            <a:pPr algn="l">
              <a:lnSpc>
                <a:spcPct val="125000"/>
              </a:lnSpc>
              <a:spcAft>
                <a:spcPts val="0"/>
              </a:spcAft>
            </a:pPr>
            <a:r>
              <a:rPr sz="1250" b="0">
                <a:solidFill>
                  <a:srgbClr val="55607A"/>
                </a:solidFill>
                <a:latin typeface="Segoe UI"/>
              </a:rPr>
              <a:t>How is it built, and where does it run today?</a:t>
            </a:r>
          </a:p>
        </p:txBody>
      </p:sp>
      <p:sp>
        <p:nvSpPr>
          <p:cNvPr id="42" name="TextBox 41"/>
          <p:cNvSpPr txBox="1"/>
          <p:nvPr/>
        </p:nvSpPr>
        <p:spPr>
          <a:xfrm>
            <a:off x="6451600" y="5029200"/>
            <a:ext cx="2032000" cy="177800"/>
          </a:xfrm>
          <a:prstGeom prst="rect">
            <a:avLst/>
          </a:prstGeom>
          <a:noFill/>
        </p:spPr>
        <p:txBody>
          <a:bodyPr wrap="square" lIns="0" rIns="0" tIns="0" bIns="0" anchor="t">
            <a:spAutoFit/>
          </a:bodyPr>
          <a:lstStyle/>
          <a:p>
            <a:pPr algn="l">
              <a:lnSpc>
                <a:spcPct val="120000"/>
              </a:lnSpc>
              <a:spcAft>
                <a:spcPts val="0"/>
              </a:spcAft>
            </a:pPr>
            <a:r>
              <a:rPr sz="850" b="0" spc="120">
                <a:solidFill>
                  <a:srgbClr val="93A0B4"/>
                </a:solidFill>
                <a:latin typeface="Segoe UI Semibold"/>
              </a:rPr>
              <a:t>PAGES 14 – 17</a:t>
            </a:r>
          </a:p>
        </p:txBody>
      </p:sp>
      <p:sp>
        <p:nvSpPr>
          <p:cNvPr id="43" name="Rectangle 42"/>
          <p:cNvSpPr/>
          <p:nvPr/>
        </p:nvSpPr>
        <p:spPr>
          <a:xfrm>
            <a:off x="9067800" y="1574800"/>
            <a:ext cx="2514600" cy="381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Rectangle 43"/>
          <p:cNvSpPr/>
          <p:nvPr/>
        </p:nvSpPr>
        <p:spPr>
          <a:xfrm>
            <a:off x="9067800" y="1574800"/>
            <a:ext cx="2514600" cy="508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Oval 44"/>
          <p:cNvSpPr/>
          <p:nvPr/>
        </p:nvSpPr>
        <p:spPr>
          <a:xfrm>
            <a:off x="9271000" y="1879600"/>
            <a:ext cx="711200" cy="711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6" name="Picture 45" descr="coins_white.png"/>
          <p:cNvPicPr>
            <a:picLocks noChangeAspect="1"/>
          </p:cNvPicPr>
          <p:nvPr/>
        </p:nvPicPr>
        <p:blipFill>
          <a:blip r:embed="rId5"/>
          <a:stretch>
            <a:fillRect/>
          </a:stretch>
        </p:blipFill>
        <p:spPr>
          <a:xfrm>
            <a:off x="9441688" y="2050288"/>
            <a:ext cx="369824" cy="369824"/>
          </a:xfrm>
          <a:prstGeom prst="rect">
            <a:avLst/>
          </a:prstGeom>
        </p:spPr>
      </p:pic>
      <p:sp>
        <p:nvSpPr>
          <p:cNvPr id="47" name="Oval 46"/>
          <p:cNvSpPr/>
          <p:nvPr/>
        </p:nvSpPr>
        <p:spPr>
          <a:xfrm>
            <a:off x="9758172" y="1819859"/>
            <a:ext cx="298704" cy="298704"/>
          </a:xfrm>
          <a:prstGeom prst="ellipse">
            <a:avLst/>
          </a:prstGeom>
          <a:solidFill>
            <a:srgbClr val="8CC63F"/>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9758172" y="1819859"/>
            <a:ext cx="298704" cy="298704"/>
          </a:xfrm>
          <a:prstGeom prst="rect">
            <a:avLst/>
          </a:prstGeom>
          <a:noFill/>
        </p:spPr>
        <p:txBody>
          <a:bodyPr wrap="square" lIns="0" rIns="0" tIns="0" bIns="0" anchor="ctr">
            <a:spAutoFit/>
          </a:bodyPr>
          <a:lstStyle/>
          <a:p>
            <a:pPr algn="ctr">
              <a:lnSpc>
                <a:spcPct val="120000"/>
              </a:lnSpc>
              <a:spcAft>
                <a:spcPts val="0"/>
              </a:spcAft>
            </a:pPr>
            <a:r>
              <a:rPr sz="1176" b="0">
                <a:solidFill>
                  <a:srgbClr val="0B308E"/>
                </a:solidFill>
                <a:latin typeface="Segoe UI Semibold"/>
              </a:rPr>
              <a:t>04</a:t>
            </a:r>
          </a:p>
        </p:txBody>
      </p:sp>
      <p:sp>
        <p:nvSpPr>
          <p:cNvPr id="49" name="TextBox 48"/>
          <p:cNvSpPr txBox="1"/>
          <p:nvPr/>
        </p:nvSpPr>
        <p:spPr>
          <a:xfrm>
            <a:off x="9271000" y="2819400"/>
            <a:ext cx="2032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04</a:t>
            </a:r>
          </a:p>
        </p:txBody>
      </p:sp>
      <p:sp>
        <p:nvSpPr>
          <p:cNvPr id="50" name="TextBox 49"/>
          <p:cNvSpPr txBox="1"/>
          <p:nvPr/>
        </p:nvSpPr>
        <p:spPr>
          <a:xfrm>
            <a:off x="9271000" y="3048000"/>
            <a:ext cx="2133600" cy="635000"/>
          </a:xfrm>
          <a:prstGeom prst="rect">
            <a:avLst/>
          </a:prstGeom>
          <a:noFill/>
        </p:spPr>
        <p:txBody>
          <a:bodyPr wrap="square" lIns="0" rIns="0" tIns="0" bIns="0" anchor="t">
            <a:spAutoFit/>
          </a:bodyPr>
          <a:lstStyle/>
          <a:p>
            <a:pPr algn="l">
              <a:lnSpc>
                <a:spcPct val="110000"/>
              </a:lnSpc>
              <a:spcAft>
                <a:spcPts val="0"/>
              </a:spcAft>
            </a:pPr>
            <a:r>
              <a:rPr sz="1700" b="0">
                <a:solidFill>
                  <a:srgbClr val="0B308E"/>
                </a:solidFill>
                <a:latin typeface="Segoe UI Semibold"/>
              </a:rPr>
              <a:t>Business model</a:t>
            </a:r>
          </a:p>
        </p:txBody>
      </p:sp>
      <p:cxnSp>
        <p:nvCxnSpPr>
          <p:cNvPr id="51" name="Connector 50"/>
          <p:cNvCxnSpPr/>
          <p:nvPr/>
        </p:nvCxnSpPr>
        <p:spPr>
          <a:xfrm>
            <a:off x="9271000" y="3810000"/>
            <a:ext cx="2108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9271000" y="3937000"/>
            <a:ext cx="2133600" cy="889000"/>
          </a:xfrm>
          <a:prstGeom prst="rect">
            <a:avLst/>
          </a:prstGeom>
          <a:noFill/>
        </p:spPr>
        <p:txBody>
          <a:bodyPr wrap="square" lIns="0" rIns="0" tIns="0" bIns="0" anchor="t">
            <a:spAutoFit/>
          </a:bodyPr>
          <a:lstStyle/>
          <a:p>
            <a:pPr algn="l">
              <a:lnSpc>
                <a:spcPct val="125000"/>
              </a:lnSpc>
              <a:spcAft>
                <a:spcPts val="0"/>
              </a:spcAft>
            </a:pPr>
            <a:r>
              <a:rPr sz="1250" b="0">
                <a:solidFill>
                  <a:srgbClr val="55607A"/>
                </a:solidFill>
                <a:latin typeface="Segoe UI"/>
              </a:rPr>
              <a:t>How could the network pay for itself?</a:t>
            </a:r>
          </a:p>
        </p:txBody>
      </p:sp>
      <p:sp>
        <p:nvSpPr>
          <p:cNvPr id="53" name="TextBox 52"/>
          <p:cNvSpPr txBox="1"/>
          <p:nvPr/>
        </p:nvSpPr>
        <p:spPr>
          <a:xfrm>
            <a:off x="9271000" y="5029200"/>
            <a:ext cx="2032000" cy="177800"/>
          </a:xfrm>
          <a:prstGeom prst="rect">
            <a:avLst/>
          </a:prstGeom>
          <a:noFill/>
        </p:spPr>
        <p:txBody>
          <a:bodyPr wrap="square" lIns="0" rIns="0" tIns="0" bIns="0" anchor="t">
            <a:spAutoFit/>
          </a:bodyPr>
          <a:lstStyle/>
          <a:p>
            <a:pPr algn="l">
              <a:lnSpc>
                <a:spcPct val="120000"/>
              </a:lnSpc>
              <a:spcAft>
                <a:spcPts val="0"/>
              </a:spcAft>
            </a:pPr>
            <a:r>
              <a:rPr sz="850" b="0" spc="120">
                <a:solidFill>
                  <a:srgbClr val="93A0B4"/>
                </a:solidFill>
                <a:latin typeface="Segoe UI Semibold"/>
              </a:rPr>
              <a:t>PAGES 18 – 19</a:t>
            </a:r>
          </a:p>
        </p:txBody>
      </p:sp>
      <p:sp>
        <p:nvSpPr>
          <p:cNvPr id="54" name="Rectangle 53"/>
          <p:cNvSpPr/>
          <p:nvPr/>
        </p:nvSpPr>
        <p:spPr>
          <a:xfrm>
            <a:off x="609600" y="5638800"/>
            <a:ext cx="10972800" cy="5080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5" name="Picture 54" descr="handshake_navy.png"/>
          <p:cNvPicPr>
            <a:picLocks noChangeAspect="1"/>
          </p:cNvPicPr>
          <p:nvPr/>
        </p:nvPicPr>
        <p:blipFill>
          <a:blip r:embed="rId6"/>
          <a:stretch>
            <a:fillRect/>
          </a:stretch>
        </p:blipFill>
        <p:spPr>
          <a:xfrm>
            <a:off x="812800" y="5765800"/>
            <a:ext cx="254000" cy="254000"/>
          </a:xfrm>
          <a:prstGeom prst="rect">
            <a:avLst/>
          </a:prstGeom>
        </p:spPr>
      </p:pic>
      <p:sp>
        <p:nvSpPr>
          <p:cNvPr id="56" name="TextBox 55"/>
          <p:cNvSpPr txBox="1"/>
          <p:nvPr/>
        </p:nvSpPr>
        <p:spPr>
          <a:xfrm>
            <a:off x="1219200" y="5638800"/>
            <a:ext cx="10160000" cy="508000"/>
          </a:xfrm>
          <a:prstGeom prst="rect">
            <a:avLst/>
          </a:prstGeom>
          <a:noFill/>
        </p:spPr>
        <p:txBody>
          <a:bodyPr wrap="square" lIns="0" rIns="0" tIns="0" bIns="0" anchor="ctr">
            <a:spAutoFit/>
          </a:bodyPr>
          <a:lstStyle/>
          <a:p>
            <a:pPr algn="l">
              <a:lnSpc>
                <a:spcPct val="130000"/>
              </a:lnSpc>
            </a:pPr>
            <a:r>
              <a:rPr sz="1250" b="0">
                <a:solidFill>
                  <a:srgbClr val="0B308E"/>
                </a:solidFill>
                <a:latin typeface="Segoe UI Semibold"/>
              </a:rPr>
              <a:t>An open discussion:   </a:t>
            </a:r>
            <a:r>
              <a:rPr sz="1250" b="0">
                <a:solidFill>
                  <a:srgbClr val="16213E"/>
                </a:solidFill>
                <a:latin typeface="Segoe UI"/>
              </a:rPr>
              <a:t>the spectrum is Globe’s; these are options to explore together.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000" cy="76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0"/>
            <a:ext cx="40640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863600" y="15240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01 OF 04</a:t>
            </a:r>
          </a:p>
        </p:txBody>
      </p:sp>
      <p:sp>
        <p:nvSpPr>
          <p:cNvPr id="6" name="TextBox 5"/>
          <p:cNvSpPr txBox="1"/>
          <p:nvPr/>
        </p:nvSpPr>
        <p:spPr>
          <a:xfrm>
            <a:off x="787400" y="1727200"/>
            <a:ext cx="4826000" cy="1905000"/>
          </a:xfrm>
          <a:prstGeom prst="rect">
            <a:avLst/>
          </a:prstGeom>
          <a:noFill/>
        </p:spPr>
        <p:txBody>
          <a:bodyPr wrap="square" lIns="0" rIns="0" tIns="0" bIns="0" anchor="ctr">
            <a:spAutoFit/>
          </a:bodyPr>
          <a:lstStyle/>
          <a:p>
            <a:pPr algn="l">
              <a:lnSpc>
                <a:spcPct val="120000"/>
              </a:lnSpc>
              <a:spcAft>
                <a:spcPts val="0"/>
              </a:spcAft>
            </a:pPr>
            <a:r>
              <a:rPr sz="13000" b="0">
                <a:solidFill>
                  <a:srgbClr val="0B308E"/>
                </a:solidFill>
                <a:latin typeface="Segoe UI Light"/>
              </a:rPr>
              <a:t>01</a:t>
            </a:r>
          </a:p>
        </p:txBody>
      </p:sp>
      <p:sp>
        <p:nvSpPr>
          <p:cNvPr id="7" name="Rectangle 6"/>
          <p:cNvSpPr/>
          <p:nvPr/>
        </p:nvSpPr>
        <p:spPr>
          <a:xfrm>
            <a:off x="863600" y="3759200"/>
            <a:ext cx="812800" cy="508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63600" y="3987800"/>
            <a:ext cx="4826000" cy="558800"/>
          </a:xfrm>
          <a:prstGeom prst="rect">
            <a:avLst/>
          </a:prstGeom>
          <a:noFill/>
        </p:spPr>
        <p:txBody>
          <a:bodyPr wrap="square" lIns="0" rIns="0" tIns="0" bIns="0" anchor="ctr">
            <a:spAutoFit/>
          </a:bodyPr>
          <a:lstStyle/>
          <a:p>
            <a:pPr algn="l">
              <a:lnSpc>
                <a:spcPct val="120000"/>
              </a:lnSpc>
              <a:spcAft>
                <a:spcPts val="0"/>
              </a:spcAft>
            </a:pPr>
            <a:r>
              <a:rPr sz="3000" b="0">
                <a:solidFill>
                  <a:srgbClr val="0B308E"/>
                </a:solidFill>
                <a:latin typeface="Segoe UI Semibold"/>
              </a:rPr>
              <a:t>450 MHz advantages</a:t>
            </a:r>
          </a:p>
        </p:txBody>
      </p:sp>
      <p:sp>
        <p:nvSpPr>
          <p:cNvPr id="9" name="TextBox 8"/>
          <p:cNvSpPr txBox="1"/>
          <p:nvPr/>
        </p:nvSpPr>
        <p:spPr>
          <a:xfrm>
            <a:off x="863600" y="4572000"/>
            <a:ext cx="4826000" cy="558800"/>
          </a:xfrm>
          <a:prstGeom prst="rect">
            <a:avLst/>
          </a:prstGeom>
          <a:noFill/>
        </p:spPr>
        <p:txBody>
          <a:bodyPr wrap="square" lIns="0" rIns="0" tIns="0" bIns="0" anchor="t">
            <a:spAutoFit/>
          </a:bodyPr>
          <a:lstStyle/>
          <a:p>
            <a:pPr algn="l">
              <a:lnSpc>
                <a:spcPct val="125000"/>
              </a:lnSpc>
              <a:spcAft>
                <a:spcPts val="0"/>
              </a:spcAft>
            </a:pPr>
            <a:r>
              <a:rPr sz="1500" b="0">
                <a:solidFill>
                  <a:srgbClr val="55607A"/>
                </a:solidFill>
                <a:latin typeface="Segoe UI"/>
              </a:rPr>
              <a:t>What can this band do that mid-band cannot?</a:t>
            </a:r>
          </a:p>
        </p:txBody>
      </p:sp>
      <p:sp>
        <p:nvSpPr>
          <p:cNvPr id="10" name="Rectangle 9"/>
          <p:cNvSpPr/>
          <p:nvPr/>
        </p:nvSpPr>
        <p:spPr>
          <a:xfrm>
            <a:off x="6197600" y="1524000"/>
            <a:ext cx="5384800" cy="8636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197600" y="1524000"/>
            <a:ext cx="50800" cy="8636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6477000" y="1701800"/>
            <a:ext cx="508000" cy="508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radio-tower_white.png"/>
          <p:cNvPicPr>
            <a:picLocks noChangeAspect="1"/>
          </p:cNvPicPr>
          <p:nvPr/>
        </p:nvPicPr>
        <p:blipFill>
          <a:blip r:embed="rId2"/>
          <a:stretch>
            <a:fillRect/>
          </a:stretch>
        </p:blipFill>
        <p:spPr>
          <a:xfrm>
            <a:off x="6598920" y="1823720"/>
            <a:ext cx="264160" cy="264160"/>
          </a:xfrm>
          <a:prstGeom prst="rect">
            <a:avLst/>
          </a:prstGeom>
        </p:spPr>
      </p:pic>
      <p:sp>
        <p:nvSpPr>
          <p:cNvPr id="14" name="Oval 13"/>
          <p:cNvSpPr/>
          <p:nvPr/>
        </p:nvSpPr>
        <p:spPr>
          <a:xfrm>
            <a:off x="6824980" y="1659127"/>
            <a:ext cx="213360" cy="213360"/>
          </a:xfrm>
          <a:prstGeom prst="ellipse">
            <a:avLst/>
          </a:prstGeom>
          <a:solidFill>
            <a:srgbClr val="0B308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24980" y="1659127"/>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01</a:t>
            </a:r>
          </a:p>
        </p:txBody>
      </p:sp>
      <p:sp>
        <p:nvSpPr>
          <p:cNvPr id="16" name="TextBox 15"/>
          <p:cNvSpPr txBox="1"/>
          <p:nvPr/>
        </p:nvSpPr>
        <p:spPr>
          <a:xfrm>
            <a:off x="7289800" y="1524000"/>
            <a:ext cx="4064000" cy="863600"/>
          </a:xfrm>
          <a:prstGeom prst="rect">
            <a:avLst/>
          </a:prstGeom>
          <a:noFill/>
        </p:spPr>
        <p:txBody>
          <a:bodyPr wrap="square" lIns="0" rIns="0" tIns="0" bIns="0" anchor="ctr">
            <a:spAutoFit/>
          </a:bodyPr>
          <a:lstStyle/>
          <a:p>
            <a:pPr algn="l">
              <a:lnSpc>
                <a:spcPct val="120000"/>
              </a:lnSpc>
              <a:spcAft>
                <a:spcPts val="0"/>
              </a:spcAft>
            </a:pPr>
            <a:r>
              <a:rPr sz="1700" b="0">
                <a:solidFill>
                  <a:srgbClr val="0B308E"/>
                </a:solidFill>
                <a:latin typeface="Segoe UI Semibold"/>
              </a:rPr>
              <a:t>450 MHz advantages</a:t>
            </a:r>
          </a:p>
        </p:txBody>
      </p:sp>
      <p:sp>
        <p:nvSpPr>
          <p:cNvPr id="17" name="Rectangle 16"/>
          <p:cNvSpPr/>
          <p:nvPr/>
        </p:nvSpPr>
        <p:spPr>
          <a:xfrm>
            <a:off x="6197600" y="2540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6477000" y="2717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users_steel.png"/>
          <p:cNvPicPr>
            <a:picLocks noChangeAspect="1"/>
          </p:cNvPicPr>
          <p:nvPr/>
        </p:nvPicPr>
        <p:blipFill>
          <a:blip r:embed="rId3"/>
          <a:stretch>
            <a:fillRect/>
          </a:stretch>
        </p:blipFill>
        <p:spPr>
          <a:xfrm>
            <a:off x="6598920" y="2839720"/>
            <a:ext cx="264160" cy="264160"/>
          </a:xfrm>
          <a:prstGeom prst="rect">
            <a:avLst/>
          </a:prstGeom>
        </p:spPr>
      </p:pic>
      <p:sp>
        <p:nvSpPr>
          <p:cNvPr id="20" name="Oval 19"/>
          <p:cNvSpPr/>
          <p:nvPr/>
        </p:nvSpPr>
        <p:spPr>
          <a:xfrm>
            <a:off x="6824980" y="2675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824980" y="2675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02</a:t>
            </a:r>
          </a:p>
        </p:txBody>
      </p:sp>
      <p:sp>
        <p:nvSpPr>
          <p:cNvPr id="22" name="TextBox 21"/>
          <p:cNvSpPr txBox="1"/>
          <p:nvPr/>
        </p:nvSpPr>
        <p:spPr>
          <a:xfrm>
            <a:off x="7289800" y="2540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Target industries</a:t>
            </a:r>
          </a:p>
        </p:txBody>
      </p:sp>
      <p:sp>
        <p:nvSpPr>
          <p:cNvPr id="23" name="Rectangle 22"/>
          <p:cNvSpPr/>
          <p:nvPr/>
        </p:nvSpPr>
        <p:spPr>
          <a:xfrm>
            <a:off x="6197600" y="3556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6477000" y="3733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5" name="Picture 24" descr="globe_steel.png"/>
          <p:cNvPicPr>
            <a:picLocks noChangeAspect="1"/>
          </p:cNvPicPr>
          <p:nvPr/>
        </p:nvPicPr>
        <p:blipFill>
          <a:blip r:embed="rId4"/>
          <a:stretch>
            <a:fillRect/>
          </a:stretch>
        </p:blipFill>
        <p:spPr>
          <a:xfrm>
            <a:off x="6598920" y="3855720"/>
            <a:ext cx="264160" cy="264160"/>
          </a:xfrm>
          <a:prstGeom prst="rect">
            <a:avLst/>
          </a:prstGeom>
        </p:spPr>
      </p:pic>
      <p:sp>
        <p:nvSpPr>
          <p:cNvPr id="26" name="Oval 25"/>
          <p:cNvSpPr/>
          <p:nvPr/>
        </p:nvSpPr>
        <p:spPr>
          <a:xfrm>
            <a:off x="6824980" y="3691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824980" y="3691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03</a:t>
            </a:r>
          </a:p>
        </p:txBody>
      </p:sp>
      <p:sp>
        <p:nvSpPr>
          <p:cNvPr id="28" name="TextBox 27"/>
          <p:cNvSpPr txBox="1"/>
          <p:nvPr/>
        </p:nvSpPr>
        <p:spPr>
          <a:xfrm>
            <a:off x="7289800" y="3556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Reference cases</a:t>
            </a:r>
          </a:p>
        </p:txBody>
      </p:sp>
      <p:sp>
        <p:nvSpPr>
          <p:cNvPr id="29" name="Rectangle 28"/>
          <p:cNvSpPr/>
          <p:nvPr/>
        </p:nvSpPr>
        <p:spPr>
          <a:xfrm>
            <a:off x="6197600" y="4572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6477000" y="4749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1" name="Picture 30" descr="coins_steel.png"/>
          <p:cNvPicPr>
            <a:picLocks noChangeAspect="1"/>
          </p:cNvPicPr>
          <p:nvPr/>
        </p:nvPicPr>
        <p:blipFill>
          <a:blip r:embed="rId5"/>
          <a:stretch>
            <a:fillRect/>
          </a:stretch>
        </p:blipFill>
        <p:spPr>
          <a:xfrm>
            <a:off x="6598920" y="4871720"/>
            <a:ext cx="264160" cy="264160"/>
          </a:xfrm>
          <a:prstGeom prst="rect">
            <a:avLst/>
          </a:prstGeom>
        </p:spPr>
      </p:pic>
      <p:sp>
        <p:nvSpPr>
          <p:cNvPr id="32" name="Oval 31"/>
          <p:cNvSpPr/>
          <p:nvPr/>
        </p:nvSpPr>
        <p:spPr>
          <a:xfrm>
            <a:off x="6824980" y="4707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24980" y="4707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04</a:t>
            </a:r>
          </a:p>
        </p:txBody>
      </p:sp>
      <p:sp>
        <p:nvSpPr>
          <p:cNvPr id="34" name="TextBox 33"/>
          <p:cNvSpPr txBox="1"/>
          <p:nvPr/>
        </p:nvSpPr>
        <p:spPr>
          <a:xfrm>
            <a:off x="7289800" y="4572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Business model</a:t>
            </a:r>
          </a:p>
        </p:txBody>
      </p:sp>
      <p:sp>
        <p:nvSpPr>
          <p:cNvPr id="35" name="TextBox 34"/>
          <p:cNvSpPr txBox="1"/>
          <p:nvPr/>
        </p:nvSpPr>
        <p:spPr>
          <a:xfrm>
            <a:off x="11201400" y="63500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01   WHY 450 MHZ</a:t>
            </a:r>
          </a:p>
        </p:txBody>
      </p:sp>
      <p:sp>
        <p:nvSpPr>
          <p:cNvPr id="4" name="Rectangle 3"/>
          <p:cNvSpPr/>
          <p:nvPr/>
        </p:nvSpPr>
        <p:spPr>
          <a:xfrm>
            <a:off x="96266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04</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Reach every island, cross the mountains, stay up through the storm</a:t>
            </a:r>
          </a:p>
        </p:txBody>
      </p:sp>
      <p:sp>
        <p:nvSpPr>
          <p:cNvPr id="10" name="TextBox 9"/>
          <p:cNvSpPr txBox="1"/>
          <p:nvPr/>
        </p:nvSpPr>
        <p:spPr>
          <a:xfrm>
            <a:off x="609600" y="15494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THE PHILIPPINES NEEDS</a:t>
            </a:r>
          </a:p>
        </p:txBody>
      </p:sp>
      <p:sp>
        <p:nvSpPr>
          <p:cNvPr id="11" name="Rectangle 10"/>
          <p:cNvSpPr/>
          <p:nvPr/>
        </p:nvSpPr>
        <p:spPr>
          <a:xfrm>
            <a:off x="609600" y="1828800"/>
            <a:ext cx="3708400" cy="1066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812800" y="20828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waves_white.png"/>
          <p:cNvPicPr>
            <a:picLocks noChangeAspect="1"/>
          </p:cNvPicPr>
          <p:nvPr/>
        </p:nvPicPr>
        <p:blipFill>
          <a:blip r:embed="rId2"/>
          <a:stretch>
            <a:fillRect/>
          </a:stretch>
        </p:blipFill>
        <p:spPr>
          <a:xfrm>
            <a:off x="946912" y="2216912"/>
            <a:ext cx="290576" cy="290576"/>
          </a:xfrm>
          <a:prstGeom prst="rect">
            <a:avLst/>
          </a:prstGeom>
        </p:spPr>
      </p:pic>
      <p:sp>
        <p:nvSpPr>
          <p:cNvPr id="14" name="TextBox 13"/>
          <p:cNvSpPr txBox="1"/>
          <p:nvPr/>
        </p:nvSpPr>
        <p:spPr>
          <a:xfrm>
            <a:off x="1524000" y="1930400"/>
            <a:ext cx="2692400" cy="2794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Reach far</a:t>
            </a:r>
          </a:p>
        </p:txBody>
      </p:sp>
      <p:sp>
        <p:nvSpPr>
          <p:cNvPr id="15" name="TextBox 14"/>
          <p:cNvSpPr txBox="1"/>
          <p:nvPr/>
        </p:nvSpPr>
        <p:spPr>
          <a:xfrm>
            <a:off x="1524000" y="2209800"/>
            <a:ext cx="2692400" cy="2286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7,641 islands</a:t>
            </a:r>
          </a:p>
        </p:txBody>
      </p:sp>
      <p:pic>
        <p:nvPicPr>
          <p:cNvPr id="16" name="Picture 15" descr="arrow-right_green.png"/>
          <p:cNvPicPr>
            <a:picLocks noChangeAspect="1"/>
          </p:cNvPicPr>
          <p:nvPr/>
        </p:nvPicPr>
        <p:blipFill>
          <a:blip r:embed="rId3"/>
          <a:stretch>
            <a:fillRect/>
          </a:stretch>
        </p:blipFill>
        <p:spPr>
          <a:xfrm>
            <a:off x="1524000" y="2527300"/>
            <a:ext cx="152400" cy="152400"/>
          </a:xfrm>
          <a:prstGeom prst="rect">
            <a:avLst/>
          </a:prstGeom>
        </p:spPr>
      </p:pic>
      <p:sp>
        <p:nvSpPr>
          <p:cNvPr id="17" name="TextBox 16"/>
          <p:cNvSpPr txBox="1"/>
          <p:nvPr/>
        </p:nvSpPr>
        <p:spPr>
          <a:xfrm>
            <a:off x="1727200" y="2463800"/>
            <a:ext cx="2514600" cy="304800"/>
          </a:xfrm>
          <a:prstGeom prst="rect">
            <a:avLst/>
          </a:prstGeom>
          <a:noFill/>
        </p:spPr>
        <p:txBody>
          <a:bodyPr wrap="square" lIns="0" rIns="0" tIns="0" bIns="0" anchor="ctr">
            <a:spAutoFit/>
          </a:bodyPr>
          <a:lstStyle/>
          <a:p>
            <a:pPr algn="l">
              <a:lnSpc>
                <a:spcPct val="110000"/>
              </a:lnSpc>
              <a:spcAft>
                <a:spcPts val="0"/>
              </a:spcAft>
            </a:pPr>
            <a:r>
              <a:rPr sz="1000" b="0">
                <a:solidFill>
                  <a:srgbClr val="7F9B00"/>
                </a:solidFill>
                <a:latin typeface="Segoe UI Semibold"/>
              </a:rPr>
              <a:t>One site where mid-band needs 2.5–15×</a:t>
            </a:r>
          </a:p>
        </p:txBody>
      </p:sp>
      <p:sp>
        <p:nvSpPr>
          <p:cNvPr id="18" name="Rectangle 17"/>
          <p:cNvSpPr/>
          <p:nvPr/>
        </p:nvSpPr>
        <p:spPr>
          <a:xfrm>
            <a:off x="609600" y="2997200"/>
            <a:ext cx="3708400" cy="1066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812800" y="32512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0" name="Picture 19" descr="mountain_white.png"/>
          <p:cNvPicPr>
            <a:picLocks noChangeAspect="1"/>
          </p:cNvPicPr>
          <p:nvPr/>
        </p:nvPicPr>
        <p:blipFill>
          <a:blip r:embed="rId4"/>
          <a:stretch>
            <a:fillRect/>
          </a:stretch>
        </p:blipFill>
        <p:spPr>
          <a:xfrm>
            <a:off x="946912" y="3385312"/>
            <a:ext cx="290576" cy="290576"/>
          </a:xfrm>
          <a:prstGeom prst="rect">
            <a:avLst/>
          </a:prstGeom>
        </p:spPr>
      </p:pic>
      <p:sp>
        <p:nvSpPr>
          <p:cNvPr id="21" name="TextBox 20"/>
          <p:cNvSpPr txBox="1"/>
          <p:nvPr/>
        </p:nvSpPr>
        <p:spPr>
          <a:xfrm>
            <a:off x="1524000" y="3098800"/>
            <a:ext cx="2692400" cy="2794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Cross rugged terrain</a:t>
            </a:r>
          </a:p>
        </p:txBody>
      </p:sp>
      <p:sp>
        <p:nvSpPr>
          <p:cNvPr id="22" name="TextBox 21"/>
          <p:cNvSpPr txBox="1"/>
          <p:nvPr/>
        </p:nvSpPr>
        <p:spPr>
          <a:xfrm>
            <a:off x="1524000" y="3378200"/>
            <a:ext cx="2692400" cy="2286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Mountainous island interiors</a:t>
            </a:r>
          </a:p>
        </p:txBody>
      </p:sp>
      <p:pic>
        <p:nvPicPr>
          <p:cNvPr id="23" name="Picture 22" descr="arrow-right_green.png"/>
          <p:cNvPicPr>
            <a:picLocks noChangeAspect="1"/>
          </p:cNvPicPr>
          <p:nvPr/>
        </p:nvPicPr>
        <p:blipFill>
          <a:blip r:embed="rId3"/>
          <a:stretch>
            <a:fillRect/>
          </a:stretch>
        </p:blipFill>
        <p:spPr>
          <a:xfrm>
            <a:off x="1524000" y="3695700"/>
            <a:ext cx="152400" cy="152400"/>
          </a:xfrm>
          <a:prstGeom prst="rect">
            <a:avLst/>
          </a:prstGeom>
        </p:spPr>
      </p:pic>
      <p:sp>
        <p:nvSpPr>
          <p:cNvPr id="24" name="TextBox 23"/>
          <p:cNvSpPr txBox="1"/>
          <p:nvPr/>
        </p:nvSpPr>
        <p:spPr>
          <a:xfrm>
            <a:off x="1727200" y="3632200"/>
            <a:ext cx="2514600" cy="304800"/>
          </a:xfrm>
          <a:prstGeom prst="rect">
            <a:avLst/>
          </a:prstGeom>
          <a:noFill/>
        </p:spPr>
        <p:txBody>
          <a:bodyPr wrap="square" lIns="0" rIns="0" tIns="0" bIns="0" anchor="ctr">
            <a:spAutoFit/>
          </a:bodyPr>
          <a:lstStyle/>
          <a:p>
            <a:pPr algn="l">
              <a:lnSpc>
                <a:spcPct val="110000"/>
              </a:lnSpc>
              <a:spcAft>
                <a:spcPts val="0"/>
              </a:spcAft>
            </a:pPr>
            <a:r>
              <a:rPr sz="1000" b="0">
                <a:solidFill>
                  <a:srgbClr val="7F9B00"/>
                </a:solidFill>
                <a:latin typeface="Segoe UI Semibold"/>
              </a:rPr>
              <a:t>Bends over ridges and into valleys</a:t>
            </a:r>
          </a:p>
        </p:txBody>
      </p:sp>
      <p:sp>
        <p:nvSpPr>
          <p:cNvPr id="25" name="Rectangle 24"/>
          <p:cNvSpPr/>
          <p:nvPr/>
        </p:nvSpPr>
        <p:spPr>
          <a:xfrm>
            <a:off x="609600" y="4165600"/>
            <a:ext cx="3708400" cy="1066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812800" y="44196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tornado_white.png"/>
          <p:cNvPicPr>
            <a:picLocks noChangeAspect="1"/>
          </p:cNvPicPr>
          <p:nvPr/>
        </p:nvPicPr>
        <p:blipFill>
          <a:blip r:embed="rId5"/>
          <a:stretch>
            <a:fillRect/>
          </a:stretch>
        </p:blipFill>
        <p:spPr>
          <a:xfrm>
            <a:off x="946912" y="4553712"/>
            <a:ext cx="290576" cy="290576"/>
          </a:xfrm>
          <a:prstGeom prst="rect">
            <a:avLst/>
          </a:prstGeom>
        </p:spPr>
      </p:pic>
      <p:sp>
        <p:nvSpPr>
          <p:cNvPr id="28" name="TextBox 27"/>
          <p:cNvSpPr txBox="1"/>
          <p:nvPr/>
        </p:nvSpPr>
        <p:spPr>
          <a:xfrm>
            <a:off x="1524000" y="4267200"/>
            <a:ext cx="2692400" cy="2794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Survive the storm</a:t>
            </a:r>
          </a:p>
        </p:txBody>
      </p:sp>
      <p:sp>
        <p:nvSpPr>
          <p:cNvPr id="29" name="TextBox 28"/>
          <p:cNvSpPr txBox="1"/>
          <p:nvPr/>
        </p:nvSpPr>
        <p:spPr>
          <a:xfrm>
            <a:off x="1524000" y="4546600"/>
            <a:ext cx="2692400" cy="2286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#1 WorldRiskIndex  ·  ~20 cyclones a year</a:t>
            </a:r>
          </a:p>
        </p:txBody>
      </p:sp>
      <p:pic>
        <p:nvPicPr>
          <p:cNvPr id="30" name="Picture 29" descr="arrow-right_green.png"/>
          <p:cNvPicPr>
            <a:picLocks noChangeAspect="1"/>
          </p:cNvPicPr>
          <p:nvPr/>
        </p:nvPicPr>
        <p:blipFill>
          <a:blip r:embed="rId3"/>
          <a:stretch>
            <a:fillRect/>
          </a:stretch>
        </p:blipFill>
        <p:spPr>
          <a:xfrm>
            <a:off x="1524000" y="4864100"/>
            <a:ext cx="152400" cy="152400"/>
          </a:xfrm>
          <a:prstGeom prst="rect">
            <a:avLst/>
          </a:prstGeom>
        </p:spPr>
      </p:pic>
      <p:sp>
        <p:nvSpPr>
          <p:cNvPr id="31" name="TextBox 30"/>
          <p:cNvSpPr txBox="1"/>
          <p:nvPr/>
        </p:nvSpPr>
        <p:spPr>
          <a:xfrm>
            <a:off x="1727200" y="4800600"/>
            <a:ext cx="2514600" cy="304800"/>
          </a:xfrm>
          <a:prstGeom prst="rect">
            <a:avLst/>
          </a:prstGeom>
          <a:noFill/>
        </p:spPr>
        <p:txBody>
          <a:bodyPr wrap="square" lIns="0" rIns="0" tIns="0" bIns="0" anchor="ctr">
            <a:spAutoFit/>
          </a:bodyPr>
          <a:lstStyle/>
          <a:p>
            <a:pPr algn="l">
              <a:lnSpc>
                <a:spcPct val="110000"/>
              </a:lnSpc>
              <a:spcAft>
                <a:spcPts val="0"/>
              </a:spcAft>
            </a:pPr>
            <a:r>
              <a:rPr sz="1000" b="0">
                <a:solidFill>
                  <a:srgbClr val="7F9B00"/>
                </a:solidFill>
                <a:latin typeface="Segoe UI Semibold"/>
              </a:rPr>
              <a:t>Few sites, so backup power is affordable</a:t>
            </a:r>
          </a:p>
        </p:txBody>
      </p:sp>
      <p:sp>
        <p:nvSpPr>
          <p:cNvPr id="32" name="TextBox 31"/>
          <p:cNvSpPr txBox="1"/>
          <p:nvPr/>
        </p:nvSpPr>
        <p:spPr>
          <a:xfrm>
            <a:off x="4572000" y="1549400"/>
            <a:ext cx="508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450 MHZ DELIVERS  ·  SAME SITE GRID</a:t>
            </a:r>
          </a:p>
        </p:txBody>
      </p:sp>
      <p:sp>
        <p:nvSpPr>
          <p:cNvPr id="33" name="Rectangle 32"/>
          <p:cNvSpPr/>
          <p:nvPr/>
        </p:nvSpPr>
        <p:spPr>
          <a:xfrm>
            <a:off x="4572000" y="1828800"/>
            <a:ext cx="2235200" cy="34036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572000" y="1955800"/>
            <a:ext cx="2235200" cy="177800"/>
          </a:xfrm>
          <a:prstGeom prst="rect">
            <a:avLst/>
          </a:prstGeom>
          <a:noFill/>
        </p:spPr>
        <p:txBody>
          <a:bodyPr wrap="square" lIns="0" rIns="0" tIns="0" bIns="0" anchor="t">
            <a:spAutoFit/>
          </a:bodyPr>
          <a:lstStyle/>
          <a:p>
            <a:pPr algn="ctr">
              <a:lnSpc>
                <a:spcPct val="120000"/>
              </a:lnSpc>
              <a:spcAft>
                <a:spcPts val="0"/>
              </a:spcAft>
            </a:pPr>
            <a:r>
              <a:rPr sz="1000" b="0" spc="120">
                <a:solidFill>
                  <a:srgbClr val="7F9B00"/>
                </a:solidFill>
                <a:latin typeface="Segoe UI Semibold"/>
              </a:rPr>
              <a:t>450 MHZ</a:t>
            </a:r>
          </a:p>
        </p:txBody>
      </p:sp>
      <p:pic>
        <p:nvPicPr>
          <p:cNvPr id="35" name="Picture 34" descr="waffle_24_0.png"/>
          <p:cNvPicPr>
            <a:picLocks noChangeAspect="1"/>
          </p:cNvPicPr>
          <p:nvPr/>
        </p:nvPicPr>
        <p:blipFill>
          <a:blip r:embed="rId6"/>
          <a:stretch>
            <a:fillRect/>
          </a:stretch>
        </p:blipFill>
        <p:spPr>
          <a:xfrm>
            <a:off x="4775200" y="2209800"/>
            <a:ext cx="1828800" cy="1828800"/>
          </a:xfrm>
          <a:prstGeom prst="rect">
            <a:avLst/>
          </a:prstGeom>
        </p:spPr>
      </p:pic>
      <p:sp>
        <p:nvSpPr>
          <p:cNvPr id="36" name="TextBox 35"/>
          <p:cNvSpPr txBox="1"/>
          <p:nvPr/>
        </p:nvSpPr>
        <p:spPr>
          <a:xfrm>
            <a:off x="4572000" y="4089400"/>
            <a:ext cx="2235200" cy="457200"/>
          </a:xfrm>
          <a:prstGeom prst="rect">
            <a:avLst/>
          </a:prstGeom>
          <a:noFill/>
        </p:spPr>
        <p:txBody>
          <a:bodyPr wrap="square" lIns="0" rIns="0" tIns="0" bIns="0" anchor="ctr">
            <a:spAutoFit/>
          </a:bodyPr>
          <a:lstStyle/>
          <a:p>
            <a:pPr algn="ctr">
              <a:lnSpc>
                <a:spcPct val="120000"/>
              </a:lnSpc>
              <a:spcAft>
                <a:spcPts val="0"/>
              </a:spcAft>
            </a:pPr>
            <a:r>
              <a:rPr sz="2800" b="0">
                <a:solidFill>
                  <a:srgbClr val="7F9B00"/>
                </a:solidFill>
                <a:latin typeface="Segoe UI Light"/>
              </a:rPr>
              <a:t>100%</a:t>
            </a:r>
          </a:p>
        </p:txBody>
      </p:sp>
      <p:sp>
        <p:nvSpPr>
          <p:cNvPr id="37" name="TextBox 36"/>
          <p:cNvSpPr txBox="1"/>
          <p:nvPr/>
        </p:nvSpPr>
        <p:spPr>
          <a:xfrm>
            <a:off x="4572000" y="4521200"/>
            <a:ext cx="2235200" cy="177800"/>
          </a:xfrm>
          <a:prstGeom prst="rect">
            <a:avLst/>
          </a:prstGeom>
          <a:noFill/>
        </p:spPr>
        <p:txBody>
          <a:bodyPr wrap="square" lIns="0" rIns="0" tIns="0" bIns="0" anchor="ctr">
            <a:spAutoFit/>
          </a:bodyPr>
          <a:lstStyle/>
          <a:p>
            <a:pPr algn="ctr">
              <a:lnSpc>
                <a:spcPct val="120000"/>
              </a:lnSpc>
              <a:spcAft>
                <a:spcPts val="0"/>
              </a:spcAft>
            </a:pPr>
            <a:r>
              <a:rPr sz="1050" b="0">
                <a:solidFill>
                  <a:srgbClr val="55607A"/>
                </a:solidFill>
                <a:latin typeface="Segoe UI"/>
              </a:rPr>
              <a:t>covered</a:t>
            </a:r>
          </a:p>
        </p:txBody>
      </p:sp>
      <p:cxnSp>
        <p:nvCxnSpPr>
          <p:cNvPr id="38" name="Connector 37"/>
          <p:cNvCxnSpPr/>
          <p:nvPr/>
        </p:nvCxnSpPr>
        <p:spPr>
          <a:xfrm>
            <a:off x="4953000" y="4775200"/>
            <a:ext cx="1473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4572000" y="4826000"/>
            <a:ext cx="2235200" cy="228600"/>
          </a:xfrm>
          <a:prstGeom prst="rect">
            <a:avLst/>
          </a:prstGeom>
          <a:noFill/>
        </p:spPr>
        <p:txBody>
          <a:bodyPr wrap="square" lIns="0" rIns="0" tIns="0" bIns="0" anchor="ctr">
            <a:spAutoFit/>
          </a:bodyPr>
          <a:lstStyle/>
          <a:p>
            <a:pPr algn="ctr">
              <a:lnSpc>
                <a:spcPct val="120000"/>
              </a:lnSpc>
              <a:spcAft>
                <a:spcPts val="0"/>
              </a:spcAft>
            </a:pPr>
            <a:r>
              <a:rPr sz="1050" b="0">
                <a:solidFill>
                  <a:srgbClr val="0B308E"/>
                </a:solidFill>
                <a:latin typeface="Segoe UI Semibold"/>
              </a:rPr>
              <a:t>Baseline site grid</a:t>
            </a:r>
          </a:p>
        </p:txBody>
      </p:sp>
      <p:sp>
        <p:nvSpPr>
          <p:cNvPr id="40" name="Rectangle 39"/>
          <p:cNvSpPr/>
          <p:nvPr/>
        </p:nvSpPr>
        <p:spPr>
          <a:xfrm>
            <a:off x="6959600" y="1828800"/>
            <a:ext cx="2235200" cy="34036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959600" y="1955800"/>
            <a:ext cx="2235200" cy="177800"/>
          </a:xfrm>
          <a:prstGeom prst="rect">
            <a:avLst/>
          </a:prstGeom>
          <a:noFill/>
        </p:spPr>
        <p:txBody>
          <a:bodyPr wrap="square" lIns="0" rIns="0" tIns="0" bIns="0" anchor="t">
            <a:spAutoFit/>
          </a:bodyPr>
          <a:lstStyle/>
          <a:p>
            <a:pPr algn="ctr">
              <a:lnSpc>
                <a:spcPct val="120000"/>
              </a:lnSpc>
              <a:spcAft>
                <a:spcPts val="0"/>
              </a:spcAft>
            </a:pPr>
            <a:r>
              <a:rPr sz="1000" b="0" spc="120">
                <a:solidFill>
                  <a:srgbClr val="0B308E"/>
                </a:solidFill>
                <a:latin typeface="Segoe UI Semibold"/>
              </a:rPr>
              <a:t>740 MHZ</a:t>
            </a:r>
          </a:p>
        </p:txBody>
      </p:sp>
      <p:pic>
        <p:nvPicPr>
          <p:cNvPr id="42" name="Picture 41" descr="waffle_24_50.png"/>
          <p:cNvPicPr>
            <a:picLocks noChangeAspect="1"/>
          </p:cNvPicPr>
          <p:nvPr/>
        </p:nvPicPr>
        <p:blipFill>
          <a:blip r:embed="rId7"/>
          <a:stretch>
            <a:fillRect/>
          </a:stretch>
        </p:blipFill>
        <p:spPr>
          <a:xfrm>
            <a:off x="7162800" y="2209800"/>
            <a:ext cx="1828800" cy="1828800"/>
          </a:xfrm>
          <a:prstGeom prst="rect">
            <a:avLst/>
          </a:prstGeom>
        </p:spPr>
      </p:pic>
      <p:sp>
        <p:nvSpPr>
          <p:cNvPr id="43" name="TextBox 42"/>
          <p:cNvSpPr txBox="1"/>
          <p:nvPr/>
        </p:nvSpPr>
        <p:spPr>
          <a:xfrm>
            <a:off x="6959600" y="4089400"/>
            <a:ext cx="2235200" cy="457200"/>
          </a:xfrm>
          <a:prstGeom prst="rect">
            <a:avLst/>
          </a:prstGeom>
          <a:noFill/>
        </p:spPr>
        <p:txBody>
          <a:bodyPr wrap="square" lIns="0" rIns="0" tIns="0" bIns="0" anchor="ctr">
            <a:spAutoFit/>
          </a:bodyPr>
          <a:lstStyle/>
          <a:p>
            <a:pPr algn="ctr">
              <a:lnSpc>
                <a:spcPct val="120000"/>
              </a:lnSpc>
              <a:spcAft>
                <a:spcPts val="0"/>
              </a:spcAft>
            </a:pPr>
            <a:r>
              <a:rPr sz="2800" b="0">
                <a:solidFill>
                  <a:srgbClr val="0B308E"/>
                </a:solidFill>
                <a:latin typeface="Segoe UI Light"/>
              </a:rPr>
              <a:t>91%</a:t>
            </a:r>
          </a:p>
        </p:txBody>
      </p:sp>
      <p:sp>
        <p:nvSpPr>
          <p:cNvPr id="44" name="TextBox 43"/>
          <p:cNvSpPr txBox="1"/>
          <p:nvPr/>
        </p:nvSpPr>
        <p:spPr>
          <a:xfrm>
            <a:off x="6959600" y="4521200"/>
            <a:ext cx="2235200" cy="177800"/>
          </a:xfrm>
          <a:prstGeom prst="rect">
            <a:avLst/>
          </a:prstGeom>
          <a:noFill/>
        </p:spPr>
        <p:txBody>
          <a:bodyPr wrap="square" lIns="0" rIns="0" tIns="0" bIns="0" anchor="ctr">
            <a:spAutoFit/>
          </a:bodyPr>
          <a:lstStyle/>
          <a:p>
            <a:pPr algn="ctr">
              <a:lnSpc>
                <a:spcPct val="120000"/>
              </a:lnSpc>
              <a:spcAft>
                <a:spcPts val="0"/>
              </a:spcAft>
            </a:pPr>
            <a:r>
              <a:rPr sz="1050" b="0">
                <a:solidFill>
                  <a:srgbClr val="55607A"/>
                </a:solidFill>
                <a:latin typeface="Segoe UI"/>
              </a:rPr>
              <a:t>covered</a:t>
            </a:r>
          </a:p>
        </p:txBody>
      </p:sp>
      <p:cxnSp>
        <p:nvCxnSpPr>
          <p:cNvPr id="45" name="Connector 44"/>
          <p:cNvCxnSpPr/>
          <p:nvPr/>
        </p:nvCxnSpPr>
        <p:spPr>
          <a:xfrm>
            <a:off x="7340600" y="4775200"/>
            <a:ext cx="1473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6959600" y="4826000"/>
            <a:ext cx="2235200" cy="228600"/>
          </a:xfrm>
          <a:prstGeom prst="rect">
            <a:avLst/>
          </a:prstGeom>
          <a:noFill/>
        </p:spPr>
        <p:txBody>
          <a:bodyPr wrap="square" lIns="0" rIns="0" tIns="0" bIns="0" anchor="ctr">
            <a:spAutoFit/>
          </a:bodyPr>
          <a:lstStyle/>
          <a:p>
            <a:pPr algn="ctr">
              <a:lnSpc>
                <a:spcPct val="120000"/>
              </a:lnSpc>
              <a:spcAft>
                <a:spcPts val="0"/>
              </a:spcAft>
            </a:pPr>
            <a:r>
              <a:rPr sz="1050" b="0">
                <a:solidFill>
                  <a:srgbClr val="0B308E"/>
                </a:solidFill>
                <a:latin typeface="Segoe UI Semibold"/>
              </a:rPr>
              <a:t>2.5–3×  sites to close the gap</a:t>
            </a:r>
          </a:p>
        </p:txBody>
      </p:sp>
      <p:sp>
        <p:nvSpPr>
          <p:cNvPr id="47" name="Rectangle 46"/>
          <p:cNvSpPr/>
          <p:nvPr/>
        </p:nvSpPr>
        <p:spPr>
          <a:xfrm>
            <a:off x="9347200" y="1828800"/>
            <a:ext cx="2235200" cy="34036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9347200" y="1955800"/>
            <a:ext cx="2235200" cy="177800"/>
          </a:xfrm>
          <a:prstGeom prst="rect">
            <a:avLst/>
          </a:prstGeom>
          <a:noFill/>
        </p:spPr>
        <p:txBody>
          <a:bodyPr wrap="square" lIns="0" rIns="0" tIns="0" bIns="0" anchor="t">
            <a:spAutoFit/>
          </a:bodyPr>
          <a:lstStyle/>
          <a:p>
            <a:pPr algn="ctr">
              <a:lnSpc>
                <a:spcPct val="120000"/>
              </a:lnSpc>
              <a:spcAft>
                <a:spcPts val="0"/>
              </a:spcAft>
            </a:pPr>
            <a:r>
              <a:rPr sz="1000" b="0" spc="120">
                <a:solidFill>
                  <a:srgbClr val="0B308E"/>
                </a:solidFill>
                <a:latin typeface="Segoe UI Semibold"/>
              </a:rPr>
              <a:t>2.35 GHZ</a:t>
            </a:r>
          </a:p>
        </p:txBody>
      </p:sp>
      <p:pic>
        <p:nvPicPr>
          <p:cNvPr id="49" name="Picture 48" descr="waffle_24_238.png"/>
          <p:cNvPicPr>
            <a:picLocks noChangeAspect="1"/>
          </p:cNvPicPr>
          <p:nvPr/>
        </p:nvPicPr>
        <p:blipFill>
          <a:blip r:embed="rId8"/>
          <a:stretch>
            <a:fillRect/>
          </a:stretch>
        </p:blipFill>
        <p:spPr>
          <a:xfrm>
            <a:off x="9550400" y="2209800"/>
            <a:ext cx="1828800" cy="1828800"/>
          </a:xfrm>
          <a:prstGeom prst="rect">
            <a:avLst/>
          </a:prstGeom>
        </p:spPr>
      </p:pic>
      <p:sp>
        <p:nvSpPr>
          <p:cNvPr id="50" name="TextBox 49"/>
          <p:cNvSpPr txBox="1"/>
          <p:nvPr/>
        </p:nvSpPr>
        <p:spPr>
          <a:xfrm>
            <a:off x="9347200" y="4089400"/>
            <a:ext cx="2235200" cy="457200"/>
          </a:xfrm>
          <a:prstGeom prst="rect">
            <a:avLst/>
          </a:prstGeom>
          <a:noFill/>
        </p:spPr>
        <p:txBody>
          <a:bodyPr wrap="square" lIns="0" rIns="0" tIns="0" bIns="0" anchor="ctr">
            <a:spAutoFit/>
          </a:bodyPr>
          <a:lstStyle/>
          <a:p>
            <a:pPr algn="ctr">
              <a:lnSpc>
                <a:spcPct val="120000"/>
              </a:lnSpc>
              <a:spcAft>
                <a:spcPts val="0"/>
              </a:spcAft>
            </a:pPr>
            <a:r>
              <a:rPr sz="2800" b="0">
                <a:solidFill>
                  <a:srgbClr val="0B308E"/>
                </a:solidFill>
                <a:latin typeface="Segoe UI Light"/>
              </a:rPr>
              <a:t>59%</a:t>
            </a:r>
          </a:p>
        </p:txBody>
      </p:sp>
      <p:sp>
        <p:nvSpPr>
          <p:cNvPr id="51" name="TextBox 50"/>
          <p:cNvSpPr txBox="1"/>
          <p:nvPr/>
        </p:nvSpPr>
        <p:spPr>
          <a:xfrm>
            <a:off x="9347200" y="4521200"/>
            <a:ext cx="2235200" cy="177800"/>
          </a:xfrm>
          <a:prstGeom prst="rect">
            <a:avLst/>
          </a:prstGeom>
          <a:noFill/>
        </p:spPr>
        <p:txBody>
          <a:bodyPr wrap="square" lIns="0" rIns="0" tIns="0" bIns="0" anchor="ctr">
            <a:spAutoFit/>
          </a:bodyPr>
          <a:lstStyle/>
          <a:p>
            <a:pPr algn="ctr">
              <a:lnSpc>
                <a:spcPct val="120000"/>
              </a:lnSpc>
              <a:spcAft>
                <a:spcPts val="0"/>
              </a:spcAft>
            </a:pPr>
            <a:r>
              <a:rPr sz="1050" b="0">
                <a:solidFill>
                  <a:srgbClr val="55607A"/>
                </a:solidFill>
                <a:latin typeface="Segoe UI"/>
              </a:rPr>
              <a:t>covered</a:t>
            </a:r>
          </a:p>
        </p:txBody>
      </p:sp>
      <p:cxnSp>
        <p:nvCxnSpPr>
          <p:cNvPr id="52" name="Connector 51"/>
          <p:cNvCxnSpPr/>
          <p:nvPr/>
        </p:nvCxnSpPr>
        <p:spPr>
          <a:xfrm>
            <a:off x="9728200" y="4775200"/>
            <a:ext cx="1473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9347200" y="4826000"/>
            <a:ext cx="2235200" cy="228600"/>
          </a:xfrm>
          <a:prstGeom prst="rect">
            <a:avLst/>
          </a:prstGeom>
          <a:noFill/>
        </p:spPr>
        <p:txBody>
          <a:bodyPr wrap="square" lIns="0" rIns="0" tIns="0" bIns="0" anchor="ctr">
            <a:spAutoFit/>
          </a:bodyPr>
          <a:lstStyle/>
          <a:p>
            <a:pPr algn="ctr">
              <a:lnSpc>
                <a:spcPct val="120000"/>
              </a:lnSpc>
              <a:spcAft>
                <a:spcPts val="0"/>
              </a:spcAft>
            </a:pPr>
            <a:r>
              <a:rPr sz="1050" b="0">
                <a:solidFill>
                  <a:srgbClr val="0B308E"/>
                </a:solidFill>
                <a:latin typeface="Segoe UI Semibold"/>
              </a:rPr>
              <a:t>12–15×  sites to close the gap</a:t>
            </a:r>
          </a:p>
        </p:txBody>
      </p:sp>
      <p:sp>
        <p:nvSpPr>
          <p:cNvPr id="54" name="Rectangle 53"/>
          <p:cNvSpPr/>
          <p:nvPr/>
        </p:nvSpPr>
        <p:spPr>
          <a:xfrm>
            <a:off x="4572000" y="5397500"/>
            <a:ext cx="127000" cy="127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5" name="TextBox 54"/>
          <p:cNvSpPr txBox="1"/>
          <p:nvPr/>
        </p:nvSpPr>
        <p:spPr>
          <a:xfrm>
            <a:off x="4775200" y="5359400"/>
            <a:ext cx="1016000" cy="203200"/>
          </a:xfrm>
          <a:prstGeom prst="rect">
            <a:avLst/>
          </a:prstGeom>
          <a:noFill/>
        </p:spPr>
        <p:txBody>
          <a:bodyPr wrap="square" lIns="0" rIns="0" tIns="0" bIns="0" anchor="ctr">
            <a:spAutoFit/>
          </a:bodyPr>
          <a:lstStyle/>
          <a:p>
            <a:pPr algn="l">
              <a:lnSpc>
                <a:spcPct val="120000"/>
              </a:lnSpc>
              <a:spcAft>
                <a:spcPts val="0"/>
              </a:spcAft>
            </a:pPr>
            <a:r>
              <a:rPr sz="1000" b="0">
                <a:solidFill>
                  <a:srgbClr val="55607A"/>
                </a:solidFill>
                <a:latin typeface="Segoe UI"/>
              </a:rPr>
              <a:t>covered</a:t>
            </a:r>
          </a:p>
        </p:txBody>
      </p:sp>
      <p:sp>
        <p:nvSpPr>
          <p:cNvPr id="56" name="Rectangle 55"/>
          <p:cNvSpPr/>
          <p:nvPr/>
        </p:nvSpPr>
        <p:spPr>
          <a:xfrm>
            <a:off x="5842000" y="5397500"/>
            <a:ext cx="127000" cy="1270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TextBox 56"/>
          <p:cNvSpPr txBox="1"/>
          <p:nvPr/>
        </p:nvSpPr>
        <p:spPr>
          <a:xfrm>
            <a:off x="6045200" y="5359400"/>
            <a:ext cx="1016000" cy="203200"/>
          </a:xfrm>
          <a:prstGeom prst="rect">
            <a:avLst/>
          </a:prstGeom>
          <a:noFill/>
        </p:spPr>
        <p:txBody>
          <a:bodyPr wrap="square" lIns="0" rIns="0" tIns="0" bIns="0" anchor="ctr">
            <a:spAutoFit/>
          </a:bodyPr>
          <a:lstStyle/>
          <a:p>
            <a:pPr algn="l">
              <a:lnSpc>
                <a:spcPct val="120000"/>
              </a:lnSpc>
              <a:spcAft>
                <a:spcPts val="0"/>
              </a:spcAft>
            </a:pPr>
            <a:r>
              <a:rPr sz="1000" b="0">
                <a:solidFill>
                  <a:srgbClr val="55607A"/>
                </a:solidFill>
                <a:latin typeface="Segoe UI"/>
              </a:rPr>
              <a:t>not covered</a:t>
            </a:r>
          </a:p>
        </p:txBody>
      </p:sp>
      <p:sp>
        <p:nvSpPr>
          <p:cNvPr id="58" name="Rectangle 57"/>
          <p:cNvSpPr/>
          <p:nvPr/>
        </p:nvSpPr>
        <p:spPr>
          <a:xfrm>
            <a:off x="7112000" y="5397500"/>
            <a:ext cx="127000" cy="1270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9" name="TextBox 58"/>
          <p:cNvSpPr txBox="1"/>
          <p:nvPr/>
        </p:nvSpPr>
        <p:spPr>
          <a:xfrm>
            <a:off x="7315200" y="5359400"/>
            <a:ext cx="1016000" cy="203200"/>
          </a:xfrm>
          <a:prstGeom prst="rect">
            <a:avLst/>
          </a:prstGeom>
          <a:noFill/>
        </p:spPr>
        <p:txBody>
          <a:bodyPr wrap="square" lIns="0" rIns="0" tIns="0" bIns="0" anchor="ctr">
            <a:spAutoFit/>
          </a:bodyPr>
          <a:lstStyle/>
          <a:p>
            <a:pPr algn="l">
              <a:lnSpc>
                <a:spcPct val="120000"/>
              </a:lnSpc>
              <a:spcAft>
                <a:spcPts val="0"/>
              </a:spcAft>
            </a:pPr>
            <a:r>
              <a:rPr sz="1000" b="0">
                <a:solidFill>
                  <a:srgbClr val="55607A"/>
                </a:solidFill>
                <a:latin typeface="Segoe UI"/>
              </a:rPr>
              <a:t>site</a:t>
            </a:r>
          </a:p>
        </p:txBody>
      </p:sp>
      <p:sp>
        <p:nvSpPr>
          <p:cNvPr id="60" name="Rectangle 59"/>
          <p:cNvSpPr/>
          <p:nvPr/>
        </p:nvSpPr>
        <p:spPr>
          <a:xfrm>
            <a:off x="609600" y="5740400"/>
            <a:ext cx="10972800" cy="5080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1" name="Picture 60" descr="info_navy.png"/>
          <p:cNvPicPr>
            <a:picLocks noChangeAspect="1"/>
          </p:cNvPicPr>
          <p:nvPr/>
        </p:nvPicPr>
        <p:blipFill>
          <a:blip r:embed="rId9"/>
          <a:stretch>
            <a:fillRect/>
          </a:stretch>
        </p:blipFill>
        <p:spPr>
          <a:xfrm>
            <a:off x="812800" y="5867400"/>
            <a:ext cx="254000" cy="254000"/>
          </a:xfrm>
          <a:prstGeom prst="rect">
            <a:avLst/>
          </a:prstGeom>
        </p:spPr>
      </p:pic>
      <p:sp>
        <p:nvSpPr>
          <p:cNvPr id="62" name="TextBox 61"/>
          <p:cNvSpPr txBox="1"/>
          <p:nvPr/>
        </p:nvSpPr>
        <p:spPr>
          <a:xfrm>
            <a:off x="1219200" y="5740400"/>
            <a:ext cx="10160000" cy="508000"/>
          </a:xfrm>
          <a:prstGeom prst="rect">
            <a:avLst/>
          </a:prstGeom>
          <a:noFill/>
        </p:spPr>
        <p:txBody>
          <a:bodyPr wrap="square" lIns="0" rIns="0" tIns="0" bIns="0" anchor="ctr">
            <a:spAutoFit/>
          </a:bodyPr>
          <a:lstStyle/>
          <a:p>
            <a:pPr algn="l">
              <a:lnSpc>
                <a:spcPct val="130000"/>
              </a:lnSpc>
            </a:pPr>
            <a:r>
              <a:rPr sz="1250" b="0">
                <a:solidFill>
                  <a:srgbClr val="0B308E"/>
                </a:solidFill>
                <a:latin typeface="Segoe UI Semibold"/>
              </a:rPr>
              <a:t>Not a capacity layer:   </a:t>
            </a:r>
            <a:r>
              <a:rPr sz="1250" b="0">
                <a:solidFill>
                  <a:srgbClr val="16213E"/>
                </a:solidFill>
                <a:latin typeface="Segoe UI"/>
              </a:rPr>
              <a:t>3–5 MHz carries voice, telemetry and low-rate video, alongside 4G and 5G.</a:t>
            </a:r>
          </a:p>
        </p:txBody>
      </p:sp>
      <p:sp>
        <p:nvSpPr>
          <p:cNvPr id="63" name="TextBox 62"/>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NAMRIA; WorldRiskReport 2025; PAGASA; 450 MHz Alliance Brief (Jun 2022) p15, grid modelled at 410 MHz. Vs 410 MHz, 450 MHz adds ~1 dB path loss, 740 MHz ~7 dB (Hata).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01   WHY NOW</a:t>
            </a:r>
          </a:p>
        </p:txBody>
      </p:sp>
      <p:sp>
        <p:nvSpPr>
          <p:cNvPr id="4" name="Rectangle 3"/>
          <p:cNvSpPr/>
          <p:nvPr/>
        </p:nvSpPr>
        <p:spPr>
          <a:xfrm>
            <a:off x="96266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05</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The band is mainstream, and utilities lead the way</a:t>
            </a:r>
          </a:p>
        </p:txBody>
      </p:sp>
      <p:pic>
        <p:nvPicPr>
          <p:cNvPr id="10" name="Picture 9" descr="worldmap_450.png"/>
          <p:cNvPicPr>
            <a:picLocks noChangeAspect="1"/>
          </p:cNvPicPr>
          <p:nvPr/>
        </p:nvPicPr>
        <p:blipFill>
          <a:blip r:embed="rId2"/>
          <a:stretch>
            <a:fillRect/>
          </a:stretch>
        </p:blipFill>
        <p:spPr>
          <a:xfrm>
            <a:off x="609600" y="1524000"/>
            <a:ext cx="7620000" cy="2547257"/>
          </a:xfrm>
          <a:prstGeom prst="rect">
            <a:avLst/>
          </a:prstGeom>
        </p:spPr>
      </p:pic>
      <p:sp>
        <p:nvSpPr>
          <p:cNvPr id="11" name="Rounded Rectangle 10"/>
          <p:cNvSpPr/>
          <p:nvPr/>
        </p:nvSpPr>
        <p:spPr>
          <a:xfrm>
            <a:off x="6199450" y="1665514"/>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99450" y="1665514"/>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Russia</a:t>
            </a:r>
          </a:p>
        </p:txBody>
      </p:sp>
      <p:sp>
        <p:nvSpPr>
          <p:cNvPr id="13" name="Rounded Rectangle 12"/>
          <p:cNvSpPr/>
          <p:nvPr/>
        </p:nvSpPr>
        <p:spPr>
          <a:xfrm>
            <a:off x="6395085" y="2275114"/>
            <a:ext cx="316230"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395085" y="2275114"/>
            <a:ext cx="316230"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China</a:t>
            </a:r>
          </a:p>
        </p:txBody>
      </p:sp>
      <p:sp>
        <p:nvSpPr>
          <p:cNvPr id="15" name="Rounded Rectangle 14"/>
          <p:cNvSpPr/>
          <p:nvPr/>
        </p:nvSpPr>
        <p:spPr>
          <a:xfrm>
            <a:off x="1888707" y="2514600"/>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88707" y="2514600"/>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Mexico</a:t>
            </a:r>
          </a:p>
        </p:txBody>
      </p:sp>
      <p:sp>
        <p:nvSpPr>
          <p:cNvPr id="17" name="Rounded Rectangle 16"/>
          <p:cNvSpPr/>
          <p:nvPr/>
        </p:nvSpPr>
        <p:spPr>
          <a:xfrm>
            <a:off x="3020822" y="3233057"/>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020822" y="3233057"/>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Brazil</a:t>
            </a:r>
          </a:p>
        </p:txBody>
      </p:sp>
      <p:sp>
        <p:nvSpPr>
          <p:cNvPr id="19" name="Rounded Rectangle 18"/>
          <p:cNvSpPr/>
          <p:nvPr/>
        </p:nvSpPr>
        <p:spPr>
          <a:xfrm>
            <a:off x="3043210" y="2862942"/>
            <a:ext cx="445008"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043210" y="2862942"/>
            <a:ext cx="445008"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Suriname</a:t>
            </a:r>
          </a:p>
        </p:txBody>
      </p:sp>
      <p:sp>
        <p:nvSpPr>
          <p:cNvPr id="21" name="Rounded Rectangle 20"/>
          <p:cNvSpPr/>
          <p:nvPr/>
        </p:nvSpPr>
        <p:spPr>
          <a:xfrm>
            <a:off x="2629861" y="3799114"/>
            <a:ext cx="487934"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2629861" y="3799114"/>
            <a:ext cx="487934"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Argentina</a:t>
            </a:r>
          </a:p>
        </p:txBody>
      </p:sp>
      <p:sp>
        <p:nvSpPr>
          <p:cNvPr id="23" name="Rounded Rectangle 22"/>
          <p:cNvSpPr/>
          <p:nvPr/>
        </p:nvSpPr>
        <p:spPr>
          <a:xfrm>
            <a:off x="4327416" y="2296885"/>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327416" y="2296885"/>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Tunisia</a:t>
            </a:r>
          </a:p>
        </p:txBody>
      </p:sp>
      <p:sp>
        <p:nvSpPr>
          <p:cNvPr id="25" name="Rounded Rectangle 24"/>
          <p:cNvSpPr/>
          <p:nvPr/>
        </p:nvSpPr>
        <p:spPr>
          <a:xfrm>
            <a:off x="4283873" y="2808514"/>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283873" y="2808514"/>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Nigeria</a:t>
            </a:r>
          </a:p>
        </p:txBody>
      </p:sp>
      <p:sp>
        <p:nvSpPr>
          <p:cNvPr id="27" name="Rounded Rectangle 26"/>
          <p:cNvSpPr/>
          <p:nvPr/>
        </p:nvSpPr>
        <p:spPr>
          <a:xfrm>
            <a:off x="3934913" y="2928257"/>
            <a:ext cx="316230"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934913" y="2928257"/>
            <a:ext cx="316230"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Ghana</a:t>
            </a:r>
          </a:p>
        </p:txBody>
      </p:sp>
      <p:sp>
        <p:nvSpPr>
          <p:cNvPr id="29" name="Rounded Rectangle 28"/>
          <p:cNvSpPr/>
          <p:nvPr/>
        </p:nvSpPr>
        <p:spPr>
          <a:xfrm>
            <a:off x="5154113" y="3015342"/>
            <a:ext cx="316230"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154113" y="3015342"/>
            <a:ext cx="316230"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Kenya</a:t>
            </a:r>
          </a:p>
        </p:txBody>
      </p:sp>
      <p:sp>
        <p:nvSpPr>
          <p:cNvPr id="31" name="Rounded Rectangle 30"/>
          <p:cNvSpPr/>
          <p:nvPr/>
        </p:nvSpPr>
        <p:spPr>
          <a:xfrm>
            <a:off x="4501279" y="3265714"/>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4501279" y="3265714"/>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Angola</a:t>
            </a:r>
          </a:p>
        </p:txBody>
      </p:sp>
      <p:sp>
        <p:nvSpPr>
          <p:cNvPr id="33" name="Rounded Rectangle 32"/>
          <p:cNvSpPr/>
          <p:nvPr/>
        </p:nvSpPr>
        <p:spPr>
          <a:xfrm>
            <a:off x="4436273" y="3483428"/>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436273" y="3483428"/>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Namibia</a:t>
            </a:r>
          </a:p>
        </p:txBody>
      </p:sp>
      <p:sp>
        <p:nvSpPr>
          <p:cNvPr id="35" name="Rounded Rectangle 34"/>
          <p:cNvSpPr/>
          <p:nvPr/>
        </p:nvSpPr>
        <p:spPr>
          <a:xfrm>
            <a:off x="4546672" y="3712028"/>
            <a:ext cx="61671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4546672" y="3712028"/>
            <a:ext cx="61671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South Africa</a:t>
            </a:r>
          </a:p>
        </p:txBody>
      </p:sp>
      <p:sp>
        <p:nvSpPr>
          <p:cNvPr id="37" name="Rounded Rectangle 36"/>
          <p:cNvSpPr/>
          <p:nvPr/>
        </p:nvSpPr>
        <p:spPr>
          <a:xfrm>
            <a:off x="4960329" y="2514600"/>
            <a:ext cx="61671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960329" y="2514600"/>
            <a:ext cx="61671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Saudi Arabia</a:t>
            </a:r>
          </a:p>
        </p:txBody>
      </p:sp>
      <p:sp>
        <p:nvSpPr>
          <p:cNvPr id="39" name="Rounded Rectangle 38"/>
          <p:cNvSpPr/>
          <p:nvPr/>
        </p:nvSpPr>
        <p:spPr>
          <a:xfrm>
            <a:off x="5415987" y="2405742"/>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415987" y="2405742"/>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Bahrain</a:t>
            </a:r>
          </a:p>
        </p:txBody>
      </p:sp>
      <p:sp>
        <p:nvSpPr>
          <p:cNvPr id="41" name="Rounded Rectangle 40"/>
          <p:cNvSpPr/>
          <p:nvPr/>
        </p:nvSpPr>
        <p:spPr>
          <a:xfrm>
            <a:off x="5089416" y="2079171"/>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5089416" y="2079171"/>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Armenia</a:t>
            </a:r>
          </a:p>
        </p:txBody>
      </p:sp>
      <p:sp>
        <p:nvSpPr>
          <p:cNvPr id="43" name="Rounded Rectangle 42"/>
          <p:cNvSpPr/>
          <p:nvPr/>
        </p:nvSpPr>
        <p:spPr>
          <a:xfrm>
            <a:off x="5634318" y="2906485"/>
            <a:ext cx="487934"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5634318" y="2906485"/>
            <a:ext cx="487934"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Sri Lanka</a:t>
            </a:r>
          </a:p>
        </p:txBody>
      </p:sp>
      <p:sp>
        <p:nvSpPr>
          <p:cNvPr id="45" name="Rounded Rectangle 44"/>
          <p:cNvSpPr/>
          <p:nvPr/>
        </p:nvSpPr>
        <p:spPr>
          <a:xfrm>
            <a:off x="6221838" y="2645228"/>
            <a:ext cx="445008"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6221838" y="2645228"/>
            <a:ext cx="445008"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Cambodia</a:t>
            </a:r>
          </a:p>
        </p:txBody>
      </p:sp>
      <p:sp>
        <p:nvSpPr>
          <p:cNvPr id="47" name="Rounded Rectangle 46"/>
          <p:cNvSpPr/>
          <p:nvPr/>
        </p:nvSpPr>
        <p:spPr>
          <a:xfrm>
            <a:off x="6112981" y="2819400"/>
            <a:ext cx="445008"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6112981" y="2819400"/>
            <a:ext cx="445008"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Malaysia</a:t>
            </a:r>
          </a:p>
        </p:txBody>
      </p:sp>
      <p:sp>
        <p:nvSpPr>
          <p:cNvPr id="49" name="Rounded Rectangle 48"/>
          <p:cNvSpPr/>
          <p:nvPr/>
        </p:nvSpPr>
        <p:spPr>
          <a:xfrm>
            <a:off x="6113290" y="3080657"/>
            <a:ext cx="487934"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6113290" y="3080657"/>
            <a:ext cx="487934"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Singapore</a:t>
            </a:r>
          </a:p>
        </p:txBody>
      </p:sp>
      <p:sp>
        <p:nvSpPr>
          <p:cNvPr id="51" name="Rounded Rectangle 50"/>
          <p:cNvSpPr/>
          <p:nvPr/>
        </p:nvSpPr>
        <p:spPr>
          <a:xfrm>
            <a:off x="6679347" y="3233057"/>
            <a:ext cx="487934"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679347" y="3233057"/>
            <a:ext cx="487934"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Indonesia</a:t>
            </a:r>
          </a:p>
        </p:txBody>
      </p:sp>
      <p:sp>
        <p:nvSpPr>
          <p:cNvPr id="53" name="Oval 52"/>
          <p:cNvSpPr/>
          <p:nvPr/>
        </p:nvSpPr>
        <p:spPr>
          <a:xfrm>
            <a:off x="6865257" y="2717800"/>
            <a:ext cx="203200" cy="203200"/>
          </a:xfrm>
          <a:prstGeom prst="ellipse">
            <a:avLst/>
          </a:prstGeom>
          <a:noFill/>
          <a:ln w="19050">
            <a:solidFill>
              <a:srgbClr val="F2B70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cxnSp>
        <p:nvCxnSpPr>
          <p:cNvPr id="54" name="Connector 53"/>
          <p:cNvCxnSpPr/>
          <p:nvPr/>
        </p:nvCxnSpPr>
        <p:spPr>
          <a:xfrm flipV="1">
            <a:off x="7055757" y="2616200"/>
            <a:ext cx="190500" cy="152400"/>
          </a:xfrm>
          <a:prstGeom prst="line">
            <a:avLst/>
          </a:prstGeom>
          <a:ln w="12700">
            <a:solidFill>
              <a:srgbClr val="F2B705"/>
            </a:solidFill>
          </a:ln>
        </p:spPr>
        <p:style>
          <a:lnRef idx="2">
            <a:schemeClr val="accent1"/>
          </a:lnRef>
          <a:fillRef idx="0">
            <a:schemeClr val="accent1"/>
          </a:fillRef>
          <a:effectRef idx="1">
            <a:schemeClr val="accent1"/>
          </a:effectRef>
          <a:fontRef idx="minor">
            <a:schemeClr val="tx1"/>
          </a:fontRef>
        </p:style>
      </p:cxnSp>
      <p:sp>
        <p:nvSpPr>
          <p:cNvPr id="55" name="Rounded Rectangle 54"/>
          <p:cNvSpPr/>
          <p:nvPr/>
        </p:nvSpPr>
        <p:spPr>
          <a:xfrm>
            <a:off x="7195457" y="2463800"/>
            <a:ext cx="1117600" cy="2032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TextBox 55"/>
          <p:cNvSpPr txBox="1"/>
          <p:nvPr/>
        </p:nvSpPr>
        <p:spPr>
          <a:xfrm>
            <a:off x="7195457" y="2463800"/>
            <a:ext cx="1117600" cy="203200"/>
          </a:xfrm>
          <a:prstGeom prst="rect">
            <a:avLst/>
          </a:prstGeom>
          <a:noFill/>
        </p:spPr>
        <p:txBody>
          <a:bodyPr wrap="square" lIns="0" rIns="0" tIns="0" bIns="0" anchor="ctr">
            <a:spAutoFit/>
          </a:bodyPr>
          <a:lstStyle/>
          <a:p>
            <a:pPr algn="ctr">
              <a:lnSpc>
                <a:spcPct val="120000"/>
              </a:lnSpc>
              <a:spcAft>
                <a:spcPts val="0"/>
              </a:spcAft>
            </a:pPr>
            <a:r>
              <a:rPr sz="750" b="0">
                <a:solidFill>
                  <a:srgbClr val="16213E"/>
                </a:solidFill>
                <a:latin typeface="Segoe UI Semibold"/>
              </a:rPr>
              <a:t>Philippines · Globe</a:t>
            </a:r>
          </a:p>
        </p:txBody>
      </p:sp>
      <p:sp>
        <p:nvSpPr>
          <p:cNvPr id="57" name="Rounded Rectangle 56"/>
          <p:cNvSpPr/>
          <p:nvPr/>
        </p:nvSpPr>
        <p:spPr>
          <a:xfrm>
            <a:off x="7195457" y="2463800"/>
            <a:ext cx="1117600" cy="203200"/>
          </a:xfrm>
          <a:prstGeom prst="roundRect">
            <a:avLst/>
          </a:prstGeom>
          <a:noFill/>
          <a:ln w="12700">
            <a:solidFill>
              <a:srgbClr val="F2B70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8" name="Rectangle 57"/>
          <p:cNvSpPr/>
          <p:nvPr/>
        </p:nvSpPr>
        <p:spPr>
          <a:xfrm>
            <a:off x="8534400" y="1524000"/>
            <a:ext cx="3048000" cy="24384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9" name="Picture 58" descr="worldmap_eu.png"/>
          <p:cNvPicPr>
            <a:picLocks noChangeAspect="1"/>
          </p:cNvPicPr>
          <p:nvPr/>
        </p:nvPicPr>
        <p:blipFill>
          <a:blip r:embed="rId3"/>
          <a:stretch>
            <a:fillRect/>
          </a:stretch>
        </p:blipFill>
        <p:spPr>
          <a:xfrm>
            <a:off x="8534400" y="1524000"/>
            <a:ext cx="3048000" cy="2438400"/>
          </a:xfrm>
          <a:prstGeom prst="rect">
            <a:avLst/>
          </a:prstGeom>
        </p:spPr>
      </p:pic>
      <p:sp>
        <p:nvSpPr>
          <p:cNvPr id="60" name="Rounded Rectangle 59"/>
          <p:cNvSpPr/>
          <p:nvPr/>
        </p:nvSpPr>
        <p:spPr>
          <a:xfrm>
            <a:off x="8604292" y="2653453"/>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1" name="TextBox 60"/>
          <p:cNvSpPr txBox="1"/>
          <p:nvPr/>
        </p:nvSpPr>
        <p:spPr>
          <a:xfrm>
            <a:off x="8604292" y="2653453"/>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Ireland</a:t>
            </a:r>
          </a:p>
        </p:txBody>
      </p:sp>
      <p:sp>
        <p:nvSpPr>
          <p:cNvPr id="62" name="Rounded Rectangle 61"/>
          <p:cNvSpPr/>
          <p:nvPr/>
        </p:nvSpPr>
        <p:spPr>
          <a:xfrm>
            <a:off x="8952018" y="3547533"/>
            <a:ext cx="316230"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3" name="TextBox 62"/>
          <p:cNvSpPr txBox="1"/>
          <p:nvPr/>
        </p:nvSpPr>
        <p:spPr>
          <a:xfrm>
            <a:off x="8952018" y="3547533"/>
            <a:ext cx="316230"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Spain</a:t>
            </a:r>
          </a:p>
        </p:txBody>
      </p:sp>
      <p:sp>
        <p:nvSpPr>
          <p:cNvPr id="64" name="Rounded Rectangle 63"/>
          <p:cNvSpPr/>
          <p:nvPr/>
        </p:nvSpPr>
        <p:spPr>
          <a:xfrm>
            <a:off x="9195773" y="2558626"/>
            <a:ext cx="57378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5" name="TextBox 64"/>
          <p:cNvSpPr txBox="1"/>
          <p:nvPr/>
        </p:nvSpPr>
        <p:spPr>
          <a:xfrm>
            <a:off x="9195773" y="2558626"/>
            <a:ext cx="57378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Netherlands</a:t>
            </a:r>
          </a:p>
        </p:txBody>
      </p:sp>
      <p:sp>
        <p:nvSpPr>
          <p:cNvPr id="66" name="Rounded Rectangle 65"/>
          <p:cNvSpPr/>
          <p:nvPr/>
        </p:nvSpPr>
        <p:spPr>
          <a:xfrm>
            <a:off x="9857359" y="2829560"/>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7" name="TextBox 66"/>
          <p:cNvSpPr txBox="1"/>
          <p:nvPr/>
        </p:nvSpPr>
        <p:spPr>
          <a:xfrm>
            <a:off x="9857359" y="2829560"/>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Germany</a:t>
            </a:r>
          </a:p>
        </p:txBody>
      </p:sp>
      <p:sp>
        <p:nvSpPr>
          <p:cNvPr id="68" name="Rounded Rectangle 67"/>
          <p:cNvSpPr/>
          <p:nvPr/>
        </p:nvSpPr>
        <p:spPr>
          <a:xfrm>
            <a:off x="9789625" y="2436706"/>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9" name="TextBox 68"/>
          <p:cNvSpPr txBox="1"/>
          <p:nvPr/>
        </p:nvSpPr>
        <p:spPr>
          <a:xfrm>
            <a:off x="9789625" y="2436706"/>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Denmark</a:t>
            </a:r>
          </a:p>
        </p:txBody>
      </p:sp>
      <p:sp>
        <p:nvSpPr>
          <p:cNvPr id="70" name="Rounded Rectangle 69"/>
          <p:cNvSpPr/>
          <p:nvPr/>
        </p:nvSpPr>
        <p:spPr>
          <a:xfrm>
            <a:off x="9743355" y="2057400"/>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1" name="TextBox 70"/>
          <p:cNvSpPr txBox="1"/>
          <p:nvPr/>
        </p:nvSpPr>
        <p:spPr>
          <a:xfrm>
            <a:off x="9743355" y="2057400"/>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Norway</a:t>
            </a:r>
          </a:p>
        </p:txBody>
      </p:sp>
      <p:sp>
        <p:nvSpPr>
          <p:cNvPr id="72" name="Rounded Rectangle 71"/>
          <p:cNvSpPr/>
          <p:nvPr/>
        </p:nvSpPr>
        <p:spPr>
          <a:xfrm>
            <a:off x="10217488" y="1955800"/>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3" name="TextBox 72"/>
          <p:cNvSpPr txBox="1"/>
          <p:nvPr/>
        </p:nvSpPr>
        <p:spPr>
          <a:xfrm>
            <a:off x="10217488" y="1955800"/>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Sweden</a:t>
            </a:r>
          </a:p>
        </p:txBody>
      </p:sp>
      <p:sp>
        <p:nvSpPr>
          <p:cNvPr id="74" name="Rounded Rectangle 73"/>
          <p:cNvSpPr/>
          <p:nvPr/>
        </p:nvSpPr>
        <p:spPr>
          <a:xfrm>
            <a:off x="10907225" y="1955800"/>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5" name="TextBox 74"/>
          <p:cNvSpPr txBox="1"/>
          <p:nvPr/>
        </p:nvSpPr>
        <p:spPr>
          <a:xfrm>
            <a:off x="10907225" y="1955800"/>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Finland</a:t>
            </a:r>
          </a:p>
        </p:txBody>
      </p:sp>
      <p:sp>
        <p:nvSpPr>
          <p:cNvPr id="76" name="Rounded Rectangle 75"/>
          <p:cNvSpPr/>
          <p:nvPr/>
        </p:nvSpPr>
        <p:spPr>
          <a:xfrm>
            <a:off x="10488422" y="2721186"/>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7" name="TextBox 76"/>
          <p:cNvSpPr txBox="1"/>
          <p:nvPr/>
        </p:nvSpPr>
        <p:spPr>
          <a:xfrm>
            <a:off x="10488422" y="2721186"/>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Poland</a:t>
            </a:r>
          </a:p>
        </p:txBody>
      </p:sp>
      <p:sp>
        <p:nvSpPr>
          <p:cNvPr id="78" name="Rounded Rectangle 77"/>
          <p:cNvSpPr/>
          <p:nvPr/>
        </p:nvSpPr>
        <p:spPr>
          <a:xfrm>
            <a:off x="10094425" y="3019213"/>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9" name="TextBox 78"/>
          <p:cNvSpPr txBox="1"/>
          <p:nvPr/>
        </p:nvSpPr>
        <p:spPr>
          <a:xfrm>
            <a:off x="10094425" y="3019213"/>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Austria</a:t>
            </a:r>
          </a:p>
        </p:txBody>
      </p:sp>
      <p:sp>
        <p:nvSpPr>
          <p:cNvPr id="80" name="Rounded Rectangle 79"/>
          <p:cNvSpPr/>
          <p:nvPr/>
        </p:nvSpPr>
        <p:spPr>
          <a:xfrm>
            <a:off x="9869762" y="3188546"/>
            <a:ext cx="445008"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1" name="TextBox 80"/>
          <p:cNvSpPr txBox="1"/>
          <p:nvPr/>
        </p:nvSpPr>
        <p:spPr>
          <a:xfrm>
            <a:off x="9869762" y="3188546"/>
            <a:ext cx="445008"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Slovenia</a:t>
            </a:r>
          </a:p>
        </p:txBody>
      </p:sp>
      <p:sp>
        <p:nvSpPr>
          <p:cNvPr id="82" name="Rounded Rectangle 81"/>
          <p:cNvSpPr/>
          <p:nvPr/>
        </p:nvSpPr>
        <p:spPr>
          <a:xfrm>
            <a:off x="10534692" y="3059853"/>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3" name="TextBox 82"/>
          <p:cNvSpPr txBox="1"/>
          <p:nvPr/>
        </p:nvSpPr>
        <p:spPr>
          <a:xfrm>
            <a:off x="10534692" y="3059853"/>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Hungary</a:t>
            </a:r>
          </a:p>
        </p:txBody>
      </p:sp>
      <p:sp>
        <p:nvSpPr>
          <p:cNvPr id="84" name="Rounded Rectangle 83"/>
          <p:cNvSpPr/>
          <p:nvPr/>
        </p:nvSpPr>
        <p:spPr>
          <a:xfrm>
            <a:off x="10069618" y="3398520"/>
            <a:ext cx="316230"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5" name="TextBox 84"/>
          <p:cNvSpPr txBox="1"/>
          <p:nvPr/>
        </p:nvSpPr>
        <p:spPr>
          <a:xfrm>
            <a:off x="10069618" y="3398520"/>
            <a:ext cx="316230"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Italy</a:t>
            </a:r>
          </a:p>
        </p:txBody>
      </p:sp>
      <p:sp>
        <p:nvSpPr>
          <p:cNvPr id="86" name="Rounded Rectangle 85"/>
          <p:cNvSpPr/>
          <p:nvPr/>
        </p:nvSpPr>
        <p:spPr>
          <a:xfrm>
            <a:off x="10657755" y="3594946"/>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7" name="TextBox 86"/>
          <p:cNvSpPr txBox="1"/>
          <p:nvPr/>
        </p:nvSpPr>
        <p:spPr>
          <a:xfrm>
            <a:off x="10657755" y="3594946"/>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Greece</a:t>
            </a:r>
          </a:p>
        </p:txBody>
      </p:sp>
      <p:sp>
        <p:nvSpPr>
          <p:cNvPr id="88" name="TextBox 87"/>
          <p:cNvSpPr txBox="1"/>
          <p:nvPr/>
        </p:nvSpPr>
        <p:spPr>
          <a:xfrm>
            <a:off x="8636000" y="1600200"/>
            <a:ext cx="1524000" cy="177800"/>
          </a:xfrm>
          <a:prstGeom prst="rect">
            <a:avLst/>
          </a:prstGeom>
          <a:noFill/>
        </p:spPr>
        <p:txBody>
          <a:bodyPr wrap="square" lIns="0" rIns="0" tIns="0" bIns="0" anchor="t">
            <a:spAutoFit/>
          </a:bodyPr>
          <a:lstStyle/>
          <a:p>
            <a:pPr algn="l">
              <a:lnSpc>
                <a:spcPct val="120000"/>
              </a:lnSpc>
              <a:spcAft>
                <a:spcPts val="0"/>
              </a:spcAft>
            </a:pPr>
            <a:r>
              <a:rPr sz="800" b="0" spc="120">
                <a:solidFill>
                  <a:srgbClr val="55607A"/>
                </a:solidFill>
                <a:latin typeface="Segoe UI Semibold"/>
              </a:rPr>
              <a:t>EUROPE</a:t>
            </a:r>
          </a:p>
        </p:txBody>
      </p:sp>
      <p:sp>
        <p:nvSpPr>
          <p:cNvPr id="89" name="Rectangle 88"/>
          <p:cNvSpPr/>
          <p:nvPr/>
        </p:nvSpPr>
        <p:spPr>
          <a:xfrm>
            <a:off x="609600" y="4140200"/>
            <a:ext cx="127000" cy="127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0" name="TextBox 89"/>
          <p:cNvSpPr txBox="1"/>
          <p:nvPr/>
        </p:nvSpPr>
        <p:spPr>
          <a:xfrm>
            <a:off x="812800" y="4076700"/>
            <a:ext cx="19050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Utilities &amp; industry  14</a:t>
            </a:r>
          </a:p>
        </p:txBody>
      </p:sp>
      <p:sp>
        <p:nvSpPr>
          <p:cNvPr id="91" name="Rectangle 90"/>
          <p:cNvSpPr/>
          <p:nvPr/>
        </p:nvSpPr>
        <p:spPr>
          <a:xfrm>
            <a:off x="2799079" y="4140200"/>
            <a:ext cx="127000" cy="1270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2" name="TextBox 91"/>
          <p:cNvSpPr txBox="1"/>
          <p:nvPr/>
        </p:nvSpPr>
        <p:spPr>
          <a:xfrm>
            <a:off x="3002279" y="4076700"/>
            <a:ext cx="19050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Public safety  8</a:t>
            </a:r>
          </a:p>
        </p:txBody>
      </p:sp>
      <p:sp>
        <p:nvSpPr>
          <p:cNvPr id="93" name="Rectangle 92"/>
          <p:cNvSpPr/>
          <p:nvPr/>
        </p:nvSpPr>
        <p:spPr>
          <a:xfrm>
            <a:off x="4419600" y="4140200"/>
            <a:ext cx="127000" cy="1270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4" name="TextBox 93"/>
          <p:cNvSpPr txBox="1"/>
          <p:nvPr/>
        </p:nvSpPr>
        <p:spPr>
          <a:xfrm>
            <a:off x="4622800" y="4076700"/>
            <a:ext cx="19050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Rail  1</a:t>
            </a:r>
          </a:p>
        </p:txBody>
      </p:sp>
      <p:sp>
        <p:nvSpPr>
          <p:cNvPr id="95" name="Rectangle 94"/>
          <p:cNvSpPr/>
          <p:nvPr/>
        </p:nvSpPr>
        <p:spPr>
          <a:xfrm>
            <a:off x="5400040" y="4140200"/>
            <a:ext cx="127000" cy="127000"/>
          </a:xfrm>
          <a:prstGeom prst="rect">
            <a:avLst/>
          </a:prstGeom>
          <a:solidFill>
            <a:srgbClr val="5B86C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6" name="TextBox 95"/>
          <p:cNvSpPr txBox="1"/>
          <p:nvPr/>
        </p:nvSpPr>
        <p:spPr>
          <a:xfrm>
            <a:off x="5603240" y="4076700"/>
            <a:ext cx="19050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Operator  12</a:t>
            </a:r>
          </a:p>
        </p:txBody>
      </p:sp>
      <p:sp>
        <p:nvSpPr>
          <p:cNvPr id="97" name="Rectangle 96"/>
          <p:cNvSpPr/>
          <p:nvPr/>
        </p:nvSpPr>
        <p:spPr>
          <a:xfrm>
            <a:off x="6736080" y="4140200"/>
            <a:ext cx="127000" cy="127000"/>
          </a:xfrm>
          <a:prstGeom prst="rect">
            <a:avLst/>
          </a:prstGeom>
          <a:solidFill>
            <a:srgbClr val="C3D2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8" name="TextBox 97"/>
          <p:cNvSpPr txBox="1"/>
          <p:nvPr/>
        </p:nvSpPr>
        <p:spPr>
          <a:xfrm>
            <a:off x="6939280" y="4076700"/>
            <a:ext cx="19050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Trial / consultation  17</a:t>
            </a:r>
          </a:p>
        </p:txBody>
      </p:sp>
      <p:sp>
        <p:nvSpPr>
          <p:cNvPr id="99" name="Rectangle 98"/>
          <p:cNvSpPr/>
          <p:nvPr/>
        </p:nvSpPr>
        <p:spPr>
          <a:xfrm>
            <a:off x="609600" y="4470400"/>
            <a:ext cx="3454400" cy="914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0" name="Oval 99"/>
          <p:cNvSpPr/>
          <p:nvPr/>
        </p:nvSpPr>
        <p:spPr>
          <a:xfrm>
            <a:off x="812800" y="4699000"/>
            <a:ext cx="457200" cy="457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01" name="Picture 100" descr="globe_white.png"/>
          <p:cNvPicPr>
            <a:picLocks noChangeAspect="1"/>
          </p:cNvPicPr>
          <p:nvPr/>
        </p:nvPicPr>
        <p:blipFill>
          <a:blip r:embed="rId4"/>
          <a:stretch>
            <a:fillRect/>
          </a:stretch>
        </p:blipFill>
        <p:spPr>
          <a:xfrm>
            <a:off x="922528" y="4808728"/>
            <a:ext cx="237744" cy="237744"/>
          </a:xfrm>
          <a:prstGeom prst="rect">
            <a:avLst/>
          </a:prstGeom>
        </p:spPr>
      </p:pic>
      <p:sp>
        <p:nvSpPr>
          <p:cNvPr id="102" name="TextBox 101"/>
          <p:cNvSpPr txBox="1"/>
          <p:nvPr/>
        </p:nvSpPr>
        <p:spPr>
          <a:xfrm>
            <a:off x="1397000" y="4470400"/>
            <a:ext cx="1143000" cy="914400"/>
          </a:xfrm>
          <a:prstGeom prst="rect">
            <a:avLst/>
          </a:prstGeom>
          <a:noFill/>
        </p:spPr>
        <p:txBody>
          <a:bodyPr wrap="square" lIns="0" rIns="0" tIns="0" bIns="0" anchor="ctr">
            <a:spAutoFit/>
          </a:bodyPr>
          <a:lstStyle/>
          <a:p>
            <a:pPr algn="l">
              <a:lnSpc>
                <a:spcPct val="120000"/>
              </a:lnSpc>
              <a:spcAft>
                <a:spcPts val="0"/>
              </a:spcAft>
            </a:pPr>
            <a:r>
              <a:rPr sz="2400" b="0">
                <a:solidFill>
                  <a:srgbClr val="0B308E"/>
                </a:solidFill>
                <a:latin typeface="Segoe UI Light"/>
              </a:rPr>
              <a:t>86%</a:t>
            </a:r>
          </a:p>
        </p:txBody>
      </p:sp>
      <p:sp>
        <p:nvSpPr>
          <p:cNvPr id="103" name="TextBox 102"/>
          <p:cNvSpPr txBox="1"/>
          <p:nvPr/>
        </p:nvSpPr>
        <p:spPr>
          <a:xfrm>
            <a:off x="2514600" y="4470400"/>
            <a:ext cx="1473200" cy="914400"/>
          </a:xfrm>
          <a:prstGeom prst="rect">
            <a:avLst/>
          </a:prstGeom>
          <a:noFill/>
        </p:spPr>
        <p:txBody>
          <a:bodyPr wrap="square" lIns="0" rIns="0" tIns="0" bIns="0" anchor="ctr">
            <a:spAutoFit/>
          </a:bodyPr>
          <a:lstStyle/>
          <a:p>
            <a:pPr algn="l">
              <a:lnSpc>
                <a:spcPct val="115000"/>
              </a:lnSpc>
              <a:spcAft>
                <a:spcPts val="0"/>
              </a:spcAft>
            </a:pPr>
            <a:r>
              <a:rPr sz="1050" b="0">
                <a:solidFill>
                  <a:srgbClr val="55607A"/>
                </a:solidFill>
                <a:latin typeface="Segoe UI"/>
              </a:rPr>
              <a:t>of people: allocated</a:t>
            </a:r>
          </a:p>
          <a:p>
            <a:pPr algn="l">
              <a:lnSpc>
                <a:spcPct val="115000"/>
              </a:lnSpc>
              <a:spcAft>
                <a:spcPts val="0"/>
              </a:spcAft>
            </a:pPr>
            <a:r>
              <a:rPr sz="1050" b="0">
                <a:solidFill>
                  <a:srgbClr val="55607A"/>
                </a:solidFill>
                <a:latin typeface="Segoe UI"/>
              </a:rPr>
              <a:t>or in consultation</a:t>
            </a:r>
          </a:p>
        </p:txBody>
      </p:sp>
      <p:sp>
        <p:nvSpPr>
          <p:cNvPr id="104" name="Rectangle 103"/>
          <p:cNvSpPr/>
          <p:nvPr/>
        </p:nvSpPr>
        <p:spPr>
          <a:xfrm>
            <a:off x="4368800" y="4470400"/>
            <a:ext cx="3454400" cy="914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5" name="Oval 104"/>
          <p:cNvSpPr/>
          <p:nvPr/>
        </p:nvSpPr>
        <p:spPr>
          <a:xfrm>
            <a:off x="4572000" y="4699000"/>
            <a:ext cx="457200" cy="457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06" name="Picture 105" descr="radio-tower_white.png"/>
          <p:cNvPicPr>
            <a:picLocks noChangeAspect="1"/>
          </p:cNvPicPr>
          <p:nvPr/>
        </p:nvPicPr>
        <p:blipFill>
          <a:blip r:embed="rId5"/>
          <a:stretch>
            <a:fillRect/>
          </a:stretch>
        </p:blipFill>
        <p:spPr>
          <a:xfrm>
            <a:off x="4681728" y="4808728"/>
            <a:ext cx="237744" cy="237744"/>
          </a:xfrm>
          <a:prstGeom prst="rect">
            <a:avLst/>
          </a:prstGeom>
        </p:spPr>
      </p:pic>
      <p:sp>
        <p:nvSpPr>
          <p:cNvPr id="107" name="TextBox 106"/>
          <p:cNvSpPr txBox="1"/>
          <p:nvPr/>
        </p:nvSpPr>
        <p:spPr>
          <a:xfrm>
            <a:off x="5156200" y="4470400"/>
            <a:ext cx="1143000" cy="914400"/>
          </a:xfrm>
          <a:prstGeom prst="rect">
            <a:avLst/>
          </a:prstGeom>
          <a:noFill/>
        </p:spPr>
        <p:txBody>
          <a:bodyPr wrap="square" lIns="0" rIns="0" tIns="0" bIns="0" anchor="ctr">
            <a:spAutoFit/>
          </a:bodyPr>
          <a:lstStyle/>
          <a:p>
            <a:pPr algn="l">
              <a:lnSpc>
                <a:spcPct val="120000"/>
              </a:lnSpc>
              <a:spcAft>
                <a:spcPts val="0"/>
              </a:spcAft>
            </a:pPr>
            <a:r>
              <a:rPr sz="2400" b="0">
                <a:solidFill>
                  <a:srgbClr val="0B308E"/>
                </a:solidFill>
                <a:latin typeface="Segoe UI Light"/>
              </a:rPr>
              <a:t>77 / 39</a:t>
            </a:r>
          </a:p>
        </p:txBody>
      </p:sp>
      <p:sp>
        <p:nvSpPr>
          <p:cNvPr id="108" name="TextBox 107"/>
          <p:cNvSpPr txBox="1"/>
          <p:nvPr/>
        </p:nvSpPr>
        <p:spPr>
          <a:xfrm>
            <a:off x="6273800" y="4470400"/>
            <a:ext cx="1473200" cy="914400"/>
          </a:xfrm>
          <a:prstGeom prst="rect">
            <a:avLst/>
          </a:prstGeom>
          <a:noFill/>
        </p:spPr>
        <p:txBody>
          <a:bodyPr wrap="square" lIns="0" rIns="0" tIns="0" bIns="0" anchor="ctr">
            <a:spAutoFit/>
          </a:bodyPr>
          <a:lstStyle/>
          <a:p>
            <a:pPr algn="l">
              <a:lnSpc>
                <a:spcPct val="115000"/>
              </a:lnSpc>
              <a:spcAft>
                <a:spcPts val="0"/>
              </a:spcAft>
            </a:pPr>
            <a:r>
              <a:rPr sz="1050" b="0">
                <a:solidFill>
                  <a:srgbClr val="55607A"/>
                </a:solidFill>
                <a:latin typeface="Segoe UI"/>
              </a:rPr>
              <a:t>countries with networks /</a:t>
            </a:r>
          </a:p>
          <a:p>
            <a:pPr algn="l">
              <a:lnSpc>
                <a:spcPct val="115000"/>
              </a:lnSpc>
              <a:spcAft>
                <a:spcPts val="0"/>
              </a:spcAft>
            </a:pPr>
            <a:r>
              <a:rPr sz="1050" b="0">
                <a:solidFill>
                  <a:srgbClr val="55607A"/>
                </a:solidFill>
                <a:latin typeface="Segoe UI"/>
              </a:rPr>
              <a:t>already on LTE</a:t>
            </a:r>
          </a:p>
        </p:txBody>
      </p:sp>
      <p:sp>
        <p:nvSpPr>
          <p:cNvPr id="109" name="Rectangle 108"/>
          <p:cNvSpPr/>
          <p:nvPr/>
        </p:nvSpPr>
        <p:spPr>
          <a:xfrm>
            <a:off x="8128000" y="4470400"/>
            <a:ext cx="3454400" cy="914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0" name="Oval 109"/>
          <p:cNvSpPr/>
          <p:nvPr/>
        </p:nvSpPr>
        <p:spPr>
          <a:xfrm>
            <a:off x="8331200" y="4699000"/>
            <a:ext cx="457200" cy="457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1" name="Picture 110" descr="trending-up_white.png"/>
          <p:cNvPicPr>
            <a:picLocks noChangeAspect="1"/>
          </p:cNvPicPr>
          <p:nvPr/>
        </p:nvPicPr>
        <p:blipFill>
          <a:blip r:embed="rId6"/>
          <a:stretch>
            <a:fillRect/>
          </a:stretch>
        </p:blipFill>
        <p:spPr>
          <a:xfrm>
            <a:off x="8440928" y="4808728"/>
            <a:ext cx="237744" cy="237744"/>
          </a:xfrm>
          <a:prstGeom prst="rect">
            <a:avLst/>
          </a:prstGeom>
        </p:spPr>
      </p:pic>
      <p:sp>
        <p:nvSpPr>
          <p:cNvPr id="112" name="TextBox 111"/>
          <p:cNvSpPr txBox="1"/>
          <p:nvPr/>
        </p:nvSpPr>
        <p:spPr>
          <a:xfrm>
            <a:off x="8915400" y="4470400"/>
            <a:ext cx="1143000" cy="914400"/>
          </a:xfrm>
          <a:prstGeom prst="rect">
            <a:avLst/>
          </a:prstGeom>
          <a:noFill/>
        </p:spPr>
        <p:txBody>
          <a:bodyPr wrap="square" lIns="0" rIns="0" tIns="0" bIns="0" anchor="ctr">
            <a:spAutoFit/>
          </a:bodyPr>
          <a:lstStyle/>
          <a:p>
            <a:pPr algn="l">
              <a:lnSpc>
                <a:spcPct val="120000"/>
              </a:lnSpc>
              <a:spcAft>
                <a:spcPts val="0"/>
              </a:spcAft>
            </a:pPr>
            <a:r>
              <a:rPr sz="2400" b="0">
                <a:solidFill>
                  <a:srgbClr val="0B308E"/>
                </a:solidFill>
                <a:latin typeface="Segoe UI Light"/>
              </a:rPr>
              <a:t>14M</a:t>
            </a:r>
          </a:p>
        </p:txBody>
      </p:sp>
      <p:sp>
        <p:nvSpPr>
          <p:cNvPr id="113" name="TextBox 112"/>
          <p:cNvSpPr txBox="1"/>
          <p:nvPr/>
        </p:nvSpPr>
        <p:spPr>
          <a:xfrm>
            <a:off x="10033000" y="4470400"/>
            <a:ext cx="1473200" cy="914400"/>
          </a:xfrm>
          <a:prstGeom prst="rect">
            <a:avLst/>
          </a:prstGeom>
          <a:noFill/>
        </p:spPr>
        <p:txBody>
          <a:bodyPr wrap="square" lIns="0" rIns="0" tIns="0" bIns="0" anchor="ctr">
            <a:spAutoFit/>
          </a:bodyPr>
          <a:lstStyle/>
          <a:p>
            <a:pPr algn="l">
              <a:lnSpc>
                <a:spcPct val="115000"/>
              </a:lnSpc>
              <a:spcAft>
                <a:spcPts val="0"/>
              </a:spcAft>
            </a:pPr>
            <a:r>
              <a:rPr sz="1050" b="0">
                <a:solidFill>
                  <a:srgbClr val="55607A"/>
                </a:solidFill>
                <a:latin typeface="Segoe UI"/>
              </a:rPr>
              <a:t>sensor links by 2030,</a:t>
            </a:r>
          </a:p>
          <a:p>
            <a:pPr algn="l">
              <a:lnSpc>
                <a:spcPct val="115000"/>
              </a:lnSpc>
              <a:spcAft>
                <a:spcPts val="0"/>
              </a:spcAft>
            </a:pPr>
            <a:r>
              <a:rPr sz="1050" b="0">
                <a:solidFill>
                  <a:srgbClr val="55607A"/>
                </a:solidFill>
                <a:latin typeface="Segoe UI"/>
              </a:rPr>
              <a:t>plus 1.8M broadband</a:t>
            </a:r>
          </a:p>
        </p:txBody>
      </p:sp>
      <p:sp>
        <p:nvSpPr>
          <p:cNvPr id="114" name="Rectangle 113"/>
          <p:cNvSpPr/>
          <p:nvPr/>
        </p:nvSpPr>
        <p:spPr>
          <a:xfrm>
            <a:off x="609600" y="5562600"/>
            <a:ext cx="10972800" cy="4318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5" name="Picture 114" descr="check_navy.png"/>
          <p:cNvPicPr>
            <a:picLocks noChangeAspect="1"/>
          </p:cNvPicPr>
          <p:nvPr/>
        </p:nvPicPr>
        <p:blipFill>
          <a:blip r:embed="rId7"/>
          <a:stretch>
            <a:fillRect/>
          </a:stretch>
        </p:blipFill>
        <p:spPr>
          <a:xfrm>
            <a:off x="812800" y="5651500"/>
            <a:ext cx="254000" cy="254000"/>
          </a:xfrm>
          <a:prstGeom prst="rect">
            <a:avLst/>
          </a:prstGeom>
        </p:spPr>
      </p:pic>
      <p:sp>
        <p:nvSpPr>
          <p:cNvPr id="116" name="TextBox 115"/>
          <p:cNvSpPr txBox="1"/>
          <p:nvPr/>
        </p:nvSpPr>
        <p:spPr>
          <a:xfrm>
            <a:off x="1219200" y="5562600"/>
            <a:ext cx="10160000" cy="431800"/>
          </a:xfrm>
          <a:prstGeom prst="rect">
            <a:avLst/>
          </a:prstGeom>
          <a:noFill/>
        </p:spPr>
        <p:txBody>
          <a:bodyPr wrap="square" lIns="0" rIns="0" tIns="0" bIns="0" anchor="ctr">
            <a:spAutoFit/>
          </a:bodyPr>
          <a:lstStyle/>
          <a:p>
            <a:pPr algn="l">
              <a:lnSpc>
                <a:spcPct val="130000"/>
              </a:lnSpc>
            </a:pPr>
            <a:r>
              <a:rPr sz="1250" b="0">
                <a:solidFill>
                  <a:srgbClr val="0B308E"/>
                </a:solidFill>
                <a:latin typeface="Segoe UI Semibold"/>
              </a:rPr>
              <a:t>The common pattern:   </a:t>
            </a:r>
            <a:r>
              <a:rPr sz="1250" b="0">
                <a:solidFill>
                  <a:srgbClr val="16213E"/>
                </a:solidFill>
                <a:latin typeface="Segoe UI"/>
              </a:rPr>
              <a:t>one licensed operator per country; utilities are the largest user group</a:t>
            </a:r>
          </a:p>
        </p:txBody>
      </p:sp>
      <p:sp>
        <p:nvSpPr>
          <p:cNvPr id="117" name="TextBox 116"/>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450 MHz Alliance, Annual Global Update (Dec 2025) p4, p6-p9 country updates, p11-p12; countries coloured by main use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000" cy="76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0"/>
            <a:ext cx="40640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863600" y="15240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02 OF 04</a:t>
            </a:r>
          </a:p>
        </p:txBody>
      </p:sp>
      <p:sp>
        <p:nvSpPr>
          <p:cNvPr id="6" name="TextBox 5"/>
          <p:cNvSpPr txBox="1"/>
          <p:nvPr/>
        </p:nvSpPr>
        <p:spPr>
          <a:xfrm>
            <a:off x="787400" y="1727200"/>
            <a:ext cx="4826000" cy="1905000"/>
          </a:xfrm>
          <a:prstGeom prst="rect">
            <a:avLst/>
          </a:prstGeom>
          <a:noFill/>
        </p:spPr>
        <p:txBody>
          <a:bodyPr wrap="square" lIns="0" rIns="0" tIns="0" bIns="0" anchor="ctr">
            <a:spAutoFit/>
          </a:bodyPr>
          <a:lstStyle/>
          <a:p>
            <a:pPr algn="l">
              <a:lnSpc>
                <a:spcPct val="120000"/>
              </a:lnSpc>
              <a:spcAft>
                <a:spcPts val="0"/>
              </a:spcAft>
            </a:pPr>
            <a:r>
              <a:rPr sz="13000" b="0">
                <a:solidFill>
                  <a:srgbClr val="0B308E"/>
                </a:solidFill>
                <a:latin typeface="Segoe UI Light"/>
              </a:rPr>
              <a:t>02</a:t>
            </a:r>
          </a:p>
        </p:txBody>
      </p:sp>
      <p:sp>
        <p:nvSpPr>
          <p:cNvPr id="7" name="Rectangle 6"/>
          <p:cNvSpPr/>
          <p:nvPr/>
        </p:nvSpPr>
        <p:spPr>
          <a:xfrm>
            <a:off x="863600" y="3759200"/>
            <a:ext cx="812800" cy="508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63600" y="3987800"/>
            <a:ext cx="4826000" cy="558800"/>
          </a:xfrm>
          <a:prstGeom prst="rect">
            <a:avLst/>
          </a:prstGeom>
          <a:noFill/>
        </p:spPr>
        <p:txBody>
          <a:bodyPr wrap="square" lIns="0" rIns="0" tIns="0" bIns="0" anchor="ctr">
            <a:spAutoFit/>
          </a:bodyPr>
          <a:lstStyle/>
          <a:p>
            <a:pPr algn="l">
              <a:lnSpc>
                <a:spcPct val="120000"/>
              </a:lnSpc>
              <a:spcAft>
                <a:spcPts val="0"/>
              </a:spcAft>
            </a:pPr>
            <a:r>
              <a:rPr sz="3000" b="0">
                <a:solidFill>
                  <a:srgbClr val="0B308E"/>
                </a:solidFill>
                <a:latin typeface="Segoe UI Semibold"/>
              </a:rPr>
              <a:t>Target industries</a:t>
            </a:r>
          </a:p>
        </p:txBody>
      </p:sp>
      <p:sp>
        <p:nvSpPr>
          <p:cNvPr id="9" name="TextBox 8"/>
          <p:cNvSpPr txBox="1"/>
          <p:nvPr/>
        </p:nvSpPr>
        <p:spPr>
          <a:xfrm>
            <a:off x="863600" y="4572000"/>
            <a:ext cx="4826000" cy="558800"/>
          </a:xfrm>
          <a:prstGeom prst="rect">
            <a:avLst/>
          </a:prstGeom>
          <a:noFill/>
        </p:spPr>
        <p:txBody>
          <a:bodyPr wrap="square" lIns="0" rIns="0" tIns="0" bIns="0" anchor="t">
            <a:spAutoFit/>
          </a:bodyPr>
          <a:lstStyle/>
          <a:p>
            <a:pPr algn="l">
              <a:lnSpc>
                <a:spcPct val="125000"/>
              </a:lnSpc>
              <a:spcAft>
                <a:spcPts val="0"/>
              </a:spcAft>
            </a:pPr>
            <a:r>
              <a:rPr sz="1500" b="0">
                <a:solidFill>
                  <a:srgbClr val="55607A"/>
                </a:solidFill>
                <a:latin typeface="Segoe UI"/>
              </a:rPr>
              <a:t>Who needs it, and who would pay first?</a:t>
            </a:r>
          </a:p>
        </p:txBody>
      </p:sp>
      <p:sp>
        <p:nvSpPr>
          <p:cNvPr id="10" name="Rectangle 9"/>
          <p:cNvSpPr/>
          <p:nvPr/>
        </p:nvSpPr>
        <p:spPr>
          <a:xfrm>
            <a:off x="6197600" y="1524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6477000" y="1701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radio-tower_steel.png"/>
          <p:cNvPicPr>
            <a:picLocks noChangeAspect="1"/>
          </p:cNvPicPr>
          <p:nvPr/>
        </p:nvPicPr>
        <p:blipFill>
          <a:blip r:embed="rId2"/>
          <a:stretch>
            <a:fillRect/>
          </a:stretch>
        </p:blipFill>
        <p:spPr>
          <a:xfrm>
            <a:off x="6598920" y="1823720"/>
            <a:ext cx="264160" cy="264160"/>
          </a:xfrm>
          <a:prstGeom prst="rect">
            <a:avLst/>
          </a:prstGeom>
        </p:spPr>
      </p:pic>
      <p:sp>
        <p:nvSpPr>
          <p:cNvPr id="13" name="Oval 12"/>
          <p:cNvSpPr/>
          <p:nvPr/>
        </p:nvSpPr>
        <p:spPr>
          <a:xfrm>
            <a:off x="6824980" y="1659127"/>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824980" y="1659127"/>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01</a:t>
            </a:r>
          </a:p>
        </p:txBody>
      </p:sp>
      <p:sp>
        <p:nvSpPr>
          <p:cNvPr id="15" name="TextBox 14"/>
          <p:cNvSpPr txBox="1"/>
          <p:nvPr/>
        </p:nvSpPr>
        <p:spPr>
          <a:xfrm>
            <a:off x="7289800" y="1524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450 MHz advantages</a:t>
            </a:r>
          </a:p>
        </p:txBody>
      </p:sp>
      <p:sp>
        <p:nvSpPr>
          <p:cNvPr id="16" name="Rectangle 15"/>
          <p:cNvSpPr/>
          <p:nvPr/>
        </p:nvSpPr>
        <p:spPr>
          <a:xfrm>
            <a:off x="6197600" y="2540000"/>
            <a:ext cx="5384800" cy="8636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197600" y="2540000"/>
            <a:ext cx="50800" cy="8636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6477000" y="2717800"/>
            <a:ext cx="508000" cy="508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users_white.png"/>
          <p:cNvPicPr>
            <a:picLocks noChangeAspect="1"/>
          </p:cNvPicPr>
          <p:nvPr/>
        </p:nvPicPr>
        <p:blipFill>
          <a:blip r:embed="rId3"/>
          <a:stretch>
            <a:fillRect/>
          </a:stretch>
        </p:blipFill>
        <p:spPr>
          <a:xfrm>
            <a:off x="6598920" y="2839720"/>
            <a:ext cx="264160" cy="264160"/>
          </a:xfrm>
          <a:prstGeom prst="rect">
            <a:avLst/>
          </a:prstGeom>
        </p:spPr>
      </p:pic>
      <p:sp>
        <p:nvSpPr>
          <p:cNvPr id="20" name="Oval 19"/>
          <p:cNvSpPr/>
          <p:nvPr/>
        </p:nvSpPr>
        <p:spPr>
          <a:xfrm>
            <a:off x="6824980" y="2675128"/>
            <a:ext cx="213360" cy="213360"/>
          </a:xfrm>
          <a:prstGeom prst="ellipse">
            <a:avLst/>
          </a:prstGeom>
          <a:solidFill>
            <a:srgbClr val="0B308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824980" y="2675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02</a:t>
            </a:r>
          </a:p>
        </p:txBody>
      </p:sp>
      <p:sp>
        <p:nvSpPr>
          <p:cNvPr id="22" name="TextBox 21"/>
          <p:cNvSpPr txBox="1"/>
          <p:nvPr/>
        </p:nvSpPr>
        <p:spPr>
          <a:xfrm>
            <a:off x="7289800" y="2540000"/>
            <a:ext cx="4064000" cy="863600"/>
          </a:xfrm>
          <a:prstGeom prst="rect">
            <a:avLst/>
          </a:prstGeom>
          <a:noFill/>
        </p:spPr>
        <p:txBody>
          <a:bodyPr wrap="square" lIns="0" rIns="0" tIns="0" bIns="0" anchor="ctr">
            <a:spAutoFit/>
          </a:bodyPr>
          <a:lstStyle/>
          <a:p>
            <a:pPr algn="l">
              <a:lnSpc>
                <a:spcPct val="120000"/>
              </a:lnSpc>
              <a:spcAft>
                <a:spcPts val="0"/>
              </a:spcAft>
            </a:pPr>
            <a:r>
              <a:rPr sz="1700" b="0">
                <a:solidFill>
                  <a:srgbClr val="0B308E"/>
                </a:solidFill>
                <a:latin typeface="Segoe UI Semibold"/>
              </a:rPr>
              <a:t>Target industries</a:t>
            </a:r>
          </a:p>
        </p:txBody>
      </p:sp>
      <p:sp>
        <p:nvSpPr>
          <p:cNvPr id="23" name="Rectangle 22"/>
          <p:cNvSpPr/>
          <p:nvPr/>
        </p:nvSpPr>
        <p:spPr>
          <a:xfrm>
            <a:off x="6197600" y="3556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6477000" y="3733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5" name="Picture 24" descr="globe_steel.png"/>
          <p:cNvPicPr>
            <a:picLocks noChangeAspect="1"/>
          </p:cNvPicPr>
          <p:nvPr/>
        </p:nvPicPr>
        <p:blipFill>
          <a:blip r:embed="rId4"/>
          <a:stretch>
            <a:fillRect/>
          </a:stretch>
        </p:blipFill>
        <p:spPr>
          <a:xfrm>
            <a:off x="6598920" y="3855720"/>
            <a:ext cx="264160" cy="264160"/>
          </a:xfrm>
          <a:prstGeom prst="rect">
            <a:avLst/>
          </a:prstGeom>
        </p:spPr>
      </p:pic>
      <p:sp>
        <p:nvSpPr>
          <p:cNvPr id="26" name="Oval 25"/>
          <p:cNvSpPr/>
          <p:nvPr/>
        </p:nvSpPr>
        <p:spPr>
          <a:xfrm>
            <a:off x="6824980" y="3691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824980" y="3691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03</a:t>
            </a:r>
          </a:p>
        </p:txBody>
      </p:sp>
      <p:sp>
        <p:nvSpPr>
          <p:cNvPr id="28" name="TextBox 27"/>
          <p:cNvSpPr txBox="1"/>
          <p:nvPr/>
        </p:nvSpPr>
        <p:spPr>
          <a:xfrm>
            <a:off x="7289800" y="3556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Reference cases</a:t>
            </a:r>
          </a:p>
        </p:txBody>
      </p:sp>
      <p:sp>
        <p:nvSpPr>
          <p:cNvPr id="29" name="Rectangle 28"/>
          <p:cNvSpPr/>
          <p:nvPr/>
        </p:nvSpPr>
        <p:spPr>
          <a:xfrm>
            <a:off x="6197600" y="4572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6477000" y="4749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1" name="Picture 30" descr="coins_steel.png"/>
          <p:cNvPicPr>
            <a:picLocks noChangeAspect="1"/>
          </p:cNvPicPr>
          <p:nvPr/>
        </p:nvPicPr>
        <p:blipFill>
          <a:blip r:embed="rId5"/>
          <a:stretch>
            <a:fillRect/>
          </a:stretch>
        </p:blipFill>
        <p:spPr>
          <a:xfrm>
            <a:off x="6598920" y="4871720"/>
            <a:ext cx="264160" cy="264160"/>
          </a:xfrm>
          <a:prstGeom prst="rect">
            <a:avLst/>
          </a:prstGeom>
        </p:spPr>
      </p:pic>
      <p:sp>
        <p:nvSpPr>
          <p:cNvPr id="32" name="Oval 31"/>
          <p:cNvSpPr/>
          <p:nvPr/>
        </p:nvSpPr>
        <p:spPr>
          <a:xfrm>
            <a:off x="6824980" y="4707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24980" y="4707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04</a:t>
            </a:r>
          </a:p>
        </p:txBody>
      </p:sp>
      <p:sp>
        <p:nvSpPr>
          <p:cNvPr id="34" name="TextBox 33"/>
          <p:cNvSpPr txBox="1"/>
          <p:nvPr/>
        </p:nvSpPr>
        <p:spPr>
          <a:xfrm>
            <a:off x="7289800" y="4572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Business model</a:t>
            </a:r>
          </a:p>
        </p:txBody>
      </p:sp>
      <p:sp>
        <p:nvSpPr>
          <p:cNvPr id="35" name="TextBox 34"/>
          <p:cNvSpPr txBox="1"/>
          <p:nvPr/>
        </p:nvSpPr>
        <p:spPr>
          <a:xfrm>
            <a:off x="11201400" y="63500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02   WHO PAYS FIRST</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07</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Start with the utilities: they pay first and fit best</a:t>
            </a:r>
          </a:p>
        </p:txBody>
      </p:sp>
      <p:pic>
        <p:nvPicPr>
          <p:cNvPr id="10" name="Picture 9" descr="hand-coins_steel.png"/>
          <p:cNvPicPr>
            <a:picLocks noChangeAspect="1"/>
          </p:cNvPicPr>
          <p:nvPr/>
        </p:nvPicPr>
        <p:blipFill>
          <a:blip r:embed="rId2"/>
          <a:stretch>
            <a:fillRect/>
          </a:stretch>
        </p:blipFill>
        <p:spPr>
          <a:xfrm>
            <a:off x="4660900" y="1447800"/>
            <a:ext cx="228600" cy="228600"/>
          </a:xfrm>
          <a:prstGeom prst="rect">
            <a:avLst/>
          </a:prstGeom>
        </p:spPr>
      </p:pic>
      <p:sp>
        <p:nvSpPr>
          <p:cNvPr id="11" name="TextBox 10"/>
          <p:cNvSpPr txBox="1"/>
          <p:nvPr/>
        </p:nvSpPr>
        <p:spPr>
          <a:xfrm>
            <a:off x="4013200" y="1727200"/>
            <a:ext cx="1524000" cy="177800"/>
          </a:xfrm>
          <a:prstGeom prst="rect">
            <a:avLst/>
          </a:prstGeom>
          <a:noFill/>
        </p:spPr>
        <p:txBody>
          <a:bodyPr wrap="square" lIns="0" rIns="0" tIns="0" bIns="0" anchor="t">
            <a:spAutoFit/>
          </a:bodyPr>
          <a:lstStyle/>
          <a:p>
            <a:pPr algn="ctr">
              <a:lnSpc>
                <a:spcPct val="120000"/>
              </a:lnSpc>
              <a:spcAft>
                <a:spcPts val="0"/>
              </a:spcAft>
            </a:pPr>
            <a:r>
              <a:rPr sz="800" b="0" spc="120">
                <a:solidFill>
                  <a:srgbClr val="55607A"/>
                </a:solidFill>
                <a:latin typeface="Segoe UI Semibold"/>
              </a:rPr>
              <a:t>ABILITY TO PAY</a:t>
            </a:r>
          </a:p>
        </p:txBody>
      </p:sp>
      <p:pic>
        <p:nvPicPr>
          <p:cNvPr id="12" name="Picture 11" descr="target_steel.png"/>
          <p:cNvPicPr>
            <a:picLocks noChangeAspect="1"/>
          </p:cNvPicPr>
          <p:nvPr/>
        </p:nvPicPr>
        <p:blipFill>
          <a:blip r:embed="rId3"/>
          <a:stretch>
            <a:fillRect/>
          </a:stretch>
        </p:blipFill>
        <p:spPr>
          <a:xfrm>
            <a:off x="6184900" y="1447800"/>
            <a:ext cx="228600" cy="228600"/>
          </a:xfrm>
          <a:prstGeom prst="rect">
            <a:avLst/>
          </a:prstGeom>
        </p:spPr>
      </p:pic>
      <p:sp>
        <p:nvSpPr>
          <p:cNvPr id="13" name="TextBox 12"/>
          <p:cNvSpPr txBox="1"/>
          <p:nvPr/>
        </p:nvSpPr>
        <p:spPr>
          <a:xfrm>
            <a:off x="5537200" y="1727200"/>
            <a:ext cx="1524000" cy="177800"/>
          </a:xfrm>
          <a:prstGeom prst="rect">
            <a:avLst/>
          </a:prstGeom>
          <a:noFill/>
        </p:spPr>
        <p:txBody>
          <a:bodyPr wrap="square" lIns="0" rIns="0" tIns="0" bIns="0" anchor="t">
            <a:spAutoFit/>
          </a:bodyPr>
          <a:lstStyle/>
          <a:p>
            <a:pPr algn="ctr">
              <a:lnSpc>
                <a:spcPct val="120000"/>
              </a:lnSpc>
              <a:spcAft>
                <a:spcPts val="0"/>
              </a:spcAft>
            </a:pPr>
            <a:r>
              <a:rPr sz="800" b="0" spc="120">
                <a:solidFill>
                  <a:srgbClr val="55607A"/>
                </a:solidFill>
                <a:latin typeface="Segoe UI Semibold"/>
              </a:rPr>
              <a:t>FIT WITH 450</a:t>
            </a:r>
          </a:p>
        </p:txBody>
      </p:sp>
      <p:pic>
        <p:nvPicPr>
          <p:cNvPr id="14" name="Picture 13" descr="clock_steel.png"/>
          <p:cNvPicPr>
            <a:picLocks noChangeAspect="1"/>
          </p:cNvPicPr>
          <p:nvPr/>
        </p:nvPicPr>
        <p:blipFill>
          <a:blip r:embed="rId4"/>
          <a:stretch>
            <a:fillRect/>
          </a:stretch>
        </p:blipFill>
        <p:spPr>
          <a:xfrm>
            <a:off x="7708900" y="1447800"/>
            <a:ext cx="228600" cy="228600"/>
          </a:xfrm>
          <a:prstGeom prst="rect">
            <a:avLst/>
          </a:prstGeom>
        </p:spPr>
      </p:pic>
      <p:sp>
        <p:nvSpPr>
          <p:cNvPr id="15" name="TextBox 14"/>
          <p:cNvSpPr txBox="1"/>
          <p:nvPr/>
        </p:nvSpPr>
        <p:spPr>
          <a:xfrm>
            <a:off x="7061200" y="1727200"/>
            <a:ext cx="1524000" cy="177800"/>
          </a:xfrm>
          <a:prstGeom prst="rect">
            <a:avLst/>
          </a:prstGeom>
          <a:noFill/>
        </p:spPr>
        <p:txBody>
          <a:bodyPr wrap="square" lIns="0" rIns="0" tIns="0" bIns="0" anchor="t">
            <a:spAutoFit/>
          </a:bodyPr>
          <a:lstStyle/>
          <a:p>
            <a:pPr algn="ctr">
              <a:lnSpc>
                <a:spcPct val="120000"/>
              </a:lnSpc>
              <a:spcAft>
                <a:spcPts val="0"/>
              </a:spcAft>
            </a:pPr>
            <a:r>
              <a:rPr sz="800" b="0" spc="120">
                <a:solidFill>
                  <a:srgbClr val="55607A"/>
                </a:solidFill>
                <a:latin typeface="Segoe UI Semibold"/>
              </a:rPr>
              <a:t>SPEED TO REVENUE</a:t>
            </a:r>
          </a:p>
        </p:txBody>
      </p:sp>
      <p:sp>
        <p:nvSpPr>
          <p:cNvPr id="16" name="TextBox 15"/>
          <p:cNvSpPr txBox="1"/>
          <p:nvPr/>
        </p:nvSpPr>
        <p:spPr>
          <a:xfrm>
            <a:off x="8940800" y="1727200"/>
            <a:ext cx="2540000" cy="177800"/>
          </a:xfrm>
          <a:prstGeom prst="rect">
            <a:avLst/>
          </a:prstGeom>
          <a:noFill/>
        </p:spPr>
        <p:txBody>
          <a:bodyPr wrap="square" lIns="0" rIns="0" tIns="0" bIns="0" anchor="t">
            <a:spAutoFit/>
          </a:bodyPr>
          <a:lstStyle/>
          <a:p>
            <a:pPr algn="l">
              <a:lnSpc>
                <a:spcPct val="120000"/>
              </a:lnSpc>
              <a:spcAft>
                <a:spcPts val="0"/>
              </a:spcAft>
            </a:pPr>
            <a:r>
              <a:rPr sz="800" b="0" spc="120">
                <a:solidFill>
                  <a:srgbClr val="55607A"/>
                </a:solidFill>
                <a:latin typeface="Segoe UI Semibold"/>
              </a:rPr>
              <a:t>KEY POINT</a:t>
            </a:r>
          </a:p>
        </p:txBody>
      </p:sp>
      <p:sp>
        <p:nvSpPr>
          <p:cNvPr id="17" name="Rectangle 16"/>
          <p:cNvSpPr/>
          <p:nvPr/>
        </p:nvSpPr>
        <p:spPr>
          <a:xfrm>
            <a:off x="609600" y="1981200"/>
            <a:ext cx="10972800" cy="5588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11200" y="1981200"/>
            <a:ext cx="381000" cy="558800"/>
          </a:xfrm>
          <a:prstGeom prst="rect">
            <a:avLst/>
          </a:prstGeom>
          <a:noFill/>
        </p:spPr>
        <p:txBody>
          <a:bodyPr wrap="square" lIns="0" rIns="0" tIns="0" bIns="0" anchor="ctr">
            <a:spAutoFit/>
          </a:bodyPr>
          <a:lstStyle/>
          <a:p>
            <a:pPr algn="ctr">
              <a:lnSpc>
                <a:spcPct val="120000"/>
              </a:lnSpc>
              <a:spcAft>
                <a:spcPts val="0"/>
              </a:spcAft>
            </a:pPr>
            <a:r>
              <a:rPr sz="2000" b="0">
                <a:solidFill>
                  <a:srgbClr val="7F9B00"/>
                </a:solidFill>
                <a:latin typeface="Segoe UI Light"/>
              </a:rPr>
              <a:t>1</a:t>
            </a:r>
          </a:p>
        </p:txBody>
      </p:sp>
      <p:sp>
        <p:nvSpPr>
          <p:cNvPr id="19" name="Oval 18"/>
          <p:cNvSpPr/>
          <p:nvPr/>
        </p:nvSpPr>
        <p:spPr>
          <a:xfrm>
            <a:off x="1219200" y="2070100"/>
            <a:ext cx="381000" cy="381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0" name="Picture 19" descr="zap_white.png"/>
          <p:cNvPicPr>
            <a:picLocks noChangeAspect="1"/>
          </p:cNvPicPr>
          <p:nvPr/>
        </p:nvPicPr>
        <p:blipFill>
          <a:blip r:embed="rId5"/>
          <a:stretch>
            <a:fillRect/>
          </a:stretch>
        </p:blipFill>
        <p:spPr>
          <a:xfrm>
            <a:off x="1310640" y="2161540"/>
            <a:ext cx="198120" cy="198120"/>
          </a:xfrm>
          <a:prstGeom prst="rect">
            <a:avLst/>
          </a:prstGeom>
        </p:spPr>
      </p:pic>
      <p:sp>
        <p:nvSpPr>
          <p:cNvPr id="21" name="TextBox 20"/>
          <p:cNvSpPr txBox="1"/>
          <p:nvPr/>
        </p:nvSpPr>
        <p:spPr>
          <a:xfrm>
            <a:off x="1778000" y="1981200"/>
            <a:ext cx="2032000" cy="5588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Power</a:t>
            </a:r>
          </a:p>
        </p:txBody>
      </p:sp>
      <p:sp>
        <p:nvSpPr>
          <p:cNvPr id="22" name="Oval 21"/>
          <p:cNvSpPr/>
          <p:nvPr/>
        </p:nvSpPr>
        <p:spPr>
          <a:xfrm>
            <a:off x="45085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47117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49149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Oval 24"/>
          <p:cNvSpPr/>
          <p:nvPr/>
        </p:nvSpPr>
        <p:spPr>
          <a:xfrm>
            <a:off x="60325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62357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64389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75565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Oval 28"/>
          <p:cNvSpPr/>
          <p:nvPr/>
        </p:nvSpPr>
        <p:spPr>
          <a:xfrm>
            <a:off x="77597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79629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8940800" y="1981200"/>
            <a:ext cx="2540000" cy="558800"/>
          </a:xfrm>
          <a:prstGeom prst="rect">
            <a:avLst/>
          </a:prstGeom>
          <a:noFill/>
        </p:spPr>
        <p:txBody>
          <a:bodyPr wrap="square" lIns="0" rIns="0" tIns="0" bIns="0" anchor="ctr">
            <a:spAutoFit/>
          </a:bodyPr>
          <a:lstStyle/>
          <a:p>
            <a:pPr algn="l">
              <a:lnSpc>
                <a:spcPct val="120000"/>
              </a:lnSpc>
              <a:spcAft>
                <a:spcPts val="0"/>
              </a:spcAft>
            </a:pPr>
            <a:r>
              <a:rPr sz="1200" b="0">
                <a:solidFill>
                  <a:srgbClr val="16213E"/>
                </a:solidFill>
                <a:latin typeface="Segoe UI"/>
              </a:rPr>
              <a:t>Proven anchor abroad</a:t>
            </a:r>
          </a:p>
        </p:txBody>
      </p:sp>
      <p:sp>
        <p:nvSpPr>
          <p:cNvPr id="32" name="Rectangle 31"/>
          <p:cNvSpPr/>
          <p:nvPr/>
        </p:nvSpPr>
        <p:spPr>
          <a:xfrm>
            <a:off x="609600" y="2616200"/>
            <a:ext cx="10972800" cy="5588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11200" y="2616200"/>
            <a:ext cx="381000" cy="558800"/>
          </a:xfrm>
          <a:prstGeom prst="rect">
            <a:avLst/>
          </a:prstGeom>
          <a:noFill/>
        </p:spPr>
        <p:txBody>
          <a:bodyPr wrap="square" lIns="0" rIns="0" tIns="0" bIns="0" anchor="ctr">
            <a:spAutoFit/>
          </a:bodyPr>
          <a:lstStyle/>
          <a:p>
            <a:pPr algn="ctr">
              <a:lnSpc>
                <a:spcPct val="120000"/>
              </a:lnSpc>
              <a:spcAft>
                <a:spcPts val="0"/>
              </a:spcAft>
            </a:pPr>
            <a:r>
              <a:rPr sz="2000" b="0">
                <a:solidFill>
                  <a:srgbClr val="7F9B00"/>
                </a:solidFill>
                <a:latin typeface="Segoe UI Light"/>
              </a:rPr>
              <a:t>2</a:t>
            </a:r>
          </a:p>
        </p:txBody>
      </p:sp>
      <p:sp>
        <p:nvSpPr>
          <p:cNvPr id="34" name="Oval 33"/>
          <p:cNvSpPr/>
          <p:nvPr/>
        </p:nvSpPr>
        <p:spPr>
          <a:xfrm>
            <a:off x="1219200" y="2705100"/>
            <a:ext cx="381000" cy="381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5" name="Picture 34" descr="droplets_white.png"/>
          <p:cNvPicPr>
            <a:picLocks noChangeAspect="1"/>
          </p:cNvPicPr>
          <p:nvPr/>
        </p:nvPicPr>
        <p:blipFill>
          <a:blip r:embed="rId6"/>
          <a:stretch>
            <a:fillRect/>
          </a:stretch>
        </p:blipFill>
        <p:spPr>
          <a:xfrm>
            <a:off x="1310640" y="2796540"/>
            <a:ext cx="198120" cy="198120"/>
          </a:xfrm>
          <a:prstGeom prst="rect">
            <a:avLst/>
          </a:prstGeom>
        </p:spPr>
      </p:pic>
      <p:sp>
        <p:nvSpPr>
          <p:cNvPr id="36" name="TextBox 35"/>
          <p:cNvSpPr txBox="1"/>
          <p:nvPr/>
        </p:nvSpPr>
        <p:spPr>
          <a:xfrm>
            <a:off x="1778000" y="2616200"/>
            <a:ext cx="2032000" cy="5588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Water</a:t>
            </a:r>
          </a:p>
        </p:txBody>
      </p:sp>
      <p:sp>
        <p:nvSpPr>
          <p:cNvPr id="37" name="Oval 36"/>
          <p:cNvSpPr/>
          <p:nvPr/>
        </p:nvSpPr>
        <p:spPr>
          <a:xfrm>
            <a:off x="45085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Oval 37"/>
          <p:cNvSpPr/>
          <p:nvPr/>
        </p:nvSpPr>
        <p:spPr>
          <a:xfrm>
            <a:off x="47117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Oval 38"/>
          <p:cNvSpPr/>
          <p:nvPr/>
        </p:nvSpPr>
        <p:spPr>
          <a:xfrm>
            <a:off x="4914900" y="283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Oval 39"/>
          <p:cNvSpPr/>
          <p:nvPr/>
        </p:nvSpPr>
        <p:spPr>
          <a:xfrm>
            <a:off x="60325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Oval 40"/>
          <p:cNvSpPr/>
          <p:nvPr/>
        </p:nvSpPr>
        <p:spPr>
          <a:xfrm>
            <a:off x="62357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Oval 41"/>
          <p:cNvSpPr/>
          <p:nvPr/>
        </p:nvSpPr>
        <p:spPr>
          <a:xfrm>
            <a:off x="64389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Oval 42"/>
          <p:cNvSpPr/>
          <p:nvPr/>
        </p:nvSpPr>
        <p:spPr>
          <a:xfrm>
            <a:off x="75565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Oval 43"/>
          <p:cNvSpPr/>
          <p:nvPr/>
        </p:nvSpPr>
        <p:spPr>
          <a:xfrm>
            <a:off x="77597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Oval 44"/>
          <p:cNvSpPr/>
          <p:nvPr/>
        </p:nvSpPr>
        <p:spPr>
          <a:xfrm>
            <a:off x="79629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8940800" y="2616200"/>
            <a:ext cx="2540000" cy="558800"/>
          </a:xfrm>
          <a:prstGeom prst="rect">
            <a:avLst/>
          </a:prstGeom>
          <a:noFill/>
        </p:spPr>
        <p:txBody>
          <a:bodyPr wrap="square" lIns="0" rIns="0" tIns="0" bIns="0" anchor="ctr">
            <a:spAutoFit/>
          </a:bodyPr>
          <a:lstStyle/>
          <a:p>
            <a:pPr algn="l">
              <a:lnSpc>
                <a:spcPct val="120000"/>
              </a:lnSpc>
              <a:spcAft>
                <a:spcPts val="0"/>
              </a:spcAft>
            </a:pPr>
            <a:r>
              <a:rPr sz="1200" b="0">
                <a:solidFill>
                  <a:srgbClr val="16213E"/>
                </a:solidFill>
                <a:latin typeface="Segoe UI"/>
              </a:rPr>
              <a:t>Same sites as power</a:t>
            </a:r>
          </a:p>
        </p:txBody>
      </p:sp>
      <p:sp>
        <p:nvSpPr>
          <p:cNvPr id="47" name="Rectangle 46"/>
          <p:cNvSpPr/>
          <p:nvPr/>
        </p:nvSpPr>
        <p:spPr>
          <a:xfrm>
            <a:off x="609600" y="3251200"/>
            <a:ext cx="10972800" cy="558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711200" y="3251200"/>
            <a:ext cx="381000" cy="558800"/>
          </a:xfrm>
          <a:prstGeom prst="rect">
            <a:avLst/>
          </a:prstGeom>
          <a:noFill/>
        </p:spPr>
        <p:txBody>
          <a:bodyPr wrap="square" lIns="0" rIns="0" tIns="0" bIns="0" anchor="ctr">
            <a:spAutoFit/>
          </a:bodyPr>
          <a:lstStyle/>
          <a:p>
            <a:pPr algn="ctr">
              <a:lnSpc>
                <a:spcPct val="120000"/>
              </a:lnSpc>
              <a:spcAft>
                <a:spcPts val="0"/>
              </a:spcAft>
            </a:pPr>
            <a:r>
              <a:rPr sz="2000" b="0">
                <a:solidFill>
                  <a:srgbClr val="93A0B4"/>
                </a:solidFill>
                <a:latin typeface="Segoe UI Light"/>
              </a:rPr>
              <a:t>3</a:t>
            </a:r>
          </a:p>
        </p:txBody>
      </p:sp>
      <p:sp>
        <p:nvSpPr>
          <p:cNvPr id="49" name="Oval 48"/>
          <p:cNvSpPr/>
          <p:nvPr/>
        </p:nvSpPr>
        <p:spPr>
          <a:xfrm>
            <a:off x="1219200" y="3340100"/>
            <a:ext cx="381000" cy="381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0" name="Picture 49" descr="siren_white.png"/>
          <p:cNvPicPr>
            <a:picLocks noChangeAspect="1"/>
          </p:cNvPicPr>
          <p:nvPr/>
        </p:nvPicPr>
        <p:blipFill>
          <a:blip r:embed="rId7"/>
          <a:stretch>
            <a:fillRect/>
          </a:stretch>
        </p:blipFill>
        <p:spPr>
          <a:xfrm>
            <a:off x="1310640" y="3431540"/>
            <a:ext cx="198120" cy="198120"/>
          </a:xfrm>
          <a:prstGeom prst="rect">
            <a:avLst/>
          </a:prstGeom>
        </p:spPr>
      </p:pic>
      <p:sp>
        <p:nvSpPr>
          <p:cNvPr id="51" name="TextBox 50"/>
          <p:cNvSpPr txBox="1"/>
          <p:nvPr/>
        </p:nvSpPr>
        <p:spPr>
          <a:xfrm>
            <a:off x="1778000" y="3251200"/>
            <a:ext cx="2032000" cy="5588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Emergency</a:t>
            </a:r>
          </a:p>
        </p:txBody>
      </p:sp>
      <p:sp>
        <p:nvSpPr>
          <p:cNvPr id="52" name="Oval 51"/>
          <p:cNvSpPr/>
          <p:nvPr/>
        </p:nvSpPr>
        <p:spPr>
          <a:xfrm>
            <a:off x="45085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Oval 52"/>
          <p:cNvSpPr/>
          <p:nvPr/>
        </p:nvSpPr>
        <p:spPr>
          <a:xfrm>
            <a:off x="47117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Oval 53"/>
          <p:cNvSpPr/>
          <p:nvPr/>
        </p:nvSpPr>
        <p:spPr>
          <a:xfrm>
            <a:off x="4914900" y="3467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5" name="Oval 54"/>
          <p:cNvSpPr/>
          <p:nvPr/>
        </p:nvSpPr>
        <p:spPr>
          <a:xfrm>
            <a:off x="60325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Oval 55"/>
          <p:cNvSpPr/>
          <p:nvPr/>
        </p:nvSpPr>
        <p:spPr>
          <a:xfrm>
            <a:off x="62357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Oval 56"/>
          <p:cNvSpPr/>
          <p:nvPr/>
        </p:nvSpPr>
        <p:spPr>
          <a:xfrm>
            <a:off x="64389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8" name="Oval 57"/>
          <p:cNvSpPr/>
          <p:nvPr/>
        </p:nvSpPr>
        <p:spPr>
          <a:xfrm>
            <a:off x="75565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9" name="Oval 58"/>
          <p:cNvSpPr/>
          <p:nvPr/>
        </p:nvSpPr>
        <p:spPr>
          <a:xfrm>
            <a:off x="77597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0" name="Oval 59"/>
          <p:cNvSpPr/>
          <p:nvPr/>
        </p:nvSpPr>
        <p:spPr>
          <a:xfrm>
            <a:off x="7962900" y="3467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1" name="TextBox 60"/>
          <p:cNvSpPr txBox="1"/>
          <p:nvPr/>
        </p:nvSpPr>
        <p:spPr>
          <a:xfrm>
            <a:off x="8940800" y="3251200"/>
            <a:ext cx="2540000" cy="558800"/>
          </a:xfrm>
          <a:prstGeom prst="rect">
            <a:avLst/>
          </a:prstGeom>
          <a:noFill/>
        </p:spPr>
        <p:txBody>
          <a:bodyPr wrap="square" lIns="0" rIns="0" tIns="0" bIns="0" anchor="ctr">
            <a:spAutoFit/>
          </a:bodyPr>
          <a:lstStyle/>
          <a:p>
            <a:pPr algn="l">
              <a:lnSpc>
                <a:spcPct val="120000"/>
              </a:lnSpc>
              <a:spcAft>
                <a:spcPts val="0"/>
              </a:spcAft>
            </a:pPr>
            <a:r>
              <a:rPr sz="1200" b="0">
                <a:solidFill>
                  <a:srgbClr val="16213E"/>
                </a:solidFill>
                <a:latin typeface="Segoe UI"/>
              </a:rPr>
              <a:t>Typhoon readiness</a:t>
            </a:r>
          </a:p>
        </p:txBody>
      </p:sp>
      <p:sp>
        <p:nvSpPr>
          <p:cNvPr id="62" name="Rectangle 61"/>
          <p:cNvSpPr/>
          <p:nvPr/>
        </p:nvSpPr>
        <p:spPr>
          <a:xfrm>
            <a:off x="609600" y="3886200"/>
            <a:ext cx="10972800" cy="5588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3" name="TextBox 62"/>
          <p:cNvSpPr txBox="1"/>
          <p:nvPr/>
        </p:nvSpPr>
        <p:spPr>
          <a:xfrm>
            <a:off x="711200" y="3886200"/>
            <a:ext cx="381000" cy="558800"/>
          </a:xfrm>
          <a:prstGeom prst="rect">
            <a:avLst/>
          </a:prstGeom>
          <a:noFill/>
        </p:spPr>
        <p:txBody>
          <a:bodyPr wrap="square" lIns="0" rIns="0" tIns="0" bIns="0" anchor="ctr">
            <a:spAutoFit/>
          </a:bodyPr>
          <a:lstStyle/>
          <a:p>
            <a:pPr algn="ctr">
              <a:lnSpc>
                <a:spcPct val="120000"/>
              </a:lnSpc>
              <a:spcAft>
                <a:spcPts val="0"/>
              </a:spcAft>
            </a:pPr>
            <a:r>
              <a:rPr sz="2000" b="0">
                <a:solidFill>
                  <a:srgbClr val="93A0B4"/>
                </a:solidFill>
                <a:latin typeface="Segoe UI Light"/>
              </a:rPr>
              <a:t>4</a:t>
            </a:r>
          </a:p>
        </p:txBody>
      </p:sp>
      <p:sp>
        <p:nvSpPr>
          <p:cNvPr id="64" name="Oval 63"/>
          <p:cNvSpPr/>
          <p:nvPr/>
        </p:nvSpPr>
        <p:spPr>
          <a:xfrm>
            <a:off x="1219200" y="3975100"/>
            <a:ext cx="381000" cy="381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5" name="Picture 64" descr="shield_white.png"/>
          <p:cNvPicPr>
            <a:picLocks noChangeAspect="1"/>
          </p:cNvPicPr>
          <p:nvPr/>
        </p:nvPicPr>
        <p:blipFill>
          <a:blip r:embed="rId8"/>
          <a:stretch>
            <a:fillRect/>
          </a:stretch>
        </p:blipFill>
        <p:spPr>
          <a:xfrm>
            <a:off x="1310640" y="4066540"/>
            <a:ext cx="198120" cy="198120"/>
          </a:xfrm>
          <a:prstGeom prst="rect">
            <a:avLst/>
          </a:prstGeom>
        </p:spPr>
      </p:pic>
      <p:sp>
        <p:nvSpPr>
          <p:cNvPr id="66" name="TextBox 65"/>
          <p:cNvSpPr txBox="1"/>
          <p:nvPr/>
        </p:nvSpPr>
        <p:spPr>
          <a:xfrm>
            <a:off x="1778000" y="3886200"/>
            <a:ext cx="2032000" cy="5588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Police</a:t>
            </a:r>
          </a:p>
        </p:txBody>
      </p:sp>
      <p:sp>
        <p:nvSpPr>
          <p:cNvPr id="67" name="Oval 66"/>
          <p:cNvSpPr/>
          <p:nvPr/>
        </p:nvSpPr>
        <p:spPr>
          <a:xfrm>
            <a:off x="4508500" y="410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8" name="Oval 67"/>
          <p:cNvSpPr/>
          <p:nvPr/>
        </p:nvSpPr>
        <p:spPr>
          <a:xfrm>
            <a:off x="4711700" y="410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9" name="Oval 68"/>
          <p:cNvSpPr/>
          <p:nvPr/>
        </p:nvSpPr>
        <p:spPr>
          <a:xfrm>
            <a:off x="4914900" y="410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0" name="Oval 69"/>
          <p:cNvSpPr/>
          <p:nvPr/>
        </p:nvSpPr>
        <p:spPr>
          <a:xfrm>
            <a:off x="6032500" y="410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1" name="Oval 70"/>
          <p:cNvSpPr/>
          <p:nvPr/>
        </p:nvSpPr>
        <p:spPr>
          <a:xfrm>
            <a:off x="6235700" y="410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2" name="Oval 71"/>
          <p:cNvSpPr/>
          <p:nvPr/>
        </p:nvSpPr>
        <p:spPr>
          <a:xfrm>
            <a:off x="6438900" y="410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3" name="Oval 72"/>
          <p:cNvSpPr/>
          <p:nvPr/>
        </p:nvSpPr>
        <p:spPr>
          <a:xfrm>
            <a:off x="7556500" y="410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4" name="Oval 73"/>
          <p:cNvSpPr/>
          <p:nvPr/>
        </p:nvSpPr>
        <p:spPr>
          <a:xfrm>
            <a:off x="7759700" y="410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5" name="Oval 74"/>
          <p:cNvSpPr/>
          <p:nvPr/>
        </p:nvSpPr>
        <p:spPr>
          <a:xfrm>
            <a:off x="7962900" y="410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6" name="TextBox 75"/>
          <p:cNvSpPr txBox="1"/>
          <p:nvPr/>
        </p:nvSpPr>
        <p:spPr>
          <a:xfrm>
            <a:off x="8940800" y="3886200"/>
            <a:ext cx="2540000" cy="558800"/>
          </a:xfrm>
          <a:prstGeom prst="rect">
            <a:avLst/>
          </a:prstGeom>
          <a:noFill/>
        </p:spPr>
        <p:txBody>
          <a:bodyPr wrap="square" lIns="0" rIns="0" tIns="0" bIns="0" anchor="ctr">
            <a:spAutoFit/>
          </a:bodyPr>
          <a:lstStyle/>
          <a:p>
            <a:pPr algn="l">
              <a:lnSpc>
                <a:spcPct val="120000"/>
              </a:lnSpc>
              <a:spcAft>
                <a:spcPts val="0"/>
              </a:spcAft>
            </a:pPr>
            <a:r>
              <a:rPr sz="1200" b="0">
                <a:solidFill>
                  <a:srgbClr val="16213E"/>
                </a:solidFill>
                <a:latin typeface="Segoe UI"/>
              </a:rPr>
              <a:t>Interoperate, not replace</a:t>
            </a:r>
          </a:p>
        </p:txBody>
      </p:sp>
      <p:sp>
        <p:nvSpPr>
          <p:cNvPr id="77" name="Rectangle 76"/>
          <p:cNvSpPr/>
          <p:nvPr/>
        </p:nvSpPr>
        <p:spPr>
          <a:xfrm>
            <a:off x="609600" y="4521200"/>
            <a:ext cx="10972800" cy="558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8" name="TextBox 77"/>
          <p:cNvSpPr txBox="1"/>
          <p:nvPr/>
        </p:nvSpPr>
        <p:spPr>
          <a:xfrm>
            <a:off x="711200" y="4521200"/>
            <a:ext cx="381000" cy="558800"/>
          </a:xfrm>
          <a:prstGeom prst="rect">
            <a:avLst/>
          </a:prstGeom>
          <a:noFill/>
        </p:spPr>
        <p:txBody>
          <a:bodyPr wrap="square" lIns="0" rIns="0" tIns="0" bIns="0" anchor="ctr">
            <a:spAutoFit/>
          </a:bodyPr>
          <a:lstStyle/>
          <a:p>
            <a:pPr algn="ctr">
              <a:lnSpc>
                <a:spcPct val="120000"/>
              </a:lnSpc>
              <a:spcAft>
                <a:spcPts val="0"/>
              </a:spcAft>
            </a:pPr>
            <a:r>
              <a:rPr sz="2000" b="0">
                <a:solidFill>
                  <a:srgbClr val="93A0B4"/>
                </a:solidFill>
                <a:latin typeface="Segoe UI Light"/>
              </a:rPr>
              <a:t>5</a:t>
            </a:r>
          </a:p>
        </p:txBody>
      </p:sp>
      <p:sp>
        <p:nvSpPr>
          <p:cNvPr id="79" name="Oval 78"/>
          <p:cNvSpPr/>
          <p:nvPr/>
        </p:nvSpPr>
        <p:spPr>
          <a:xfrm>
            <a:off x="1219200" y="4610100"/>
            <a:ext cx="381000" cy="381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80" name="Picture 79" descr="train-front_white.png"/>
          <p:cNvPicPr>
            <a:picLocks noChangeAspect="1"/>
          </p:cNvPicPr>
          <p:nvPr/>
        </p:nvPicPr>
        <p:blipFill>
          <a:blip r:embed="rId9"/>
          <a:stretch>
            <a:fillRect/>
          </a:stretch>
        </p:blipFill>
        <p:spPr>
          <a:xfrm>
            <a:off x="1310640" y="4701540"/>
            <a:ext cx="198120" cy="198120"/>
          </a:xfrm>
          <a:prstGeom prst="rect">
            <a:avLst/>
          </a:prstGeom>
        </p:spPr>
      </p:pic>
      <p:sp>
        <p:nvSpPr>
          <p:cNvPr id="81" name="TextBox 80"/>
          <p:cNvSpPr txBox="1"/>
          <p:nvPr/>
        </p:nvSpPr>
        <p:spPr>
          <a:xfrm>
            <a:off x="1778000" y="4521200"/>
            <a:ext cx="2032000" cy="5588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Rail</a:t>
            </a:r>
          </a:p>
        </p:txBody>
      </p:sp>
      <p:sp>
        <p:nvSpPr>
          <p:cNvPr id="82" name="Oval 81"/>
          <p:cNvSpPr/>
          <p:nvPr/>
        </p:nvSpPr>
        <p:spPr>
          <a:xfrm>
            <a:off x="4508500" y="473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3" name="Oval 82"/>
          <p:cNvSpPr/>
          <p:nvPr/>
        </p:nvSpPr>
        <p:spPr>
          <a:xfrm>
            <a:off x="4711700" y="473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4" name="Oval 83"/>
          <p:cNvSpPr/>
          <p:nvPr/>
        </p:nvSpPr>
        <p:spPr>
          <a:xfrm>
            <a:off x="4914900" y="4737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5" name="Oval 84"/>
          <p:cNvSpPr/>
          <p:nvPr/>
        </p:nvSpPr>
        <p:spPr>
          <a:xfrm>
            <a:off x="6032500" y="473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6" name="Oval 85"/>
          <p:cNvSpPr/>
          <p:nvPr/>
        </p:nvSpPr>
        <p:spPr>
          <a:xfrm>
            <a:off x="6235700" y="473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7" name="Oval 86"/>
          <p:cNvSpPr/>
          <p:nvPr/>
        </p:nvSpPr>
        <p:spPr>
          <a:xfrm>
            <a:off x="6438900" y="473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8" name="Oval 87"/>
          <p:cNvSpPr/>
          <p:nvPr/>
        </p:nvSpPr>
        <p:spPr>
          <a:xfrm>
            <a:off x="7556500" y="473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9" name="Oval 88"/>
          <p:cNvSpPr/>
          <p:nvPr/>
        </p:nvSpPr>
        <p:spPr>
          <a:xfrm>
            <a:off x="7759700" y="4737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0" name="Oval 89"/>
          <p:cNvSpPr/>
          <p:nvPr/>
        </p:nvSpPr>
        <p:spPr>
          <a:xfrm>
            <a:off x="7962900" y="4737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1" name="TextBox 90"/>
          <p:cNvSpPr txBox="1"/>
          <p:nvPr/>
        </p:nvSpPr>
        <p:spPr>
          <a:xfrm>
            <a:off x="8940800" y="4521200"/>
            <a:ext cx="2540000" cy="558800"/>
          </a:xfrm>
          <a:prstGeom prst="rect">
            <a:avLst/>
          </a:prstGeom>
          <a:noFill/>
        </p:spPr>
        <p:txBody>
          <a:bodyPr wrap="square" lIns="0" rIns="0" tIns="0" bIns="0" anchor="ctr">
            <a:spAutoFit/>
          </a:bodyPr>
          <a:lstStyle/>
          <a:p>
            <a:pPr algn="l">
              <a:lnSpc>
                <a:spcPct val="120000"/>
              </a:lnSpc>
              <a:spcAft>
                <a:spcPts val="0"/>
              </a:spcAft>
            </a:pPr>
            <a:r>
              <a:rPr sz="1200" b="0">
                <a:solidFill>
                  <a:srgbClr val="16213E"/>
                </a:solidFill>
                <a:latin typeface="Segoe UI"/>
              </a:rPr>
              <a:t>Long project cycles</a:t>
            </a:r>
          </a:p>
        </p:txBody>
      </p:sp>
      <p:sp>
        <p:nvSpPr>
          <p:cNvPr id="92" name="Rectangle 91"/>
          <p:cNvSpPr/>
          <p:nvPr/>
        </p:nvSpPr>
        <p:spPr>
          <a:xfrm>
            <a:off x="609600" y="5156200"/>
            <a:ext cx="10972800" cy="5588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3" name="TextBox 92"/>
          <p:cNvSpPr txBox="1"/>
          <p:nvPr/>
        </p:nvSpPr>
        <p:spPr>
          <a:xfrm>
            <a:off x="711200" y="5156200"/>
            <a:ext cx="381000" cy="558800"/>
          </a:xfrm>
          <a:prstGeom prst="rect">
            <a:avLst/>
          </a:prstGeom>
          <a:noFill/>
        </p:spPr>
        <p:txBody>
          <a:bodyPr wrap="square" lIns="0" rIns="0" tIns="0" bIns="0" anchor="ctr">
            <a:spAutoFit/>
          </a:bodyPr>
          <a:lstStyle/>
          <a:p>
            <a:pPr algn="ctr">
              <a:lnSpc>
                <a:spcPct val="120000"/>
              </a:lnSpc>
              <a:spcAft>
                <a:spcPts val="0"/>
              </a:spcAft>
            </a:pPr>
            <a:r>
              <a:rPr sz="2000" b="0">
                <a:solidFill>
                  <a:srgbClr val="93A0B4"/>
                </a:solidFill>
                <a:latin typeface="Segoe UI Light"/>
              </a:rPr>
              <a:t>6</a:t>
            </a:r>
          </a:p>
        </p:txBody>
      </p:sp>
      <p:sp>
        <p:nvSpPr>
          <p:cNvPr id="94" name="Oval 93"/>
          <p:cNvSpPr/>
          <p:nvPr/>
        </p:nvSpPr>
        <p:spPr>
          <a:xfrm>
            <a:off x="1219200" y="5245100"/>
            <a:ext cx="381000" cy="381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95" name="Picture 94" descr="ship_white.png"/>
          <p:cNvPicPr>
            <a:picLocks noChangeAspect="1"/>
          </p:cNvPicPr>
          <p:nvPr/>
        </p:nvPicPr>
        <p:blipFill>
          <a:blip r:embed="rId10"/>
          <a:stretch>
            <a:fillRect/>
          </a:stretch>
        </p:blipFill>
        <p:spPr>
          <a:xfrm>
            <a:off x="1310640" y="5336540"/>
            <a:ext cx="198120" cy="198120"/>
          </a:xfrm>
          <a:prstGeom prst="rect">
            <a:avLst/>
          </a:prstGeom>
        </p:spPr>
      </p:pic>
      <p:sp>
        <p:nvSpPr>
          <p:cNvPr id="96" name="TextBox 95"/>
          <p:cNvSpPr txBox="1"/>
          <p:nvPr/>
        </p:nvSpPr>
        <p:spPr>
          <a:xfrm>
            <a:off x="1778000" y="5156200"/>
            <a:ext cx="2032000" cy="5588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Port</a:t>
            </a:r>
          </a:p>
        </p:txBody>
      </p:sp>
      <p:sp>
        <p:nvSpPr>
          <p:cNvPr id="97" name="Oval 96"/>
          <p:cNvSpPr/>
          <p:nvPr/>
        </p:nvSpPr>
        <p:spPr>
          <a:xfrm>
            <a:off x="4508500" y="537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8" name="Oval 97"/>
          <p:cNvSpPr/>
          <p:nvPr/>
        </p:nvSpPr>
        <p:spPr>
          <a:xfrm>
            <a:off x="4711700" y="537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9" name="Oval 98"/>
          <p:cNvSpPr/>
          <p:nvPr/>
        </p:nvSpPr>
        <p:spPr>
          <a:xfrm>
            <a:off x="4914900" y="537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0" name="Oval 99"/>
          <p:cNvSpPr/>
          <p:nvPr/>
        </p:nvSpPr>
        <p:spPr>
          <a:xfrm>
            <a:off x="6032500" y="537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1" name="Oval 100"/>
          <p:cNvSpPr/>
          <p:nvPr/>
        </p:nvSpPr>
        <p:spPr>
          <a:xfrm>
            <a:off x="6235700" y="537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2" name="Oval 101"/>
          <p:cNvSpPr/>
          <p:nvPr/>
        </p:nvSpPr>
        <p:spPr>
          <a:xfrm>
            <a:off x="6438900" y="537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3" name="Oval 102"/>
          <p:cNvSpPr/>
          <p:nvPr/>
        </p:nvSpPr>
        <p:spPr>
          <a:xfrm>
            <a:off x="7556500" y="537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4" name="Oval 103"/>
          <p:cNvSpPr/>
          <p:nvPr/>
        </p:nvSpPr>
        <p:spPr>
          <a:xfrm>
            <a:off x="7759700" y="537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5" name="Oval 104"/>
          <p:cNvSpPr/>
          <p:nvPr/>
        </p:nvSpPr>
        <p:spPr>
          <a:xfrm>
            <a:off x="7962900" y="537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6" name="TextBox 105"/>
          <p:cNvSpPr txBox="1"/>
          <p:nvPr/>
        </p:nvSpPr>
        <p:spPr>
          <a:xfrm>
            <a:off x="8940800" y="5156200"/>
            <a:ext cx="2540000" cy="558800"/>
          </a:xfrm>
          <a:prstGeom prst="rect">
            <a:avLst/>
          </a:prstGeom>
          <a:noFill/>
        </p:spPr>
        <p:txBody>
          <a:bodyPr wrap="square" lIns="0" rIns="0" tIns="0" bIns="0" anchor="ctr">
            <a:spAutoFit/>
          </a:bodyPr>
          <a:lstStyle/>
          <a:p>
            <a:pPr algn="l">
              <a:lnSpc>
                <a:spcPct val="120000"/>
              </a:lnSpc>
              <a:spcAft>
                <a:spcPts val="0"/>
              </a:spcAft>
            </a:pPr>
            <a:r>
              <a:rPr sz="1200" b="0">
                <a:solidFill>
                  <a:srgbClr val="16213E"/>
                </a:solidFill>
                <a:latin typeface="Segoe UI"/>
              </a:rPr>
              <a:t>No 450 MHz precedent yet</a:t>
            </a:r>
          </a:p>
        </p:txBody>
      </p:sp>
      <p:pic>
        <p:nvPicPr>
          <p:cNvPr id="107" name="Picture 106" descr="check_green.png"/>
          <p:cNvPicPr>
            <a:picLocks noChangeAspect="1"/>
          </p:cNvPicPr>
          <p:nvPr/>
        </p:nvPicPr>
        <p:blipFill>
          <a:blip r:embed="rId11"/>
          <a:stretch>
            <a:fillRect/>
          </a:stretch>
        </p:blipFill>
        <p:spPr>
          <a:xfrm>
            <a:off x="609600" y="5892800"/>
            <a:ext cx="203200" cy="203200"/>
          </a:xfrm>
          <a:prstGeom prst="rect">
            <a:avLst/>
          </a:prstGeom>
        </p:spPr>
      </p:pic>
      <p:sp>
        <p:nvSpPr>
          <p:cNvPr id="108" name="TextBox 107"/>
          <p:cNvSpPr txBox="1"/>
          <p:nvPr/>
        </p:nvSpPr>
        <p:spPr>
          <a:xfrm>
            <a:off x="914400" y="5842000"/>
            <a:ext cx="7620000" cy="304800"/>
          </a:xfrm>
          <a:prstGeom prst="rect">
            <a:avLst/>
          </a:prstGeom>
          <a:noFill/>
        </p:spPr>
        <p:txBody>
          <a:bodyPr wrap="square" lIns="0" rIns="0" tIns="0" bIns="0" anchor="ctr">
            <a:spAutoFit/>
          </a:bodyPr>
          <a:lstStyle/>
          <a:p>
            <a:pPr algn="l">
              <a:lnSpc>
                <a:spcPct val="120000"/>
              </a:lnSpc>
              <a:spcAft>
                <a:spcPts val="0"/>
              </a:spcAft>
            </a:pPr>
            <a:r>
              <a:rPr sz="1100" b="0">
                <a:solidFill>
                  <a:srgbClr val="7F9B00"/>
                </a:solidFill>
                <a:latin typeface="Segoe UI Semibold"/>
              </a:rPr>
              <a:t>Green rows: the anchor customers</a:t>
            </a:r>
          </a:p>
        </p:txBody>
      </p:sp>
      <p:sp>
        <p:nvSpPr>
          <p:cNvPr id="109" name="TextBox 108"/>
          <p:cNvSpPr txBox="1"/>
          <p:nvPr/>
        </p:nvSpPr>
        <p:spPr>
          <a:xfrm>
            <a:off x="914400" y="6096000"/>
            <a:ext cx="8890000" cy="2286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Our reading, to be tested with Globe</a:t>
            </a:r>
          </a:p>
        </p:txBody>
      </p:sp>
      <p:sp>
        <p:nvSpPr>
          <p:cNvPr id="110" name="TextBox 109"/>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Hytera assessment; 450 MHz Alliance, Annual Global Update (Dec 2025) p8-p9; LWUA NRW data (2025)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02   PRIORITY 1 OF 6  ·  POWER</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08</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Power anchors the network, as it does in Germany and Malaysia</a:t>
            </a:r>
          </a:p>
        </p:txBody>
      </p:sp>
      <p:pic>
        <p:nvPicPr>
          <p:cNvPr id="10" name="Picture 9" descr="v6_13015b8219.jpg"/>
          <p:cNvPicPr>
            <a:picLocks noChangeAspect="1"/>
          </p:cNvPicPr>
          <p:nvPr/>
        </p:nvPicPr>
        <p:blipFill>
          <a:blip r:embed="rId2"/>
          <a:srcRect l="6800" r="6800"/>
          <a:stretch>
            <a:fillRect/>
          </a:stretch>
        </p:blipFill>
        <p:spPr>
          <a:xfrm>
            <a:off x="609600" y="1549400"/>
            <a:ext cx="4876800" cy="3175000"/>
          </a:xfrm>
          <a:prstGeom prst="rect">
            <a:avLst/>
          </a:prstGeom>
        </p:spPr>
      </p:pic>
      <p:sp>
        <p:nvSpPr>
          <p:cNvPr id="11" name="Oval 10"/>
          <p:cNvSpPr/>
          <p:nvPr/>
        </p:nvSpPr>
        <p:spPr>
          <a:xfrm>
            <a:off x="787400" y="1727200"/>
            <a:ext cx="558800" cy="5588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zap_white.png"/>
          <p:cNvPicPr>
            <a:picLocks noChangeAspect="1"/>
          </p:cNvPicPr>
          <p:nvPr/>
        </p:nvPicPr>
        <p:blipFill>
          <a:blip r:embed="rId3"/>
          <a:stretch>
            <a:fillRect/>
          </a:stretch>
        </p:blipFill>
        <p:spPr>
          <a:xfrm>
            <a:off x="921512" y="1861312"/>
            <a:ext cx="290576" cy="290576"/>
          </a:xfrm>
          <a:prstGeom prst="rect">
            <a:avLst/>
          </a:prstGeom>
        </p:spPr>
      </p:pic>
      <p:sp>
        <p:nvSpPr>
          <p:cNvPr id="13" name="TextBox 12"/>
          <p:cNvSpPr txBox="1"/>
          <p:nvPr/>
        </p:nvSpPr>
        <p:spPr>
          <a:xfrm>
            <a:off x="609600" y="4775200"/>
            <a:ext cx="4876800" cy="1524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Illustrative imagery</a:t>
            </a:r>
          </a:p>
        </p:txBody>
      </p:sp>
      <p:sp>
        <p:nvSpPr>
          <p:cNvPr id="14" name="TextBox 13"/>
          <p:cNvSpPr txBox="1"/>
          <p:nvPr/>
        </p:nvSpPr>
        <p:spPr>
          <a:xfrm>
            <a:off x="5791200" y="1473200"/>
            <a:ext cx="2794000" cy="635000"/>
          </a:xfrm>
          <a:prstGeom prst="rect">
            <a:avLst/>
          </a:prstGeom>
          <a:noFill/>
        </p:spPr>
        <p:txBody>
          <a:bodyPr wrap="square" lIns="0" rIns="0" tIns="0" bIns="0" anchor="b">
            <a:spAutoFit/>
          </a:bodyPr>
          <a:lstStyle/>
          <a:p>
            <a:pPr algn="l">
              <a:lnSpc>
                <a:spcPct val="120000"/>
              </a:lnSpc>
              <a:spcAft>
                <a:spcPts val="0"/>
              </a:spcAft>
            </a:pPr>
            <a:r>
              <a:rPr sz="4000" b="0">
                <a:solidFill>
                  <a:srgbClr val="0B308E"/>
                </a:solidFill>
                <a:latin typeface="Segoe UI Light"/>
              </a:rPr>
              <a:t>121</a:t>
            </a:r>
          </a:p>
        </p:txBody>
      </p:sp>
      <p:sp>
        <p:nvSpPr>
          <p:cNvPr id="15" name="TextBox 14"/>
          <p:cNvSpPr txBox="1"/>
          <p:nvPr/>
        </p:nvSpPr>
        <p:spPr>
          <a:xfrm>
            <a:off x="57912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electric cooperatives</a:t>
            </a:r>
          </a:p>
          <a:p>
            <a:pPr algn="l">
              <a:lnSpc>
                <a:spcPct val="115000"/>
              </a:lnSpc>
              <a:spcAft>
                <a:spcPts val="0"/>
              </a:spcAft>
            </a:pPr>
            <a:r>
              <a:rPr sz="1200" b="0">
                <a:solidFill>
                  <a:srgbClr val="55607A"/>
                </a:solidFill>
                <a:latin typeface="Segoe UI"/>
              </a:rPr>
              <a:t>under NEA</a:t>
            </a:r>
          </a:p>
        </p:txBody>
      </p:sp>
      <p:sp>
        <p:nvSpPr>
          <p:cNvPr id="16" name="TextBox 15"/>
          <p:cNvSpPr txBox="1"/>
          <p:nvPr/>
        </p:nvSpPr>
        <p:spPr>
          <a:xfrm>
            <a:off x="8686800" y="1473200"/>
            <a:ext cx="2794000" cy="635000"/>
          </a:xfrm>
          <a:prstGeom prst="rect">
            <a:avLst/>
          </a:prstGeom>
          <a:noFill/>
        </p:spPr>
        <p:txBody>
          <a:bodyPr wrap="square" lIns="0" rIns="0" tIns="0" bIns="0" anchor="b">
            <a:spAutoFit/>
          </a:bodyPr>
          <a:lstStyle/>
          <a:p>
            <a:pPr algn="l">
              <a:lnSpc>
                <a:spcPct val="120000"/>
              </a:lnSpc>
              <a:spcAft>
                <a:spcPts val="0"/>
              </a:spcAft>
            </a:pPr>
            <a:r>
              <a:rPr sz="4000" b="0">
                <a:solidFill>
                  <a:srgbClr val="0B308E"/>
                </a:solidFill>
                <a:latin typeface="Segoe UI Light"/>
              </a:rPr>
              <a:t>1.4M</a:t>
            </a:r>
          </a:p>
        </p:txBody>
      </p:sp>
      <p:sp>
        <p:nvSpPr>
          <p:cNvPr id="17" name="TextBox 16"/>
          <p:cNvSpPr txBox="1"/>
          <p:nvPr/>
        </p:nvSpPr>
        <p:spPr>
          <a:xfrm>
            <a:off x="86868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consumers cut off</a:t>
            </a:r>
          </a:p>
          <a:p>
            <a:pPr algn="l">
              <a:lnSpc>
                <a:spcPct val="115000"/>
              </a:lnSpc>
              <a:spcAft>
                <a:spcPts val="0"/>
              </a:spcAft>
            </a:pPr>
            <a:r>
              <a:rPr sz="1200" b="0">
                <a:solidFill>
                  <a:srgbClr val="55607A"/>
                </a:solidFill>
                <a:latin typeface="Segoe UI"/>
              </a:rPr>
              <a:t>by Typhoon Tino</a:t>
            </a:r>
          </a:p>
        </p:txBody>
      </p:sp>
      <p:cxnSp>
        <p:nvCxnSpPr>
          <p:cNvPr id="18" name="Connector 17"/>
          <p:cNvCxnSpPr/>
          <p:nvPr/>
        </p:nvCxnSpPr>
        <p:spPr>
          <a:xfrm>
            <a:off x="5791200" y="2743200"/>
            <a:ext cx="5791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791200" y="28956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450 MHZ DOES</a:t>
            </a:r>
          </a:p>
        </p:txBody>
      </p:sp>
      <p:sp>
        <p:nvSpPr>
          <p:cNvPr id="20" name="Rectangle 19"/>
          <p:cNvSpPr/>
          <p:nvPr/>
        </p:nvSpPr>
        <p:spPr>
          <a:xfrm>
            <a:off x="57912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cpu_navy.png"/>
          <p:cNvPicPr>
            <a:picLocks noChangeAspect="1"/>
          </p:cNvPicPr>
          <p:nvPr/>
        </p:nvPicPr>
        <p:blipFill>
          <a:blip r:embed="rId4"/>
          <a:stretch>
            <a:fillRect/>
          </a:stretch>
        </p:blipFill>
        <p:spPr>
          <a:xfrm>
            <a:off x="5994400" y="3378200"/>
            <a:ext cx="431800" cy="431800"/>
          </a:xfrm>
          <a:prstGeom prst="rect">
            <a:avLst/>
          </a:prstGeom>
        </p:spPr>
      </p:pic>
      <p:sp>
        <p:nvSpPr>
          <p:cNvPr id="22" name="TextBox 21"/>
          <p:cNvSpPr txBox="1"/>
          <p:nvPr/>
        </p:nvSpPr>
        <p:spPr>
          <a:xfrm>
            <a:off x="59944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SCADA &amp;</a:t>
            </a:r>
          </a:p>
          <a:p>
            <a:pPr algn="l">
              <a:lnSpc>
                <a:spcPct val="115000"/>
              </a:lnSpc>
              <a:spcAft>
                <a:spcPts val="0"/>
              </a:spcAft>
            </a:pPr>
            <a:r>
              <a:rPr sz="1250" b="0">
                <a:solidFill>
                  <a:srgbClr val="0B308E"/>
                </a:solidFill>
                <a:latin typeface="Segoe UI Semibold"/>
              </a:rPr>
              <a:t>feeder automation</a:t>
            </a:r>
          </a:p>
        </p:txBody>
      </p:sp>
      <p:sp>
        <p:nvSpPr>
          <p:cNvPr id="23" name="Rectangle 22"/>
          <p:cNvSpPr/>
          <p:nvPr/>
        </p:nvSpPr>
        <p:spPr>
          <a:xfrm>
            <a:off x="77724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radio_navy.png"/>
          <p:cNvPicPr>
            <a:picLocks noChangeAspect="1"/>
          </p:cNvPicPr>
          <p:nvPr/>
        </p:nvPicPr>
        <p:blipFill>
          <a:blip r:embed="rId5"/>
          <a:stretch>
            <a:fillRect/>
          </a:stretch>
        </p:blipFill>
        <p:spPr>
          <a:xfrm>
            <a:off x="7975600" y="3378200"/>
            <a:ext cx="431800" cy="431800"/>
          </a:xfrm>
          <a:prstGeom prst="rect">
            <a:avLst/>
          </a:prstGeom>
        </p:spPr>
      </p:pic>
      <p:sp>
        <p:nvSpPr>
          <p:cNvPr id="25" name="TextBox 24"/>
          <p:cNvSpPr txBox="1"/>
          <p:nvPr/>
        </p:nvSpPr>
        <p:spPr>
          <a:xfrm>
            <a:off x="79756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Push-to-talk</a:t>
            </a:r>
          </a:p>
          <a:p>
            <a:pPr algn="l">
              <a:lnSpc>
                <a:spcPct val="115000"/>
              </a:lnSpc>
              <a:spcAft>
                <a:spcPts val="0"/>
              </a:spcAft>
            </a:pPr>
            <a:r>
              <a:rPr sz="1250" b="0">
                <a:solidFill>
                  <a:srgbClr val="0B308E"/>
                </a:solidFill>
                <a:latin typeface="Segoe UI Semibold"/>
              </a:rPr>
              <a:t>for line crews</a:t>
            </a:r>
          </a:p>
        </p:txBody>
      </p:sp>
      <p:sp>
        <p:nvSpPr>
          <p:cNvPr id="26" name="Rectangle 25"/>
          <p:cNvSpPr/>
          <p:nvPr/>
        </p:nvSpPr>
        <p:spPr>
          <a:xfrm>
            <a:off x="97536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gauge_navy.png"/>
          <p:cNvPicPr>
            <a:picLocks noChangeAspect="1"/>
          </p:cNvPicPr>
          <p:nvPr/>
        </p:nvPicPr>
        <p:blipFill>
          <a:blip r:embed="rId6"/>
          <a:stretch>
            <a:fillRect/>
          </a:stretch>
        </p:blipFill>
        <p:spPr>
          <a:xfrm>
            <a:off x="9956800" y="3378200"/>
            <a:ext cx="431800" cy="431800"/>
          </a:xfrm>
          <a:prstGeom prst="rect">
            <a:avLst/>
          </a:prstGeom>
        </p:spPr>
      </p:pic>
      <p:sp>
        <p:nvSpPr>
          <p:cNvPr id="28" name="TextBox 27"/>
          <p:cNvSpPr txBox="1"/>
          <p:nvPr/>
        </p:nvSpPr>
        <p:spPr>
          <a:xfrm>
            <a:off x="99568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Smart meters,</a:t>
            </a:r>
          </a:p>
          <a:p>
            <a:pPr algn="l">
              <a:lnSpc>
                <a:spcPct val="115000"/>
              </a:lnSpc>
              <a:spcAft>
                <a:spcPts val="0"/>
              </a:spcAft>
            </a:pPr>
            <a:r>
              <a:rPr sz="1250" b="0">
                <a:solidFill>
                  <a:srgbClr val="0B308E"/>
                </a:solidFill>
                <a:latin typeface="Segoe UI Semibold"/>
              </a:rPr>
              <a:t>deep indoors</a:t>
            </a:r>
          </a:p>
        </p:txBody>
      </p:sp>
      <p:sp>
        <p:nvSpPr>
          <p:cNvPr id="29" name="Rectangle 28"/>
          <p:cNvSpPr/>
          <p:nvPr/>
        </p:nvSpPr>
        <p:spPr>
          <a:xfrm>
            <a:off x="609600" y="5029200"/>
            <a:ext cx="4876800" cy="127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badge-check_navy.png"/>
          <p:cNvPicPr>
            <a:picLocks noChangeAspect="1"/>
          </p:cNvPicPr>
          <p:nvPr/>
        </p:nvPicPr>
        <p:blipFill>
          <a:blip r:embed="rId7"/>
          <a:stretch>
            <a:fillRect/>
          </a:stretch>
        </p:blipFill>
        <p:spPr>
          <a:xfrm>
            <a:off x="812800" y="5207000"/>
            <a:ext cx="304800" cy="304800"/>
          </a:xfrm>
          <a:prstGeom prst="rect">
            <a:avLst/>
          </a:prstGeom>
        </p:spPr>
      </p:pic>
      <p:sp>
        <p:nvSpPr>
          <p:cNvPr id="31" name="TextBox 30"/>
          <p:cNvSpPr txBox="1"/>
          <p:nvPr/>
        </p:nvSpPr>
        <p:spPr>
          <a:xfrm>
            <a:off x="12446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PROOF POINT</a:t>
            </a:r>
          </a:p>
        </p:txBody>
      </p:sp>
      <p:sp>
        <p:nvSpPr>
          <p:cNvPr id="32" name="TextBox 31"/>
          <p:cNvSpPr txBox="1"/>
          <p:nvPr/>
        </p:nvSpPr>
        <p:spPr>
          <a:xfrm>
            <a:off x="812800" y="56388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Germany  450connect</a:t>
            </a:r>
          </a:p>
        </p:txBody>
      </p:sp>
      <p:sp>
        <p:nvSpPr>
          <p:cNvPr id="33" name="TextBox 32"/>
          <p:cNvSpPr txBox="1"/>
          <p:nvPr/>
        </p:nvSpPr>
        <p:spPr>
          <a:xfrm>
            <a:off x="3098800" y="56388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B72  ·  &gt;95% coverage</a:t>
            </a:r>
          </a:p>
        </p:txBody>
      </p:sp>
      <p:sp>
        <p:nvSpPr>
          <p:cNvPr id="34" name="TextBox 33"/>
          <p:cNvSpPr txBox="1"/>
          <p:nvPr/>
        </p:nvSpPr>
        <p:spPr>
          <a:xfrm>
            <a:off x="812800" y="59436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Malaysia  TNB</a:t>
            </a:r>
          </a:p>
        </p:txBody>
      </p:sp>
      <p:sp>
        <p:nvSpPr>
          <p:cNvPr id="35" name="TextBox 34"/>
          <p:cNvSpPr txBox="1"/>
          <p:nvPr/>
        </p:nvSpPr>
        <p:spPr>
          <a:xfrm>
            <a:off x="3098800" y="59436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B31  ·  4 areas</a:t>
            </a:r>
          </a:p>
        </p:txBody>
      </p:sp>
      <p:sp>
        <p:nvSpPr>
          <p:cNvPr id="36" name="Rectangle 35"/>
          <p:cNvSpPr/>
          <p:nvPr/>
        </p:nvSpPr>
        <p:spPr>
          <a:xfrm>
            <a:off x="5791200" y="5029200"/>
            <a:ext cx="5791200" cy="1270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hand-coins_green.png"/>
          <p:cNvPicPr>
            <a:picLocks noChangeAspect="1"/>
          </p:cNvPicPr>
          <p:nvPr/>
        </p:nvPicPr>
        <p:blipFill>
          <a:blip r:embed="rId8"/>
          <a:stretch>
            <a:fillRect/>
          </a:stretch>
        </p:blipFill>
        <p:spPr>
          <a:xfrm>
            <a:off x="5994400" y="5207000"/>
            <a:ext cx="304800" cy="304800"/>
          </a:xfrm>
          <a:prstGeom prst="rect">
            <a:avLst/>
          </a:prstGeom>
        </p:spPr>
      </p:pic>
      <p:sp>
        <p:nvSpPr>
          <p:cNvPr id="38" name="TextBox 37"/>
          <p:cNvSpPr txBox="1"/>
          <p:nvPr/>
        </p:nvSpPr>
        <p:spPr>
          <a:xfrm>
            <a:off x="64262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WHAT GLOBE SELLS</a:t>
            </a:r>
          </a:p>
        </p:txBody>
      </p:sp>
      <p:sp>
        <p:nvSpPr>
          <p:cNvPr id="39" name="Rounded Rectangle 38"/>
          <p:cNvSpPr/>
          <p:nvPr/>
        </p:nvSpPr>
        <p:spPr>
          <a:xfrm>
            <a:off x="5994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994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Capacity package</a:t>
            </a:r>
          </a:p>
        </p:txBody>
      </p:sp>
      <p:sp>
        <p:nvSpPr>
          <p:cNvPr id="41" name="Rounded Rectangle 40"/>
          <p:cNvSpPr/>
          <p:nvPr/>
        </p:nvSpPr>
        <p:spPr>
          <a:xfrm>
            <a:off x="78359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8359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IoT per meter</a:t>
            </a:r>
          </a:p>
        </p:txBody>
      </p:sp>
      <p:sp>
        <p:nvSpPr>
          <p:cNvPr id="43" name="Rounded Rectangle 42"/>
          <p:cNvSpPr/>
          <p:nvPr/>
        </p:nvSpPr>
        <p:spPr>
          <a:xfrm>
            <a:off x="9677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677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SCADA O&amp;M</a:t>
            </a:r>
          </a:p>
        </p:txBody>
      </p:sp>
      <p:sp>
        <p:nvSpPr>
          <p:cNvPr id="45" name="TextBox 44"/>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NEA; Department of Energy (5 Nov 2025); 450 MHz Alliance, RFI for devices (2025) p5, Annual Global Update (Dec 2025) p8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02   PRIORITY 2 OF 6  ·  WATER</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09</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Water: find the losses instead of estimating them</a:t>
            </a:r>
          </a:p>
        </p:txBody>
      </p:sp>
      <p:pic>
        <p:nvPicPr>
          <p:cNvPr id="10" name="Picture 9" descr="v6_5f9dad8d68.jpg"/>
          <p:cNvPicPr>
            <a:picLocks noChangeAspect="1"/>
          </p:cNvPicPr>
          <p:nvPr/>
        </p:nvPicPr>
        <p:blipFill>
          <a:blip r:embed="rId2"/>
          <a:srcRect t="11853" b="11853"/>
          <a:stretch>
            <a:fillRect/>
          </a:stretch>
        </p:blipFill>
        <p:spPr>
          <a:xfrm>
            <a:off x="609600" y="1549400"/>
            <a:ext cx="4876800" cy="3175000"/>
          </a:xfrm>
          <a:prstGeom prst="rect">
            <a:avLst/>
          </a:prstGeom>
        </p:spPr>
      </p:pic>
      <p:sp>
        <p:nvSpPr>
          <p:cNvPr id="11" name="Oval 10"/>
          <p:cNvSpPr/>
          <p:nvPr/>
        </p:nvSpPr>
        <p:spPr>
          <a:xfrm>
            <a:off x="787400" y="1727200"/>
            <a:ext cx="558800" cy="5588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droplets_white.png"/>
          <p:cNvPicPr>
            <a:picLocks noChangeAspect="1"/>
          </p:cNvPicPr>
          <p:nvPr/>
        </p:nvPicPr>
        <p:blipFill>
          <a:blip r:embed="rId3"/>
          <a:stretch>
            <a:fillRect/>
          </a:stretch>
        </p:blipFill>
        <p:spPr>
          <a:xfrm>
            <a:off x="921512" y="1861312"/>
            <a:ext cx="290576" cy="290576"/>
          </a:xfrm>
          <a:prstGeom prst="rect">
            <a:avLst/>
          </a:prstGeom>
        </p:spPr>
      </p:pic>
      <p:sp>
        <p:nvSpPr>
          <p:cNvPr id="13" name="TextBox 12"/>
          <p:cNvSpPr txBox="1"/>
          <p:nvPr/>
        </p:nvSpPr>
        <p:spPr>
          <a:xfrm>
            <a:off x="609600" y="4775200"/>
            <a:ext cx="4876800" cy="1524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Illustrative imagery</a:t>
            </a:r>
          </a:p>
        </p:txBody>
      </p:sp>
      <p:sp>
        <p:nvSpPr>
          <p:cNvPr id="14" name="TextBox 13"/>
          <p:cNvSpPr txBox="1"/>
          <p:nvPr/>
        </p:nvSpPr>
        <p:spPr>
          <a:xfrm>
            <a:off x="5791200" y="1473200"/>
            <a:ext cx="2794000" cy="635000"/>
          </a:xfrm>
          <a:prstGeom prst="rect">
            <a:avLst/>
          </a:prstGeom>
          <a:noFill/>
        </p:spPr>
        <p:txBody>
          <a:bodyPr wrap="square" lIns="0" rIns="0" tIns="0" bIns="0" anchor="b">
            <a:spAutoFit/>
          </a:bodyPr>
          <a:lstStyle/>
          <a:p>
            <a:pPr algn="l">
              <a:lnSpc>
                <a:spcPct val="120000"/>
              </a:lnSpc>
              <a:spcAft>
                <a:spcPts val="0"/>
              </a:spcAft>
            </a:pPr>
            <a:r>
              <a:rPr sz="4000" b="0">
                <a:solidFill>
                  <a:srgbClr val="0B308E"/>
                </a:solidFill>
                <a:latin typeface="Segoe UI Light"/>
              </a:rPr>
              <a:t>532</a:t>
            </a:r>
          </a:p>
        </p:txBody>
      </p:sp>
      <p:sp>
        <p:nvSpPr>
          <p:cNvPr id="15" name="TextBox 14"/>
          <p:cNvSpPr txBox="1"/>
          <p:nvPr/>
        </p:nvSpPr>
        <p:spPr>
          <a:xfrm>
            <a:off x="57912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water districts</a:t>
            </a:r>
          </a:p>
          <a:p>
            <a:pPr algn="l">
              <a:lnSpc>
                <a:spcPct val="115000"/>
              </a:lnSpc>
              <a:spcAft>
                <a:spcPts val="0"/>
              </a:spcAft>
            </a:pPr>
            <a:r>
              <a:rPr sz="1200" b="0">
                <a:solidFill>
                  <a:srgbClr val="55607A"/>
                </a:solidFill>
                <a:latin typeface="Segoe UI"/>
              </a:rPr>
              <a:t>under LWUA</a:t>
            </a:r>
          </a:p>
        </p:txBody>
      </p:sp>
      <p:sp>
        <p:nvSpPr>
          <p:cNvPr id="16" name="TextBox 15"/>
          <p:cNvSpPr txBox="1"/>
          <p:nvPr/>
        </p:nvSpPr>
        <p:spPr>
          <a:xfrm>
            <a:off x="8686800" y="1473200"/>
            <a:ext cx="2794000" cy="635000"/>
          </a:xfrm>
          <a:prstGeom prst="rect">
            <a:avLst/>
          </a:prstGeom>
          <a:noFill/>
        </p:spPr>
        <p:txBody>
          <a:bodyPr wrap="square" lIns="0" rIns="0" tIns="0" bIns="0" anchor="b">
            <a:spAutoFit/>
          </a:bodyPr>
          <a:lstStyle/>
          <a:p>
            <a:pPr algn="l">
              <a:lnSpc>
                <a:spcPct val="120000"/>
              </a:lnSpc>
              <a:spcAft>
                <a:spcPts val="0"/>
              </a:spcAft>
            </a:pPr>
            <a:r>
              <a:rPr sz="4000" b="0">
                <a:solidFill>
                  <a:srgbClr val="0B308E"/>
                </a:solidFill>
                <a:latin typeface="Segoe UI Light"/>
              </a:rPr>
              <a:t>149</a:t>
            </a:r>
          </a:p>
        </p:txBody>
      </p:sp>
      <p:sp>
        <p:nvSpPr>
          <p:cNvPr id="17" name="TextBox 16"/>
          <p:cNvSpPr txBox="1"/>
          <p:nvPr/>
        </p:nvSpPr>
        <p:spPr>
          <a:xfrm>
            <a:off x="86868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kept losses within</a:t>
            </a:r>
          </a:p>
          <a:p>
            <a:pPr algn="l">
              <a:lnSpc>
                <a:spcPct val="115000"/>
              </a:lnSpc>
              <a:spcAft>
                <a:spcPts val="0"/>
              </a:spcAft>
            </a:pPr>
            <a:r>
              <a:rPr sz="1200" b="0">
                <a:solidFill>
                  <a:srgbClr val="55607A"/>
                </a:solidFill>
                <a:latin typeface="Segoe UI"/>
              </a:rPr>
              <a:t>the 20% limit</a:t>
            </a:r>
          </a:p>
        </p:txBody>
      </p:sp>
      <p:cxnSp>
        <p:nvCxnSpPr>
          <p:cNvPr id="18" name="Connector 17"/>
          <p:cNvCxnSpPr/>
          <p:nvPr/>
        </p:nvCxnSpPr>
        <p:spPr>
          <a:xfrm>
            <a:off x="5791200" y="2743200"/>
            <a:ext cx="5791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791200" y="28956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450 MHZ DOES</a:t>
            </a:r>
          </a:p>
        </p:txBody>
      </p:sp>
      <p:sp>
        <p:nvSpPr>
          <p:cNvPr id="20" name="Rectangle 19"/>
          <p:cNvSpPr/>
          <p:nvPr/>
        </p:nvSpPr>
        <p:spPr>
          <a:xfrm>
            <a:off x="57912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gauge_navy.png"/>
          <p:cNvPicPr>
            <a:picLocks noChangeAspect="1"/>
          </p:cNvPicPr>
          <p:nvPr/>
        </p:nvPicPr>
        <p:blipFill>
          <a:blip r:embed="rId4"/>
          <a:stretch>
            <a:fillRect/>
          </a:stretch>
        </p:blipFill>
        <p:spPr>
          <a:xfrm>
            <a:off x="5994400" y="3378200"/>
            <a:ext cx="431800" cy="431800"/>
          </a:xfrm>
          <a:prstGeom prst="rect">
            <a:avLst/>
          </a:prstGeom>
        </p:spPr>
      </p:pic>
      <p:sp>
        <p:nvSpPr>
          <p:cNvPr id="22" name="TextBox 21"/>
          <p:cNvSpPr txBox="1"/>
          <p:nvPr/>
        </p:nvSpPr>
        <p:spPr>
          <a:xfrm>
            <a:off x="59944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Meters that</a:t>
            </a:r>
          </a:p>
          <a:p>
            <a:pPr algn="l">
              <a:lnSpc>
                <a:spcPct val="115000"/>
              </a:lnSpc>
              <a:spcAft>
                <a:spcPts val="0"/>
              </a:spcAft>
            </a:pPr>
            <a:r>
              <a:rPr sz="1250" b="0">
                <a:solidFill>
                  <a:srgbClr val="0B308E"/>
                </a:solidFill>
                <a:latin typeface="Segoe UI Semibold"/>
              </a:rPr>
              <a:t>report</a:t>
            </a:r>
          </a:p>
        </p:txBody>
      </p:sp>
      <p:sp>
        <p:nvSpPr>
          <p:cNvPr id="23" name="Rectangle 22"/>
          <p:cNvSpPr/>
          <p:nvPr/>
        </p:nvSpPr>
        <p:spPr>
          <a:xfrm>
            <a:off x="77724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activity_navy.png"/>
          <p:cNvPicPr>
            <a:picLocks noChangeAspect="1"/>
          </p:cNvPicPr>
          <p:nvPr/>
        </p:nvPicPr>
        <p:blipFill>
          <a:blip r:embed="rId5"/>
          <a:stretch>
            <a:fillRect/>
          </a:stretch>
        </p:blipFill>
        <p:spPr>
          <a:xfrm>
            <a:off x="7975600" y="3378200"/>
            <a:ext cx="431800" cy="431800"/>
          </a:xfrm>
          <a:prstGeom prst="rect">
            <a:avLst/>
          </a:prstGeom>
        </p:spPr>
      </p:pic>
      <p:sp>
        <p:nvSpPr>
          <p:cNvPr id="25" name="TextBox 24"/>
          <p:cNvSpPr txBox="1"/>
          <p:nvPr/>
        </p:nvSpPr>
        <p:spPr>
          <a:xfrm>
            <a:off x="79756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Pressure sensing,</a:t>
            </a:r>
          </a:p>
          <a:p>
            <a:pPr algn="l">
              <a:lnSpc>
                <a:spcPct val="115000"/>
              </a:lnSpc>
              <a:spcAft>
                <a:spcPts val="0"/>
              </a:spcAft>
            </a:pPr>
            <a:r>
              <a:rPr sz="1250" b="0">
                <a:solidFill>
                  <a:srgbClr val="0B308E"/>
                </a:solidFill>
                <a:latin typeface="Segoe UI Semibold"/>
              </a:rPr>
              <a:t>leak location</a:t>
            </a:r>
          </a:p>
        </p:txBody>
      </p:sp>
      <p:sp>
        <p:nvSpPr>
          <p:cNvPr id="26" name="Rectangle 25"/>
          <p:cNvSpPr/>
          <p:nvPr/>
        </p:nvSpPr>
        <p:spPr>
          <a:xfrm>
            <a:off x="97536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cpu_navy.png"/>
          <p:cNvPicPr>
            <a:picLocks noChangeAspect="1"/>
          </p:cNvPicPr>
          <p:nvPr/>
        </p:nvPicPr>
        <p:blipFill>
          <a:blip r:embed="rId6"/>
          <a:stretch>
            <a:fillRect/>
          </a:stretch>
        </p:blipFill>
        <p:spPr>
          <a:xfrm>
            <a:off x="9956800" y="3378200"/>
            <a:ext cx="431800" cy="431800"/>
          </a:xfrm>
          <a:prstGeom prst="rect">
            <a:avLst/>
          </a:prstGeom>
        </p:spPr>
      </p:pic>
      <p:sp>
        <p:nvSpPr>
          <p:cNvPr id="28" name="TextBox 27"/>
          <p:cNvSpPr txBox="1"/>
          <p:nvPr/>
        </p:nvSpPr>
        <p:spPr>
          <a:xfrm>
            <a:off x="99568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Pump &amp; reservoir</a:t>
            </a:r>
          </a:p>
          <a:p>
            <a:pPr algn="l">
              <a:lnSpc>
                <a:spcPct val="115000"/>
              </a:lnSpc>
              <a:spcAft>
                <a:spcPts val="0"/>
              </a:spcAft>
            </a:pPr>
            <a:r>
              <a:rPr sz="1250" b="0">
                <a:solidFill>
                  <a:srgbClr val="0B308E"/>
                </a:solidFill>
                <a:latin typeface="Segoe UI Semibold"/>
              </a:rPr>
              <a:t>telemetry</a:t>
            </a:r>
          </a:p>
        </p:txBody>
      </p:sp>
      <p:sp>
        <p:nvSpPr>
          <p:cNvPr id="29" name="Rectangle 28"/>
          <p:cNvSpPr/>
          <p:nvPr/>
        </p:nvSpPr>
        <p:spPr>
          <a:xfrm>
            <a:off x="609600" y="5029200"/>
            <a:ext cx="4876800" cy="127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badge-check_navy.png"/>
          <p:cNvPicPr>
            <a:picLocks noChangeAspect="1"/>
          </p:cNvPicPr>
          <p:nvPr/>
        </p:nvPicPr>
        <p:blipFill>
          <a:blip r:embed="rId7"/>
          <a:stretch>
            <a:fillRect/>
          </a:stretch>
        </p:blipFill>
        <p:spPr>
          <a:xfrm>
            <a:off x="812800" y="5207000"/>
            <a:ext cx="304800" cy="304800"/>
          </a:xfrm>
          <a:prstGeom prst="rect">
            <a:avLst/>
          </a:prstGeom>
        </p:spPr>
      </p:pic>
      <p:sp>
        <p:nvSpPr>
          <p:cNvPr id="31" name="TextBox 30"/>
          <p:cNvSpPr txBox="1"/>
          <p:nvPr/>
        </p:nvSpPr>
        <p:spPr>
          <a:xfrm>
            <a:off x="12446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PROOF POINT</a:t>
            </a:r>
          </a:p>
        </p:txBody>
      </p:sp>
      <p:sp>
        <p:nvSpPr>
          <p:cNvPr id="32" name="TextBox 31"/>
          <p:cNvSpPr txBox="1"/>
          <p:nvPr/>
        </p:nvSpPr>
        <p:spPr>
          <a:xfrm>
            <a:off x="812800" y="56388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Bahrain  EWA</a:t>
            </a:r>
          </a:p>
        </p:txBody>
      </p:sp>
      <p:sp>
        <p:nvSpPr>
          <p:cNvPr id="33" name="TextBox 32"/>
          <p:cNvSpPr txBox="1"/>
          <p:nvPr/>
        </p:nvSpPr>
        <p:spPr>
          <a:xfrm>
            <a:off x="3098800" y="56388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water-meter network</a:t>
            </a:r>
          </a:p>
        </p:txBody>
      </p:sp>
      <p:sp>
        <p:nvSpPr>
          <p:cNvPr id="34" name="TextBox 33"/>
          <p:cNvSpPr txBox="1"/>
          <p:nvPr/>
        </p:nvSpPr>
        <p:spPr>
          <a:xfrm>
            <a:off x="812800" y="59436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Kenya</a:t>
            </a:r>
          </a:p>
        </p:txBody>
      </p:sp>
      <p:sp>
        <p:nvSpPr>
          <p:cNvPr id="35" name="TextBox 34"/>
          <p:cNvSpPr txBox="1"/>
          <p:nvPr/>
        </p:nvSpPr>
        <p:spPr>
          <a:xfrm>
            <a:off x="3098800" y="59436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band reserved for utilities</a:t>
            </a:r>
          </a:p>
        </p:txBody>
      </p:sp>
      <p:sp>
        <p:nvSpPr>
          <p:cNvPr id="36" name="Rectangle 35"/>
          <p:cNvSpPr/>
          <p:nvPr/>
        </p:nvSpPr>
        <p:spPr>
          <a:xfrm>
            <a:off x="5791200" y="5029200"/>
            <a:ext cx="5791200" cy="1270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hand-coins_green.png"/>
          <p:cNvPicPr>
            <a:picLocks noChangeAspect="1"/>
          </p:cNvPicPr>
          <p:nvPr/>
        </p:nvPicPr>
        <p:blipFill>
          <a:blip r:embed="rId8"/>
          <a:stretch>
            <a:fillRect/>
          </a:stretch>
        </p:blipFill>
        <p:spPr>
          <a:xfrm>
            <a:off x="5994400" y="5207000"/>
            <a:ext cx="304800" cy="304800"/>
          </a:xfrm>
          <a:prstGeom prst="rect">
            <a:avLst/>
          </a:prstGeom>
        </p:spPr>
      </p:pic>
      <p:sp>
        <p:nvSpPr>
          <p:cNvPr id="38" name="TextBox 37"/>
          <p:cNvSpPr txBox="1"/>
          <p:nvPr/>
        </p:nvSpPr>
        <p:spPr>
          <a:xfrm>
            <a:off x="64262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WHAT GLOBE SELLS</a:t>
            </a:r>
          </a:p>
        </p:txBody>
      </p:sp>
      <p:sp>
        <p:nvSpPr>
          <p:cNvPr id="39" name="Rounded Rectangle 38"/>
          <p:cNvSpPr/>
          <p:nvPr/>
        </p:nvSpPr>
        <p:spPr>
          <a:xfrm>
            <a:off x="5994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994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IoT per meter</a:t>
            </a:r>
          </a:p>
        </p:txBody>
      </p:sp>
      <p:sp>
        <p:nvSpPr>
          <p:cNvPr id="41" name="Rounded Rectangle 40"/>
          <p:cNvSpPr/>
          <p:nvPr/>
        </p:nvSpPr>
        <p:spPr>
          <a:xfrm>
            <a:off x="78359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8359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Telemetry</a:t>
            </a:r>
          </a:p>
        </p:txBody>
      </p:sp>
      <p:sp>
        <p:nvSpPr>
          <p:cNvPr id="43" name="Rounded Rectangle 42"/>
          <p:cNvSpPr/>
          <p:nvPr/>
        </p:nvSpPr>
        <p:spPr>
          <a:xfrm>
            <a:off x="9677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677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Integration</a:t>
            </a:r>
          </a:p>
        </p:txBody>
      </p:sp>
      <p:sp>
        <p:nvSpPr>
          <p:cNvPr id="45" name="TextBox 44"/>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LWUA NRW data, end-2025 (reported Aug 2026); 450 MHz Alliance, Annual Global Update (Dec 2025) p6, p8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02   PRIORITY 3 OF 6  ·  EMERGENCY</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10</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Emergency: the layer that has to survive the storm</a:t>
            </a:r>
          </a:p>
        </p:txBody>
      </p:sp>
      <p:pic>
        <p:nvPicPr>
          <p:cNvPr id="10" name="Picture 9" descr="v6_4589fbbd86.jpg"/>
          <p:cNvPicPr>
            <a:picLocks noChangeAspect="1"/>
          </p:cNvPicPr>
          <p:nvPr/>
        </p:nvPicPr>
        <p:blipFill>
          <a:blip r:embed="rId2"/>
          <a:srcRect b="2283"/>
          <a:stretch>
            <a:fillRect/>
          </a:stretch>
        </p:blipFill>
        <p:spPr>
          <a:xfrm>
            <a:off x="609600" y="1549400"/>
            <a:ext cx="4876800" cy="3175000"/>
          </a:xfrm>
          <a:prstGeom prst="rect">
            <a:avLst/>
          </a:prstGeom>
        </p:spPr>
      </p:pic>
      <p:sp>
        <p:nvSpPr>
          <p:cNvPr id="11" name="Oval 10"/>
          <p:cNvSpPr/>
          <p:nvPr/>
        </p:nvSpPr>
        <p:spPr>
          <a:xfrm>
            <a:off x="787400" y="17272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iren_white.png"/>
          <p:cNvPicPr>
            <a:picLocks noChangeAspect="1"/>
          </p:cNvPicPr>
          <p:nvPr/>
        </p:nvPicPr>
        <p:blipFill>
          <a:blip r:embed="rId3"/>
          <a:stretch>
            <a:fillRect/>
          </a:stretch>
        </p:blipFill>
        <p:spPr>
          <a:xfrm>
            <a:off x="921512" y="1861312"/>
            <a:ext cx="290576" cy="290576"/>
          </a:xfrm>
          <a:prstGeom prst="rect">
            <a:avLst/>
          </a:prstGeom>
        </p:spPr>
      </p:pic>
      <p:sp>
        <p:nvSpPr>
          <p:cNvPr id="13" name="TextBox 12"/>
          <p:cNvSpPr txBox="1"/>
          <p:nvPr/>
        </p:nvSpPr>
        <p:spPr>
          <a:xfrm>
            <a:off x="609600" y="4775200"/>
            <a:ext cx="4876800" cy="1524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Illustrative imagery</a:t>
            </a:r>
          </a:p>
        </p:txBody>
      </p:sp>
      <p:sp>
        <p:nvSpPr>
          <p:cNvPr id="14" name="TextBox 13"/>
          <p:cNvSpPr txBox="1"/>
          <p:nvPr/>
        </p:nvSpPr>
        <p:spPr>
          <a:xfrm>
            <a:off x="5791200" y="1473200"/>
            <a:ext cx="2794000" cy="635000"/>
          </a:xfrm>
          <a:prstGeom prst="rect">
            <a:avLst/>
          </a:prstGeom>
          <a:noFill/>
        </p:spPr>
        <p:txBody>
          <a:bodyPr wrap="square" lIns="0" rIns="0" tIns="0" bIns="0" anchor="b">
            <a:spAutoFit/>
          </a:bodyPr>
          <a:lstStyle/>
          <a:p>
            <a:pPr algn="l">
              <a:lnSpc>
                <a:spcPct val="120000"/>
              </a:lnSpc>
              <a:spcAft>
                <a:spcPts val="0"/>
              </a:spcAft>
            </a:pPr>
            <a:r>
              <a:rPr sz="4000" b="0">
                <a:solidFill>
                  <a:srgbClr val="0B308E"/>
                </a:solidFill>
                <a:latin typeface="Segoe UI Light"/>
              </a:rPr>
              <a:t>#1</a:t>
            </a:r>
          </a:p>
        </p:txBody>
      </p:sp>
      <p:sp>
        <p:nvSpPr>
          <p:cNvPr id="15" name="TextBox 14"/>
          <p:cNvSpPr txBox="1"/>
          <p:nvPr/>
        </p:nvSpPr>
        <p:spPr>
          <a:xfrm>
            <a:off x="57912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WorldRiskIndex</a:t>
            </a:r>
          </a:p>
          <a:p>
            <a:pPr algn="l">
              <a:lnSpc>
                <a:spcPct val="115000"/>
              </a:lnSpc>
              <a:spcAft>
                <a:spcPts val="0"/>
              </a:spcAft>
            </a:pPr>
            <a:r>
              <a:rPr sz="1200" b="0">
                <a:solidFill>
                  <a:srgbClr val="55607A"/>
                </a:solidFill>
                <a:latin typeface="Segoe UI"/>
              </a:rPr>
              <a:t>2025</a:t>
            </a:r>
          </a:p>
        </p:txBody>
      </p:sp>
      <p:sp>
        <p:nvSpPr>
          <p:cNvPr id="16" name="TextBox 15"/>
          <p:cNvSpPr txBox="1"/>
          <p:nvPr/>
        </p:nvSpPr>
        <p:spPr>
          <a:xfrm>
            <a:off x="8686800" y="1473200"/>
            <a:ext cx="2794000" cy="635000"/>
          </a:xfrm>
          <a:prstGeom prst="rect">
            <a:avLst/>
          </a:prstGeom>
          <a:noFill/>
        </p:spPr>
        <p:txBody>
          <a:bodyPr wrap="square" lIns="0" rIns="0" tIns="0" bIns="0" anchor="b">
            <a:spAutoFit/>
          </a:bodyPr>
          <a:lstStyle/>
          <a:p>
            <a:pPr algn="l">
              <a:lnSpc>
                <a:spcPct val="120000"/>
              </a:lnSpc>
              <a:spcAft>
                <a:spcPts val="0"/>
              </a:spcAft>
            </a:pPr>
            <a:r>
              <a:rPr sz="4000" b="0">
                <a:solidFill>
                  <a:srgbClr val="0B308E"/>
                </a:solidFill>
                <a:latin typeface="Segoe UI Light"/>
              </a:rPr>
              <a:t>~20</a:t>
            </a:r>
          </a:p>
        </p:txBody>
      </p:sp>
      <p:sp>
        <p:nvSpPr>
          <p:cNvPr id="17" name="TextBox 16"/>
          <p:cNvSpPr txBox="1"/>
          <p:nvPr/>
        </p:nvSpPr>
        <p:spPr>
          <a:xfrm>
            <a:off x="86868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tropical cyclones</a:t>
            </a:r>
          </a:p>
          <a:p>
            <a:pPr algn="l">
              <a:lnSpc>
                <a:spcPct val="115000"/>
              </a:lnSpc>
              <a:spcAft>
                <a:spcPts val="0"/>
              </a:spcAft>
            </a:pPr>
            <a:r>
              <a:rPr sz="1200" b="0">
                <a:solidFill>
                  <a:srgbClr val="55607A"/>
                </a:solidFill>
                <a:latin typeface="Segoe UI"/>
              </a:rPr>
              <a:t>a year</a:t>
            </a:r>
          </a:p>
        </p:txBody>
      </p:sp>
      <p:cxnSp>
        <p:nvCxnSpPr>
          <p:cNvPr id="18" name="Connector 17"/>
          <p:cNvCxnSpPr/>
          <p:nvPr/>
        </p:nvCxnSpPr>
        <p:spPr>
          <a:xfrm>
            <a:off x="5791200" y="2743200"/>
            <a:ext cx="5791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791200" y="28956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450 MHZ DOES</a:t>
            </a:r>
          </a:p>
        </p:txBody>
      </p:sp>
      <p:sp>
        <p:nvSpPr>
          <p:cNvPr id="20" name="Rectangle 19"/>
          <p:cNvSpPr/>
          <p:nvPr/>
        </p:nvSpPr>
        <p:spPr>
          <a:xfrm>
            <a:off x="57912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package_navy.png"/>
          <p:cNvPicPr>
            <a:picLocks noChangeAspect="1"/>
          </p:cNvPicPr>
          <p:nvPr/>
        </p:nvPicPr>
        <p:blipFill>
          <a:blip r:embed="rId4"/>
          <a:stretch>
            <a:fillRect/>
          </a:stretch>
        </p:blipFill>
        <p:spPr>
          <a:xfrm>
            <a:off x="5994400" y="3378200"/>
            <a:ext cx="431800" cy="431800"/>
          </a:xfrm>
          <a:prstGeom prst="rect">
            <a:avLst/>
          </a:prstGeom>
        </p:spPr>
      </p:pic>
      <p:sp>
        <p:nvSpPr>
          <p:cNvPr id="22" name="TextBox 21"/>
          <p:cNvSpPr txBox="1"/>
          <p:nvPr/>
        </p:nvSpPr>
        <p:spPr>
          <a:xfrm>
            <a:off x="59944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Deployed</a:t>
            </a:r>
          </a:p>
          <a:p>
            <a:pPr algn="l">
              <a:lnSpc>
                <a:spcPct val="115000"/>
              </a:lnSpc>
              <a:spcAft>
                <a:spcPts val="0"/>
              </a:spcAft>
            </a:pPr>
            <a:r>
              <a:rPr sz="1250" b="0">
                <a:solidFill>
                  <a:srgbClr val="0B308E"/>
                </a:solidFill>
                <a:latin typeface="Segoe UI Semibold"/>
              </a:rPr>
              <a:t>within hours</a:t>
            </a:r>
          </a:p>
        </p:txBody>
      </p:sp>
      <p:sp>
        <p:nvSpPr>
          <p:cNvPr id="23" name="Rectangle 22"/>
          <p:cNvSpPr/>
          <p:nvPr/>
        </p:nvSpPr>
        <p:spPr>
          <a:xfrm>
            <a:off x="77724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satellite-dish_navy.png"/>
          <p:cNvPicPr>
            <a:picLocks noChangeAspect="1"/>
          </p:cNvPicPr>
          <p:nvPr/>
        </p:nvPicPr>
        <p:blipFill>
          <a:blip r:embed="rId5"/>
          <a:stretch>
            <a:fillRect/>
          </a:stretch>
        </p:blipFill>
        <p:spPr>
          <a:xfrm>
            <a:off x="7975600" y="3378200"/>
            <a:ext cx="431800" cy="431800"/>
          </a:xfrm>
          <a:prstGeom prst="rect">
            <a:avLst/>
          </a:prstGeom>
        </p:spPr>
      </p:pic>
      <p:sp>
        <p:nvSpPr>
          <p:cNvPr id="25" name="TextBox 24"/>
          <p:cNvSpPr txBox="1"/>
          <p:nvPr/>
        </p:nvSpPr>
        <p:spPr>
          <a:xfrm>
            <a:off x="79756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Satellite</a:t>
            </a:r>
          </a:p>
          <a:p>
            <a:pPr algn="l">
              <a:lnSpc>
                <a:spcPct val="115000"/>
              </a:lnSpc>
              <a:spcAft>
                <a:spcPts val="0"/>
              </a:spcAft>
            </a:pPr>
            <a:r>
              <a:rPr sz="1250" b="0">
                <a:solidFill>
                  <a:srgbClr val="0B308E"/>
                </a:solidFill>
                <a:latin typeface="Segoe UI Semibold"/>
              </a:rPr>
              <a:t>backhaul</a:t>
            </a:r>
          </a:p>
        </p:txBody>
      </p:sp>
      <p:sp>
        <p:nvSpPr>
          <p:cNvPr id="26" name="Rectangle 25"/>
          <p:cNvSpPr/>
          <p:nvPr/>
        </p:nvSpPr>
        <p:spPr>
          <a:xfrm>
            <a:off x="97536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users_navy.png"/>
          <p:cNvPicPr>
            <a:picLocks noChangeAspect="1"/>
          </p:cNvPicPr>
          <p:nvPr/>
        </p:nvPicPr>
        <p:blipFill>
          <a:blip r:embed="rId6"/>
          <a:stretch>
            <a:fillRect/>
          </a:stretch>
        </p:blipFill>
        <p:spPr>
          <a:xfrm>
            <a:off x="9956800" y="3378200"/>
            <a:ext cx="431800" cy="431800"/>
          </a:xfrm>
          <a:prstGeom prst="rect">
            <a:avLst/>
          </a:prstGeom>
        </p:spPr>
      </p:pic>
      <p:sp>
        <p:nvSpPr>
          <p:cNvPr id="28" name="TextBox 27"/>
          <p:cNvSpPr txBox="1"/>
          <p:nvPr/>
        </p:nvSpPr>
        <p:spPr>
          <a:xfrm>
            <a:off x="99568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Field command</a:t>
            </a:r>
          </a:p>
          <a:p>
            <a:pPr algn="l">
              <a:lnSpc>
                <a:spcPct val="115000"/>
              </a:lnSpc>
              <a:spcAft>
                <a:spcPts val="0"/>
              </a:spcAft>
            </a:pPr>
            <a:r>
              <a:rPr sz="1250" b="0">
                <a:solidFill>
                  <a:srgbClr val="0B308E"/>
                </a:solidFill>
                <a:latin typeface="Segoe UI Semibold"/>
              </a:rPr>
              <a:t>post</a:t>
            </a:r>
          </a:p>
        </p:txBody>
      </p:sp>
      <p:sp>
        <p:nvSpPr>
          <p:cNvPr id="29" name="Rectangle 28"/>
          <p:cNvSpPr/>
          <p:nvPr/>
        </p:nvSpPr>
        <p:spPr>
          <a:xfrm>
            <a:off x="609600" y="5029200"/>
            <a:ext cx="4876800" cy="127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badge-check_navy.png"/>
          <p:cNvPicPr>
            <a:picLocks noChangeAspect="1"/>
          </p:cNvPicPr>
          <p:nvPr/>
        </p:nvPicPr>
        <p:blipFill>
          <a:blip r:embed="rId7"/>
          <a:stretch>
            <a:fillRect/>
          </a:stretch>
        </p:blipFill>
        <p:spPr>
          <a:xfrm>
            <a:off x="812800" y="5207000"/>
            <a:ext cx="304800" cy="304800"/>
          </a:xfrm>
          <a:prstGeom prst="rect">
            <a:avLst/>
          </a:prstGeom>
        </p:spPr>
      </p:pic>
      <p:sp>
        <p:nvSpPr>
          <p:cNvPr id="31" name="TextBox 30"/>
          <p:cNvSpPr txBox="1"/>
          <p:nvPr/>
        </p:nvSpPr>
        <p:spPr>
          <a:xfrm>
            <a:off x="12446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PROOF POINT</a:t>
            </a:r>
          </a:p>
        </p:txBody>
      </p:sp>
      <p:sp>
        <p:nvSpPr>
          <p:cNvPr id="32" name="TextBox 31"/>
          <p:cNvSpPr txBox="1"/>
          <p:nvPr/>
        </p:nvSpPr>
        <p:spPr>
          <a:xfrm>
            <a:off x="812800" y="56388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Indonesia  SeaTelSat</a:t>
            </a:r>
          </a:p>
        </p:txBody>
      </p:sp>
      <p:sp>
        <p:nvSpPr>
          <p:cNvPr id="33" name="TextBox 32"/>
          <p:cNvSpPr txBox="1"/>
          <p:nvPr/>
        </p:nvSpPr>
        <p:spPr>
          <a:xfrm>
            <a:off x="3098800" y="56388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B31 over satellite</a:t>
            </a:r>
          </a:p>
        </p:txBody>
      </p:sp>
      <p:sp>
        <p:nvSpPr>
          <p:cNvPr id="34" name="TextBox 33"/>
          <p:cNvSpPr txBox="1"/>
          <p:nvPr/>
        </p:nvSpPr>
        <p:spPr>
          <a:xfrm>
            <a:off x="812800" y="59436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Hytera  E-pack200</a:t>
            </a:r>
          </a:p>
        </p:txBody>
      </p:sp>
      <p:sp>
        <p:nvSpPr>
          <p:cNvPr id="35" name="TextBox 34"/>
          <p:cNvSpPr txBox="1"/>
          <p:nvPr/>
        </p:nvSpPr>
        <p:spPr>
          <a:xfrm>
            <a:off x="3098800" y="59436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rapid-deployment kit</a:t>
            </a:r>
          </a:p>
        </p:txBody>
      </p:sp>
      <p:sp>
        <p:nvSpPr>
          <p:cNvPr id="36" name="Rectangle 35"/>
          <p:cNvSpPr/>
          <p:nvPr/>
        </p:nvSpPr>
        <p:spPr>
          <a:xfrm>
            <a:off x="5791200" y="5029200"/>
            <a:ext cx="5791200" cy="1270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hand-coins_green.png"/>
          <p:cNvPicPr>
            <a:picLocks noChangeAspect="1"/>
          </p:cNvPicPr>
          <p:nvPr/>
        </p:nvPicPr>
        <p:blipFill>
          <a:blip r:embed="rId8"/>
          <a:stretch>
            <a:fillRect/>
          </a:stretch>
        </p:blipFill>
        <p:spPr>
          <a:xfrm>
            <a:off x="5994400" y="5207000"/>
            <a:ext cx="304800" cy="304800"/>
          </a:xfrm>
          <a:prstGeom prst="rect">
            <a:avLst/>
          </a:prstGeom>
        </p:spPr>
      </p:pic>
      <p:sp>
        <p:nvSpPr>
          <p:cNvPr id="38" name="TextBox 37"/>
          <p:cNvSpPr txBox="1"/>
          <p:nvPr/>
        </p:nvSpPr>
        <p:spPr>
          <a:xfrm>
            <a:off x="64262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WHAT GLOBE SELLS</a:t>
            </a:r>
          </a:p>
        </p:txBody>
      </p:sp>
      <p:sp>
        <p:nvSpPr>
          <p:cNvPr id="39" name="Rounded Rectangle 38"/>
          <p:cNvSpPr/>
          <p:nvPr/>
        </p:nvSpPr>
        <p:spPr>
          <a:xfrm>
            <a:off x="5994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994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Readiness retainer</a:t>
            </a:r>
          </a:p>
        </p:txBody>
      </p:sp>
      <p:sp>
        <p:nvSpPr>
          <p:cNvPr id="41" name="Rounded Rectangle 40"/>
          <p:cNvSpPr/>
          <p:nvPr/>
        </p:nvSpPr>
        <p:spPr>
          <a:xfrm>
            <a:off x="78359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8359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Standby kits</a:t>
            </a:r>
          </a:p>
        </p:txBody>
      </p:sp>
      <p:sp>
        <p:nvSpPr>
          <p:cNvPr id="43" name="Rounded Rectangle 42"/>
          <p:cNvSpPr/>
          <p:nvPr/>
        </p:nvSpPr>
        <p:spPr>
          <a:xfrm>
            <a:off x="9677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677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MCX service</a:t>
            </a:r>
          </a:p>
        </p:txBody>
      </p:sp>
      <p:sp>
        <p:nvSpPr>
          <p:cNvPr id="45" name="TextBox 44"/>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WorldRiskReport 2025; PAGASA; 450 MHz Alliance, RFI for devices (2025) p5; Hytera product documentation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02   PRIORITY 4 OF 6  ·  POLICE</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11</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Police: one group call across the agencies</a:t>
            </a:r>
          </a:p>
        </p:txBody>
      </p:sp>
      <p:pic>
        <p:nvPicPr>
          <p:cNvPr id="10" name="Picture 9" descr="v6_6c17f9f128.jpg"/>
          <p:cNvPicPr>
            <a:picLocks noChangeAspect="1"/>
          </p:cNvPicPr>
          <p:nvPr/>
        </p:nvPicPr>
        <p:blipFill>
          <a:blip r:embed="rId2"/>
          <a:srcRect b="1915"/>
          <a:stretch>
            <a:fillRect/>
          </a:stretch>
        </p:blipFill>
        <p:spPr>
          <a:xfrm>
            <a:off x="609600" y="1549400"/>
            <a:ext cx="4876800" cy="3175000"/>
          </a:xfrm>
          <a:prstGeom prst="rect">
            <a:avLst/>
          </a:prstGeom>
        </p:spPr>
      </p:pic>
      <p:sp>
        <p:nvSpPr>
          <p:cNvPr id="11" name="Oval 10"/>
          <p:cNvSpPr/>
          <p:nvPr/>
        </p:nvSpPr>
        <p:spPr>
          <a:xfrm>
            <a:off x="787400" y="17272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hield_white.png"/>
          <p:cNvPicPr>
            <a:picLocks noChangeAspect="1"/>
          </p:cNvPicPr>
          <p:nvPr/>
        </p:nvPicPr>
        <p:blipFill>
          <a:blip r:embed="rId3"/>
          <a:stretch>
            <a:fillRect/>
          </a:stretch>
        </p:blipFill>
        <p:spPr>
          <a:xfrm>
            <a:off x="921512" y="1861312"/>
            <a:ext cx="290576" cy="290576"/>
          </a:xfrm>
          <a:prstGeom prst="rect">
            <a:avLst/>
          </a:prstGeom>
        </p:spPr>
      </p:pic>
      <p:sp>
        <p:nvSpPr>
          <p:cNvPr id="13" name="TextBox 12"/>
          <p:cNvSpPr txBox="1"/>
          <p:nvPr/>
        </p:nvSpPr>
        <p:spPr>
          <a:xfrm>
            <a:off x="609600" y="4775200"/>
            <a:ext cx="4876800" cy="1524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Illustrative imagery</a:t>
            </a:r>
          </a:p>
        </p:txBody>
      </p:sp>
      <p:sp>
        <p:nvSpPr>
          <p:cNvPr id="14" name="TextBox 13"/>
          <p:cNvSpPr txBox="1"/>
          <p:nvPr/>
        </p:nvSpPr>
        <p:spPr>
          <a:xfrm>
            <a:off x="5791200" y="1473200"/>
            <a:ext cx="2794000" cy="635000"/>
          </a:xfrm>
          <a:prstGeom prst="rect">
            <a:avLst/>
          </a:prstGeom>
          <a:noFill/>
        </p:spPr>
        <p:txBody>
          <a:bodyPr wrap="square" lIns="0" rIns="0" tIns="0" bIns="0" anchor="b">
            <a:spAutoFit/>
          </a:bodyPr>
          <a:lstStyle/>
          <a:p>
            <a:pPr algn="l">
              <a:lnSpc>
                <a:spcPct val="120000"/>
              </a:lnSpc>
              <a:spcAft>
                <a:spcPts val="0"/>
              </a:spcAft>
            </a:pPr>
            <a:r>
              <a:rPr sz="3000" b="0">
                <a:solidFill>
                  <a:srgbClr val="0B308E"/>
                </a:solidFill>
                <a:latin typeface="Segoe UI Light"/>
              </a:rPr>
              <a:t>Interop</a:t>
            </a:r>
          </a:p>
        </p:txBody>
      </p:sp>
      <p:sp>
        <p:nvSpPr>
          <p:cNvPr id="15" name="TextBox 14"/>
          <p:cNvSpPr txBox="1"/>
          <p:nvPr/>
        </p:nvSpPr>
        <p:spPr>
          <a:xfrm>
            <a:off x="57912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with DMR and TETRA</a:t>
            </a:r>
          </a:p>
          <a:p>
            <a:pPr algn="l">
              <a:lnSpc>
                <a:spcPct val="115000"/>
              </a:lnSpc>
              <a:spcAft>
                <a:spcPts val="0"/>
              </a:spcAft>
            </a:pPr>
            <a:r>
              <a:rPr sz="1200" b="0">
                <a:solidFill>
                  <a:srgbClr val="55607A"/>
                </a:solidFill>
                <a:latin typeface="Segoe UI"/>
              </a:rPr>
              <a:t>already in service</a:t>
            </a:r>
          </a:p>
        </p:txBody>
      </p:sp>
      <p:sp>
        <p:nvSpPr>
          <p:cNvPr id="16" name="TextBox 15"/>
          <p:cNvSpPr txBox="1"/>
          <p:nvPr/>
        </p:nvSpPr>
        <p:spPr>
          <a:xfrm>
            <a:off x="8686800" y="1473200"/>
            <a:ext cx="2794000" cy="635000"/>
          </a:xfrm>
          <a:prstGeom prst="rect">
            <a:avLst/>
          </a:prstGeom>
          <a:noFill/>
        </p:spPr>
        <p:txBody>
          <a:bodyPr wrap="square" lIns="0" rIns="0" tIns="0" bIns="0" anchor="b">
            <a:spAutoFit/>
          </a:bodyPr>
          <a:lstStyle/>
          <a:p>
            <a:pPr algn="l">
              <a:lnSpc>
                <a:spcPct val="120000"/>
              </a:lnSpc>
              <a:spcAft>
                <a:spcPts val="0"/>
              </a:spcAft>
            </a:pPr>
            <a:r>
              <a:rPr sz="3000" b="0">
                <a:solidFill>
                  <a:srgbClr val="0B308E"/>
                </a:solidFill>
                <a:latin typeface="Segoe UI Light"/>
              </a:rPr>
              <a:t>Priority</a:t>
            </a:r>
          </a:p>
        </p:txBody>
      </p:sp>
      <p:sp>
        <p:nvSpPr>
          <p:cNvPr id="17" name="TextBox 16"/>
          <p:cNvSpPr txBox="1"/>
          <p:nvPr/>
        </p:nvSpPr>
        <p:spPr>
          <a:xfrm>
            <a:off x="86868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when the public</a:t>
            </a:r>
          </a:p>
          <a:p>
            <a:pPr algn="l">
              <a:lnSpc>
                <a:spcPct val="115000"/>
              </a:lnSpc>
              <a:spcAft>
                <a:spcPts val="0"/>
              </a:spcAft>
            </a:pPr>
            <a:r>
              <a:rPr sz="1200" b="0">
                <a:solidFill>
                  <a:srgbClr val="55607A"/>
                </a:solidFill>
                <a:latin typeface="Segoe UI"/>
              </a:rPr>
              <a:t>network congests</a:t>
            </a:r>
          </a:p>
        </p:txBody>
      </p:sp>
      <p:cxnSp>
        <p:nvCxnSpPr>
          <p:cNvPr id="18" name="Connector 17"/>
          <p:cNvCxnSpPr/>
          <p:nvPr/>
        </p:nvCxnSpPr>
        <p:spPr>
          <a:xfrm>
            <a:off x="5791200" y="2743200"/>
            <a:ext cx="5791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791200" y="28956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450 MHZ DOES</a:t>
            </a:r>
          </a:p>
        </p:txBody>
      </p:sp>
      <p:sp>
        <p:nvSpPr>
          <p:cNvPr id="20" name="Rectangle 19"/>
          <p:cNvSpPr/>
          <p:nvPr/>
        </p:nvSpPr>
        <p:spPr>
          <a:xfrm>
            <a:off x="57912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users_navy.png"/>
          <p:cNvPicPr>
            <a:picLocks noChangeAspect="1"/>
          </p:cNvPicPr>
          <p:nvPr/>
        </p:nvPicPr>
        <p:blipFill>
          <a:blip r:embed="rId4"/>
          <a:stretch>
            <a:fillRect/>
          </a:stretch>
        </p:blipFill>
        <p:spPr>
          <a:xfrm>
            <a:off x="5994400" y="3378200"/>
            <a:ext cx="431800" cy="431800"/>
          </a:xfrm>
          <a:prstGeom prst="rect">
            <a:avLst/>
          </a:prstGeom>
        </p:spPr>
      </p:pic>
      <p:sp>
        <p:nvSpPr>
          <p:cNvPr id="22" name="TextBox 21"/>
          <p:cNvSpPr txBox="1"/>
          <p:nvPr/>
        </p:nvSpPr>
        <p:spPr>
          <a:xfrm>
            <a:off x="59944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Cross-agency</a:t>
            </a:r>
          </a:p>
          <a:p>
            <a:pPr algn="l">
              <a:lnSpc>
                <a:spcPct val="115000"/>
              </a:lnSpc>
              <a:spcAft>
                <a:spcPts val="0"/>
              </a:spcAft>
            </a:pPr>
            <a:r>
              <a:rPr sz="1250" b="0">
                <a:solidFill>
                  <a:srgbClr val="0B308E"/>
                </a:solidFill>
                <a:latin typeface="Segoe UI Semibold"/>
              </a:rPr>
              <a:t>group call</a:t>
            </a:r>
          </a:p>
        </p:txBody>
      </p:sp>
      <p:sp>
        <p:nvSpPr>
          <p:cNvPr id="23" name="Rectangle 22"/>
          <p:cNvSpPr/>
          <p:nvPr/>
        </p:nvSpPr>
        <p:spPr>
          <a:xfrm>
            <a:off x="77724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video_navy.png"/>
          <p:cNvPicPr>
            <a:picLocks noChangeAspect="1"/>
          </p:cNvPicPr>
          <p:nvPr/>
        </p:nvPicPr>
        <p:blipFill>
          <a:blip r:embed="rId5"/>
          <a:stretch>
            <a:fillRect/>
          </a:stretch>
        </p:blipFill>
        <p:spPr>
          <a:xfrm>
            <a:off x="7975600" y="3378200"/>
            <a:ext cx="431800" cy="431800"/>
          </a:xfrm>
          <a:prstGeom prst="rect">
            <a:avLst/>
          </a:prstGeom>
        </p:spPr>
      </p:pic>
      <p:sp>
        <p:nvSpPr>
          <p:cNvPr id="25" name="TextBox 24"/>
          <p:cNvSpPr txBox="1"/>
          <p:nvPr/>
        </p:nvSpPr>
        <p:spPr>
          <a:xfrm>
            <a:off x="79756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Live video</a:t>
            </a:r>
          </a:p>
          <a:p>
            <a:pPr algn="l">
              <a:lnSpc>
                <a:spcPct val="115000"/>
              </a:lnSpc>
              <a:spcAft>
                <a:spcPts val="0"/>
              </a:spcAft>
            </a:pPr>
            <a:r>
              <a:rPr sz="1250" b="0">
                <a:solidFill>
                  <a:srgbClr val="0B308E"/>
                </a:solidFill>
                <a:latin typeface="Segoe UI Semibold"/>
              </a:rPr>
              <a:t>from the scene</a:t>
            </a:r>
          </a:p>
        </p:txBody>
      </p:sp>
      <p:sp>
        <p:nvSpPr>
          <p:cNvPr id="26" name="Rectangle 25"/>
          <p:cNvSpPr/>
          <p:nvPr/>
        </p:nvSpPr>
        <p:spPr>
          <a:xfrm>
            <a:off x="97536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network_navy.png"/>
          <p:cNvPicPr>
            <a:picLocks noChangeAspect="1"/>
          </p:cNvPicPr>
          <p:nvPr/>
        </p:nvPicPr>
        <p:blipFill>
          <a:blip r:embed="rId6"/>
          <a:stretch>
            <a:fillRect/>
          </a:stretch>
        </p:blipFill>
        <p:spPr>
          <a:xfrm>
            <a:off x="9956800" y="3378200"/>
            <a:ext cx="431800" cy="431800"/>
          </a:xfrm>
          <a:prstGeom prst="rect">
            <a:avLst/>
          </a:prstGeom>
        </p:spPr>
      </p:pic>
      <p:sp>
        <p:nvSpPr>
          <p:cNvPr id="28" name="TextBox 27"/>
          <p:cNvSpPr txBox="1"/>
          <p:nvPr/>
        </p:nvSpPr>
        <p:spPr>
          <a:xfrm>
            <a:off x="99568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DMR / TETRA</a:t>
            </a:r>
          </a:p>
          <a:p>
            <a:pPr algn="l">
              <a:lnSpc>
                <a:spcPct val="115000"/>
              </a:lnSpc>
              <a:spcAft>
                <a:spcPts val="0"/>
              </a:spcAft>
            </a:pPr>
            <a:r>
              <a:rPr sz="1250" b="0">
                <a:solidFill>
                  <a:srgbClr val="0B308E"/>
                </a:solidFill>
                <a:latin typeface="Segoe UI Semibold"/>
              </a:rPr>
              <a:t>interworking</a:t>
            </a:r>
          </a:p>
        </p:txBody>
      </p:sp>
      <p:sp>
        <p:nvSpPr>
          <p:cNvPr id="29" name="Rectangle 28"/>
          <p:cNvSpPr/>
          <p:nvPr/>
        </p:nvSpPr>
        <p:spPr>
          <a:xfrm>
            <a:off x="609600" y="5029200"/>
            <a:ext cx="4876800" cy="127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badge-check_navy.png"/>
          <p:cNvPicPr>
            <a:picLocks noChangeAspect="1"/>
          </p:cNvPicPr>
          <p:nvPr/>
        </p:nvPicPr>
        <p:blipFill>
          <a:blip r:embed="rId7"/>
          <a:stretch>
            <a:fillRect/>
          </a:stretch>
        </p:blipFill>
        <p:spPr>
          <a:xfrm>
            <a:off x="812800" y="5207000"/>
            <a:ext cx="304800" cy="304800"/>
          </a:xfrm>
          <a:prstGeom prst="rect">
            <a:avLst/>
          </a:prstGeom>
        </p:spPr>
      </p:pic>
      <p:sp>
        <p:nvSpPr>
          <p:cNvPr id="31" name="TextBox 30"/>
          <p:cNvSpPr txBox="1"/>
          <p:nvPr/>
        </p:nvSpPr>
        <p:spPr>
          <a:xfrm>
            <a:off x="12446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PROOF POINT</a:t>
            </a:r>
          </a:p>
        </p:txBody>
      </p:sp>
      <p:sp>
        <p:nvSpPr>
          <p:cNvPr id="32" name="TextBox 31"/>
          <p:cNvSpPr txBox="1"/>
          <p:nvPr/>
        </p:nvSpPr>
        <p:spPr>
          <a:xfrm>
            <a:off x="812800" y="56388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Singapore</a:t>
            </a:r>
          </a:p>
        </p:txBody>
      </p:sp>
      <p:sp>
        <p:nvSpPr>
          <p:cNvPr id="33" name="TextBox 32"/>
          <p:cNvSpPr txBox="1"/>
          <p:nvPr/>
        </p:nvSpPr>
        <p:spPr>
          <a:xfrm>
            <a:off x="3098800" y="56388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B31  ·  public safety</a:t>
            </a:r>
          </a:p>
        </p:txBody>
      </p:sp>
      <p:sp>
        <p:nvSpPr>
          <p:cNvPr id="34" name="TextBox 33"/>
          <p:cNvSpPr txBox="1"/>
          <p:nvPr/>
        </p:nvSpPr>
        <p:spPr>
          <a:xfrm>
            <a:off x="812800" y="59436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Russia  Rostelecom</a:t>
            </a:r>
          </a:p>
        </p:txBody>
      </p:sp>
      <p:sp>
        <p:nvSpPr>
          <p:cNvPr id="35" name="TextBox 34"/>
          <p:cNvSpPr txBox="1"/>
          <p:nvPr/>
        </p:nvSpPr>
        <p:spPr>
          <a:xfrm>
            <a:off x="3098800" y="59436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B31  ·  public safety</a:t>
            </a:r>
          </a:p>
        </p:txBody>
      </p:sp>
      <p:sp>
        <p:nvSpPr>
          <p:cNvPr id="36" name="Rectangle 35"/>
          <p:cNvSpPr/>
          <p:nvPr/>
        </p:nvSpPr>
        <p:spPr>
          <a:xfrm>
            <a:off x="5791200" y="5029200"/>
            <a:ext cx="5791200" cy="1270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hand-coins_green.png"/>
          <p:cNvPicPr>
            <a:picLocks noChangeAspect="1"/>
          </p:cNvPicPr>
          <p:nvPr/>
        </p:nvPicPr>
        <p:blipFill>
          <a:blip r:embed="rId8"/>
          <a:stretch>
            <a:fillRect/>
          </a:stretch>
        </p:blipFill>
        <p:spPr>
          <a:xfrm>
            <a:off x="5994400" y="5207000"/>
            <a:ext cx="304800" cy="304800"/>
          </a:xfrm>
          <a:prstGeom prst="rect">
            <a:avLst/>
          </a:prstGeom>
        </p:spPr>
      </p:pic>
      <p:sp>
        <p:nvSpPr>
          <p:cNvPr id="38" name="TextBox 37"/>
          <p:cNvSpPr txBox="1"/>
          <p:nvPr/>
        </p:nvSpPr>
        <p:spPr>
          <a:xfrm>
            <a:off x="64262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WHAT GLOBE SELLS</a:t>
            </a:r>
          </a:p>
        </p:txBody>
      </p:sp>
      <p:sp>
        <p:nvSpPr>
          <p:cNvPr id="39" name="Rounded Rectangle 38"/>
          <p:cNvSpPr/>
          <p:nvPr/>
        </p:nvSpPr>
        <p:spPr>
          <a:xfrm>
            <a:off x="5994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994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MCX per user</a:t>
            </a:r>
          </a:p>
        </p:txBody>
      </p:sp>
      <p:sp>
        <p:nvSpPr>
          <p:cNvPr id="41" name="Rounded Rectangle 40"/>
          <p:cNvSpPr/>
          <p:nvPr/>
        </p:nvSpPr>
        <p:spPr>
          <a:xfrm>
            <a:off x="78359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8359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Devices as service</a:t>
            </a:r>
          </a:p>
        </p:txBody>
      </p:sp>
      <p:sp>
        <p:nvSpPr>
          <p:cNvPr id="43" name="Rounded Rectangle 42"/>
          <p:cNvSpPr/>
          <p:nvPr/>
        </p:nvSpPr>
        <p:spPr>
          <a:xfrm>
            <a:off x="9677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677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Integration</a:t>
            </a:r>
          </a:p>
        </p:txBody>
      </p:sp>
      <p:sp>
        <p:nvSpPr>
          <p:cNvPr id="45" name="TextBox 44"/>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450 MHz Alliance, Annual Global Update (Dec 2025) p8-p9; Hytera public-safety references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02   PRIORITY 5 OF 6  ·  RAIL</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12</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Rail: coverage that follows the track, not the towns</a:t>
            </a:r>
          </a:p>
        </p:txBody>
      </p:sp>
      <p:pic>
        <p:nvPicPr>
          <p:cNvPr id="10" name="Picture 9" descr="v6_8b437e2f48.jpg"/>
          <p:cNvPicPr>
            <a:picLocks noChangeAspect="1"/>
          </p:cNvPicPr>
          <p:nvPr/>
        </p:nvPicPr>
        <p:blipFill>
          <a:blip r:embed="rId2"/>
          <a:srcRect t="530" b="10530"/>
          <a:stretch>
            <a:fillRect/>
          </a:stretch>
        </p:blipFill>
        <p:spPr>
          <a:xfrm>
            <a:off x="609600" y="1549400"/>
            <a:ext cx="4876800" cy="3175000"/>
          </a:xfrm>
          <a:prstGeom prst="rect">
            <a:avLst/>
          </a:prstGeom>
        </p:spPr>
      </p:pic>
      <p:sp>
        <p:nvSpPr>
          <p:cNvPr id="11" name="Oval 10"/>
          <p:cNvSpPr/>
          <p:nvPr/>
        </p:nvSpPr>
        <p:spPr>
          <a:xfrm>
            <a:off x="787400" y="17272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train-front_white.png"/>
          <p:cNvPicPr>
            <a:picLocks noChangeAspect="1"/>
          </p:cNvPicPr>
          <p:nvPr/>
        </p:nvPicPr>
        <p:blipFill>
          <a:blip r:embed="rId3"/>
          <a:stretch>
            <a:fillRect/>
          </a:stretch>
        </p:blipFill>
        <p:spPr>
          <a:xfrm>
            <a:off x="921512" y="1861312"/>
            <a:ext cx="290576" cy="290576"/>
          </a:xfrm>
          <a:prstGeom prst="rect">
            <a:avLst/>
          </a:prstGeom>
        </p:spPr>
      </p:pic>
      <p:sp>
        <p:nvSpPr>
          <p:cNvPr id="13" name="TextBox 12"/>
          <p:cNvSpPr txBox="1"/>
          <p:nvPr/>
        </p:nvSpPr>
        <p:spPr>
          <a:xfrm>
            <a:off x="609600" y="4775200"/>
            <a:ext cx="4876800" cy="1524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Illustrative imagery</a:t>
            </a:r>
          </a:p>
        </p:txBody>
      </p:sp>
      <p:sp>
        <p:nvSpPr>
          <p:cNvPr id="14" name="TextBox 13"/>
          <p:cNvSpPr txBox="1"/>
          <p:nvPr/>
        </p:nvSpPr>
        <p:spPr>
          <a:xfrm>
            <a:off x="5791200" y="1473200"/>
            <a:ext cx="2794000" cy="635000"/>
          </a:xfrm>
          <a:prstGeom prst="rect">
            <a:avLst/>
          </a:prstGeom>
          <a:noFill/>
        </p:spPr>
        <p:txBody>
          <a:bodyPr wrap="square" lIns="0" rIns="0" tIns="0" bIns="0" anchor="b">
            <a:spAutoFit/>
          </a:bodyPr>
          <a:lstStyle/>
          <a:p>
            <a:pPr algn="l">
              <a:lnSpc>
                <a:spcPct val="120000"/>
              </a:lnSpc>
              <a:spcAft>
                <a:spcPts val="0"/>
              </a:spcAft>
            </a:pPr>
            <a:r>
              <a:rPr sz="3000" b="0">
                <a:solidFill>
                  <a:srgbClr val="0B308E"/>
                </a:solidFill>
                <a:latin typeface="Segoe UI Light"/>
              </a:rPr>
              <a:t>Corridor</a:t>
            </a:r>
          </a:p>
        </p:txBody>
      </p:sp>
      <p:sp>
        <p:nvSpPr>
          <p:cNvPr id="15" name="TextBox 14"/>
          <p:cNvSpPr txBox="1"/>
          <p:nvPr/>
        </p:nvSpPr>
        <p:spPr>
          <a:xfrm>
            <a:off x="57912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coverage, including</a:t>
            </a:r>
          </a:p>
          <a:p>
            <a:pPr algn="l">
              <a:lnSpc>
                <a:spcPct val="115000"/>
              </a:lnSpc>
              <a:spcAft>
                <a:spcPts val="0"/>
              </a:spcAft>
            </a:pPr>
            <a:r>
              <a:rPr sz="1200" b="0">
                <a:solidFill>
                  <a:srgbClr val="55607A"/>
                </a:solidFill>
                <a:latin typeface="Segoe UI"/>
              </a:rPr>
              <a:t>cuttings and tunnels</a:t>
            </a:r>
          </a:p>
        </p:txBody>
      </p:sp>
      <p:sp>
        <p:nvSpPr>
          <p:cNvPr id="16" name="TextBox 15"/>
          <p:cNvSpPr txBox="1"/>
          <p:nvPr/>
        </p:nvSpPr>
        <p:spPr>
          <a:xfrm>
            <a:off x="8686800" y="1473200"/>
            <a:ext cx="2794000" cy="635000"/>
          </a:xfrm>
          <a:prstGeom prst="rect">
            <a:avLst/>
          </a:prstGeom>
          <a:noFill/>
        </p:spPr>
        <p:txBody>
          <a:bodyPr wrap="square" lIns="0" rIns="0" tIns="0" bIns="0" anchor="b">
            <a:spAutoFit/>
          </a:bodyPr>
          <a:lstStyle/>
          <a:p>
            <a:pPr algn="l">
              <a:lnSpc>
                <a:spcPct val="120000"/>
              </a:lnSpc>
              <a:spcAft>
                <a:spcPts val="0"/>
              </a:spcAft>
            </a:pPr>
            <a:r>
              <a:rPr sz="3000" b="0">
                <a:solidFill>
                  <a:srgbClr val="0B308E"/>
                </a:solidFill>
                <a:latin typeface="Segoe UI Light"/>
              </a:rPr>
              <a:t>Train</a:t>
            </a:r>
          </a:p>
        </p:txBody>
      </p:sp>
      <p:sp>
        <p:nvSpPr>
          <p:cNvPr id="17" name="TextBox 16"/>
          <p:cNvSpPr txBox="1"/>
          <p:nvPr/>
        </p:nvSpPr>
        <p:spPr>
          <a:xfrm>
            <a:off x="86868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to ground voice,</a:t>
            </a:r>
          </a:p>
          <a:p>
            <a:pPr algn="l">
              <a:lnSpc>
                <a:spcPct val="115000"/>
              </a:lnSpc>
              <a:spcAft>
                <a:spcPts val="0"/>
              </a:spcAft>
            </a:pPr>
            <a:r>
              <a:rPr sz="1200" b="0">
                <a:solidFill>
                  <a:srgbClr val="55607A"/>
                </a:solidFill>
                <a:latin typeface="Segoe UI"/>
              </a:rPr>
              <a:t>data and video</a:t>
            </a:r>
          </a:p>
        </p:txBody>
      </p:sp>
      <p:cxnSp>
        <p:nvCxnSpPr>
          <p:cNvPr id="18" name="Connector 17"/>
          <p:cNvCxnSpPr/>
          <p:nvPr/>
        </p:nvCxnSpPr>
        <p:spPr>
          <a:xfrm>
            <a:off x="5791200" y="2743200"/>
            <a:ext cx="5791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791200" y="28956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450 MHZ DOES</a:t>
            </a:r>
          </a:p>
        </p:txBody>
      </p:sp>
      <p:sp>
        <p:nvSpPr>
          <p:cNvPr id="20" name="Rectangle 19"/>
          <p:cNvSpPr/>
          <p:nvPr/>
        </p:nvSpPr>
        <p:spPr>
          <a:xfrm>
            <a:off x="57912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radio_navy.png"/>
          <p:cNvPicPr>
            <a:picLocks noChangeAspect="1"/>
          </p:cNvPicPr>
          <p:nvPr/>
        </p:nvPicPr>
        <p:blipFill>
          <a:blip r:embed="rId4"/>
          <a:stretch>
            <a:fillRect/>
          </a:stretch>
        </p:blipFill>
        <p:spPr>
          <a:xfrm>
            <a:off x="5994400" y="3378200"/>
            <a:ext cx="431800" cy="431800"/>
          </a:xfrm>
          <a:prstGeom prst="rect">
            <a:avLst/>
          </a:prstGeom>
        </p:spPr>
      </p:pic>
      <p:sp>
        <p:nvSpPr>
          <p:cNvPr id="22" name="TextBox 21"/>
          <p:cNvSpPr txBox="1"/>
          <p:nvPr/>
        </p:nvSpPr>
        <p:spPr>
          <a:xfrm>
            <a:off x="59944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Dispatch</a:t>
            </a:r>
          </a:p>
          <a:p>
            <a:pPr algn="l">
              <a:lnSpc>
                <a:spcPct val="115000"/>
              </a:lnSpc>
              <a:spcAft>
                <a:spcPts val="0"/>
              </a:spcAft>
            </a:pPr>
            <a:r>
              <a:rPr sz="1250" b="0">
                <a:solidFill>
                  <a:srgbClr val="0B308E"/>
                </a:solidFill>
                <a:latin typeface="Segoe UI Semibold"/>
              </a:rPr>
              <a:t>along the line</a:t>
            </a:r>
          </a:p>
        </p:txBody>
      </p:sp>
      <p:sp>
        <p:nvSpPr>
          <p:cNvPr id="23" name="Rectangle 22"/>
          <p:cNvSpPr/>
          <p:nvPr/>
        </p:nvSpPr>
        <p:spPr>
          <a:xfrm>
            <a:off x="77724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video_navy.png"/>
          <p:cNvPicPr>
            <a:picLocks noChangeAspect="1"/>
          </p:cNvPicPr>
          <p:nvPr/>
        </p:nvPicPr>
        <p:blipFill>
          <a:blip r:embed="rId5"/>
          <a:stretch>
            <a:fillRect/>
          </a:stretch>
        </p:blipFill>
        <p:spPr>
          <a:xfrm>
            <a:off x="7975600" y="3378200"/>
            <a:ext cx="431800" cy="431800"/>
          </a:xfrm>
          <a:prstGeom prst="rect">
            <a:avLst/>
          </a:prstGeom>
        </p:spPr>
      </p:pic>
      <p:sp>
        <p:nvSpPr>
          <p:cNvPr id="25" name="TextBox 24"/>
          <p:cNvSpPr txBox="1"/>
          <p:nvPr/>
        </p:nvSpPr>
        <p:spPr>
          <a:xfrm>
            <a:off x="79756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On-board</a:t>
            </a:r>
          </a:p>
          <a:p>
            <a:pPr algn="l">
              <a:lnSpc>
                <a:spcPct val="115000"/>
              </a:lnSpc>
              <a:spcAft>
                <a:spcPts val="0"/>
              </a:spcAft>
            </a:pPr>
            <a:r>
              <a:rPr sz="1250" b="0">
                <a:solidFill>
                  <a:srgbClr val="0B308E"/>
                </a:solidFill>
                <a:latin typeface="Segoe UI Semibold"/>
              </a:rPr>
              <a:t>video</a:t>
            </a:r>
          </a:p>
        </p:txBody>
      </p:sp>
      <p:sp>
        <p:nvSpPr>
          <p:cNvPr id="26" name="Rectangle 25"/>
          <p:cNvSpPr/>
          <p:nvPr/>
        </p:nvSpPr>
        <p:spPr>
          <a:xfrm>
            <a:off x="97536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cable_navy.png"/>
          <p:cNvPicPr>
            <a:picLocks noChangeAspect="1"/>
          </p:cNvPicPr>
          <p:nvPr/>
        </p:nvPicPr>
        <p:blipFill>
          <a:blip r:embed="rId6"/>
          <a:stretch>
            <a:fillRect/>
          </a:stretch>
        </p:blipFill>
        <p:spPr>
          <a:xfrm>
            <a:off x="9956800" y="3378200"/>
            <a:ext cx="431800" cy="431800"/>
          </a:xfrm>
          <a:prstGeom prst="rect">
            <a:avLst/>
          </a:prstGeom>
        </p:spPr>
      </p:pic>
      <p:sp>
        <p:nvSpPr>
          <p:cNvPr id="28" name="TextBox 27"/>
          <p:cNvSpPr txBox="1"/>
          <p:nvPr/>
        </p:nvSpPr>
        <p:spPr>
          <a:xfrm>
            <a:off x="99568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One network,</a:t>
            </a:r>
          </a:p>
          <a:p>
            <a:pPr algn="l">
              <a:lnSpc>
                <a:spcPct val="115000"/>
              </a:lnSpc>
              <a:spcAft>
                <a:spcPts val="0"/>
              </a:spcAft>
            </a:pPr>
            <a:r>
              <a:rPr sz="1250" b="0">
                <a:solidFill>
                  <a:srgbClr val="0B308E"/>
                </a:solidFill>
                <a:latin typeface="Segoe UI Semibold"/>
              </a:rPr>
              <a:t>not a private one</a:t>
            </a:r>
          </a:p>
        </p:txBody>
      </p:sp>
      <p:sp>
        <p:nvSpPr>
          <p:cNvPr id="29" name="Rectangle 28"/>
          <p:cNvSpPr/>
          <p:nvPr/>
        </p:nvSpPr>
        <p:spPr>
          <a:xfrm>
            <a:off x="609600" y="5029200"/>
            <a:ext cx="4876800" cy="127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badge-check_navy.png"/>
          <p:cNvPicPr>
            <a:picLocks noChangeAspect="1"/>
          </p:cNvPicPr>
          <p:nvPr/>
        </p:nvPicPr>
        <p:blipFill>
          <a:blip r:embed="rId7"/>
          <a:stretch>
            <a:fillRect/>
          </a:stretch>
        </p:blipFill>
        <p:spPr>
          <a:xfrm>
            <a:off x="812800" y="5207000"/>
            <a:ext cx="304800" cy="304800"/>
          </a:xfrm>
          <a:prstGeom prst="rect">
            <a:avLst/>
          </a:prstGeom>
        </p:spPr>
      </p:pic>
      <p:sp>
        <p:nvSpPr>
          <p:cNvPr id="31" name="TextBox 30"/>
          <p:cNvSpPr txBox="1"/>
          <p:nvPr/>
        </p:nvSpPr>
        <p:spPr>
          <a:xfrm>
            <a:off x="12446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PROOF POINT</a:t>
            </a:r>
          </a:p>
        </p:txBody>
      </p:sp>
      <p:sp>
        <p:nvSpPr>
          <p:cNvPr id="32" name="TextBox 31"/>
          <p:cNvSpPr txBox="1"/>
          <p:nvPr/>
        </p:nvSpPr>
        <p:spPr>
          <a:xfrm>
            <a:off x="812800" y="56388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South Africa  Transnet</a:t>
            </a:r>
          </a:p>
        </p:txBody>
      </p:sp>
      <p:sp>
        <p:nvSpPr>
          <p:cNvPr id="33" name="TextBox 32"/>
          <p:cNvSpPr txBox="1"/>
          <p:nvPr/>
        </p:nvSpPr>
        <p:spPr>
          <a:xfrm>
            <a:off x="3098800" y="56388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B31 for rail</a:t>
            </a:r>
          </a:p>
        </p:txBody>
      </p:sp>
      <p:sp>
        <p:nvSpPr>
          <p:cNvPr id="34" name="TextBox 33"/>
          <p:cNvSpPr txBox="1"/>
          <p:nvPr/>
        </p:nvSpPr>
        <p:spPr>
          <a:xfrm>
            <a:off x="812800" y="59436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Hytera  Sri Lanka</a:t>
            </a:r>
          </a:p>
        </p:txBody>
      </p:sp>
      <p:sp>
        <p:nvSpPr>
          <p:cNvPr id="35" name="TextBox 34"/>
          <p:cNvSpPr txBox="1"/>
          <p:nvPr/>
        </p:nvSpPr>
        <p:spPr>
          <a:xfrm>
            <a:off x="3098800" y="59436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MCS on 9 lines</a:t>
            </a:r>
          </a:p>
        </p:txBody>
      </p:sp>
      <p:sp>
        <p:nvSpPr>
          <p:cNvPr id="36" name="Rectangle 35"/>
          <p:cNvSpPr/>
          <p:nvPr/>
        </p:nvSpPr>
        <p:spPr>
          <a:xfrm>
            <a:off x="5791200" y="5029200"/>
            <a:ext cx="5791200" cy="1270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hand-coins_green.png"/>
          <p:cNvPicPr>
            <a:picLocks noChangeAspect="1"/>
          </p:cNvPicPr>
          <p:nvPr/>
        </p:nvPicPr>
        <p:blipFill>
          <a:blip r:embed="rId8"/>
          <a:stretch>
            <a:fillRect/>
          </a:stretch>
        </p:blipFill>
        <p:spPr>
          <a:xfrm>
            <a:off x="5994400" y="5207000"/>
            <a:ext cx="304800" cy="304800"/>
          </a:xfrm>
          <a:prstGeom prst="rect">
            <a:avLst/>
          </a:prstGeom>
        </p:spPr>
      </p:pic>
      <p:sp>
        <p:nvSpPr>
          <p:cNvPr id="38" name="TextBox 37"/>
          <p:cNvSpPr txBox="1"/>
          <p:nvPr/>
        </p:nvSpPr>
        <p:spPr>
          <a:xfrm>
            <a:off x="64262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WHAT GLOBE SELLS</a:t>
            </a:r>
          </a:p>
        </p:txBody>
      </p:sp>
      <p:sp>
        <p:nvSpPr>
          <p:cNvPr id="39" name="Rounded Rectangle 38"/>
          <p:cNvSpPr/>
          <p:nvPr/>
        </p:nvSpPr>
        <p:spPr>
          <a:xfrm>
            <a:off x="5994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994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MCX per user</a:t>
            </a:r>
          </a:p>
        </p:txBody>
      </p:sp>
      <p:sp>
        <p:nvSpPr>
          <p:cNvPr id="41" name="Rounded Rectangle 40"/>
          <p:cNvSpPr/>
          <p:nvPr/>
        </p:nvSpPr>
        <p:spPr>
          <a:xfrm>
            <a:off x="78359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8359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Devices as service</a:t>
            </a:r>
          </a:p>
        </p:txBody>
      </p:sp>
      <p:sp>
        <p:nvSpPr>
          <p:cNvPr id="43" name="Rounded Rectangle 42"/>
          <p:cNvSpPr/>
          <p:nvPr/>
        </p:nvSpPr>
        <p:spPr>
          <a:xfrm>
            <a:off x="9677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677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Capacity</a:t>
            </a:r>
          </a:p>
        </p:txBody>
      </p:sp>
      <p:sp>
        <p:nvSpPr>
          <p:cNvPr id="45" name="TextBox 44"/>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450 MHz Alliance, Annual Global Update (Dec 2025) p6; Hytera showroom briefing L211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02   PRIORITY 6 OF 6  ·  PORT</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13</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Port: the case rests on coverage over open water</a:t>
            </a:r>
          </a:p>
        </p:txBody>
      </p:sp>
      <p:pic>
        <p:nvPicPr>
          <p:cNvPr id="10" name="Picture 9" descr="v6_b6694edb9e.jpg"/>
          <p:cNvPicPr>
            <a:picLocks noChangeAspect="1"/>
          </p:cNvPicPr>
          <p:nvPr/>
        </p:nvPicPr>
        <p:blipFill>
          <a:blip r:embed="rId2"/>
          <a:srcRect l="6800" r="6800"/>
          <a:stretch>
            <a:fillRect/>
          </a:stretch>
        </p:blipFill>
        <p:spPr>
          <a:xfrm>
            <a:off x="609600" y="1549400"/>
            <a:ext cx="4876800" cy="3175000"/>
          </a:xfrm>
          <a:prstGeom prst="rect">
            <a:avLst/>
          </a:prstGeom>
        </p:spPr>
      </p:pic>
      <p:sp>
        <p:nvSpPr>
          <p:cNvPr id="11" name="Oval 10"/>
          <p:cNvSpPr/>
          <p:nvPr/>
        </p:nvSpPr>
        <p:spPr>
          <a:xfrm>
            <a:off x="787400" y="17272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hip_white.png"/>
          <p:cNvPicPr>
            <a:picLocks noChangeAspect="1"/>
          </p:cNvPicPr>
          <p:nvPr/>
        </p:nvPicPr>
        <p:blipFill>
          <a:blip r:embed="rId3"/>
          <a:stretch>
            <a:fillRect/>
          </a:stretch>
        </p:blipFill>
        <p:spPr>
          <a:xfrm>
            <a:off x="921512" y="1861312"/>
            <a:ext cx="290576" cy="290576"/>
          </a:xfrm>
          <a:prstGeom prst="rect">
            <a:avLst/>
          </a:prstGeom>
        </p:spPr>
      </p:pic>
      <p:sp>
        <p:nvSpPr>
          <p:cNvPr id="13" name="TextBox 12"/>
          <p:cNvSpPr txBox="1"/>
          <p:nvPr/>
        </p:nvSpPr>
        <p:spPr>
          <a:xfrm>
            <a:off x="609600" y="4775200"/>
            <a:ext cx="4876800" cy="1524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Illustrative imagery</a:t>
            </a:r>
          </a:p>
        </p:txBody>
      </p:sp>
      <p:sp>
        <p:nvSpPr>
          <p:cNvPr id="14" name="TextBox 13"/>
          <p:cNvSpPr txBox="1"/>
          <p:nvPr/>
        </p:nvSpPr>
        <p:spPr>
          <a:xfrm>
            <a:off x="5791200" y="1473200"/>
            <a:ext cx="2794000" cy="635000"/>
          </a:xfrm>
          <a:prstGeom prst="rect">
            <a:avLst/>
          </a:prstGeom>
          <a:noFill/>
        </p:spPr>
        <p:txBody>
          <a:bodyPr wrap="square" lIns="0" rIns="0" tIns="0" bIns="0" anchor="b">
            <a:spAutoFit/>
          </a:bodyPr>
          <a:lstStyle/>
          <a:p>
            <a:pPr algn="l">
              <a:lnSpc>
                <a:spcPct val="120000"/>
              </a:lnSpc>
              <a:spcAft>
                <a:spcPts val="0"/>
              </a:spcAft>
            </a:pPr>
            <a:r>
              <a:rPr sz="3000" b="0">
                <a:solidFill>
                  <a:srgbClr val="0B308E"/>
                </a:solidFill>
                <a:latin typeface="Segoe UI Light"/>
              </a:rPr>
              <a:t>Quay</a:t>
            </a:r>
          </a:p>
        </p:txBody>
      </p:sp>
      <p:sp>
        <p:nvSpPr>
          <p:cNvPr id="15" name="TextBox 14"/>
          <p:cNvSpPr txBox="1"/>
          <p:nvPr/>
        </p:nvSpPr>
        <p:spPr>
          <a:xfrm>
            <a:off x="57912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to open sea on</a:t>
            </a:r>
          </a:p>
          <a:p>
            <a:pPr algn="l">
              <a:lnSpc>
                <a:spcPct val="115000"/>
              </a:lnSpc>
              <a:spcAft>
                <a:spcPts val="0"/>
              </a:spcAft>
            </a:pPr>
            <a:r>
              <a:rPr sz="1200" b="0">
                <a:solidFill>
                  <a:srgbClr val="55607A"/>
                </a:solidFill>
                <a:latin typeface="Segoe UI"/>
              </a:rPr>
              <a:t>one group call</a:t>
            </a:r>
          </a:p>
        </p:txBody>
      </p:sp>
      <p:sp>
        <p:nvSpPr>
          <p:cNvPr id="16" name="TextBox 15"/>
          <p:cNvSpPr txBox="1"/>
          <p:nvPr/>
        </p:nvSpPr>
        <p:spPr>
          <a:xfrm>
            <a:off x="8686800" y="1473200"/>
            <a:ext cx="2794000" cy="635000"/>
          </a:xfrm>
          <a:prstGeom prst="rect">
            <a:avLst/>
          </a:prstGeom>
          <a:noFill/>
        </p:spPr>
        <p:txBody>
          <a:bodyPr wrap="square" lIns="0" rIns="0" tIns="0" bIns="0" anchor="b">
            <a:spAutoFit/>
          </a:bodyPr>
          <a:lstStyle/>
          <a:p>
            <a:pPr algn="l">
              <a:lnSpc>
                <a:spcPct val="120000"/>
              </a:lnSpc>
              <a:spcAft>
                <a:spcPts val="0"/>
              </a:spcAft>
            </a:pPr>
            <a:r>
              <a:rPr sz="3000" b="0">
                <a:solidFill>
                  <a:srgbClr val="0B308E"/>
                </a:solidFill>
                <a:latin typeface="Segoe UI Light"/>
              </a:rPr>
              <a:t>Coastal</a:t>
            </a:r>
          </a:p>
        </p:txBody>
      </p:sp>
      <p:sp>
        <p:nvSpPr>
          <p:cNvPr id="17" name="TextBox 16"/>
          <p:cNvSpPr txBox="1"/>
          <p:nvPr/>
        </p:nvSpPr>
        <p:spPr>
          <a:xfrm>
            <a:off x="86868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sites also serve</a:t>
            </a:r>
          </a:p>
          <a:p>
            <a:pPr algn="l">
              <a:lnSpc>
                <a:spcPct val="115000"/>
              </a:lnSpc>
              <a:spcAft>
                <a:spcPts val="0"/>
              </a:spcAft>
            </a:pPr>
            <a:r>
              <a:rPr sz="1200" b="0">
                <a:solidFill>
                  <a:srgbClr val="55607A"/>
                </a:solidFill>
                <a:latin typeface="Segoe UI"/>
              </a:rPr>
              <a:t>island communities</a:t>
            </a:r>
          </a:p>
        </p:txBody>
      </p:sp>
      <p:cxnSp>
        <p:nvCxnSpPr>
          <p:cNvPr id="18" name="Connector 17"/>
          <p:cNvCxnSpPr/>
          <p:nvPr/>
        </p:nvCxnSpPr>
        <p:spPr>
          <a:xfrm>
            <a:off x="5791200" y="2743200"/>
            <a:ext cx="5791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791200" y="28956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450 MHZ DOES</a:t>
            </a:r>
          </a:p>
        </p:txBody>
      </p:sp>
      <p:sp>
        <p:nvSpPr>
          <p:cNvPr id="20" name="Rectangle 19"/>
          <p:cNvSpPr/>
          <p:nvPr/>
        </p:nvSpPr>
        <p:spPr>
          <a:xfrm>
            <a:off x="57912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radio_navy.png"/>
          <p:cNvPicPr>
            <a:picLocks noChangeAspect="1"/>
          </p:cNvPicPr>
          <p:nvPr/>
        </p:nvPicPr>
        <p:blipFill>
          <a:blip r:embed="rId4"/>
          <a:stretch>
            <a:fillRect/>
          </a:stretch>
        </p:blipFill>
        <p:spPr>
          <a:xfrm>
            <a:off x="5994400" y="3378200"/>
            <a:ext cx="431800" cy="431800"/>
          </a:xfrm>
          <a:prstGeom prst="rect">
            <a:avLst/>
          </a:prstGeom>
        </p:spPr>
      </p:pic>
      <p:sp>
        <p:nvSpPr>
          <p:cNvPr id="22" name="TextBox 21"/>
          <p:cNvSpPr txBox="1"/>
          <p:nvPr/>
        </p:nvSpPr>
        <p:spPr>
          <a:xfrm>
            <a:off x="59944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Quay</a:t>
            </a:r>
          </a:p>
          <a:p>
            <a:pPr algn="l">
              <a:lnSpc>
                <a:spcPct val="115000"/>
              </a:lnSpc>
              <a:spcAft>
                <a:spcPts val="0"/>
              </a:spcAft>
            </a:pPr>
            <a:r>
              <a:rPr sz="1250" b="0">
                <a:solidFill>
                  <a:srgbClr val="0B308E"/>
                </a:solidFill>
                <a:latin typeface="Segoe UI Semibold"/>
              </a:rPr>
              <a:t>dispatch</a:t>
            </a:r>
          </a:p>
        </p:txBody>
      </p:sp>
      <p:sp>
        <p:nvSpPr>
          <p:cNvPr id="23" name="Rectangle 22"/>
          <p:cNvSpPr/>
          <p:nvPr/>
        </p:nvSpPr>
        <p:spPr>
          <a:xfrm>
            <a:off x="77724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ship_navy.png"/>
          <p:cNvPicPr>
            <a:picLocks noChangeAspect="1"/>
          </p:cNvPicPr>
          <p:nvPr/>
        </p:nvPicPr>
        <p:blipFill>
          <a:blip r:embed="rId5"/>
          <a:stretch>
            <a:fillRect/>
          </a:stretch>
        </p:blipFill>
        <p:spPr>
          <a:xfrm>
            <a:off x="7975600" y="3378200"/>
            <a:ext cx="431800" cy="431800"/>
          </a:xfrm>
          <a:prstGeom prst="rect">
            <a:avLst/>
          </a:prstGeom>
        </p:spPr>
      </p:pic>
      <p:sp>
        <p:nvSpPr>
          <p:cNvPr id="25" name="TextBox 24"/>
          <p:cNvSpPr txBox="1"/>
          <p:nvPr/>
        </p:nvSpPr>
        <p:spPr>
          <a:xfrm>
            <a:off x="79756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Ship-to-shore</a:t>
            </a:r>
          </a:p>
          <a:p>
            <a:pPr algn="l">
              <a:lnSpc>
                <a:spcPct val="115000"/>
              </a:lnSpc>
              <a:spcAft>
                <a:spcPts val="0"/>
              </a:spcAft>
            </a:pPr>
            <a:r>
              <a:rPr sz="1250" b="0">
                <a:solidFill>
                  <a:srgbClr val="0B308E"/>
                </a:solidFill>
                <a:latin typeface="Segoe UI Semibold"/>
              </a:rPr>
              <a:t>voice &amp; data</a:t>
            </a:r>
          </a:p>
        </p:txBody>
      </p:sp>
      <p:sp>
        <p:nvSpPr>
          <p:cNvPr id="26" name="Rectangle 25"/>
          <p:cNvSpPr/>
          <p:nvPr/>
        </p:nvSpPr>
        <p:spPr>
          <a:xfrm>
            <a:off x="97536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waves_navy.png"/>
          <p:cNvPicPr>
            <a:picLocks noChangeAspect="1"/>
          </p:cNvPicPr>
          <p:nvPr/>
        </p:nvPicPr>
        <p:blipFill>
          <a:blip r:embed="rId6"/>
          <a:stretch>
            <a:fillRect/>
          </a:stretch>
        </p:blipFill>
        <p:spPr>
          <a:xfrm>
            <a:off x="9956800" y="3378200"/>
            <a:ext cx="431800" cy="431800"/>
          </a:xfrm>
          <a:prstGeom prst="rect">
            <a:avLst/>
          </a:prstGeom>
        </p:spPr>
      </p:pic>
      <p:sp>
        <p:nvSpPr>
          <p:cNvPr id="28" name="TextBox 27"/>
          <p:cNvSpPr txBox="1"/>
          <p:nvPr/>
        </p:nvSpPr>
        <p:spPr>
          <a:xfrm>
            <a:off x="99568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Coast guard</a:t>
            </a:r>
          </a:p>
          <a:p>
            <a:pPr algn="l">
              <a:lnSpc>
                <a:spcPct val="115000"/>
              </a:lnSpc>
              <a:spcAft>
                <a:spcPts val="0"/>
              </a:spcAft>
            </a:pPr>
            <a:r>
              <a:rPr sz="1250" b="0">
                <a:solidFill>
                  <a:srgbClr val="0B308E"/>
                </a:solidFill>
                <a:latin typeface="Segoe UI Semibold"/>
              </a:rPr>
              <a:t>patrols</a:t>
            </a:r>
          </a:p>
        </p:txBody>
      </p:sp>
      <p:sp>
        <p:nvSpPr>
          <p:cNvPr id="29" name="Rectangle 28"/>
          <p:cNvSpPr/>
          <p:nvPr/>
        </p:nvSpPr>
        <p:spPr>
          <a:xfrm>
            <a:off x="609600" y="5029200"/>
            <a:ext cx="4876800" cy="127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badge-check_navy.png"/>
          <p:cNvPicPr>
            <a:picLocks noChangeAspect="1"/>
          </p:cNvPicPr>
          <p:nvPr/>
        </p:nvPicPr>
        <p:blipFill>
          <a:blip r:embed="rId7"/>
          <a:stretch>
            <a:fillRect/>
          </a:stretch>
        </p:blipFill>
        <p:spPr>
          <a:xfrm>
            <a:off x="812800" y="5207000"/>
            <a:ext cx="304800" cy="304800"/>
          </a:xfrm>
          <a:prstGeom prst="rect">
            <a:avLst/>
          </a:prstGeom>
        </p:spPr>
      </p:pic>
      <p:sp>
        <p:nvSpPr>
          <p:cNvPr id="31" name="TextBox 30"/>
          <p:cNvSpPr txBox="1"/>
          <p:nvPr/>
        </p:nvSpPr>
        <p:spPr>
          <a:xfrm>
            <a:off x="12446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PROOF POINT</a:t>
            </a:r>
          </a:p>
        </p:txBody>
      </p:sp>
      <p:sp>
        <p:nvSpPr>
          <p:cNvPr id="32" name="TextBox 31"/>
          <p:cNvSpPr txBox="1"/>
          <p:nvPr/>
        </p:nvSpPr>
        <p:spPr>
          <a:xfrm>
            <a:off x="812800" y="56388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Precedent</a:t>
            </a:r>
          </a:p>
        </p:txBody>
      </p:sp>
      <p:sp>
        <p:nvSpPr>
          <p:cNvPr id="33" name="TextBox 32"/>
          <p:cNvSpPr txBox="1"/>
          <p:nvPr/>
        </p:nvSpPr>
        <p:spPr>
          <a:xfrm>
            <a:off x="3098800" y="56388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no 450 MHz port yet</a:t>
            </a:r>
          </a:p>
        </p:txBody>
      </p:sp>
      <p:sp>
        <p:nvSpPr>
          <p:cNvPr id="34" name="TextBox 33"/>
          <p:cNvSpPr txBox="1"/>
          <p:nvPr/>
        </p:nvSpPr>
        <p:spPr>
          <a:xfrm>
            <a:off x="812800" y="59436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Basis</a:t>
            </a:r>
          </a:p>
        </p:txBody>
      </p:sp>
      <p:sp>
        <p:nvSpPr>
          <p:cNvPr id="35" name="TextBox 34"/>
          <p:cNvSpPr txBox="1"/>
          <p:nvPr/>
        </p:nvSpPr>
        <p:spPr>
          <a:xfrm>
            <a:off x="3098800" y="59436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low-band reach over sea</a:t>
            </a:r>
          </a:p>
        </p:txBody>
      </p:sp>
      <p:sp>
        <p:nvSpPr>
          <p:cNvPr id="36" name="Rectangle 35"/>
          <p:cNvSpPr/>
          <p:nvPr/>
        </p:nvSpPr>
        <p:spPr>
          <a:xfrm>
            <a:off x="5791200" y="5029200"/>
            <a:ext cx="5791200" cy="1270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hand-coins_green.png"/>
          <p:cNvPicPr>
            <a:picLocks noChangeAspect="1"/>
          </p:cNvPicPr>
          <p:nvPr/>
        </p:nvPicPr>
        <p:blipFill>
          <a:blip r:embed="rId8"/>
          <a:stretch>
            <a:fillRect/>
          </a:stretch>
        </p:blipFill>
        <p:spPr>
          <a:xfrm>
            <a:off x="5994400" y="5207000"/>
            <a:ext cx="304800" cy="304800"/>
          </a:xfrm>
          <a:prstGeom prst="rect">
            <a:avLst/>
          </a:prstGeom>
        </p:spPr>
      </p:pic>
      <p:sp>
        <p:nvSpPr>
          <p:cNvPr id="38" name="TextBox 37"/>
          <p:cNvSpPr txBox="1"/>
          <p:nvPr/>
        </p:nvSpPr>
        <p:spPr>
          <a:xfrm>
            <a:off x="64262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WHAT GLOBE SELLS</a:t>
            </a:r>
          </a:p>
        </p:txBody>
      </p:sp>
      <p:sp>
        <p:nvSpPr>
          <p:cNvPr id="39" name="Rounded Rectangle 38"/>
          <p:cNvSpPr/>
          <p:nvPr/>
        </p:nvSpPr>
        <p:spPr>
          <a:xfrm>
            <a:off x="5994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994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MCX per user</a:t>
            </a:r>
          </a:p>
        </p:txBody>
      </p:sp>
      <p:sp>
        <p:nvSpPr>
          <p:cNvPr id="41" name="Rounded Rectangle 40"/>
          <p:cNvSpPr/>
          <p:nvPr/>
        </p:nvSpPr>
        <p:spPr>
          <a:xfrm>
            <a:off x="78359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8359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Capacity</a:t>
            </a:r>
          </a:p>
        </p:txBody>
      </p:sp>
      <p:sp>
        <p:nvSpPr>
          <p:cNvPr id="43" name="Rounded Rectangle 42"/>
          <p:cNvSpPr/>
          <p:nvPr/>
        </p:nvSpPr>
        <p:spPr>
          <a:xfrm>
            <a:off x="9677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677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Coastal coverage</a:t>
            </a:r>
          </a:p>
        </p:txBody>
      </p:sp>
      <p:sp>
        <p:nvSpPr>
          <p:cNvPr id="45" name="TextBox 44"/>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450 MHz Alliance reports (no port deployment listed); Hytera transport and maritime references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000" cy="76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0"/>
            <a:ext cx="40640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863600" y="15240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03 OF 04</a:t>
            </a:r>
          </a:p>
        </p:txBody>
      </p:sp>
      <p:sp>
        <p:nvSpPr>
          <p:cNvPr id="6" name="TextBox 5"/>
          <p:cNvSpPr txBox="1"/>
          <p:nvPr/>
        </p:nvSpPr>
        <p:spPr>
          <a:xfrm>
            <a:off x="787400" y="1727200"/>
            <a:ext cx="4826000" cy="1905000"/>
          </a:xfrm>
          <a:prstGeom prst="rect">
            <a:avLst/>
          </a:prstGeom>
          <a:noFill/>
        </p:spPr>
        <p:txBody>
          <a:bodyPr wrap="square" lIns="0" rIns="0" tIns="0" bIns="0" anchor="ctr">
            <a:spAutoFit/>
          </a:bodyPr>
          <a:lstStyle/>
          <a:p>
            <a:pPr algn="l">
              <a:lnSpc>
                <a:spcPct val="120000"/>
              </a:lnSpc>
              <a:spcAft>
                <a:spcPts val="0"/>
              </a:spcAft>
            </a:pPr>
            <a:r>
              <a:rPr sz="13000" b="0">
                <a:solidFill>
                  <a:srgbClr val="0B308E"/>
                </a:solidFill>
                <a:latin typeface="Segoe UI Light"/>
              </a:rPr>
              <a:t>03</a:t>
            </a:r>
          </a:p>
        </p:txBody>
      </p:sp>
      <p:sp>
        <p:nvSpPr>
          <p:cNvPr id="7" name="Rectangle 6"/>
          <p:cNvSpPr/>
          <p:nvPr/>
        </p:nvSpPr>
        <p:spPr>
          <a:xfrm>
            <a:off x="863600" y="3759200"/>
            <a:ext cx="812800" cy="508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63600" y="3987800"/>
            <a:ext cx="4826000" cy="558800"/>
          </a:xfrm>
          <a:prstGeom prst="rect">
            <a:avLst/>
          </a:prstGeom>
          <a:noFill/>
        </p:spPr>
        <p:txBody>
          <a:bodyPr wrap="square" lIns="0" rIns="0" tIns="0" bIns="0" anchor="ctr">
            <a:spAutoFit/>
          </a:bodyPr>
          <a:lstStyle/>
          <a:p>
            <a:pPr algn="l">
              <a:lnSpc>
                <a:spcPct val="120000"/>
              </a:lnSpc>
              <a:spcAft>
                <a:spcPts val="0"/>
              </a:spcAft>
            </a:pPr>
            <a:r>
              <a:rPr sz="3000" b="0">
                <a:solidFill>
                  <a:srgbClr val="0B308E"/>
                </a:solidFill>
                <a:latin typeface="Segoe UI Semibold"/>
              </a:rPr>
              <a:t>Reference cases</a:t>
            </a:r>
          </a:p>
        </p:txBody>
      </p:sp>
      <p:sp>
        <p:nvSpPr>
          <p:cNvPr id="9" name="TextBox 8"/>
          <p:cNvSpPr txBox="1"/>
          <p:nvPr/>
        </p:nvSpPr>
        <p:spPr>
          <a:xfrm>
            <a:off x="863600" y="4572000"/>
            <a:ext cx="4826000" cy="558800"/>
          </a:xfrm>
          <a:prstGeom prst="rect">
            <a:avLst/>
          </a:prstGeom>
          <a:noFill/>
        </p:spPr>
        <p:txBody>
          <a:bodyPr wrap="square" lIns="0" rIns="0" tIns="0" bIns="0" anchor="t">
            <a:spAutoFit/>
          </a:bodyPr>
          <a:lstStyle/>
          <a:p>
            <a:pPr algn="l">
              <a:lnSpc>
                <a:spcPct val="125000"/>
              </a:lnSpc>
              <a:spcAft>
                <a:spcPts val="0"/>
              </a:spcAft>
            </a:pPr>
            <a:r>
              <a:rPr sz="1500" b="0">
                <a:solidFill>
                  <a:srgbClr val="55607A"/>
                </a:solidFill>
                <a:latin typeface="Segoe UI"/>
              </a:rPr>
              <a:t>How is it built, and where does it run today?</a:t>
            </a:r>
          </a:p>
        </p:txBody>
      </p:sp>
      <p:sp>
        <p:nvSpPr>
          <p:cNvPr id="10" name="Rectangle 9"/>
          <p:cNvSpPr/>
          <p:nvPr/>
        </p:nvSpPr>
        <p:spPr>
          <a:xfrm>
            <a:off x="6197600" y="1524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6477000" y="1701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radio-tower_steel.png"/>
          <p:cNvPicPr>
            <a:picLocks noChangeAspect="1"/>
          </p:cNvPicPr>
          <p:nvPr/>
        </p:nvPicPr>
        <p:blipFill>
          <a:blip r:embed="rId2"/>
          <a:stretch>
            <a:fillRect/>
          </a:stretch>
        </p:blipFill>
        <p:spPr>
          <a:xfrm>
            <a:off x="6598920" y="1823720"/>
            <a:ext cx="264160" cy="264160"/>
          </a:xfrm>
          <a:prstGeom prst="rect">
            <a:avLst/>
          </a:prstGeom>
        </p:spPr>
      </p:pic>
      <p:sp>
        <p:nvSpPr>
          <p:cNvPr id="13" name="Oval 12"/>
          <p:cNvSpPr/>
          <p:nvPr/>
        </p:nvSpPr>
        <p:spPr>
          <a:xfrm>
            <a:off x="6824980" y="1659127"/>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824980" y="1659127"/>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01</a:t>
            </a:r>
          </a:p>
        </p:txBody>
      </p:sp>
      <p:sp>
        <p:nvSpPr>
          <p:cNvPr id="15" name="TextBox 14"/>
          <p:cNvSpPr txBox="1"/>
          <p:nvPr/>
        </p:nvSpPr>
        <p:spPr>
          <a:xfrm>
            <a:off x="7289800" y="1524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450 MHz advantages</a:t>
            </a:r>
          </a:p>
        </p:txBody>
      </p:sp>
      <p:sp>
        <p:nvSpPr>
          <p:cNvPr id="16" name="Rectangle 15"/>
          <p:cNvSpPr/>
          <p:nvPr/>
        </p:nvSpPr>
        <p:spPr>
          <a:xfrm>
            <a:off x="6197600" y="2540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6477000" y="2717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users_steel.png"/>
          <p:cNvPicPr>
            <a:picLocks noChangeAspect="1"/>
          </p:cNvPicPr>
          <p:nvPr/>
        </p:nvPicPr>
        <p:blipFill>
          <a:blip r:embed="rId3"/>
          <a:stretch>
            <a:fillRect/>
          </a:stretch>
        </p:blipFill>
        <p:spPr>
          <a:xfrm>
            <a:off x="6598920" y="2839720"/>
            <a:ext cx="264160" cy="264160"/>
          </a:xfrm>
          <a:prstGeom prst="rect">
            <a:avLst/>
          </a:prstGeom>
        </p:spPr>
      </p:pic>
      <p:sp>
        <p:nvSpPr>
          <p:cNvPr id="19" name="Oval 18"/>
          <p:cNvSpPr/>
          <p:nvPr/>
        </p:nvSpPr>
        <p:spPr>
          <a:xfrm>
            <a:off x="6824980" y="2675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824980" y="2675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02</a:t>
            </a:r>
          </a:p>
        </p:txBody>
      </p:sp>
      <p:sp>
        <p:nvSpPr>
          <p:cNvPr id="21" name="TextBox 20"/>
          <p:cNvSpPr txBox="1"/>
          <p:nvPr/>
        </p:nvSpPr>
        <p:spPr>
          <a:xfrm>
            <a:off x="7289800" y="2540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Target industries</a:t>
            </a:r>
          </a:p>
        </p:txBody>
      </p:sp>
      <p:sp>
        <p:nvSpPr>
          <p:cNvPr id="22" name="Rectangle 21"/>
          <p:cNvSpPr/>
          <p:nvPr/>
        </p:nvSpPr>
        <p:spPr>
          <a:xfrm>
            <a:off x="6197600" y="3556000"/>
            <a:ext cx="5384800" cy="8636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6197600" y="3556000"/>
            <a:ext cx="50800" cy="8636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6477000" y="3733800"/>
            <a:ext cx="508000" cy="508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5" name="Picture 24" descr="globe_white.png"/>
          <p:cNvPicPr>
            <a:picLocks noChangeAspect="1"/>
          </p:cNvPicPr>
          <p:nvPr/>
        </p:nvPicPr>
        <p:blipFill>
          <a:blip r:embed="rId4"/>
          <a:stretch>
            <a:fillRect/>
          </a:stretch>
        </p:blipFill>
        <p:spPr>
          <a:xfrm>
            <a:off x="6598920" y="3855720"/>
            <a:ext cx="264160" cy="264160"/>
          </a:xfrm>
          <a:prstGeom prst="rect">
            <a:avLst/>
          </a:prstGeom>
        </p:spPr>
      </p:pic>
      <p:sp>
        <p:nvSpPr>
          <p:cNvPr id="26" name="Oval 25"/>
          <p:cNvSpPr/>
          <p:nvPr/>
        </p:nvSpPr>
        <p:spPr>
          <a:xfrm>
            <a:off x="6824980" y="3691128"/>
            <a:ext cx="213360" cy="213360"/>
          </a:xfrm>
          <a:prstGeom prst="ellipse">
            <a:avLst/>
          </a:prstGeom>
          <a:solidFill>
            <a:srgbClr val="0B308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824980" y="3691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03</a:t>
            </a:r>
          </a:p>
        </p:txBody>
      </p:sp>
      <p:sp>
        <p:nvSpPr>
          <p:cNvPr id="28" name="TextBox 27"/>
          <p:cNvSpPr txBox="1"/>
          <p:nvPr/>
        </p:nvSpPr>
        <p:spPr>
          <a:xfrm>
            <a:off x="7289800" y="3556000"/>
            <a:ext cx="4064000" cy="863600"/>
          </a:xfrm>
          <a:prstGeom prst="rect">
            <a:avLst/>
          </a:prstGeom>
          <a:noFill/>
        </p:spPr>
        <p:txBody>
          <a:bodyPr wrap="square" lIns="0" rIns="0" tIns="0" bIns="0" anchor="ctr">
            <a:spAutoFit/>
          </a:bodyPr>
          <a:lstStyle/>
          <a:p>
            <a:pPr algn="l">
              <a:lnSpc>
                <a:spcPct val="120000"/>
              </a:lnSpc>
              <a:spcAft>
                <a:spcPts val="0"/>
              </a:spcAft>
            </a:pPr>
            <a:r>
              <a:rPr sz="1700" b="0">
                <a:solidFill>
                  <a:srgbClr val="0B308E"/>
                </a:solidFill>
                <a:latin typeface="Segoe UI Semibold"/>
              </a:rPr>
              <a:t>Reference cases</a:t>
            </a:r>
          </a:p>
        </p:txBody>
      </p:sp>
      <p:sp>
        <p:nvSpPr>
          <p:cNvPr id="29" name="Rectangle 28"/>
          <p:cNvSpPr/>
          <p:nvPr/>
        </p:nvSpPr>
        <p:spPr>
          <a:xfrm>
            <a:off x="6197600" y="4572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6477000" y="4749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1" name="Picture 30" descr="coins_steel.png"/>
          <p:cNvPicPr>
            <a:picLocks noChangeAspect="1"/>
          </p:cNvPicPr>
          <p:nvPr/>
        </p:nvPicPr>
        <p:blipFill>
          <a:blip r:embed="rId5"/>
          <a:stretch>
            <a:fillRect/>
          </a:stretch>
        </p:blipFill>
        <p:spPr>
          <a:xfrm>
            <a:off x="6598920" y="4871720"/>
            <a:ext cx="264160" cy="264160"/>
          </a:xfrm>
          <a:prstGeom prst="rect">
            <a:avLst/>
          </a:prstGeom>
        </p:spPr>
      </p:pic>
      <p:sp>
        <p:nvSpPr>
          <p:cNvPr id="32" name="Oval 31"/>
          <p:cNvSpPr/>
          <p:nvPr/>
        </p:nvSpPr>
        <p:spPr>
          <a:xfrm>
            <a:off x="6824980" y="4707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24980" y="4707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04</a:t>
            </a:r>
          </a:p>
        </p:txBody>
      </p:sp>
      <p:sp>
        <p:nvSpPr>
          <p:cNvPr id="34" name="TextBox 33"/>
          <p:cNvSpPr txBox="1"/>
          <p:nvPr/>
        </p:nvSpPr>
        <p:spPr>
          <a:xfrm>
            <a:off x="7289800" y="4572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Business model</a:t>
            </a:r>
          </a:p>
        </p:txBody>
      </p:sp>
      <p:sp>
        <p:nvSpPr>
          <p:cNvPr id="35" name="TextBox 34"/>
          <p:cNvSpPr txBox="1"/>
          <p:nvPr/>
        </p:nvSpPr>
        <p:spPr>
          <a:xfrm>
            <a:off x="11201400" y="63500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03   HOW IT IS BUILT</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15</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One build serves all six industries; only terminals and apps change</a:t>
            </a:r>
          </a:p>
        </p:txBody>
      </p:sp>
      <p:sp>
        <p:nvSpPr>
          <p:cNvPr id="10" name="Rectangle 9"/>
          <p:cNvSpPr/>
          <p:nvPr/>
        </p:nvSpPr>
        <p:spPr>
          <a:xfrm>
            <a:off x="609600" y="1549400"/>
            <a:ext cx="3454400" cy="508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martphone_white.png"/>
          <p:cNvPicPr>
            <a:picLocks noChangeAspect="1"/>
          </p:cNvPicPr>
          <p:nvPr/>
        </p:nvPicPr>
        <p:blipFill>
          <a:blip r:embed="rId2"/>
          <a:stretch>
            <a:fillRect/>
          </a:stretch>
        </p:blipFill>
        <p:spPr>
          <a:xfrm>
            <a:off x="812800" y="1663700"/>
            <a:ext cx="279400" cy="279400"/>
          </a:xfrm>
          <a:prstGeom prst="rect">
            <a:avLst/>
          </a:prstGeom>
        </p:spPr>
      </p:pic>
      <p:sp>
        <p:nvSpPr>
          <p:cNvPr id="12" name="TextBox 11"/>
          <p:cNvSpPr txBox="1"/>
          <p:nvPr/>
        </p:nvSpPr>
        <p:spPr>
          <a:xfrm>
            <a:off x="1219200" y="1549400"/>
            <a:ext cx="2540000" cy="508000"/>
          </a:xfrm>
          <a:prstGeom prst="rect">
            <a:avLst/>
          </a:prstGeom>
          <a:noFill/>
        </p:spPr>
        <p:txBody>
          <a:bodyPr wrap="square" lIns="0" rIns="0" tIns="0" bIns="0" anchor="ctr">
            <a:spAutoFit/>
          </a:bodyPr>
          <a:lstStyle/>
          <a:p>
            <a:pPr algn="l">
              <a:lnSpc>
                <a:spcPct val="120000"/>
              </a:lnSpc>
              <a:spcAft>
                <a:spcPts val="0"/>
              </a:spcAft>
            </a:pPr>
            <a:r>
              <a:rPr sz="1500" b="0">
                <a:solidFill>
                  <a:srgbClr val="FFFFFF"/>
                </a:solidFill>
                <a:latin typeface="Segoe UI Semibold"/>
              </a:rPr>
              <a:t>Terminal</a:t>
            </a:r>
          </a:p>
        </p:txBody>
      </p:sp>
      <p:sp>
        <p:nvSpPr>
          <p:cNvPr id="13" name="Rectangle 12"/>
          <p:cNvSpPr/>
          <p:nvPr/>
        </p:nvSpPr>
        <p:spPr>
          <a:xfrm>
            <a:off x="609600" y="2057400"/>
            <a:ext cx="3454400" cy="281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812800" y="2184400"/>
            <a:ext cx="3048000" cy="1447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5" name="Picture 14" descr="a_d6e477498b.png"/>
          <p:cNvPicPr>
            <a:picLocks noChangeAspect="1"/>
          </p:cNvPicPr>
          <p:nvPr/>
        </p:nvPicPr>
        <p:blipFill>
          <a:blip r:embed="rId3"/>
          <a:stretch>
            <a:fillRect/>
          </a:stretch>
        </p:blipFill>
        <p:spPr>
          <a:xfrm>
            <a:off x="1496591" y="2235200"/>
            <a:ext cx="1680416" cy="1346200"/>
          </a:xfrm>
          <a:prstGeom prst="rect">
            <a:avLst/>
          </a:prstGeom>
        </p:spPr>
      </p:pic>
      <p:sp>
        <p:nvSpPr>
          <p:cNvPr id="16" name="Rectangle 15"/>
          <p:cNvSpPr/>
          <p:nvPr/>
        </p:nvSpPr>
        <p:spPr>
          <a:xfrm>
            <a:off x="812800" y="38354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990600" y="37338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PNC660 450M</a:t>
            </a:r>
          </a:p>
        </p:txBody>
      </p:sp>
      <p:sp>
        <p:nvSpPr>
          <p:cNvPr id="18" name="TextBox 17"/>
          <p:cNvSpPr txBox="1"/>
          <p:nvPr/>
        </p:nvSpPr>
        <p:spPr>
          <a:xfrm>
            <a:off x="2438400" y="37338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handheld</a:t>
            </a:r>
          </a:p>
        </p:txBody>
      </p:sp>
      <p:sp>
        <p:nvSpPr>
          <p:cNvPr id="19" name="Rectangle 18"/>
          <p:cNvSpPr/>
          <p:nvPr/>
        </p:nvSpPr>
        <p:spPr>
          <a:xfrm>
            <a:off x="812800" y="41148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990600" y="40132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MNC650 450M</a:t>
            </a:r>
          </a:p>
        </p:txBody>
      </p:sp>
      <p:sp>
        <p:nvSpPr>
          <p:cNvPr id="21" name="TextBox 20"/>
          <p:cNvSpPr txBox="1"/>
          <p:nvPr/>
        </p:nvSpPr>
        <p:spPr>
          <a:xfrm>
            <a:off x="2438400" y="40132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vehicle radio</a:t>
            </a:r>
          </a:p>
        </p:txBody>
      </p:sp>
      <p:sp>
        <p:nvSpPr>
          <p:cNvPr id="22" name="Rectangle 21"/>
          <p:cNvSpPr/>
          <p:nvPr/>
        </p:nvSpPr>
        <p:spPr>
          <a:xfrm>
            <a:off x="812800" y="43942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90600" y="42926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P70 5G+450M</a:t>
            </a:r>
          </a:p>
        </p:txBody>
      </p:sp>
      <p:sp>
        <p:nvSpPr>
          <p:cNvPr id="24" name="TextBox 23"/>
          <p:cNvSpPr txBox="1"/>
          <p:nvPr/>
        </p:nvSpPr>
        <p:spPr>
          <a:xfrm>
            <a:off x="2438400" y="42926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2026 Q4</a:t>
            </a:r>
          </a:p>
        </p:txBody>
      </p:sp>
      <p:sp>
        <p:nvSpPr>
          <p:cNvPr id="25" name="Rectangle 24"/>
          <p:cNvSpPr/>
          <p:nvPr/>
        </p:nvSpPr>
        <p:spPr>
          <a:xfrm>
            <a:off x="812800" y="46736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90600" y="45720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PNC660Ex</a:t>
            </a:r>
          </a:p>
        </p:txBody>
      </p:sp>
      <p:sp>
        <p:nvSpPr>
          <p:cNvPr id="27" name="TextBox 26"/>
          <p:cNvSpPr txBox="1"/>
          <p:nvPr/>
        </p:nvSpPr>
        <p:spPr>
          <a:xfrm>
            <a:off x="2438400" y="45720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ATEX, 2027 Q2</a:t>
            </a:r>
          </a:p>
        </p:txBody>
      </p:sp>
      <p:pic>
        <p:nvPicPr>
          <p:cNvPr id="28" name="Picture 27" descr="arrow-right_steel.png"/>
          <p:cNvPicPr>
            <a:picLocks noChangeAspect="1"/>
          </p:cNvPicPr>
          <p:nvPr/>
        </p:nvPicPr>
        <p:blipFill>
          <a:blip r:embed="rId4"/>
          <a:stretch>
            <a:fillRect/>
          </a:stretch>
        </p:blipFill>
        <p:spPr>
          <a:xfrm>
            <a:off x="4089400" y="3302000"/>
            <a:ext cx="254000" cy="254000"/>
          </a:xfrm>
          <a:prstGeom prst="rect">
            <a:avLst/>
          </a:prstGeom>
        </p:spPr>
      </p:pic>
      <p:sp>
        <p:nvSpPr>
          <p:cNvPr id="29" name="Rectangle 28"/>
          <p:cNvSpPr/>
          <p:nvPr/>
        </p:nvSpPr>
        <p:spPr>
          <a:xfrm>
            <a:off x="4368800" y="1549400"/>
            <a:ext cx="3454400" cy="508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radio-tower_white.png"/>
          <p:cNvPicPr>
            <a:picLocks noChangeAspect="1"/>
          </p:cNvPicPr>
          <p:nvPr/>
        </p:nvPicPr>
        <p:blipFill>
          <a:blip r:embed="rId5"/>
          <a:stretch>
            <a:fillRect/>
          </a:stretch>
        </p:blipFill>
        <p:spPr>
          <a:xfrm>
            <a:off x="4572000" y="1663700"/>
            <a:ext cx="279400" cy="279400"/>
          </a:xfrm>
          <a:prstGeom prst="rect">
            <a:avLst/>
          </a:prstGeom>
        </p:spPr>
      </p:pic>
      <p:sp>
        <p:nvSpPr>
          <p:cNvPr id="31" name="TextBox 30"/>
          <p:cNvSpPr txBox="1"/>
          <p:nvPr/>
        </p:nvSpPr>
        <p:spPr>
          <a:xfrm>
            <a:off x="4978400" y="1549400"/>
            <a:ext cx="2540000" cy="508000"/>
          </a:xfrm>
          <a:prstGeom prst="rect">
            <a:avLst/>
          </a:prstGeom>
          <a:noFill/>
        </p:spPr>
        <p:txBody>
          <a:bodyPr wrap="square" lIns="0" rIns="0" tIns="0" bIns="0" anchor="ctr">
            <a:spAutoFit/>
          </a:bodyPr>
          <a:lstStyle/>
          <a:p>
            <a:pPr algn="l">
              <a:lnSpc>
                <a:spcPct val="120000"/>
              </a:lnSpc>
              <a:spcAft>
                <a:spcPts val="0"/>
              </a:spcAft>
            </a:pPr>
            <a:r>
              <a:rPr sz="1500" b="0">
                <a:solidFill>
                  <a:srgbClr val="FFFFFF"/>
                </a:solidFill>
                <a:latin typeface="Segoe UI Semibold"/>
              </a:rPr>
              <a:t>Network</a:t>
            </a:r>
          </a:p>
        </p:txBody>
      </p:sp>
      <p:sp>
        <p:nvSpPr>
          <p:cNvPr id="32" name="Rectangle 31"/>
          <p:cNvSpPr/>
          <p:nvPr/>
        </p:nvSpPr>
        <p:spPr>
          <a:xfrm>
            <a:off x="4368800" y="2057400"/>
            <a:ext cx="3454400" cy="281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4572000" y="2184400"/>
            <a:ext cx="3048000" cy="1447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4" name="Picture 33" descr="a_c40f559451.png"/>
          <p:cNvPicPr>
            <a:picLocks noChangeAspect="1"/>
          </p:cNvPicPr>
          <p:nvPr/>
        </p:nvPicPr>
        <p:blipFill>
          <a:blip r:embed="rId6"/>
          <a:stretch>
            <a:fillRect/>
          </a:stretch>
        </p:blipFill>
        <p:spPr>
          <a:xfrm>
            <a:off x="4984966" y="2235200"/>
            <a:ext cx="698066" cy="1092200"/>
          </a:xfrm>
          <a:prstGeom prst="rect">
            <a:avLst/>
          </a:prstGeom>
        </p:spPr>
      </p:pic>
      <p:sp>
        <p:nvSpPr>
          <p:cNvPr id="35" name="TextBox 34"/>
          <p:cNvSpPr txBox="1"/>
          <p:nvPr/>
        </p:nvSpPr>
        <p:spPr>
          <a:xfrm>
            <a:off x="4572000" y="3378200"/>
            <a:ext cx="1524000" cy="203200"/>
          </a:xfrm>
          <a:prstGeom prst="rect">
            <a:avLst/>
          </a:prstGeom>
          <a:noFill/>
        </p:spPr>
        <p:txBody>
          <a:bodyPr wrap="square" lIns="0" rIns="0" tIns="0" bIns="0" anchor="ctr">
            <a:spAutoFit/>
          </a:bodyPr>
          <a:lstStyle/>
          <a:p>
            <a:pPr algn="ctr">
              <a:lnSpc>
                <a:spcPct val="120000"/>
              </a:lnSpc>
              <a:spcAft>
                <a:spcPts val="0"/>
              </a:spcAft>
            </a:pPr>
            <a:r>
              <a:rPr sz="900" b="0">
                <a:solidFill>
                  <a:srgbClr val="55607A"/>
                </a:solidFill>
                <a:latin typeface="Segoe UI Semibold"/>
              </a:rPr>
              <a:t>Fixed site  ·  RRU5800M</a:t>
            </a:r>
          </a:p>
        </p:txBody>
      </p:sp>
      <p:pic>
        <p:nvPicPr>
          <p:cNvPr id="36" name="Picture 35" descr="a_81c7398aec.png"/>
          <p:cNvPicPr>
            <a:picLocks noChangeAspect="1"/>
          </p:cNvPicPr>
          <p:nvPr/>
        </p:nvPicPr>
        <p:blipFill>
          <a:blip r:embed="rId7"/>
          <a:stretch>
            <a:fillRect/>
          </a:stretch>
        </p:blipFill>
        <p:spPr>
          <a:xfrm>
            <a:off x="6452325" y="2235200"/>
            <a:ext cx="811348" cy="1092199"/>
          </a:xfrm>
          <a:prstGeom prst="rect">
            <a:avLst/>
          </a:prstGeom>
        </p:spPr>
      </p:pic>
      <p:sp>
        <p:nvSpPr>
          <p:cNvPr id="37" name="TextBox 36"/>
          <p:cNvSpPr txBox="1"/>
          <p:nvPr/>
        </p:nvSpPr>
        <p:spPr>
          <a:xfrm>
            <a:off x="6096000" y="3378200"/>
            <a:ext cx="1524000" cy="203200"/>
          </a:xfrm>
          <a:prstGeom prst="rect">
            <a:avLst/>
          </a:prstGeom>
          <a:noFill/>
        </p:spPr>
        <p:txBody>
          <a:bodyPr wrap="square" lIns="0" rIns="0" tIns="0" bIns="0" anchor="ctr">
            <a:spAutoFit/>
          </a:bodyPr>
          <a:lstStyle/>
          <a:p>
            <a:pPr algn="ctr">
              <a:lnSpc>
                <a:spcPct val="120000"/>
              </a:lnSpc>
              <a:spcAft>
                <a:spcPts val="0"/>
              </a:spcAft>
            </a:pPr>
            <a:r>
              <a:rPr sz="900" b="0">
                <a:solidFill>
                  <a:srgbClr val="55607A"/>
                </a:solidFill>
                <a:latin typeface="Segoe UI Semibold"/>
              </a:rPr>
              <a:t>Mobile site  ·  iBS3800</a:t>
            </a:r>
          </a:p>
        </p:txBody>
      </p:sp>
      <p:cxnSp>
        <p:nvCxnSpPr>
          <p:cNvPr id="38" name="Connector 37"/>
          <p:cNvCxnSpPr/>
          <p:nvPr/>
        </p:nvCxnSpPr>
        <p:spPr>
          <a:xfrm>
            <a:off x="6096000" y="2311400"/>
            <a:ext cx="0" cy="119380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39" name="Rectangle 38"/>
          <p:cNvSpPr/>
          <p:nvPr/>
        </p:nvSpPr>
        <p:spPr>
          <a:xfrm>
            <a:off x="4572000" y="38354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4749800" y="37338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RRU5800M</a:t>
            </a:r>
          </a:p>
        </p:txBody>
      </p:sp>
      <p:sp>
        <p:nvSpPr>
          <p:cNvPr id="41" name="TextBox 40"/>
          <p:cNvSpPr txBox="1"/>
          <p:nvPr/>
        </p:nvSpPr>
        <p:spPr>
          <a:xfrm>
            <a:off x="6197600" y="37338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on tower, Band 31</a:t>
            </a:r>
          </a:p>
        </p:txBody>
      </p:sp>
      <p:sp>
        <p:nvSpPr>
          <p:cNvPr id="42" name="Rectangle 41"/>
          <p:cNvSpPr/>
          <p:nvPr/>
        </p:nvSpPr>
        <p:spPr>
          <a:xfrm>
            <a:off x="4572000" y="41148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4749800" y="40132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BBU5801M</a:t>
            </a:r>
          </a:p>
        </p:txBody>
      </p:sp>
      <p:sp>
        <p:nvSpPr>
          <p:cNvPr id="44" name="TextBox 43"/>
          <p:cNvSpPr txBox="1"/>
          <p:nvPr/>
        </p:nvSpPr>
        <p:spPr>
          <a:xfrm>
            <a:off x="6197600" y="40132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baseband in shelter</a:t>
            </a:r>
          </a:p>
        </p:txBody>
      </p:sp>
      <p:sp>
        <p:nvSpPr>
          <p:cNvPr id="45" name="Rectangle 44"/>
          <p:cNvSpPr/>
          <p:nvPr/>
        </p:nvSpPr>
        <p:spPr>
          <a:xfrm>
            <a:off x="4572000" y="43942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4749800" y="42926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iBS3800</a:t>
            </a:r>
          </a:p>
        </p:txBody>
      </p:sp>
      <p:sp>
        <p:nvSpPr>
          <p:cNvPr id="47" name="TextBox 46"/>
          <p:cNvSpPr txBox="1"/>
          <p:nvPr/>
        </p:nvSpPr>
        <p:spPr>
          <a:xfrm>
            <a:off x="6197600" y="42926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mobile, Band 31</a:t>
            </a:r>
          </a:p>
        </p:txBody>
      </p:sp>
      <p:sp>
        <p:nvSpPr>
          <p:cNvPr id="48" name="Rectangle 47"/>
          <p:cNvSpPr/>
          <p:nvPr/>
        </p:nvSpPr>
        <p:spPr>
          <a:xfrm>
            <a:off x="4572000" y="46736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4749800" y="45720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Core</a:t>
            </a:r>
          </a:p>
        </p:txBody>
      </p:sp>
      <p:sp>
        <p:nvSpPr>
          <p:cNvPr id="50" name="TextBox 49"/>
          <p:cNvSpPr txBox="1"/>
          <p:nvPr/>
        </p:nvSpPr>
        <p:spPr>
          <a:xfrm>
            <a:off x="6197600" y="45720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private or shared</a:t>
            </a:r>
          </a:p>
        </p:txBody>
      </p:sp>
      <p:pic>
        <p:nvPicPr>
          <p:cNvPr id="51" name="Picture 50" descr="arrow-right_steel.png"/>
          <p:cNvPicPr>
            <a:picLocks noChangeAspect="1"/>
          </p:cNvPicPr>
          <p:nvPr/>
        </p:nvPicPr>
        <p:blipFill>
          <a:blip r:embed="rId4"/>
          <a:stretch>
            <a:fillRect/>
          </a:stretch>
        </p:blipFill>
        <p:spPr>
          <a:xfrm>
            <a:off x="7848600" y="3302000"/>
            <a:ext cx="254000" cy="254000"/>
          </a:xfrm>
          <a:prstGeom prst="rect">
            <a:avLst/>
          </a:prstGeom>
        </p:spPr>
      </p:pic>
      <p:sp>
        <p:nvSpPr>
          <p:cNvPr id="52" name="Rectangle 51"/>
          <p:cNvSpPr/>
          <p:nvPr/>
        </p:nvSpPr>
        <p:spPr>
          <a:xfrm>
            <a:off x="8128000" y="1549400"/>
            <a:ext cx="3454400" cy="508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3" name="Picture 52" descr="layers_white.png"/>
          <p:cNvPicPr>
            <a:picLocks noChangeAspect="1"/>
          </p:cNvPicPr>
          <p:nvPr/>
        </p:nvPicPr>
        <p:blipFill>
          <a:blip r:embed="rId8"/>
          <a:stretch>
            <a:fillRect/>
          </a:stretch>
        </p:blipFill>
        <p:spPr>
          <a:xfrm>
            <a:off x="8331200" y="1663700"/>
            <a:ext cx="279400" cy="279400"/>
          </a:xfrm>
          <a:prstGeom prst="rect">
            <a:avLst/>
          </a:prstGeom>
        </p:spPr>
      </p:pic>
      <p:sp>
        <p:nvSpPr>
          <p:cNvPr id="54" name="TextBox 53"/>
          <p:cNvSpPr txBox="1"/>
          <p:nvPr/>
        </p:nvSpPr>
        <p:spPr>
          <a:xfrm>
            <a:off x="8737600" y="1549400"/>
            <a:ext cx="2540000" cy="508000"/>
          </a:xfrm>
          <a:prstGeom prst="rect">
            <a:avLst/>
          </a:prstGeom>
          <a:noFill/>
        </p:spPr>
        <p:txBody>
          <a:bodyPr wrap="square" lIns="0" rIns="0" tIns="0" bIns="0" anchor="ctr">
            <a:spAutoFit/>
          </a:bodyPr>
          <a:lstStyle/>
          <a:p>
            <a:pPr algn="l">
              <a:lnSpc>
                <a:spcPct val="120000"/>
              </a:lnSpc>
              <a:spcAft>
                <a:spcPts val="0"/>
              </a:spcAft>
            </a:pPr>
            <a:r>
              <a:rPr sz="1500" b="0">
                <a:solidFill>
                  <a:srgbClr val="FFFFFF"/>
                </a:solidFill>
                <a:latin typeface="Segoe UI Semibold"/>
              </a:rPr>
              <a:t>Application</a:t>
            </a:r>
          </a:p>
        </p:txBody>
      </p:sp>
      <p:sp>
        <p:nvSpPr>
          <p:cNvPr id="55" name="Rectangle 54"/>
          <p:cNvSpPr/>
          <p:nvPr/>
        </p:nvSpPr>
        <p:spPr>
          <a:xfrm>
            <a:off x="8128000" y="2057400"/>
            <a:ext cx="3454400" cy="281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Rectangle 55"/>
          <p:cNvSpPr/>
          <p:nvPr/>
        </p:nvSpPr>
        <p:spPr>
          <a:xfrm>
            <a:off x="8331200" y="2184400"/>
            <a:ext cx="3048000" cy="1447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7" name="Picture 56" descr="a_5f06b6905c.png"/>
          <p:cNvPicPr>
            <a:picLocks noChangeAspect="1"/>
          </p:cNvPicPr>
          <p:nvPr/>
        </p:nvPicPr>
        <p:blipFill>
          <a:blip r:embed="rId9"/>
          <a:stretch>
            <a:fillRect/>
          </a:stretch>
        </p:blipFill>
        <p:spPr>
          <a:xfrm>
            <a:off x="8407400" y="2251964"/>
            <a:ext cx="2895600" cy="1312672"/>
          </a:xfrm>
          <a:prstGeom prst="rect">
            <a:avLst/>
          </a:prstGeom>
        </p:spPr>
      </p:pic>
      <p:sp>
        <p:nvSpPr>
          <p:cNvPr id="58" name="Rectangle 57"/>
          <p:cNvSpPr/>
          <p:nvPr/>
        </p:nvSpPr>
        <p:spPr>
          <a:xfrm>
            <a:off x="8331200" y="38354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9" name="TextBox 58"/>
          <p:cNvSpPr txBox="1"/>
          <p:nvPr/>
        </p:nvSpPr>
        <p:spPr>
          <a:xfrm>
            <a:off x="8509000" y="37338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MCS</a:t>
            </a:r>
          </a:p>
        </p:txBody>
      </p:sp>
      <p:sp>
        <p:nvSpPr>
          <p:cNvPr id="60" name="TextBox 59"/>
          <p:cNvSpPr txBox="1"/>
          <p:nvPr/>
        </p:nvSpPr>
        <p:spPr>
          <a:xfrm>
            <a:off x="9956800" y="37338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PTT · video · data</a:t>
            </a:r>
          </a:p>
        </p:txBody>
      </p:sp>
      <p:sp>
        <p:nvSpPr>
          <p:cNvPr id="61" name="Rectangle 60"/>
          <p:cNvSpPr/>
          <p:nvPr/>
        </p:nvSpPr>
        <p:spPr>
          <a:xfrm>
            <a:off x="8331200" y="41148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2" name="TextBox 61"/>
          <p:cNvSpPr txBox="1"/>
          <p:nvPr/>
        </p:nvSpPr>
        <p:spPr>
          <a:xfrm>
            <a:off x="8509000" y="40132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Dispatch</a:t>
            </a:r>
          </a:p>
        </p:txBody>
      </p:sp>
      <p:sp>
        <p:nvSpPr>
          <p:cNvPr id="63" name="TextBox 62"/>
          <p:cNvSpPr txBox="1"/>
          <p:nvPr/>
        </p:nvSpPr>
        <p:spPr>
          <a:xfrm>
            <a:off x="9956800" y="40132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voice, video, GIS</a:t>
            </a:r>
          </a:p>
        </p:txBody>
      </p:sp>
      <p:sp>
        <p:nvSpPr>
          <p:cNvPr id="64" name="Rectangle 63"/>
          <p:cNvSpPr/>
          <p:nvPr/>
        </p:nvSpPr>
        <p:spPr>
          <a:xfrm>
            <a:off x="8331200" y="43942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5" name="TextBox 64"/>
          <p:cNvSpPr txBox="1"/>
          <p:nvPr/>
        </p:nvSpPr>
        <p:spPr>
          <a:xfrm>
            <a:off x="8509000" y="42926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Recording</a:t>
            </a:r>
          </a:p>
        </p:txBody>
      </p:sp>
      <p:sp>
        <p:nvSpPr>
          <p:cNvPr id="66" name="TextBox 65"/>
          <p:cNvSpPr txBox="1"/>
          <p:nvPr/>
        </p:nvSpPr>
        <p:spPr>
          <a:xfrm>
            <a:off x="9956800" y="42926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playback</a:t>
            </a:r>
          </a:p>
        </p:txBody>
      </p:sp>
      <p:sp>
        <p:nvSpPr>
          <p:cNvPr id="67" name="Rectangle 66"/>
          <p:cNvSpPr/>
          <p:nvPr/>
        </p:nvSpPr>
        <p:spPr>
          <a:xfrm>
            <a:off x="8331200" y="46736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8" name="TextBox 67"/>
          <p:cNvSpPr txBox="1"/>
          <p:nvPr/>
        </p:nvSpPr>
        <p:spPr>
          <a:xfrm>
            <a:off x="8509000" y="45720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Device mgmt</a:t>
            </a:r>
          </a:p>
        </p:txBody>
      </p:sp>
      <p:sp>
        <p:nvSpPr>
          <p:cNvPr id="69" name="TextBox 68"/>
          <p:cNvSpPr txBox="1"/>
          <p:nvPr/>
        </p:nvSpPr>
        <p:spPr>
          <a:xfrm>
            <a:off x="9956800" y="45720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zero-touch</a:t>
            </a:r>
          </a:p>
        </p:txBody>
      </p:sp>
      <p:sp>
        <p:nvSpPr>
          <p:cNvPr id="70" name="Rectangle 69"/>
          <p:cNvSpPr/>
          <p:nvPr/>
        </p:nvSpPr>
        <p:spPr>
          <a:xfrm>
            <a:off x="609600" y="5080000"/>
            <a:ext cx="5334000" cy="12192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1" name="Picture 70" descr="check_green.png"/>
          <p:cNvPicPr>
            <a:picLocks noChangeAspect="1"/>
          </p:cNvPicPr>
          <p:nvPr/>
        </p:nvPicPr>
        <p:blipFill>
          <a:blip r:embed="rId10"/>
          <a:stretch>
            <a:fillRect/>
          </a:stretch>
        </p:blipFill>
        <p:spPr>
          <a:xfrm>
            <a:off x="812800" y="5257800"/>
            <a:ext cx="304800" cy="304800"/>
          </a:xfrm>
          <a:prstGeom prst="rect">
            <a:avLst/>
          </a:prstGeom>
        </p:spPr>
      </p:pic>
      <p:sp>
        <p:nvSpPr>
          <p:cNvPr id="72" name="TextBox 71"/>
          <p:cNvSpPr txBox="1"/>
          <p:nvPr/>
        </p:nvSpPr>
        <p:spPr>
          <a:xfrm>
            <a:off x="1244600" y="52578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MCS</a:t>
            </a:r>
          </a:p>
        </p:txBody>
      </p:sp>
      <p:sp>
        <p:nvSpPr>
          <p:cNvPr id="73" name="TextBox 72"/>
          <p:cNvSpPr txBox="1"/>
          <p:nvPr/>
        </p:nvSpPr>
        <p:spPr>
          <a:xfrm>
            <a:off x="812800" y="5664200"/>
            <a:ext cx="4927600" cy="508000"/>
          </a:xfrm>
          <a:prstGeom prst="rect">
            <a:avLst/>
          </a:prstGeom>
          <a:noFill/>
        </p:spPr>
        <p:txBody>
          <a:bodyPr wrap="square" lIns="0" rIns="0" tIns="0" bIns="0" anchor="t">
            <a:spAutoFit/>
          </a:bodyPr>
          <a:lstStyle/>
          <a:p>
            <a:pPr algn="l">
              <a:lnSpc>
                <a:spcPct val="120000"/>
              </a:lnSpc>
              <a:spcAft>
                <a:spcPts val="0"/>
              </a:spcAft>
            </a:pPr>
            <a:r>
              <a:rPr sz="1250" b="0">
                <a:solidFill>
                  <a:srgbClr val="16213E"/>
                </a:solidFill>
                <a:latin typeface="Segoe UI"/>
              </a:rPr>
              <a:t>a 3GPP standard: runs on any LTE or 5G radio</a:t>
            </a:r>
          </a:p>
        </p:txBody>
      </p:sp>
      <p:sp>
        <p:nvSpPr>
          <p:cNvPr id="74" name="Rectangle 73"/>
          <p:cNvSpPr/>
          <p:nvPr/>
        </p:nvSpPr>
        <p:spPr>
          <a:xfrm>
            <a:off x="6248400" y="5080000"/>
            <a:ext cx="5334000" cy="12192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5" name="Picture 74" descr="badge-check_navy.png"/>
          <p:cNvPicPr>
            <a:picLocks noChangeAspect="1"/>
          </p:cNvPicPr>
          <p:nvPr/>
        </p:nvPicPr>
        <p:blipFill>
          <a:blip r:embed="rId11"/>
          <a:stretch>
            <a:fillRect/>
          </a:stretch>
        </p:blipFill>
        <p:spPr>
          <a:xfrm>
            <a:off x="6451600" y="5257800"/>
            <a:ext cx="304800" cy="304800"/>
          </a:xfrm>
          <a:prstGeom prst="rect">
            <a:avLst/>
          </a:prstGeom>
        </p:spPr>
      </p:pic>
      <p:sp>
        <p:nvSpPr>
          <p:cNvPr id="76" name="TextBox 75"/>
          <p:cNvSpPr txBox="1"/>
          <p:nvPr/>
        </p:nvSpPr>
        <p:spPr>
          <a:xfrm>
            <a:off x="6883400" y="52578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HYTERA</a:t>
            </a:r>
          </a:p>
        </p:txBody>
      </p:sp>
      <p:sp>
        <p:nvSpPr>
          <p:cNvPr id="77" name="TextBox 76"/>
          <p:cNvSpPr txBox="1"/>
          <p:nvPr/>
        </p:nvSpPr>
        <p:spPr>
          <a:xfrm>
            <a:off x="6451600" y="5664200"/>
            <a:ext cx="4927600" cy="508000"/>
          </a:xfrm>
          <a:prstGeom prst="rect">
            <a:avLst/>
          </a:prstGeom>
          <a:noFill/>
        </p:spPr>
        <p:txBody>
          <a:bodyPr wrap="square" lIns="0" rIns="0" tIns="0" bIns="0" anchor="t">
            <a:spAutoFit/>
          </a:bodyPr>
          <a:lstStyle/>
          <a:p>
            <a:pPr algn="l">
              <a:lnSpc>
                <a:spcPct val="120000"/>
              </a:lnSpc>
              <a:spcAft>
                <a:spcPts val="0"/>
              </a:spcAft>
            </a:pPr>
            <a:r>
              <a:rPr sz="1250" b="0">
                <a:solidFill>
                  <a:srgbClr val="16213E"/>
                </a:solidFill>
                <a:latin typeface="Segoe UI"/>
              </a:rPr>
              <a:t>Alliance-listed device and eNB supplier; 450connect whitelisted</a:t>
            </a:r>
          </a:p>
        </p:txBody>
      </p:sp>
      <p:sp>
        <p:nvSpPr>
          <p:cNvPr id="78" name="TextBox 77"/>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450M Roadmap; RRU5800M Product Description V3.5.01 §6.5; iBS3800 Product Description V3.0; MNC650 EU DoC (B31/B72); HyTalk MC V6.1; Alliance Equipment Report (May 2025) p5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03   ECOSYSTEM AND COMPATIBILITY</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16</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A 450 MHz Alliance member, built to plug into the network Globe runs</a:t>
            </a:r>
          </a:p>
        </p:txBody>
      </p:sp>
      <p:sp>
        <p:nvSpPr>
          <p:cNvPr id="10" name="TextBox 9"/>
          <p:cNvSpPr txBox="1"/>
          <p:nvPr/>
        </p:nvSpPr>
        <p:spPr>
          <a:xfrm>
            <a:off x="609600" y="1549400"/>
            <a:ext cx="4826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IN THE 450 MHZ ECOSYSTEM</a:t>
            </a:r>
          </a:p>
        </p:txBody>
      </p:sp>
      <p:sp>
        <p:nvSpPr>
          <p:cNvPr id="11" name="Rectangle 10"/>
          <p:cNvSpPr/>
          <p:nvPr/>
        </p:nvSpPr>
        <p:spPr>
          <a:xfrm>
            <a:off x="609600" y="1828800"/>
            <a:ext cx="4876800" cy="6604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812800" y="1943100"/>
            <a:ext cx="431800" cy="4318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badge-check_white.png"/>
          <p:cNvPicPr>
            <a:picLocks noChangeAspect="1"/>
          </p:cNvPicPr>
          <p:nvPr/>
        </p:nvPicPr>
        <p:blipFill>
          <a:blip r:embed="rId2"/>
          <a:stretch>
            <a:fillRect/>
          </a:stretch>
        </p:blipFill>
        <p:spPr>
          <a:xfrm>
            <a:off x="916432" y="2046732"/>
            <a:ext cx="224536" cy="224536"/>
          </a:xfrm>
          <a:prstGeom prst="rect">
            <a:avLst/>
          </a:prstGeom>
        </p:spPr>
      </p:pic>
      <p:sp>
        <p:nvSpPr>
          <p:cNvPr id="14" name="TextBox 13"/>
          <p:cNvSpPr txBox="1"/>
          <p:nvPr/>
        </p:nvSpPr>
        <p:spPr>
          <a:xfrm>
            <a:off x="1422400" y="1905000"/>
            <a:ext cx="3937000" cy="279400"/>
          </a:xfrm>
          <a:prstGeom prst="rect">
            <a:avLst/>
          </a:prstGeom>
          <a:noFill/>
        </p:spPr>
        <p:txBody>
          <a:bodyPr wrap="square" lIns="0" rIns="0" tIns="0" bIns="0" anchor="ctr">
            <a:spAutoFit/>
          </a:bodyPr>
          <a:lstStyle/>
          <a:p>
            <a:pPr algn="l">
              <a:lnSpc>
                <a:spcPct val="120000"/>
              </a:lnSpc>
              <a:spcAft>
                <a:spcPts val="0"/>
              </a:spcAft>
            </a:pPr>
            <a:r>
              <a:rPr sz="1300" b="0">
                <a:solidFill>
                  <a:srgbClr val="0B308E"/>
                </a:solidFill>
                <a:latin typeface="Segoe UI Semibold"/>
              </a:rPr>
              <a:t>450 MHz Alliance member</a:t>
            </a:r>
          </a:p>
        </p:txBody>
      </p:sp>
      <p:sp>
        <p:nvSpPr>
          <p:cNvPr id="15" name="TextBox 14"/>
          <p:cNvSpPr txBox="1"/>
          <p:nvPr/>
        </p:nvSpPr>
        <p:spPr>
          <a:xfrm>
            <a:off x="1422400" y="2171700"/>
            <a:ext cx="3937000" cy="2286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Joined August 2024</a:t>
            </a:r>
          </a:p>
        </p:txBody>
      </p:sp>
      <p:sp>
        <p:nvSpPr>
          <p:cNvPr id="16" name="Rectangle 15"/>
          <p:cNvSpPr/>
          <p:nvPr/>
        </p:nvSpPr>
        <p:spPr>
          <a:xfrm>
            <a:off x="609600" y="2565400"/>
            <a:ext cx="4876800" cy="660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812800" y="2679700"/>
            <a:ext cx="431800" cy="431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smartphone_white.png"/>
          <p:cNvPicPr>
            <a:picLocks noChangeAspect="1"/>
          </p:cNvPicPr>
          <p:nvPr/>
        </p:nvPicPr>
        <p:blipFill>
          <a:blip r:embed="rId3"/>
          <a:stretch>
            <a:fillRect/>
          </a:stretch>
        </p:blipFill>
        <p:spPr>
          <a:xfrm>
            <a:off x="916432" y="2783332"/>
            <a:ext cx="224536" cy="224536"/>
          </a:xfrm>
          <a:prstGeom prst="rect">
            <a:avLst/>
          </a:prstGeom>
        </p:spPr>
      </p:pic>
      <p:sp>
        <p:nvSpPr>
          <p:cNvPr id="19" name="TextBox 18"/>
          <p:cNvSpPr txBox="1"/>
          <p:nvPr/>
        </p:nvSpPr>
        <p:spPr>
          <a:xfrm>
            <a:off x="1422400" y="2641600"/>
            <a:ext cx="3937000" cy="279400"/>
          </a:xfrm>
          <a:prstGeom prst="rect">
            <a:avLst/>
          </a:prstGeom>
          <a:noFill/>
        </p:spPr>
        <p:txBody>
          <a:bodyPr wrap="square" lIns="0" rIns="0" tIns="0" bIns="0" anchor="ctr">
            <a:spAutoFit/>
          </a:bodyPr>
          <a:lstStyle/>
          <a:p>
            <a:pPr algn="l">
              <a:lnSpc>
                <a:spcPct val="120000"/>
              </a:lnSpc>
              <a:spcAft>
                <a:spcPts val="0"/>
              </a:spcAft>
            </a:pPr>
            <a:r>
              <a:rPr sz="1300" b="0">
                <a:solidFill>
                  <a:srgbClr val="0B308E"/>
                </a:solidFill>
                <a:latin typeface="Segoe UI Semibold"/>
              </a:rPr>
              <a:t>Alliance device supplier list</a:t>
            </a:r>
          </a:p>
        </p:txBody>
      </p:sp>
      <p:sp>
        <p:nvSpPr>
          <p:cNvPr id="20" name="TextBox 19"/>
          <p:cNvSpPr txBox="1"/>
          <p:nvPr/>
        </p:nvSpPr>
        <p:spPr>
          <a:xfrm>
            <a:off x="1422400" y="2908300"/>
            <a:ext cx="3937000" cy="2286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Equipment Report 2025</a:t>
            </a:r>
          </a:p>
        </p:txBody>
      </p:sp>
      <p:sp>
        <p:nvSpPr>
          <p:cNvPr id="21" name="Rectangle 20"/>
          <p:cNvSpPr/>
          <p:nvPr/>
        </p:nvSpPr>
        <p:spPr>
          <a:xfrm>
            <a:off x="609600" y="3302000"/>
            <a:ext cx="4876800" cy="660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12800" y="3416300"/>
            <a:ext cx="431800" cy="431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radio-tower_white.png"/>
          <p:cNvPicPr>
            <a:picLocks noChangeAspect="1"/>
          </p:cNvPicPr>
          <p:nvPr/>
        </p:nvPicPr>
        <p:blipFill>
          <a:blip r:embed="rId4"/>
          <a:stretch>
            <a:fillRect/>
          </a:stretch>
        </p:blipFill>
        <p:spPr>
          <a:xfrm>
            <a:off x="916432" y="3519932"/>
            <a:ext cx="224536" cy="224536"/>
          </a:xfrm>
          <a:prstGeom prst="rect">
            <a:avLst/>
          </a:prstGeom>
        </p:spPr>
      </p:pic>
      <p:sp>
        <p:nvSpPr>
          <p:cNvPr id="24" name="TextBox 23"/>
          <p:cNvSpPr txBox="1"/>
          <p:nvPr/>
        </p:nvSpPr>
        <p:spPr>
          <a:xfrm>
            <a:off x="1422400" y="3378200"/>
            <a:ext cx="3937000" cy="279400"/>
          </a:xfrm>
          <a:prstGeom prst="rect">
            <a:avLst/>
          </a:prstGeom>
          <a:noFill/>
        </p:spPr>
        <p:txBody>
          <a:bodyPr wrap="square" lIns="0" rIns="0" tIns="0" bIns="0" anchor="ctr">
            <a:spAutoFit/>
          </a:bodyPr>
          <a:lstStyle/>
          <a:p>
            <a:pPr algn="l">
              <a:lnSpc>
                <a:spcPct val="120000"/>
              </a:lnSpc>
              <a:spcAft>
                <a:spcPts val="0"/>
              </a:spcAft>
            </a:pPr>
            <a:r>
              <a:rPr sz="1300" b="0">
                <a:solidFill>
                  <a:srgbClr val="0B308E"/>
                </a:solidFill>
                <a:latin typeface="Segoe UI Semibold"/>
              </a:rPr>
              <a:t>Alliance macro eNB supplier list</a:t>
            </a:r>
          </a:p>
        </p:txBody>
      </p:sp>
      <p:sp>
        <p:nvSpPr>
          <p:cNvPr id="25" name="TextBox 24"/>
          <p:cNvSpPr txBox="1"/>
          <p:nvPr/>
        </p:nvSpPr>
        <p:spPr>
          <a:xfrm>
            <a:off x="1422400" y="3644900"/>
            <a:ext cx="3937000" cy="2286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Equipment Report 2025</a:t>
            </a:r>
          </a:p>
        </p:txBody>
      </p:sp>
      <p:sp>
        <p:nvSpPr>
          <p:cNvPr id="26" name="Rectangle 25"/>
          <p:cNvSpPr/>
          <p:nvPr/>
        </p:nvSpPr>
        <p:spPr>
          <a:xfrm>
            <a:off x="609600" y="4038600"/>
            <a:ext cx="4876800" cy="660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812800" y="4152900"/>
            <a:ext cx="431800" cy="431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8" name="Picture 27" descr="check_white.png"/>
          <p:cNvPicPr>
            <a:picLocks noChangeAspect="1"/>
          </p:cNvPicPr>
          <p:nvPr/>
        </p:nvPicPr>
        <p:blipFill>
          <a:blip r:embed="rId5"/>
          <a:stretch>
            <a:fillRect/>
          </a:stretch>
        </p:blipFill>
        <p:spPr>
          <a:xfrm>
            <a:off x="916432" y="4256532"/>
            <a:ext cx="224536" cy="224536"/>
          </a:xfrm>
          <a:prstGeom prst="rect">
            <a:avLst/>
          </a:prstGeom>
        </p:spPr>
      </p:pic>
      <p:sp>
        <p:nvSpPr>
          <p:cNvPr id="29" name="TextBox 28"/>
          <p:cNvSpPr txBox="1"/>
          <p:nvPr/>
        </p:nvSpPr>
        <p:spPr>
          <a:xfrm>
            <a:off x="1422400" y="4114800"/>
            <a:ext cx="3937000" cy="279400"/>
          </a:xfrm>
          <a:prstGeom prst="rect">
            <a:avLst/>
          </a:prstGeom>
          <a:noFill/>
        </p:spPr>
        <p:txBody>
          <a:bodyPr wrap="square" lIns="0" rIns="0" tIns="0" bIns="0" anchor="ctr">
            <a:spAutoFit/>
          </a:bodyPr>
          <a:lstStyle/>
          <a:p>
            <a:pPr algn="l">
              <a:lnSpc>
                <a:spcPct val="120000"/>
              </a:lnSpc>
              <a:spcAft>
                <a:spcPts val="0"/>
              </a:spcAft>
            </a:pPr>
            <a:r>
              <a:rPr sz="1300" b="0">
                <a:solidFill>
                  <a:srgbClr val="0B308E"/>
                </a:solidFill>
                <a:latin typeface="Segoe UI Semibold"/>
              </a:rPr>
              <a:t>Operator-accepted terminal</a:t>
            </a:r>
          </a:p>
        </p:txBody>
      </p:sp>
      <p:sp>
        <p:nvSpPr>
          <p:cNvPr id="30" name="TextBox 29"/>
          <p:cNvSpPr txBox="1"/>
          <p:nvPr/>
        </p:nvSpPr>
        <p:spPr>
          <a:xfrm>
            <a:off x="1422400" y="4381500"/>
            <a:ext cx="3937000" cy="2286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450connect whitelist, Germany</a:t>
            </a:r>
          </a:p>
        </p:txBody>
      </p:sp>
      <p:sp>
        <p:nvSpPr>
          <p:cNvPr id="31" name="Rectangle 30"/>
          <p:cNvSpPr/>
          <p:nvPr/>
        </p:nvSpPr>
        <p:spPr>
          <a:xfrm>
            <a:off x="609600" y="4775200"/>
            <a:ext cx="4876800" cy="660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Oval 31"/>
          <p:cNvSpPr/>
          <p:nvPr/>
        </p:nvSpPr>
        <p:spPr>
          <a:xfrm>
            <a:off x="812800" y="4889500"/>
            <a:ext cx="431800" cy="431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3" name="Picture 32" descr="layers_white.png"/>
          <p:cNvPicPr>
            <a:picLocks noChangeAspect="1"/>
          </p:cNvPicPr>
          <p:nvPr/>
        </p:nvPicPr>
        <p:blipFill>
          <a:blip r:embed="rId6"/>
          <a:stretch>
            <a:fillRect/>
          </a:stretch>
        </p:blipFill>
        <p:spPr>
          <a:xfrm>
            <a:off x="916432" y="4993132"/>
            <a:ext cx="224536" cy="224536"/>
          </a:xfrm>
          <a:prstGeom prst="rect">
            <a:avLst/>
          </a:prstGeom>
        </p:spPr>
      </p:pic>
      <p:sp>
        <p:nvSpPr>
          <p:cNvPr id="34" name="TextBox 33"/>
          <p:cNvSpPr txBox="1"/>
          <p:nvPr/>
        </p:nvSpPr>
        <p:spPr>
          <a:xfrm>
            <a:off x="1422400" y="4851400"/>
            <a:ext cx="3937000" cy="279400"/>
          </a:xfrm>
          <a:prstGeom prst="rect">
            <a:avLst/>
          </a:prstGeom>
          <a:noFill/>
        </p:spPr>
        <p:txBody>
          <a:bodyPr wrap="square" lIns="0" rIns="0" tIns="0" bIns="0" anchor="ctr">
            <a:spAutoFit/>
          </a:bodyPr>
          <a:lstStyle/>
          <a:p>
            <a:pPr algn="l">
              <a:lnSpc>
                <a:spcPct val="120000"/>
              </a:lnSpc>
              <a:spcAft>
                <a:spcPts val="0"/>
              </a:spcAft>
            </a:pPr>
            <a:r>
              <a:rPr sz="1300" b="0">
                <a:solidFill>
                  <a:srgbClr val="0B308E"/>
                </a:solidFill>
                <a:latin typeface="Segoe UI Semibold"/>
              </a:rPr>
              <a:t>Band 31 and Band 72 portfolio</a:t>
            </a:r>
          </a:p>
        </p:txBody>
      </p:sp>
      <p:sp>
        <p:nvSpPr>
          <p:cNvPr id="35" name="TextBox 34"/>
          <p:cNvSpPr txBox="1"/>
          <p:nvPr/>
        </p:nvSpPr>
        <p:spPr>
          <a:xfrm>
            <a:off x="1422400" y="5118100"/>
            <a:ext cx="3937000" cy="2286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Terminals, eNB and MCS platform</a:t>
            </a:r>
          </a:p>
        </p:txBody>
      </p:sp>
      <p:sp>
        <p:nvSpPr>
          <p:cNvPr id="36" name="TextBox 35"/>
          <p:cNvSpPr txBox="1"/>
          <p:nvPr/>
        </p:nvSpPr>
        <p:spPr>
          <a:xfrm>
            <a:off x="5791200" y="1549400"/>
            <a:ext cx="5791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COMPATIBLE BY DESIGN  ·  3GPP STANDARD INTERFACES</a:t>
            </a:r>
          </a:p>
        </p:txBody>
      </p:sp>
      <p:sp>
        <p:nvSpPr>
          <p:cNvPr id="37" name="Rectangle 36"/>
          <p:cNvSpPr/>
          <p:nvPr/>
        </p:nvSpPr>
        <p:spPr>
          <a:xfrm>
            <a:off x="5791200" y="1828800"/>
            <a:ext cx="2133600" cy="762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8" name="Picture 37" descr="smartphone_white.png"/>
          <p:cNvPicPr>
            <a:picLocks noChangeAspect="1"/>
          </p:cNvPicPr>
          <p:nvPr/>
        </p:nvPicPr>
        <p:blipFill>
          <a:blip r:embed="rId3"/>
          <a:stretch>
            <a:fillRect/>
          </a:stretch>
        </p:blipFill>
        <p:spPr>
          <a:xfrm>
            <a:off x="5943600" y="2057400"/>
            <a:ext cx="304800" cy="304800"/>
          </a:xfrm>
          <a:prstGeom prst="rect">
            <a:avLst/>
          </a:prstGeom>
        </p:spPr>
      </p:pic>
      <p:sp>
        <p:nvSpPr>
          <p:cNvPr id="39" name="TextBox 38"/>
          <p:cNvSpPr txBox="1"/>
          <p:nvPr/>
        </p:nvSpPr>
        <p:spPr>
          <a:xfrm>
            <a:off x="6350000" y="1828800"/>
            <a:ext cx="1498600" cy="762000"/>
          </a:xfrm>
          <a:prstGeom prst="rect">
            <a:avLst/>
          </a:prstGeom>
          <a:noFill/>
        </p:spPr>
        <p:txBody>
          <a:bodyPr wrap="square" lIns="0" rIns="0" tIns="0" bIns="0" anchor="ctr">
            <a:spAutoFit/>
          </a:bodyPr>
          <a:lstStyle/>
          <a:p>
            <a:pPr algn="l">
              <a:lnSpc>
                <a:spcPct val="110000"/>
              </a:lnSpc>
              <a:spcAft>
                <a:spcPts val="0"/>
              </a:spcAft>
            </a:pPr>
            <a:r>
              <a:rPr sz="1150" b="0">
                <a:solidFill>
                  <a:srgbClr val="FFFFFF"/>
                </a:solidFill>
                <a:latin typeface="Segoe UI Semibold"/>
              </a:rPr>
              <a:t>Hytera terminals</a:t>
            </a:r>
          </a:p>
        </p:txBody>
      </p:sp>
      <p:cxnSp>
        <p:nvCxnSpPr>
          <p:cNvPr id="40" name="Connector 39"/>
          <p:cNvCxnSpPr/>
          <p:nvPr/>
        </p:nvCxnSpPr>
        <p:spPr>
          <a:xfrm>
            <a:off x="7924800" y="2209800"/>
            <a:ext cx="1524000" cy="0"/>
          </a:xfrm>
          <a:prstGeom prst="line">
            <a:avLst/>
          </a:prstGeom>
          <a:ln w="15875">
            <a:solidFill>
              <a:srgbClr val="3A5BA8"/>
            </a:solidFill>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8178800" y="2070100"/>
            <a:ext cx="1016000" cy="279400"/>
          </a:xfrm>
          <a:prstGeom prst="round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8178800" y="2070100"/>
            <a:ext cx="1016000" cy="279400"/>
          </a:xfrm>
          <a:prstGeom prst="rect">
            <a:avLst/>
          </a:prstGeom>
          <a:noFill/>
        </p:spPr>
        <p:txBody>
          <a:bodyPr wrap="square" lIns="0" rIns="0" tIns="0" bIns="0" anchor="ctr">
            <a:spAutoFit/>
          </a:bodyPr>
          <a:lstStyle/>
          <a:p>
            <a:pPr algn="ctr">
              <a:lnSpc>
                <a:spcPct val="120000"/>
              </a:lnSpc>
              <a:spcAft>
                <a:spcPts val="0"/>
              </a:spcAft>
            </a:pPr>
            <a:r>
              <a:rPr sz="950" b="0">
                <a:solidFill>
                  <a:srgbClr val="0B308E"/>
                </a:solidFill>
                <a:latin typeface="Segoe UI Semibold"/>
              </a:rPr>
              <a:t>LTE Uu</a:t>
            </a:r>
          </a:p>
        </p:txBody>
      </p:sp>
      <p:sp>
        <p:nvSpPr>
          <p:cNvPr id="43" name="Rectangle 42"/>
          <p:cNvSpPr/>
          <p:nvPr/>
        </p:nvSpPr>
        <p:spPr>
          <a:xfrm>
            <a:off x="5791200" y="2743200"/>
            <a:ext cx="2133600" cy="762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4" name="Picture 43" descr="radio-tower_white.png"/>
          <p:cNvPicPr>
            <a:picLocks noChangeAspect="1"/>
          </p:cNvPicPr>
          <p:nvPr/>
        </p:nvPicPr>
        <p:blipFill>
          <a:blip r:embed="rId4"/>
          <a:stretch>
            <a:fillRect/>
          </a:stretch>
        </p:blipFill>
        <p:spPr>
          <a:xfrm>
            <a:off x="5943600" y="2971800"/>
            <a:ext cx="304800" cy="304800"/>
          </a:xfrm>
          <a:prstGeom prst="rect">
            <a:avLst/>
          </a:prstGeom>
        </p:spPr>
      </p:pic>
      <p:sp>
        <p:nvSpPr>
          <p:cNvPr id="45" name="TextBox 44"/>
          <p:cNvSpPr txBox="1"/>
          <p:nvPr/>
        </p:nvSpPr>
        <p:spPr>
          <a:xfrm>
            <a:off x="6350000" y="2743200"/>
            <a:ext cx="1498600" cy="762000"/>
          </a:xfrm>
          <a:prstGeom prst="rect">
            <a:avLst/>
          </a:prstGeom>
          <a:noFill/>
        </p:spPr>
        <p:txBody>
          <a:bodyPr wrap="square" lIns="0" rIns="0" tIns="0" bIns="0" anchor="ctr">
            <a:spAutoFit/>
          </a:bodyPr>
          <a:lstStyle/>
          <a:p>
            <a:pPr algn="l">
              <a:lnSpc>
                <a:spcPct val="110000"/>
              </a:lnSpc>
              <a:spcAft>
                <a:spcPts val="0"/>
              </a:spcAft>
            </a:pPr>
            <a:r>
              <a:rPr sz="1150" b="0">
                <a:solidFill>
                  <a:srgbClr val="FFFFFF"/>
                </a:solidFill>
                <a:latin typeface="Segoe UI Semibold"/>
              </a:rPr>
              <a:t>Hytera 450 MHz eNB</a:t>
            </a:r>
          </a:p>
        </p:txBody>
      </p:sp>
      <p:cxnSp>
        <p:nvCxnSpPr>
          <p:cNvPr id="46" name="Connector 45"/>
          <p:cNvCxnSpPr/>
          <p:nvPr/>
        </p:nvCxnSpPr>
        <p:spPr>
          <a:xfrm>
            <a:off x="7924800" y="3124200"/>
            <a:ext cx="1524000" cy="0"/>
          </a:xfrm>
          <a:prstGeom prst="line">
            <a:avLst/>
          </a:prstGeom>
          <a:ln w="15875">
            <a:solidFill>
              <a:srgbClr val="3A5BA8"/>
            </a:solidFill>
          </a:ln>
        </p:spPr>
        <p:style>
          <a:lnRef idx="2">
            <a:schemeClr val="accent1"/>
          </a:lnRef>
          <a:fillRef idx="0">
            <a:schemeClr val="accent1"/>
          </a:fillRef>
          <a:effectRef idx="1">
            <a:schemeClr val="accent1"/>
          </a:effectRef>
          <a:fontRef idx="minor">
            <a:schemeClr val="tx1"/>
          </a:fontRef>
        </p:style>
      </p:cxnSp>
      <p:sp>
        <p:nvSpPr>
          <p:cNvPr id="47" name="Rounded Rectangle 46"/>
          <p:cNvSpPr/>
          <p:nvPr/>
        </p:nvSpPr>
        <p:spPr>
          <a:xfrm>
            <a:off x="8178800" y="2984500"/>
            <a:ext cx="1016000" cy="279400"/>
          </a:xfrm>
          <a:prstGeom prst="round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8178800" y="2984500"/>
            <a:ext cx="1016000" cy="279400"/>
          </a:xfrm>
          <a:prstGeom prst="rect">
            <a:avLst/>
          </a:prstGeom>
          <a:noFill/>
        </p:spPr>
        <p:txBody>
          <a:bodyPr wrap="square" lIns="0" rIns="0" tIns="0" bIns="0" anchor="ctr">
            <a:spAutoFit/>
          </a:bodyPr>
          <a:lstStyle/>
          <a:p>
            <a:pPr algn="ctr">
              <a:lnSpc>
                <a:spcPct val="120000"/>
              </a:lnSpc>
              <a:spcAft>
                <a:spcPts val="0"/>
              </a:spcAft>
            </a:pPr>
            <a:r>
              <a:rPr sz="950" b="0">
                <a:solidFill>
                  <a:srgbClr val="0B308E"/>
                </a:solidFill>
                <a:latin typeface="Segoe UI Semibold"/>
              </a:rPr>
              <a:t>S1</a:t>
            </a:r>
          </a:p>
        </p:txBody>
      </p:sp>
      <p:sp>
        <p:nvSpPr>
          <p:cNvPr id="49" name="Rectangle 48"/>
          <p:cNvSpPr/>
          <p:nvPr/>
        </p:nvSpPr>
        <p:spPr>
          <a:xfrm>
            <a:off x="5791200" y="3657600"/>
            <a:ext cx="2133600" cy="762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0" name="Picture 49" descr="layers_white.png"/>
          <p:cNvPicPr>
            <a:picLocks noChangeAspect="1"/>
          </p:cNvPicPr>
          <p:nvPr/>
        </p:nvPicPr>
        <p:blipFill>
          <a:blip r:embed="rId6"/>
          <a:stretch>
            <a:fillRect/>
          </a:stretch>
        </p:blipFill>
        <p:spPr>
          <a:xfrm>
            <a:off x="5943600" y="3886200"/>
            <a:ext cx="304800" cy="304800"/>
          </a:xfrm>
          <a:prstGeom prst="rect">
            <a:avLst/>
          </a:prstGeom>
        </p:spPr>
      </p:pic>
      <p:sp>
        <p:nvSpPr>
          <p:cNvPr id="51" name="TextBox 50"/>
          <p:cNvSpPr txBox="1"/>
          <p:nvPr/>
        </p:nvSpPr>
        <p:spPr>
          <a:xfrm>
            <a:off x="6350000" y="3657600"/>
            <a:ext cx="1498600" cy="762000"/>
          </a:xfrm>
          <a:prstGeom prst="rect">
            <a:avLst/>
          </a:prstGeom>
          <a:noFill/>
        </p:spPr>
        <p:txBody>
          <a:bodyPr wrap="square" lIns="0" rIns="0" tIns="0" bIns="0" anchor="ctr">
            <a:spAutoFit/>
          </a:bodyPr>
          <a:lstStyle/>
          <a:p>
            <a:pPr algn="l">
              <a:lnSpc>
                <a:spcPct val="110000"/>
              </a:lnSpc>
              <a:spcAft>
                <a:spcPts val="0"/>
              </a:spcAft>
            </a:pPr>
            <a:r>
              <a:rPr sz="1150" b="0">
                <a:solidFill>
                  <a:srgbClr val="FFFFFF"/>
                </a:solidFill>
                <a:latin typeface="Segoe UI Semibold"/>
              </a:rPr>
              <a:t>Hytera MCS platform</a:t>
            </a:r>
          </a:p>
        </p:txBody>
      </p:sp>
      <p:cxnSp>
        <p:nvCxnSpPr>
          <p:cNvPr id="52" name="Connector 51"/>
          <p:cNvCxnSpPr/>
          <p:nvPr/>
        </p:nvCxnSpPr>
        <p:spPr>
          <a:xfrm>
            <a:off x="7924800" y="4038600"/>
            <a:ext cx="1524000" cy="0"/>
          </a:xfrm>
          <a:prstGeom prst="line">
            <a:avLst/>
          </a:prstGeom>
          <a:ln w="15875">
            <a:solidFill>
              <a:srgbClr val="3A5BA8"/>
            </a:solidFill>
          </a:ln>
        </p:spPr>
        <p:style>
          <a:lnRef idx="2">
            <a:schemeClr val="accent1"/>
          </a:lnRef>
          <a:fillRef idx="0">
            <a:schemeClr val="accent1"/>
          </a:fillRef>
          <a:effectRef idx="1">
            <a:schemeClr val="accent1"/>
          </a:effectRef>
          <a:fontRef idx="minor">
            <a:schemeClr val="tx1"/>
          </a:fontRef>
        </p:style>
      </p:cxnSp>
      <p:sp>
        <p:nvSpPr>
          <p:cNvPr id="53" name="Rounded Rectangle 52"/>
          <p:cNvSpPr/>
          <p:nvPr/>
        </p:nvSpPr>
        <p:spPr>
          <a:xfrm>
            <a:off x="8178800" y="3898900"/>
            <a:ext cx="1016000" cy="279400"/>
          </a:xfrm>
          <a:prstGeom prst="round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TextBox 53"/>
          <p:cNvSpPr txBox="1"/>
          <p:nvPr/>
        </p:nvSpPr>
        <p:spPr>
          <a:xfrm>
            <a:off x="8178800" y="3898900"/>
            <a:ext cx="1016000" cy="279400"/>
          </a:xfrm>
          <a:prstGeom prst="rect">
            <a:avLst/>
          </a:prstGeom>
          <a:noFill/>
        </p:spPr>
        <p:txBody>
          <a:bodyPr wrap="square" lIns="0" rIns="0" tIns="0" bIns="0" anchor="ctr">
            <a:spAutoFit/>
          </a:bodyPr>
          <a:lstStyle/>
          <a:p>
            <a:pPr algn="ctr">
              <a:lnSpc>
                <a:spcPct val="120000"/>
              </a:lnSpc>
              <a:spcAft>
                <a:spcPts val="0"/>
              </a:spcAft>
            </a:pPr>
            <a:r>
              <a:rPr sz="950" b="0">
                <a:solidFill>
                  <a:srgbClr val="0B308E"/>
                </a:solidFill>
                <a:latin typeface="Segoe UI Semibold"/>
              </a:rPr>
              <a:t>SIP / MCX</a:t>
            </a:r>
          </a:p>
        </p:txBody>
      </p:sp>
      <p:sp>
        <p:nvSpPr>
          <p:cNvPr id="55" name="Rectangle 54"/>
          <p:cNvSpPr/>
          <p:nvPr/>
        </p:nvSpPr>
        <p:spPr>
          <a:xfrm>
            <a:off x="9448800" y="1828800"/>
            <a:ext cx="2133600" cy="25908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Rectangle 55"/>
          <p:cNvSpPr/>
          <p:nvPr/>
        </p:nvSpPr>
        <p:spPr>
          <a:xfrm>
            <a:off x="9448800" y="1828800"/>
            <a:ext cx="2133600" cy="508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7" name="Picture 56" descr="server_green.png"/>
          <p:cNvPicPr>
            <a:picLocks noChangeAspect="1"/>
          </p:cNvPicPr>
          <p:nvPr/>
        </p:nvPicPr>
        <p:blipFill>
          <a:blip r:embed="rId7"/>
          <a:stretch>
            <a:fillRect/>
          </a:stretch>
        </p:blipFill>
        <p:spPr>
          <a:xfrm>
            <a:off x="9652000" y="2057400"/>
            <a:ext cx="381000" cy="381000"/>
          </a:xfrm>
          <a:prstGeom prst="rect">
            <a:avLst/>
          </a:prstGeom>
        </p:spPr>
      </p:pic>
      <p:sp>
        <p:nvSpPr>
          <p:cNvPr id="58" name="TextBox 57"/>
          <p:cNvSpPr txBox="1"/>
          <p:nvPr/>
        </p:nvSpPr>
        <p:spPr>
          <a:xfrm>
            <a:off x="9652000" y="2514600"/>
            <a:ext cx="1778000" cy="508000"/>
          </a:xfrm>
          <a:prstGeom prst="rect">
            <a:avLst/>
          </a:prstGeom>
          <a:noFill/>
        </p:spPr>
        <p:txBody>
          <a:bodyPr wrap="square" lIns="0" rIns="0" tIns="0" bIns="0" anchor="t">
            <a:spAutoFit/>
          </a:bodyPr>
          <a:lstStyle/>
          <a:p>
            <a:pPr algn="l">
              <a:lnSpc>
                <a:spcPct val="110000"/>
              </a:lnSpc>
              <a:spcAft>
                <a:spcPts val="0"/>
              </a:spcAft>
            </a:pPr>
            <a:r>
              <a:rPr sz="1300" b="0">
                <a:solidFill>
                  <a:srgbClr val="0B308E"/>
                </a:solidFill>
                <a:latin typeface="Segoe UI Semibold"/>
              </a:rPr>
              <a:t>Globe’s existing core</a:t>
            </a:r>
          </a:p>
        </p:txBody>
      </p:sp>
      <p:sp>
        <p:nvSpPr>
          <p:cNvPr id="59" name="TextBox 58"/>
          <p:cNvSpPr txBox="1"/>
          <p:nvPr/>
        </p:nvSpPr>
        <p:spPr>
          <a:xfrm>
            <a:off x="9652000" y="3022600"/>
            <a:ext cx="1778000" cy="2286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EPC / 5GC from</a:t>
            </a:r>
          </a:p>
        </p:txBody>
      </p:sp>
      <p:pic>
        <p:nvPicPr>
          <p:cNvPr id="60" name="Picture 59" descr="check_green.png"/>
          <p:cNvPicPr>
            <a:picLocks noChangeAspect="1"/>
          </p:cNvPicPr>
          <p:nvPr/>
        </p:nvPicPr>
        <p:blipFill>
          <a:blip r:embed="rId8"/>
          <a:stretch>
            <a:fillRect/>
          </a:stretch>
        </p:blipFill>
        <p:spPr>
          <a:xfrm>
            <a:off x="9652000" y="3327400"/>
            <a:ext cx="152400" cy="152400"/>
          </a:xfrm>
          <a:prstGeom prst="rect">
            <a:avLst/>
          </a:prstGeom>
        </p:spPr>
      </p:pic>
      <p:sp>
        <p:nvSpPr>
          <p:cNvPr id="61" name="TextBox 60"/>
          <p:cNvSpPr txBox="1"/>
          <p:nvPr/>
        </p:nvSpPr>
        <p:spPr>
          <a:xfrm>
            <a:off x="9880600" y="3276600"/>
            <a:ext cx="1524000" cy="254000"/>
          </a:xfrm>
          <a:prstGeom prst="rect">
            <a:avLst/>
          </a:prstGeom>
          <a:noFill/>
        </p:spPr>
        <p:txBody>
          <a:bodyPr wrap="square" lIns="0" rIns="0" tIns="0" bIns="0" anchor="ctr">
            <a:spAutoFit/>
          </a:bodyPr>
          <a:lstStyle/>
          <a:p>
            <a:pPr algn="l">
              <a:lnSpc>
                <a:spcPct val="120000"/>
              </a:lnSpc>
              <a:spcAft>
                <a:spcPts val="0"/>
              </a:spcAft>
            </a:pPr>
            <a:r>
              <a:rPr sz="1150" b="0">
                <a:solidFill>
                  <a:srgbClr val="16213E"/>
                </a:solidFill>
                <a:latin typeface="Segoe UI Semibold"/>
              </a:rPr>
              <a:t>Huawei</a:t>
            </a:r>
          </a:p>
        </p:txBody>
      </p:sp>
      <p:pic>
        <p:nvPicPr>
          <p:cNvPr id="62" name="Picture 61" descr="check_green.png"/>
          <p:cNvPicPr>
            <a:picLocks noChangeAspect="1"/>
          </p:cNvPicPr>
          <p:nvPr/>
        </p:nvPicPr>
        <p:blipFill>
          <a:blip r:embed="rId8"/>
          <a:stretch>
            <a:fillRect/>
          </a:stretch>
        </p:blipFill>
        <p:spPr>
          <a:xfrm>
            <a:off x="9652000" y="3581400"/>
            <a:ext cx="152400" cy="152400"/>
          </a:xfrm>
          <a:prstGeom prst="rect">
            <a:avLst/>
          </a:prstGeom>
        </p:spPr>
      </p:pic>
      <p:sp>
        <p:nvSpPr>
          <p:cNvPr id="63" name="TextBox 62"/>
          <p:cNvSpPr txBox="1"/>
          <p:nvPr/>
        </p:nvSpPr>
        <p:spPr>
          <a:xfrm>
            <a:off x="9880600" y="3530600"/>
            <a:ext cx="1524000" cy="254000"/>
          </a:xfrm>
          <a:prstGeom prst="rect">
            <a:avLst/>
          </a:prstGeom>
          <a:noFill/>
        </p:spPr>
        <p:txBody>
          <a:bodyPr wrap="square" lIns="0" rIns="0" tIns="0" bIns="0" anchor="ctr">
            <a:spAutoFit/>
          </a:bodyPr>
          <a:lstStyle/>
          <a:p>
            <a:pPr algn="l">
              <a:lnSpc>
                <a:spcPct val="120000"/>
              </a:lnSpc>
              <a:spcAft>
                <a:spcPts val="0"/>
              </a:spcAft>
            </a:pPr>
            <a:r>
              <a:rPr sz="1150" b="0">
                <a:solidFill>
                  <a:srgbClr val="16213E"/>
                </a:solidFill>
                <a:latin typeface="Segoe UI Semibold"/>
              </a:rPr>
              <a:t>ZTE</a:t>
            </a:r>
          </a:p>
        </p:txBody>
      </p:sp>
      <p:pic>
        <p:nvPicPr>
          <p:cNvPr id="64" name="Picture 63" descr="check_green.png"/>
          <p:cNvPicPr>
            <a:picLocks noChangeAspect="1"/>
          </p:cNvPicPr>
          <p:nvPr/>
        </p:nvPicPr>
        <p:blipFill>
          <a:blip r:embed="rId8"/>
          <a:stretch>
            <a:fillRect/>
          </a:stretch>
        </p:blipFill>
        <p:spPr>
          <a:xfrm>
            <a:off x="9652000" y="3835400"/>
            <a:ext cx="152400" cy="152400"/>
          </a:xfrm>
          <a:prstGeom prst="rect">
            <a:avLst/>
          </a:prstGeom>
        </p:spPr>
      </p:pic>
      <p:sp>
        <p:nvSpPr>
          <p:cNvPr id="65" name="TextBox 64"/>
          <p:cNvSpPr txBox="1"/>
          <p:nvPr/>
        </p:nvSpPr>
        <p:spPr>
          <a:xfrm>
            <a:off x="9880600" y="3784600"/>
            <a:ext cx="1524000" cy="254000"/>
          </a:xfrm>
          <a:prstGeom prst="rect">
            <a:avLst/>
          </a:prstGeom>
          <a:noFill/>
        </p:spPr>
        <p:txBody>
          <a:bodyPr wrap="square" lIns="0" rIns="0" tIns="0" bIns="0" anchor="ctr">
            <a:spAutoFit/>
          </a:bodyPr>
          <a:lstStyle/>
          <a:p>
            <a:pPr algn="l">
              <a:lnSpc>
                <a:spcPct val="120000"/>
              </a:lnSpc>
              <a:spcAft>
                <a:spcPts val="0"/>
              </a:spcAft>
            </a:pPr>
            <a:r>
              <a:rPr sz="1150" b="0">
                <a:solidFill>
                  <a:srgbClr val="16213E"/>
                </a:solidFill>
                <a:latin typeface="Segoe UI Semibold"/>
              </a:rPr>
              <a:t>Nokia</a:t>
            </a:r>
          </a:p>
        </p:txBody>
      </p:sp>
      <p:pic>
        <p:nvPicPr>
          <p:cNvPr id="66" name="Picture 65" descr="check_green.png"/>
          <p:cNvPicPr>
            <a:picLocks noChangeAspect="1"/>
          </p:cNvPicPr>
          <p:nvPr/>
        </p:nvPicPr>
        <p:blipFill>
          <a:blip r:embed="rId8"/>
          <a:stretch>
            <a:fillRect/>
          </a:stretch>
        </p:blipFill>
        <p:spPr>
          <a:xfrm>
            <a:off x="9652000" y="4089400"/>
            <a:ext cx="152400" cy="152400"/>
          </a:xfrm>
          <a:prstGeom prst="rect">
            <a:avLst/>
          </a:prstGeom>
        </p:spPr>
      </p:pic>
      <p:sp>
        <p:nvSpPr>
          <p:cNvPr id="67" name="TextBox 66"/>
          <p:cNvSpPr txBox="1"/>
          <p:nvPr/>
        </p:nvSpPr>
        <p:spPr>
          <a:xfrm>
            <a:off x="9880600" y="4038600"/>
            <a:ext cx="1524000" cy="254000"/>
          </a:xfrm>
          <a:prstGeom prst="rect">
            <a:avLst/>
          </a:prstGeom>
          <a:noFill/>
        </p:spPr>
        <p:txBody>
          <a:bodyPr wrap="square" lIns="0" rIns="0" tIns="0" bIns="0" anchor="ctr">
            <a:spAutoFit/>
          </a:bodyPr>
          <a:lstStyle/>
          <a:p>
            <a:pPr algn="l">
              <a:lnSpc>
                <a:spcPct val="120000"/>
              </a:lnSpc>
              <a:spcAft>
                <a:spcPts val="0"/>
              </a:spcAft>
            </a:pPr>
            <a:r>
              <a:rPr sz="1150" b="0">
                <a:solidFill>
                  <a:srgbClr val="16213E"/>
                </a:solidFill>
                <a:latin typeface="Segoe UI Semibold"/>
              </a:rPr>
              <a:t>Ericsson</a:t>
            </a:r>
          </a:p>
        </p:txBody>
      </p:sp>
      <p:sp>
        <p:nvSpPr>
          <p:cNvPr id="68" name="Rectangle 67"/>
          <p:cNvSpPr/>
          <p:nvPr/>
        </p:nvSpPr>
        <p:spPr>
          <a:xfrm>
            <a:off x="5791200" y="4597400"/>
            <a:ext cx="5791200" cy="8382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9" name="Picture 68" descr="network_navy.png"/>
          <p:cNvPicPr>
            <a:picLocks noChangeAspect="1"/>
          </p:cNvPicPr>
          <p:nvPr/>
        </p:nvPicPr>
        <p:blipFill>
          <a:blip r:embed="rId9"/>
          <a:stretch>
            <a:fillRect/>
          </a:stretch>
        </p:blipFill>
        <p:spPr>
          <a:xfrm>
            <a:off x="5994400" y="4826000"/>
            <a:ext cx="381000" cy="381000"/>
          </a:xfrm>
          <a:prstGeom prst="rect">
            <a:avLst/>
          </a:prstGeom>
        </p:spPr>
      </p:pic>
      <p:sp>
        <p:nvSpPr>
          <p:cNvPr id="70" name="TextBox 69"/>
          <p:cNvSpPr txBox="1"/>
          <p:nvPr/>
        </p:nvSpPr>
        <p:spPr>
          <a:xfrm>
            <a:off x="6527800" y="4673600"/>
            <a:ext cx="4876800" cy="381000"/>
          </a:xfrm>
          <a:prstGeom prst="rect">
            <a:avLst/>
          </a:prstGeom>
          <a:noFill/>
        </p:spPr>
        <p:txBody>
          <a:bodyPr wrap="square" lIns="0" rIns="0" tIns="0" bIns="0" anchor="ctr">
            <a:spAutoFit/>
          </a:bodyPr>
          <a:lstStyle/>
          <a:p>
            <a:pPr algn="l">
              <a:lnSpc>
                <a:spcPct val="120000"/>
              </a:lnSpc>
              <a:spcAft>
                <a:spcPts val="0"/>
              </a:spcAft>
            </a:pPr>
            <a:r>
              <a:rPr sz="1300" b="0">
                <a:solidFill>
                  <a:srgbClr val="0B308E"/>
                </a:solidFill>
                <a:latin typeface="Segoe UI Semibold"/>
              </a:rPr>
              <a:t>Multi-vendor by standard</a:t>
            </a:r>
          </a:p>
        </p:txBody>
      </p:sp>
      <p:sp>
        <p:nvSpPr>
          <p:cNvPr id="71" name="TextBox 70"/>
          <p:cNvSpPr txBox="1"/>
          <p:nvPr/>
        </p:nvSpPr>
        <p:spPr>
          <a:xfrm>
            <a:off x="6527800" y="5003800"/>
            <a:ext cx="4876800" cy="381000"/>
          </a:xfrm>
          <a:prstGeom prst="rect">
            <a:avLst/>
          </a:prstGeom>
          <a:noFill/>
        </p:spPr>
        <p:txBody>
          <a:bodyPr wrap="square" lIns="0" rIns="0" tIns="0" bIns="0" anchor="ctr">
            <a:spAutoFit/>
          </a:bodyPr>
          <a:lstStyle/>
          <a:p>
            <a:pPr algn="l">
              <a:lnSpc>
                <a:spcPct val="115000"/>
              </a:lnSpc>
              <a:spcAft>
                <a:spcPts val="0"/>
              </a:spcAft>
            </a:pPr>
            <a:r>
              <a:rPr sz="1050" b="0">
                <a:solidFill>
                  <a:srgbClr val="55607A"/>
                </a:solidFill>
                <a:latin typeface="Segoe UI"/>
              </a:rPr>
              <a:t>The Alliance’s eNB list itself spans Ericsson, Huawei, Hytera, Nokia and ZTE.</a:t>
            </a:r>
          </a:p>
        </p:txBody>
      </p:sp>
      <p:sp>
        <p:nvSpPr>
          <p:cNvPr id="72" name="Rectangle 71"/>
          <p:cNvSpPr/>
          <p:nvPr/>
        </p:nvSpPr>
        <p:spPr>
          <a:xfrm>
            <a:off x="609600" y="5740400"/>
            <a:ext cx="10972800" cy="5080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3" name="Picture 72" descr="handshake_navy.png"/>
          <p:cNvPicPr>
            <a:picLocks noChangeAspect="1"/>
          </p:cNvPicPr>
          <p:nvPr/>
        </p:nvPicPr>
        <p:blipFill>
          <a:blip r:embed="rId10"/>
          <a:stretch>
            <a:fillRect/>
          </a:stretch>
        </p:blipFill>
        <p:spPr>
          <a:xfrm>
            <a:off x="812800" y="5867400"/>
            <a:ext cx="254000" cy="254000"/>
          </a:xfrm>
          <a:prstGeom prst="rect">
            <a:avLst/>
          </a:prstGeom>
        </p:spPr>
      </p:pic>
      <p:sp>
        <p:nvSpPr>
          <p:cNvPr id="74" name="TextBox 73"/>
          <p:cNvSpPr txBox="1"/>
          <p:nvPr/>
        </p:nvSpPr>
        <p:spPr>
          <a:xfrm>
            <a:off x="1219200" y="5740400"/>
            <a:ext cx="10160000" cy="508000"/>
          </a:xfrm>
          <a:prstGeom prst="rect">
            <a:avLst/>
          </a:prstGeom>
          <a:noFill/>
        </p:spPr>
        <p:txBody>
          <a:bodyPr wrap="square" lIns="0" rIns="0" tIns="0" bIns="0" anchor="ctr">
            <a:spAutoFit/>
          </a:bodyPr>
          <a:lstStyle/>
          <a:p>
            <a:pPr algn="l">
              <a:lnSpc>
                <a:spcPct val="130000"/>
              </a:lnSpc>
            </a:pPr>
            <a:r>
              <a:rPr sz="1250" b="0">
                <a:solidFill>
                  <a:srgbClr val="0B308E"/>
                </a:solidFill>
                <a:latin typeface="Segoe UI Semibold"/>
              </a:rPr>
              <a:t>For Globe:   </a:t>
            </a:r>
            <a:r>
              <a:rPr sz="1250" b="0">
                <a:solidFill>
                  <a:srgbClr val="16213E"/>
                </a:solidFill>
                <a:latin typeface="Segoe UI"/>
              </a:rPr>
              <a:t>add Hytera radio and terminals without replacing the core you run today. Interoperability is verified per project.</a:t>
            </a:r>
          </a:p>
        </p:txBody>
      </p:sp>
      <p:sp>
        <p:nvSpPr>
          <p:cNvPr id="75" name="TextBox 74"/>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Hytera news release (Aug 2024); 450 MHz Alliance, Equipment Report (May 2025) p5 §4.1-4.2; 450connect whitelist; 3GPP TS 36.300 / 36.413 / 23.280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03   REFERENCES</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17</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Three 450 MHz networks, three national mission-critical deployments</a:t>
            </a:r>
          </a:p>
        </p:txBody>
      </p:sp>
      <p:pic>
        <p:nvPicPr>
          <p:cNvPr id="10" name="Picture 9" descr="radio-tower_green.png"/>
          <p:cNvPicPr>
            <a:picLocks noChangeAspect="1"/>
          </p:cNvPicPr>
          <p:nvPr/>
        </p:nvPicPr>
        <p:blipFill>
          <a:blip r:embed="rId2"/>
          <a:stretch>
            <a:fillRect/>
          </a:stretch>
        </p:blipFill>
        <p:spPr>
          <a:xfrm>
            <a:off x="609600" y="1549400"/>
            <a:ext cx="228600" cy="228600"/>
          </a:xfrm>
          <a:prstGeom prst="rect">
            <a:avLst/>
          </a:prstGeom>
        </p:spPr>
      </p:pic>
      <p:sp>
        <p:nvSpPr>
          <p:cNvPr id="11" name="TextBox 10"/>
          <p:cNvSpPr txBox="1"/>
          <p:nvPr/>
        </p:nvSpPr>
        <p:spPr>
          <a:xfrm>
            <a:off x="965200" y="1549400"/>
            <a:ext cx="7620000" cy="2286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450 MHZ NETWORKS  ·  OPERATOR NETWORKS</a:t>
            </a:r>
          </a:p>
        </p:txBody>
      </p:sp>
      <p:sp>
        <p:nvSpPr>
          <p:cNvPr id="12" name="Rectangle 11"/>
          <p:cNvSpPr/>
          <p:nvPr/>
        </p:nvSpPr>
        <p:spPr>
          <a:xfrm>
            <a:off x="609600" y="1854200"/>
            <a:ext cx="3454400" cy="1905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09600" y="1854200"/>
            <a:ext cx="1320800" cy="1905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4" name="Picture 13" descr="loc_germany.png"/>
          <p:cNvPicPr>
            <a:picLocks noChangeAspect="1"/>
          </p:cNvPicPr>
          <p:nvPr/>
        </p:nvPicPr>
        <p:blipFill>
          <a:blip r:embed="rId3"/>
          <a:stretch>
            <a:fillRect/>
          </a:stretch>
        </p:blipFill>
        <p:spPr>
          <a:xfrm>
            <a:off x="609600" y="1854200"/>
            <a:ext cx="1320800" cy="1905000"/>
          </a:xfrm>
          <a:prstGeom prst="rect">
            <a:avLst/>
          </a:prstGeom>
        </p:spPr>
      </p:pic>
      <p:sp>
        <p:nvSpPr>
          <p:cNvPr id="15" name="TextBox 14"/>
          <p:cNvSpPr txBox="1"/>
          <p:nvPr/>
        </p:nvSpPr>
        <p:spPr>
          <a:xfrm>
            <a:off x="2108200" y="2006600"/>
            <a:ext cx="1854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GERMANY</a:t>
            </a:r>
          </a:p>
        </p:txBody>
      </p:sp>
      <p:sp>
        <p:nvSpPr>
          <p:cNvPr id="16" name="TextBox 15"/>
          <p:cNvSpPr txBox="1"/>
          <p:nvPr/>
        </p:nvSpPr>
        <p:spPr>
          <a:xfrm>
            <a:off x="2108200" y="2209800"/>
            <a:ext cx="1854200" cy="254000"/>
          </a:xfrm>
          <a:prstGeom prst="rect">
            <a:avLst/>
          </a:prstGeom>
          <a:noFill/>
        </p:spPr>
        <p:txBody>
          <a:bodyPr wrap="square" lIns="0" rIns="0" tIns="0" bIns="0" anchor="ctr">
            <a:spAutoFit/>
          </a:bodyPr>
          <a:lstStyle/>
          <a:p>
            <a:pPr algn="l">
              <a:lnSpc>
                <a:spcPct val="120000"/>
              </a:lnSpc>
              <a:spcAft>
                <a:spcPts val="0"/>
              </a:spcAft>
            </a:pPr>
            <a:r>
              <a:rPr sz="1350" b="0">
                <a:solidFill>
                  <a:srgbClr val="0B308E"/>
                </a:solidFill>
                <a:latin typeface="Segoe UI Semibold"/>
              </a:rPr>
              <a:t>450connect</a:t>
            </a:r>
          </a:p>
        </p:txBody>
      </p:sp>
      <p:sp>
        <p:nvSpPr>
          <p:cNvPr id="17" name="TextBox 16"/>
          <p:cNvSpPr txBox="1"/>
          <p:nvPr/>
        </p:nvSpPr>
        <p:spPr>
          <a:xfrm>
            <a:off x="2108200" y="2489200"/>
            <a:ext cx="1854200" cy="431800"/>
          </a:xfrm>
          <a:prstGeom prst="rect">
            <a:avLst/>
          </a:prstGeom>
          <a:noFill/>
        </p:spPr>
        <p:txBody>
          <a:bodyPr wrap="square" lIns="0" rIns="0" tIns="0" bIns="0" anchor="ctr">
            <a:spAutoFit/>
          </a:bodyPr>
          <a:lstStyle/>
          <a:p>
            <a:pPr algn="l">
              <a:lnSpc>
                <a:spcPct val="120000"/>
              </a:lnSpc>
              <a:spcAft>
                <a:spcPts val="0"/>
              </a:spcAft>
            </a:pPr>
            <a:r>
              <a:rPr sz="2600" b="0">
                <a:solidFill>
                  <a:srgbClr val="7F9B00"/>
                </a:solidFill>
                <a:latin typeface="Segoe UI Light"/>
              </a:rPr>
              <a:t>B72</a:t>
            </a:r>
          </a:p>
        </p:txBody>
      </p:sp>
      <p:sp>
        <p:nvSpPr>
          <p:cNvPr id="18" name="TextBox 17"/>
          <p:cNvSpPr txBox="1"/>
          <p:nvPr/>
        </p:nvSpPr>
        <p:spPr>
          <a:xfrm>
            <a:off x="2108200" y="2921000"/>
            <a:ext cx="1854200" cy="2032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national utility network</a:t>
            </a:r>
          </a:p>
        </p:txBody>
      </p:sp>
      <p:pic>
        <p:nvPicPr>
          <p:cNvPr id="19" name="Picture 18" descr="check_green.png"/>
          <p:cNvPicPr>
            <a:picLocks noChangeAspect="1"/>
          </p:cNvPicPr>
          <p:nvPr/>
        </p:nvPicPr>
        <p:blipFill>
          <a:blip r:embed="rId4"/>
          <a:stretch>
            <a:fillRect/>
          </a:stretch>
        </p:blipFill>
        <p:spPr>
          <a:xfrm>
            <a:off x="2108200" y="3251200"/>
            <a:ext cx="152400" cy="152400"/>
          </a:xfrm>
          <a:prstGeom prst="rect">
            <a:avLst/>
          </a:prstGeom>
        </p:spPr>
      </p:pic>
      <p:sp>
        <p:nvSpPr>
          <p:cNvPr id="20" name="TextBox 19"/>
          <p:cNvSpPr txBox="1"/>
          <p:nvPr/>
        </p:nvSpPr>
        <p:spPr>
          <a:xfrm>
            <a:off x="2336800" y="32004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&gt;95% coverage</a:t>
            </a:r>
          </a:p>
        </p:txBody>
      </p:sp>
      <p:pic>
        <p:nvPicPr>
          <p:cNvPr id="21" name="Picture 20" descr="check_green.png"/>
          <p:cNvPicPr>
            <a:picLocks noChangeAspect="1"/>
          </p:cNvPicPr>
          <p:nvPr/>
        </p:nvPicPr>
        <p:blipFill>
          <a:blip r:embed="rId4"/>
          <a:stretch>
            <a:fillRect/>
          </a:stretch>
        </p:blipFill>
        <p:spPr>
          <a:xfrm>
            <a:off x="2108200" y="3505200"/>
            <a:ext cx="152400" cy="152400"/>
          </a:xfrm>
          <a:prstGeom prst="rect">
            <a:avLst/>
          </a:prstGeom>
        </p:spPr>
      </p:pic>
      <p:sp>
        <p:nvSpPr>
          <p:cNvPr id="22" name="TextBox 21"/>
          <p:cNvSpPr txBox="1"/>
          <p:nvPr/>
        </p:nvSpPr>
        <p:spPr>
          <a:xfrm>
            <a:off x="2336800" y="34544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PNC660 whitelisted</a:t>
            </a:r>
          </a:p>
        </p:txBody>
      </p:sp>
      <p:sp>
        <p:nvSpPr>
          <p:cNvPr id="23" name="Rectangle 22"/>
          <p:cNvSpPr/>
          <p:nvPr/>
        </p:nvSpPr>
        <p:spPr>
          <a:xfrm>
            <a:off x="4368800" y="1854200"/>
            <a:ext cx="3454400" cy="1905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4368800" y="1854200"/>
            <a:ext cx="1320800" cy="1905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5" name="Picture 24" descr="loc_malaysia.png"/>
          <p:cNvPicPr>
            <a:picLocks noChangeAspect="1"/>
          </p:cNvPicPr>
          <p:nvPr/>
        </p:nvPicPr>
        <p:blipFill>
          <a:blip r:embed="rId5"/>
          <a:stretch>
            <a:fillRect/>
          </a:stretch>
        </p:blipFill>
        <p:spPr>
          <a:xfrm>
            <a:off x="4368800" y="1854200"/>
            <a:ext cx="1320800" cy="1905000"/>
          </a:xfrm>
          <a:prstGeom prst="rect">
            <a:avLst/>
          </a:prstGeom>
        </p:spPr>
      </p:pic>
      <p:sp>
        <p:nvSpPr>
          <p:cNvPr id="26" name="TextBox 25"/>
          <p:cNvSpPr txBox="1"/>
          <p:nvPr/>
        </p:nvSpPr>
        <p:spPr>
          <a:xfrm>
            <a:off x="5867400" y="2006600"/>
            <a:ext cx="1854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MALAYSIA</a:t>
            </a:r>
          </a:p>
        </p:txBody>
      </p:sp>
      <p:sp>
        <p:nvSpPr>
          <p:cNvPr id="27" name="TextBox 26"/>
          <p:cNvSpPr txBox="1"/>
          <p:nvPr/>
        </p:nvSpPr>
        <p:spPr>
          <a:xfrm>
            <a:off x="5867400" y="2209800"/>
            <a:ext cx="1854200" cy="254000"/>
          </a:xfrm>
          <a:prstGeom prst="rect">
            <a:avLst/>
          </a:prstGeom>
          <a:noFill/>
        </p:spPr>
        <p:txBody>
          <a:bodyPr wrap="square" lIns="0" rIns="0" tIns="0" bIns="0" anchor="ctr">
            <a:spAutoFit/>
          </a:bodyPr>
          <a:lstStyle/>
          <a:p>
            <a:pPr algn="l">
              <a:lnSpc>
                <a:spcPct val="120000"/>
              </a:lnSpc>
              <a:spcAft>
                <a:spcPts val="0"/>
              </a:spcAft>
            </a:pPr>
            <a:r>
              <a:rPr sz="1350" b="0">
                <a:solidFill>
                  <a:srgbClr val="0B308E"/>
                </a:solidFill>
                <a:latin typeface="Segoe UI Semibold"/>
              </a:rPr>
              <a:t>TNB</a:t>
            </a:r>
          </a:p>
        </p:txBody>
      </p:sp>
      <p:sp>
        <p:nvSpPr>
          <p:cNvPr id="28" name="TextBox 27"/>
          <p:cNvSpPr txBox="1"/>
          <p:nvPr/>
        </p:nvSpPr>
        <p:spPr>
          <a:xfrm>
            <a:off x="5867400" y="2489200"/>
            <a:ext cx="1854200" cy="431800"/>
          </a:xfrm>
          <a:prstGeom prst="rect">
            <a:avLst/>
          </a:prstGeom>
          <a:noFill/>
        </p:spPr>
        <p:txBody>
          <a:bodyPr wrap="square" lIns="0" rIns="0" tIns="0" bIns="0" anchor="ctr">
            <a:spAutoFit/>
          </a:bodyPr>
          <a:lstStyle/>
          <a:p>
            <a:pPr algn="l">
              <a:lnSpc>
                <a:spcPct val="120000"/>
              </a:lnSpc>
              <a:spcAft>
                <a:spcPts val="0"/>
              </a:spcAft>
            </a:pPr>
            <a:r>
              <a:rPr sz="2600" b="0">
                <a:solidFill>
                  <a:srgbClr val="7F9B00"/>
                </a:solidFill>
                <a:latin typeface="Segoe UI Light"/>
              </a:rPr>
              <a:t>B31</a:t>
            </a:r>
          </a:p>
        </p:txBody>
      </p:sp>
      <p:sp>
        <p:nvSpPr>
          <p:cNvPr id="29" name="TextBox 28"/>
          <p:cNvSpPr txBox="1"/>
          <p:nvPr/>
        </p:nvSpPr>
        <p:spPr>
          <a:xfrm>
            <a:off x="5867400" y="2921000"/>
            <a:ext cx="1854200" cy="2032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utility network</a:t>
            </a:r>
          </a:p>
        </p:txBody>
      </p:sp>
      <p:pic>
        <p:nvPicPr>
          <p:cNvPr id="30" name="Picture 29" descr="check_green.png"/>
          <p:cNvPicPr>
            <a:picLocks noChangeAspect="1"/>
          </p:cNvPicPr>
          <p:nvPr/>
        </p:nvPicPr>
        <p:blipFill>
          <a:blip r:embed="rId4"/>
          <a:stretch>
            <a:fillRect/>
          </a:stretch>
        </p:blipFill>
        <p:spPr>
          <a:xfrm>
            <a:off x="5867400" y="3251200"/>
            <a:ext cx="152400" cy="152400"/>
          </a:xfrm>
          <a:prstGeom prst="rect">
            <a:avLst/>
          </a:prstGeom>
        </p:spPr>
      </p:pic>
      <p:sp>
        <p:nvSpPr>
          <p:cNvPr id="31" name="TextBox 30"/>
          <p:cNvSpPr txBox="1"/>
          <p:nvPr/>
        </p:nvSpPr>
        <p:spPr>
          <a:xfrm>
            <a:off x="6096000" y="32004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Phase 1: 4 areas</a:t>
            </a:r>
          </a:p>
        </p:txBody>
      </p:sp>
      <p:pic>
        <p:nvPicPr>
          <p:cNvPr id="32" name="Picture 31" descr="check_green.png"/>
          <p:cNvPicPr>
            <a:picLocks noChangeAspect="1"/>
          </p:cNvPicPr>
          <p:nvPr/>
        </p:nvPicPr>
        <p:blipFill>
          <a:blip r:embed="rId4"/>
          <a:stretch>
            <a:fillRect/>
          </a:stretch>
        </p:blipFill>
        <p:spPr>
          <a:xfrm>
            <a:off x="5867400" y="3505200"/>
            <a:ext cx="152400" cy="152400"/>
          </a:xfrm>
          <a:prstGeom prst="rect">
            <a:avLst/>
          </a:prstGeom>
        </p:spPr>
      </p:pic>
      <p:sp>
        <p:nvSpPr>
          <p:cNvPr id="33" name="TextBox 32"/>
          <p:cNvSpPr txBox="1"/>
          <p:nvPr/>
        </p:nvSpPr>
        <p:spPr>
          <a:xfrm>
            <a:off x="6096000" y="34544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Phase 2 tendering</a:t>
            </a:r>
          </a:p>
        </p:txBody>
      </p:sp>
      <p:sp>
        <p:nvSpPr>
          <p:cNvPr id="34" name="Rectangle 33"/>
          <p:cNvSpPr/>
          <p:nvPr/>
        </p:nvSpPr>
        <p:spPr>
          <a:xfrm>
            <a:off x="8128000" y="1854200"/>
            <a:ext cx="3454400" cy="1905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8128000" y="1854200"/>
            <a:ext cx="1320800" cy="1905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6" name="Picture 35" descr="loc_singapore.png"/>
          <p:cNvPicPr>
            <a:picLocks noChangeAspect="1"/>
          </p:cNvPicPr>
          <p:nvPr/>
        </p:nvPicPr>
        <p:blipFill>
          <a:blip r:embed="rId6"/>
          <a:stretch>
            <a:fillRect/>
          </a:stretch>
        </p:blipFill>
        <p:spPr>
          <a:xfrm>
            <a:off x="8128000" y="1854200"/>
            <a:ext cx="1320800" cy="1905000"/>
          </a:xfrm>
          <a:prstGeom prst="rect">
            <a:avLst/>
          </a:prstGeom>
        </p:spPr>
      </p:pic>
      <p:sp>
        <p:nvSpPr>
          <p:cNvPr id="37" name="TextBox 36"/>
          <p:cNvSpPr txBox="1"/>
          <p:nvPr/>
        </p:nvSpPr>
        <p:spPr>
          <a:xfrm>
            <a:off x="9626600" y="2006600"/>
            <a:ext cx="1854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SINGAPORE</a:t>
            </a:r>
          </a:p>
        </p:txBody>
      </p:sp>
      <p:sp>
        <p:nvSpPr>
          <p:cNvPr id="38" name="TextBox 37"/>
          <p:cNvSpPr txBox="1"/>
          <p:nvPr/>
        </p:nvSpPr>
        <p:spPr>
          <a:xfrm>
            <a:off x="9626600" y="2209800"/>
            <a:ext cx="1854200" cy="254000"/>
          </a:xfrm>
          <a:prstGeom prst="rect">
            <a:avLst/>
          </a:prstGeom>
          <a:noFill/>
        </p:spPr>
        <p:txBody>
          <a:bodyPr wrap="square" lIns="0" rIns="0" tIns="0" bIns="0" anchor="ctr">
            <a:spAutoFit/>
          </a:bodyPr>
          <a:lstStyle/>
          <a:p>
            <a:pPr algn="l">
              <a:lnSpc>
                <a:spcPct val="120000"/>
              </a:lnSpc>
              <a:spcAft>
                <a:spcPts val="0"/>
              </a:spcAft>
            </a:pPr>
            <a:r>
              <a:rPr sz="1350" b="0">
                <a:solidFill>
                  <a:srgbClr val="0B308E"/>
                </a:solidFill>
                <a:latin typeface="Segoe UI Semibold"/>
              </a:rPr>
              <a:t>Public safety</a:t>
            </a:r>
          </a:p>
        </p:txBody>
      </p:sp>
      <p:sp>
        <p:nvSpPr>
          <p:cNvPr id="39" name="TextBox 38"/>
          <p:cNvSpPr txBox="1"/>
          <p:nvPr/>
        </p:nvSpPr>
        <p:spPr>
          <a:xfrm>
            <a:off x="9626600" y="2489200"/>
            <a:ext cx="1854200" cy="431800"/>
          </a:xfrm>
          <a:prstGeom prst="rect">
            <a:avLst/>
          </a:prstGeom>
          <a:noFill/>
        </p:spPr>
        <p:txBody>
          <a:bodyPr wrap="square" lIns="0" rIns="0" tIns="0" bIns="0" anchor="ctr">
            <a:spAutoFit/>
          </a:bodyPr>
          <a:lstStyle/>
          <a:p>
            <a:pPr algn="l">
              <a:lnSpc>
                <a:spcPct val="120000"/>
              </a:lnSpc>
              <a:spcAft>
                <a:spcPts val="0"/>
              </a:spcAft>
            </a:pPr>
            <a:r>
              <a:rPr sz="2600" b="0">
                <a:solidFill>
                  <a:srgbClr val="7F9B00"/>
                </a:solidFill>
                <a:latin typeface="Segoe UI Light"/>
              </a:rPr>
              <a:t>B31</a:t>
            </a:r>
          </a:p>
        </p:txBody>
      </p:sp>
      <p:sp>
        <p:nvSpPr>
          <p:cNvPr id="40" name="TextBox 39"/>
          <p:cNvSpPr txBox="1"/>
          <p:nvPr/>
        </p:nvSpPr>
        <p:spPr>
          <a:xfrm>
            <a:off x="9626600" y="2921000"/>
            <a:ext cx="1854200" cy="2032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public safety network</a:t>
            </a:r>
          </a:p>
        </p:txBody>
      </p:sp>
      <p:pic>
        <p:nvPicPr>
          <p:cNvPr id="41" name="Picture 40" descr="check_green.png"/>
          <p:cNvPicPr>
            <a:picLocks noChangeAspect="1"/>
          </p:cNvPicPr>
          <p:nvPr/>
        </p:nvPicPr>
        <p:blipFill>
          <a:blip r:embed="rId4"/>
          <a:stretch>
            <a:fillRect/>
          </a:stretch>
        </p:blipFill>
        <p:spPr>
          <a:xfrm>
            <a:off x="9626600" y="3251200"/>
            <a:ext cx="152400" cy="152400"/>
          </a:xfrm>
          <a:prstGeom prst="rect">
            <a:avLst/>
          </a:prstGeom>
        </p:spPr>
      </p:pic>
      <p:sp>
        <p:nvSpPr>
          <p:cNvPr id="42" name="TextBox 41"/>
          <p:cNvSpPr txBox="1"/>
          <p:nvPr/>
        </p:nvSpPr>
        <p:spPr>
          <a:xfrm>
            <a:off x="9855200" y="32004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In service</a:t>
            </a:r>
          </a:p>
        </p:txBody>
      </p:sp>
      <p:pic>
        <p:nvPicPr>
          <p:cNvPr id="43" name="Picture 42" descr="check_green.png"/>
          <p:cNvPicPr>
            <a:picLocks noChangeAspect="1"/>
          </p:cNvPicPr>
          <p:nvPr/>
        </p:nvPicPr>
        <p:blipFill>
          <a:blip r:embed="rId4"/>
          <a:stretch>
            <a:fillRect/>
          </a:stretch>
        </p:blipFill>
        <p:spPr>
          <a:xfrm>
            <a:off x="9626600" y="3505200"/>
            <a:ext cx="152400" cy="152400"/>
          </a:xfrm>
          <a:prstGeom prst="rect">
            <a:avLst/>
          </a:prstGeom>
        </p:spPr>
      </p:pic>
      <p:sp>
        <p:nvSpPr>
          <p:cNvPr id="44" name="TextBox 43"/>
          <p:cNvSpPr txBox="1"/>
          <p:nvPr/>
        </p:nvSpPr>
        <p:spPr>
          <a:xfrm>
            <a:off x="9855200" y="34544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Same band as PH</a:t>
            </a:r>
          </a:p>
        </p:txBody>
      </p:sp>
      <p:pic>
        <p:nvPicPr>
          <p:cNvPr id="45" name="Picture 44" descr="layers_navy.png"/>
          <p:cNvPicPr>
            <a:picLocks noChangeAspect="1"/>
          </p:cNvPicPr>
          <p:nvPr/>
        </p:nvPicPr>
        <p:blipFill>
          <a:blip r:embed="rId7"/>
          <a:stretch>
            <a:fillRect/>
          </a:stretch>
        </p:blipFill>
        <p:spPr>
          <a:xfrm>
            <a:off x="609600" y="3911600"/>
            <a:ext cx="228600" cy="228600"/>
          </a:xfrm>
          <a:prstGeom prst="rect">
            <a:avLst/>
          </a:prstGeom>
        </p:spPr>
      </p:pic>
      <p:sp>
        <p:nvSpPr>
          <p:cNvPr id="46" name="TextBox 45"/>
          <p:cNvSpPr txBox="1"/>
          <p:nvPr/>
        </p:nvSpPr>
        <p:spPr>
          <a:xfrm>
            <a:off x="965200" y="3911600"/>
            <a:ext cx="7620000" cy="2286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HYTERA MISSION-CRITICAL DEPLOYMENTS AT NATIONAL SCALE</a:t>
            </a:r>
          </a:p>
        </p:txBody>
      </p:sp>
      <p:sp>
        <p:nvSpPr>
          <p:cNvPr id="47" name="Rectangle 46"/>
          <p:cNvSpPr/>
          <p:nvPr/>
        </p:nvSpPr>
        <p:spPr>
          <a:xfrm>
            <a:off x="609600" y="4216400"/>
            <a:ext cx="3454400" cy="1905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8" name="Picture 47" descr="v6_4c49d82c37.jpg"/>
          <p:cNvPicPr>
            <a:picLocks noChangeAspect="1"/>
          </p:cNvPicPr>
          <p:nvPr/>
        </p:nvPicPr>
        <p:blipFill>
          <a:blip r:embed="rId8"/>
          <a:srcRect l="30500" r="30500"/>
          <a:stretch>
            <a:fillRect/>
          </a:stretch>
        </p:blipFill>
        <p:spPr>
          <a:xfrm>
            <a:off x="609600" y="4216400"/>
            <a:ext cx="1320800" cy="1905000"/>
          </a:xfrm>
          <a:prstGeom prst="rect">
            <a:avLst/>
          </a:prstGeom>
        </p:spPr>
      </p:pic>
      <p:sp>
        <p:nvSpPr>
          <p:cNvPr id="49" name="TextBox 48"/>
          <p:cNvSpPr txBox="1"/>
          <p:nvPr/>
        </p:nvSpPr>
        <p:spPr>
          <a:xfrm>
            <a:off x="2108200" y="4368800"/>
            <a:ext cx="1854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0B308E"/>
                </a:solidFill>
                <a:latin typeface="Segoe UI Semibold"/>
              </a:rPr>
              <a:t>SRI LANKA</a:t>
            </a:r>
          </a:p>
        </p:txBody>
      </p:sp>
      <p:sp>
        <p:nvSpPr>
          <p:cNvPr id="50" name="TextBox 49"/>
          <p:cNvSpPr txBox="1"/>
          <p:nvPr/>
        </p:nvSpPr>
        <p:spPr>
          <a:xfrm>
            <a:off x="2108200" y="4572000"/>
            <a:ext cx="1854200" cy="254000"/>
          </a:xfrm>
          <a:prstGeom prst="rect">
            <a:avLst/>
          </a:prstGeom>
          <a:noFill/>
        </p:spPr>
        <p:txBody>
          <a:bodyPr wrap="square" lIns="0" rIns="0" tIns="0" bIns="0" anchor="ctr">
            <a:spAutoFit/>
          </a:bodyPr>
          <a:lstStyle/>
          <a:p>
            <a:pPr algn="l">
              <a:lnSpc>
                <a:spcPct val="120000"/>
              </a:lnSpc>
              <a:spcAft>
                <a:spcPts val="0"/>
              </a:spcAft>
            </a:pPr>
            <a:r>
              <a:rPr sz="1350" b="0">
                <a:solidFill>
                  <a:srgbClr val="0B308E"/>
                </a:solidFill>
                <a:latin typeface="Segoe UI Semibold"/>
              </a:rPr>
              <a:t>Railways</a:t>
            </a:r>
          </a:p>
        </p:txBody>
      </p:sp>
      <p:sp>
        <p:nvSpPr>
          <p:cNvPr id="51" name="TextBox 50"/>
          <p:cNvSpPr txBox="1"/>
          <p:nvPr/>
        </p:nvSpPr>
        <p:spPr>
          <a:xfrm>
            <a:off x="2108200" y="4851400"/>
            <a:ext cx="1854200" cy="431800"/>
          </a:xfrm>
          <a:prstGeom prst="rect">
            <a:avLst/>
          </a:prstGeom>
          <a:noFill/>
        </p:spPr>
        <p:txBody>
          <a:bodyPr wrap="square" lIns="0" rIns="0" tIns="0" bIns="0" anchor="ctr">
            <a:spAutoFit/>
          </a:bodyPr>
          <a:lstStyle/>
          <a:p>
            <a:pPr algn="l">
              <a:lnSpc>
                <a:spcPct val="120000"/>
              </a:lnSpc>
              <a:spcAft>
                <a:spcPts val="0"/>
              </a:spcAft>
            </a:pPr>
            <a:r>
              <a:rPr sz="2600" b="0">
                <a:solidFill>
                  <a:srgbClr val="0B308E"/>
                </a:solidFill>
                <a:latin typeface="Segoe UI Light"/>
              </a:rPr>
              <a:t>1,950+</a:t>
            </a:r>
          </a:p>
        </p:txBody>
      </p:sp>
      <p:sp>
        <p:nvSpPr>
          <p:cNvPr id="52" name="TextBox 51"/>
          <p:cNvSpPr txBox="1"/>
          <p:nvPr/>
        </p:nvSpPr>
        <p:spPr>
          <a:xfrm>
            <a:off x="2108200" y="5283200"/>
            <a:ext cx="1854200" cy="2032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MCS terminals</a:t>
            </a:r>
          </a:p>
        </p:txBody>
      </p:sp>
      <p:pic>
        <p:nvPicPr>
          <p:cNvPr id="53" name="Picture 52" descr="check_green.png"/>
          <p:cNvPicPr>
            <a:picLocks noChangeAspect="1"/>
          </p:cNvPicPr>
          <p:nvPr/>
        </p:nvPicPr>
        <p:blipFill>
          <a:blip r:embed="rId4"/>
          <a:stretch>
            <a:fillRect/>
          </a:stretch>
        </p:blipFill>
        <p:spPr>
          <a:xfrm>
            <a:off x="2108200" y="5613400"/>
            <a:ext cx="152400" cy="152400"/>
          </a:xfrm>
          <a:prstGeom prst="rect">
            <a:avLst/>
          </a:prstGeom>
        </p:spPr>
      </p:pic>
      <p:sp>
        <p:nvSpPr>
          <p:cNvPr id="54" name="TextBox 53"/>
          <p:cNvSpPr txBox="1"/>
          <p:nvPr/>
        </p:nvSpPr>
        <p:spPr>
          <a:xfrm>
            <a:off x="2336800" y="55626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9 lines, 403 stations</a:t>
            </a:r>
          </a:p>
        </p:txBody>
      </p:sp>
      <p:pic>
        <p:nvPicPr>
          <p:cNvPr id="55" name="Picture 54" descr="check_green.png"/>
          <p:cNvPicPr>
            <a:picLocks noChangeAspect="1"/>
          </p:cNvPicPr>
          <p:nvPr/>
        </p:nvPicPr>
        <p:blipFill>
          <a:blip r:embed="rId4"/>
          <a:stretch>
            <a:fillRect/>
          </a:stretch>
        </p:blipFill>
        <p:spPr>
          <a:xfrm>
            <a:off x="2108200" y="5867400"/>
            <a:ext cx="152400" cy="152400"/>
          </a:xfrm>
          <a:prstGeom prst="rect">
            <a:avLst/>
          </a:prstGeom>
        </p:spPr>
      </p:pic>
      <p:sp>
        <p:nvSpPr>
          <p:cNvPr id="56" name="TextBox 55"/>
          <p:cNvSpPr txBox="1"/>
          <p:nvPr/>
        </p:nvSpPr>
        <p:spPr>
          <a:xfrm>
            <a:off x="2336800" y="58166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Dialog: 450 licence</a:t>
            </a:r>
          </a:p>
        </p:txBody>
      </p:sp>
      <p:sp>
        <p:nvSpPr>
          <p:cNvPr id="57" name="Rectangle 56"/>
          <p:cNvSpPr/>
          <p:nvPr/>
        </p:nvSpPr>
        <p:spPr>
          <a:xfrm>
            <a:off x="4368800" y="4216400"/>
            <a:ext cx="3454400" cy="1905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8" name="Picture 57" descr="v6_9add975c86.jpg"/>
          <p:cNvPicPr>
            <a:picLocks noChangeAspect="1"/>
          </p:cNvPicPr>
          <p:nvPr/>
        </p:nvPicPr>
        <p:blipFill>
          <a:blip r:embed="rId9"/>
          <a:srcRect t="33" b="33"/>
          <a:stretch>
            <a:fillRect/>
          </a:stretch>
        </p:blipFill>
        <p:spPr>
          <a:xfrm>
            <a:off x="4368800" y="4216400"/>
            <a:ext cx="1320800" cy="1905000"/>
          </a:xfrm>
          <a:prstGeom prst="rect">
            <a:avLst/>
          </a:prstGeom>
        </p:spPr>
      </p:pic>
      <p:sp>
        <p:nvSpPr>
          <p:cNvPr id="59" name="TextBox 58"/>
          <p:cNvSpPr txBox="1"/>
          <p:nvPr/>
        </p:nvSpPr>
        <p:spPr>
          <a:xfrm>
            <a:off x="5867400" y="4368800"/>
            <a:ext cx="1854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0B308E"/>
                </a:solidFill>
                <a:latin typeface="Segoe UI Semibold"/>
              </a:rPr>
              <a:t>HONG KONG</a:t>
            </a:r>
          </a:p>
        </p:txBody>
      </p:sp>
      <p:sp>
        <p:nvSpPr>
          <p:cNvPr id="60" name="TextBox 59"/>
          <p:cNvSpPr txBox="1"/>
          <p:nvPr/>
        </p:nvSpPr>
        <p:spPr>
          <a:xfrm>
            <a:off x="5867400" y="4572000"/>
            <a:ext cx="1854200" cy="254000"/>
          </a:xfrm>
          <a:prstGeom prst="rect">
            <a:avLst/>
          </a:prstGeom>
          <a:noFill/>
        </p:spPr>
        <p:txBody>
          <a:bodyPr wrap="square" lIns="0" rIns="0" tIns="0" bIns="0" anchor="ctr">
            <a:spAutoFit/>
          </a:bodyPr>
          <a:lstStyle/>
          <a:p>
            <a:pPr algn="l">
              <a:lnSpc>
                <a:spcPct val="120000"/>
              </a:lnSpc>
              <a:spcAft>
                <a:spcPts val="0"/>
              </a:spcAft>
            </a:pPr>
            <a:r>
              <a:rPr sz="1350" b="0">
                <a:solidFill>
                  <a:srgbClr val="0B308E"/>
                </a:solidFill>
                <a:latin typeface="Segoe UI Semibold"/>
              </a:rPr>
              <a:t>Light Rail</a:t>
            </a:r>
          </a:p>
        </p:txBody>
      </p:sp>
      <p:sp>
        <p:nvSpPr>
          <p:cNvPr id="61" name="TextBox 60"/>
          <p:cNvSpPr txBox="1"/>
          <p:nvPr/>
        </p:nvSpPr>
        <p:spPr>
          <a:xfrm>
            <a:off x="5867400" y="4851400"/>
            <a:ext cx="1854200" cy="431800"/>
          </a:xfrm>
          <a:prstGeom prst="rect">
            <a:avLst/>
          </a:prstGeom>
          <a:noFill/>
        </p:spPr>
        <p:txBody>
          <a:bodyPr wrap="square" lIns="0" rIns="0" tIns="0" bIns="0" anchor="ctr">
            <a:spAutoFit/>
          </a:bodyPr>
          <a:lstStyle/>
          <a:p>
            <a:pPr algn="l">
              <a:lnSpc>
                <a:spcPct val="120000"/>
              </a:lnSpc>
              <a:spcAft>
                <a:spcPts val="0"/>
              </a:spcAft>
            </a:pPr>
            <a:r>
              <a:rPr sz="2600" b="0">
                <a:solidFill>
                  <a:srgbClr val="0B308E"/>
                </a:solidFill>
                <a:latin typeface="Segoe UI Light"/>
              </a:rPr>
              <a:t>810</a:t>
            </a:r>
          </a:p>
        </p:txBody>
      </p:sp>
      <p:sp>
        <p:nvSpPr>
          <p:cNvPr id="62" name="TextBox 61"/>
          <p:cNvSpPr txBox="1"/>
          <p:nvPr/>
        </p:nvSpPr>
        <p:spPr>
          <a:xfrm>
            <a:off x="5867400" y="5283200"/>
            <a:ext cx="1854200" cy="2032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MCS terminals</a:t>
            </a:r>
          </a:p>
        </p:txBody>
      </p:sp>
      <p:pic>
        <p:nvPicPr>
          <p:cNvPr id="63" name="Picture 62" descr="check_green.png"/>
          <p:cNvPicPr>
            <a:picLocks noChangeAspect="1"/>
          </p:cNvPicPr>
          <p:nvPr/>
        </p:nvPicPr>
        <p:blipFill>
          <a:blip r:embed="rId4"/>
          <a:stretch>
            <a:fillRect/>
          </a:stretch>
        </p:blipFill>
        <p:spPr>
          <a:xfrm>
            <a:off x="5867400" y="5613400"/>
            <a:ext cx="152400" cy="152400"/>
          </a:xfrm>
          <a:prstGeom prst="rect">
            <a:avLst/>
          </a:prstGeom>
        </p:spPr>
      </p:pic>
      <p:sp>
        <p:nvSpPr>
          <p:cNvPr id="64" name="TextBox 63"/>
          <p:cNvSpPr txBox="1"/>
          <p:nvPr/>
        </p:nvSpPr>
        <p:spPr>
          <a:xfrm>
            <a:off x="6096000" y="55626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1st railway MCS on 5G</a:t>
            </a:r>
          </a:p>
        </p:txBody>
      </p:sp>
      <p:pic>
        <p:nvPicPr>
          <p:cNvPr id="65" name="Picture 64" descr="check_green.png"/>
          <p:cNvPicPr>
            <a:picLocks noChangeAspect="1"/>
          </p:cNvPicPr>
          <p:nvPr/>
        </p:nvPicPr>
        <p:blipFill>
          <a:blip r:embed="rId4"/>
          <a:stretch>
            <a:fillRect/>
          </a:stretch>
        </p:blipFill>
        <p:spPr>
          <a:xfrm>
            <a:off x="5867400" y="5867400"/>
            <a:ext cx="152400" cy="152400"/>
          </a:xfrm>
          <a:prstGeom prst="rect">
            <a:avLst/>
          </a:prstGeom>
        </p:spPr>
      </p:pic>
      <p:sp>
        <p:nvSpPr>
          <p:cNvPr id="66" name="TextBox 65"/>
          <p:cNvSpPr txBox="1"/>
          <p:nvPr/>
        </p:nvSpPr>
        <p:spPr>
          <a:xfrm>
            <a:off x="6096000" y="58166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Replaced TETRA</a:t>
            </a:r>
          </a:p>
        </p:txBody>
      </p:sp>
      <p:sp>
        <p:nvSpPr>
          <p:cNvPr id="67" name="Rectangle 66"/>
          <p:cNvSpPr/>
          <p:nvPr/>
        </p:nvSpPr>
        <p:spPr>
          <a:xfrm>
            <a:off x="8128000" y="4216400"/>
            <a:ext cx="3454400" cy="1905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8" name="Picture 67" descr="v6_0316e38593.jpg"/>
          <p:cNvPicPr>
            <a:picLocks noChangeAspect="1"/>
          </p:cNvPicPr>
          <p:nvPr/>
        </p:nvPicPr>
        <p:blipFill>
          <a:blip r:embed="rId10"/>
          <a:srcRect l="24000" r="24000"/>
          <a:stretch>
            <a:fillRect/>
          </a:stretch>
        </p:blipFill>
        <p:spPr>
          <a:xfrm>
            <a:off x="8128000" y="4216400"/>
            <a:ext cx="1320800" cy="1905000"/>
          </a:xfrm>
          <a:prstGeom prst="rect">
            <a:avLst/>
          </a:prstGeom>
        </p:spPr>
      </p:pic>
      <p:sp>
        <p:nvSpPr>
          <p:cNvPr id="69" name="TextBox 68"/>
          <p:cNvSpPr txBox="1"/>
          <p:nvPr/>
        </p:nvSpPr>
        <p:spPr>
          <a:xfrm>
            <a:off x="9626600" y="4368800"/>
            <a:ext cx="1854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0B308E"/>
                </a:solidFill>
                <a:latin typeface="Segoe UI Semibold"/>
              </a:rPr>
              <a:t>PAPUA NEW GUINEA</a:t>
            </a:r>
          </a:p>
        </p:txBody>
      </p:sp>
      <p:sp>
        <p:nvSpPr>
          <p:cNvPr id="70" name="TextBox 69"/>
          <p:cNvSpPr txBox="1"/>
          <p:nvPr/>
        </p:nvSpPr>
        <p:spPr>
          <a:xfrm>
            <a:off x="9626600" y="4572000"/>
            <a:ext cx="1854200" cy="254000"/>
          </a:xfrm>
          <a:prstGeom prst="rect">
            <a:avLst/>
          </a:prstGeom>
          <a:noFill/>
        </p:spPr>
        <p:txBody>
          <a:bodyPr wrap="square" lIns="0" rIns="0" tIns="0" bIns="0" anchor="ctr">
            <a:spAutoFit/>
          </a:bodyPr>
          <a:lstStyle/>
          <a:p>
            <a:pPr algn="l">
              <a:lnSpc>
                <a:spcPct val="120000"/>
              </a:lnSpc>
              <a:spcAft>
                <a:spcPts val="0"/>
              </a:spcAft>
            </a:pPr>
            <a:r>
              <a:rPr sz="1350" b="0">
                <a:solidFill>
                  <a:srgbClr val="0B308E"/>
                </a:solidFill>
                <a:latin typeface="Segoe UI Semibold"/>
              </a:rPr>
              <a:t>Police HQ</a:t>
            </a:r>
          </a:p>
        </p:txBody>
      </p:sp>
      <p:sp>
        <p:nvSpPr>
          <p:cNvPr id="71" name="TextBox 70"/>
          <p:cNvSpPr txBox="1"/>
          <p:nvPr/>
        </p:nvSpPr>
        <p:spPr>
          <a:xfrm>
            <a:off x="9626600" y="4851400"/>
            <a:ext cx="1854200" cy="431800"/>
          </a:xfrm>
          <a:prstGeom prst="rect">
            <a:avLst/>
          </a:prstGeom>
          <a:noFill/>
        </p:spPr>
        <p:txBody>
          <a:bodyPr wrap="square" lIns="0" rIns="0" tIns="0" bIns="0" anchor="ctr">
            <a:spAutoFit/>
          </a:bodyPr>
          <a:lstStyle/>
          <a:p>
            <a:pPr algn="l">
              <a:lnSpc>
                <a:spcPct val="120000"/>
              </a:lnSpc>
              <a:spcAft>
                <a:spcPts val="0"/>
              </a:spcAft>
            </a:pPr>
            <a:r>
              <a:rPr sz="2600" b="0">
                <a:solidFill>
                  <a:srgbClr val="0B308E"/>
                </a:solidFill>
                <a:latin typeface="Segoe UI Light"/>
              </a:rPr>
              <a:t>3,000</a:t>
            </a:r>
          </a:p>
        </p:txBody>
      </p:sp>
      <p:sp>
        <p:nvSpPr>
          <p:cNvPr id="72" name="TextBox 71"/>
          <p:cNvSpPr txBox="1"/>
          <p:nvPr/>
        </p:nvSpPr>
        <p:spPr>
          <a:xfrm>
            <a:off x="9626600" y="5283200"/>
            <a:ext cx="1854200" cy="2032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officers served</a:t>
            </a:r>
          </a:p>
        </p:txBody>
      </p:sp>
      <p:pic>
        <p:nvPicPr>
          <p:cNvPr id="73" name="Picture 72" descr="check_green.png"/>
          <p:cNvPicPr>
            <a:picLocks noChangeAspect="1"/>
          </p:cNvPicPr>
          <p:nvPr/>
        </p:nvPicPr>
        <p:blipFill>
          <a:blip r:embed="rId4"/>
          <a:stretch>
            <a:fillRect/>
          </a:stretch>
        </p:blipFill>
        <p:spPr>
          <a:xfrm>
            <a:off x="9626600" y="5613400"/>
            <a:ext cx="152400" cy="152400"/>
          </a:xfrm>
          <a:prstGeom prst="rect">
            <a:avLst/>
          </a:prstGeom>
        </p:spPr>
      </p:pic>
      <p:sp>
        <p:nvSpPr>
          <p:cNvPr id="74" name="TextBox 73"/>
          <p:cNvSpPr txBox="1"/>
          <p:nvPr/>
        </p:nvSpPr>
        <p:spPr>
          <a:xfrm>
            <a:off x="9855200" y="55626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APEC security</a:t>
            </a:r>
          </a:p>
        </p:txBody>
      </p:sp>
      <p:pic>
        <p:nvPicPr>
          <p:cNvPr id="75" name="Picture 74" descr="check_green.png"/>
          <p:cNvPicPr>
            <a:picLocks noChangeAspect="1"/>
          </p:cNvPicPr>
          <p:nvPr/>
        </p:nvPicPr>
        <p:blipFill>
          <a:blip r:embed="rId4"/>
          <a:stretch>
            <a:fillRect/>
          </a:stretch>
        </p:blipFill>
        <p:spPr>
          <a:xfrm>
            <a:off x="9626600" y="5867400"/>
            <a:ext cx="152400" cy="152400"/>
          </a:xfrm>
          <a:prstGeom prst="rect">
            <a:avLst/>
          </a:prstGeom>
        </p:spPr>
      </p:pic>
      <p:sp>
        <p:nvSpPr>
          <p:cNvPr id="76" name="TextBox 75"/>
          <p:cNvSpPr txBox="1"/>
          <p:nvPr/>
        </p:nvSpPr>
        <p:spPr>
          <a:xfrm>
            <a:off x="9855200" y="58166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60 s dispatch</a:t>
            </a:r>
          </a:p>
        </p:txBody>
      </p:sp>
      <p:sp>
        <p:nvSpPr>
          <p:cNvPr id="77" name="TextBox 76"/>
          <p:cNvSpPr txBox="1"/>
          <p:nvPr/>
        </p:nvSpPr>
        <p:spPr>
          <a:xfrm>
            <a:off x="609600" y="6172200"/>
            <a:ext cx="10972800" cy="1778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Top row: operator networks; Hytera’s link is the 450connect whitelist. PNG photo is illustrative.</a:t>
            </a:r>
          </a:p>
        </p:txBody>
      </p:sp>
      <p:sp>
        <p:nvSpPr>
          <p:cNvPr id="78" name="TextBox 77"/>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450 MHz Alliance, Annual Global Update (Dec 2025) p7-p9; RFI for devices (2025) p5; 450connect whitelist; Hytera showroom briefing L170, L211; PNG case records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000" cy="76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0"/>
            <a:ext cx="40640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863600" y="15240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04 OF 04</a:t>
            </a:r>
          </a:p>
        </p:txBody>
      </p:sp>
      <p:sp>
        <p:nvSpPr>
          <p:cNvPr id="6" name="TextBox 5"/>
          <p:cNvSpPr txBox="1"/>
          <p:nvPr/>
        </p:nvSpPr>
        <p:spPr>
          <a:xfrm>
            <a:off x="787400" y="1727200"/>
            <a:ext cx="4826000" cy="1905000"/>
          </a:xfrm>
          <a:prstGeom prst="rect">
            <a:avLst/>
          </a:prstGeom>
          <a:noFill/>
        </p:spPr>
        <p:txBody>
          <a:bodyPr wrap="square" lIns="0" rIns="0" tIns="0" bIns="0" anchor="ctr">
            <a:spAutoFit/>
          </a:bodyPr>
          <a:lstStyle/>
          <a:p>
            <a:pPr algn="l">
              <a:lnSpc>
                <a:spcPct val="120000"/>
              </a:lnSpc>
              <a:spcAft>
                <a:spcPts val="0"/>
              </a:spcAft>
            </a:pPr>
            <a:r>
              <a:rPr sz="13000" b="0">
                <a:solidFill>
                  <a:srgbClr val="0B308E"/>
                </a:solidFill>
                <a:latin typeface="Segoe UI Light"/>
              </a:rPr>
              <a:t>04</a:t>
            </a:r>
          </a:p>
        </p:txBody>
      </p:sp>
      <p:sp>
        <p:nvSpPr>
          <p:cNvPr id="7" name="Rectangle 6"/>
          <p:cNvSpPr/>
          <p:nvPr/>
        </p:nvSpPr>
        <p:spPr>
          <a:xfrm>
            <a:off x="863600" y="3759200"/>
            <a:ext cx="812800" cy="508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63600" y="3987800"/>
            <a:ext cx="4826000" cy="558800"/>
          </a:xfrm>
          <a:prstGeom prst="rect">
            <a:avLst/>
          </a:prstGeom>
          <a:noFill/>
        </p:spPr>
        <p:txBody>
          <a:bodyPr wrap="square" lIns="0" rIns="0" tIns="0" bIns="0" anchor="ctr">
            <a:spAutoFit/>
          </a:bodyPr>
          <a:lstStyle/>
          <a:p>
            <a:pPr algn="l">
              <a:lnSpc>
                <a:spcPct val="120000"/>
              </a:lnSpc>
              <a:spcAft>
                <a:spcPts val="0"/>
              </a:spcAft>
            </a:pPr>
            <a:r>
              <a:rPr sz="3000" b="0">
                <a:solidFill>
                  <a:srgbClr val="0B308E"/>
                </a:solidFill>
                <a:latin typeface="Segoe UI Semibold"/>
              </a:rPr>
              <a:t>Business model</a:t>
            </a:r>
          </a:p>
        </p:txBody>
      </p:sp>
      <p:sp>
        <p:nvSpPr>
          <p:cNvPr id="9" name="TextBox 8"/>
          <p:cNvSpPr txBox="1"/>
          <p:nvPr/>
        </p:nvSpPr>
        <p:spPr>
          <a:xfrm>
            <a:off x="863600" y="4572000"/>
            <a:ext cx="4826000" cy="558800"/>
          </a:xfrm>
          <a:prstGeom prst="rect">
            <a:avLst/>
          </a:prstGeom>
          <a:noFill/>
        </p:spPr>
        <p:txBody>
          <a:bodyPr wrap="square" lIns="0" rIns="0" tIns="0" bIns="0" anchor="t">
            <a:spAutoFit/>
          </a:bodyPr>
          <a:lstStyle/>
          <a:p>
            <a:pPr algn="l">
              <a:lnSpc>
                <a:spcPct val="125000"/>
              </a:lnSpc>
              <a:spcAft>
                <a:spcPts val="0"/>
              </a:spcAft>
            </a:pPr>
            <a:r>
              <a:rPr sz="1500" b="0">
                <a:solidFill>
                  <a:srgbClr val="55607A"/>
                </a:solidFill>
                <a:latin typeface="Segoe UI"/>
              </a:rPr>
              <a:t>How could the network pay for itself?</a:t>
            </a:r>
          </a:p>
        </p:txBody>
      </p:sp>
      <p:sp>
        <p:nvSpPr>
          <p:cNvPr id="10" name="Rectangle 9"/>
          <p:cNvSpPr/>
          <p:nvPr/>
        </p:nvSpPr>
        <p:spPr>
          <a:xfrm>
            <a:off x="6197600" y="1524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6477000" y="1701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radio-tower_steel.png"/>
          <p:cNvPicPr>
            <a:picLocks noChangeAspect="1"/>
          </p:cNvPicPr>
          <p:nvPr/>
        </p:nvPicPr>
        <p:blipFill>
          <a:blip r:embed="rId2"/>
          <a:stretch>
            <a:fillRect/>
          </a:stretch>
        </p:blipFill>
        <p:spPr>
          <a:xfrm>
            <a:off x="6598920" y="1823720"/>
            <a:ext cx="264160" cy="264160"/>
          </a:xfrm>
          <a:prstGeom prst="rect">
            <a:avLst/>
          </a:prstGeom>
        </p:spPr>
      </p:pic>
      <p:sp>
        <p:nvSpPr>
          <p:cNvPr id="13" name="Oval 12"/>
          <p:cNvSpPr/>
          <p:nvPr/>
        </p:nvSpPr>
        <p:spPr>
          <a:xfrm>
            <a:off x="6824980" y="1659127"/>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824980" y="1659127"/>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01</a:t>
            </a:r>
          </a:p>
        </p:txBody>
      </p:sp>
      <p:sp>
        <p:nvSpPr>
          <p:cNvPr id="15" name="TextBox 14"/>
          <p:cNvSpPr txBox="1"/>
          <p:nvPr/>
        </p:nvSpPr>
        <p:spPr>
          <a:xfrm>
            <a:off x="7289800" y="1524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450 MHz advantages</a:t>
            </a:r>
          </a:p>
        </p:txBody>
      </p:sp>
      <p:sp>
        <p:nvSpPr>
          <p:cNvPr id="16" name="Rectangle 15"/>
          <p:cNvSpPr/>
          <p:nvPr/>
        </p:nvSpPr>
        <p:spPr>
          <a:xfrm>
            <a:off x="6197600" y="2540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6477000" y="2717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users_steel.png"/>
          <p:cNvPicPr>
            <a:picLocks noChangeAspect="1"/>
          </p:cNvPicPr>
          <p:nvPr/>
        </p:nvPicPr>
        <p:blipFill>
          <a:blip r:embed="rId3"/>
          <a:stretch>
            <a:fillRect/>
          </a:stretch>
        </p:blipFill>
        <p:spPr>
          <a:xfrm>
            <a:off x="6598920" y="2839720"/>
            <a:ext cx="264160" cy="264160"/>
          </a:xfrm>
          <a:prstGeom prst="rect">
            <a:avLst/>
          </a:prstGeom>
        </p:spPr>
      </p:pic>
      <p:sp>
        <p:nvSpPr>
          <p:cNvPr id="19" name="Oval 18"/>
          <p:cNvSpPr/>
          <p:nvPr/>
        </p:nvSpPr>
        <p:spPr>
          <a:xfrm>
            <a:off x="6824980" y="2675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824980" y="2675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02</a:t>
            </a:r>
          </a:p>
        </p:txBody>
      </p:sp>
      <p:sp>
        <p:nvSpPr>
          <p:cNvPr id="21" name="TextBox 20"/>
          <p:cNvSpPr txBox="1"/>
          <p:nvPr/>
        </p:nvSpPr>
        <p:spPr>
          <a:xfrm>
            <a:off x="7289800" y="2540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Target industries</a:t>
            </a:r>
          </a:p>
        </p:txBody>
      </p:sp>
      <p:sp>
        <p:nvSpPr>
          <p:cNvPr id="22" name="Rectangle 21"/>
          <p:cNvSpPr/>
          <p:nvPr/>
        </p:nvSpPr>
        <p:spPr>
          <a:xfrm>
            <a:off x="6197600" y="3556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6477000" y="3733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globe_steel.png"/>
          <p:cNvPicPr>
            <a:picLocks noChangeAspect="1"/>
          </p:cNvPicPr>
          <p:nvPr/>
        </p:nvPicPr>
        <p:blipFill>
          <a:blip r:embed="rId4"/>
          <a:stretch>
            <a:fillRect/>
          </a:stretch>
        </p:blipFill>
        <p:spPr>
          <a:xfrm>
            <a:off x="6598920" y="3855720"/>
            <a:ext cx="264160" cy="264160"/>
          </a:xfrm>
          <a:prstGeom prst="rect">
            <a:avLst/>
          </a:prstGeom>
        </p:spPr>
      </p:pic>
      <p:sp>
        <p:nvSpPr>
          <p:cNvPr id="25" name="Oval 24"/>
          <p:cNvSpPr/>
          <p:nvPr/>
        </p:nvSpPr>
        <p:spPr>
          <a:xfrm>
            <a:off x="6824980" y="3691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824980" y="3691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03</a:t>
            </a:r>
          </a:p>
        </p:txBody>
      </p:sp>
      <p:sp>
        <p:nvSpPr>
          <p:cNvPr id="27" name="TextBox 26"/>
          <p:cNvSpPr txBox="1"/>
          <p:nvPr/>
        </p:nvSpPr>
        <p:spPr>
          <a:xfrm>
            <a:off x="7289800" y="3556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Reference cases</a:t>
            </a:r>
          </a:p>
        </p:txBody>
      </p:sp>
      <p:sp>
        <p:nvSpPr>
          <p:cNvPr id="28" name="Rectangle 27"/>
          <p:cNvSpPr/>
          <p:nvPr/>
        </p:nvSpPr>
        <p:spPr>
          <a:xfrm>
            <a:off x="6197600" y="4572000"/>
            <a:ext cx="5384800" cy="8636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6197600" y="4572000"/>
            <a:ext cx="50800" cy="8636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6477000" y="4749800"/>
            <a:ext cx="508000" cy="508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1" name="Picture 30" descr="coins_white.png"/>
          <p:cNvPicPr>
            <a:picLocks noChangeAspect="1"/>
          </p:cNvPicPr>
          <p:nvPr/>
        </p:nvPicPr>
        <p:blipFill>
          <a:blip r:embed="rId5"/>
          <a:stretch>
            <a:fillRect/>
          </a:stretch>
        </p:blipFill>
        <p:spPr>
          <a:xfrm>
            <a:off x="6598920" y="4871720"/>
            <a:ext cx="264160" cy="264160"/>
          </a:xfrm>
          <a:prstGeom prst="rect">
            <a:avLst/>
          </a:prstGeom>
        </p:spPr>
      </p:pic>
      <p:sp>
        <p:nvSpPr>
          <p:cNvPr id="32" name="Oval 31"/>
          <p:cNvSpPr/>
          <p:nvPr/>
        </p:nvSpPr>
        <p:spPr>
          <a:xfrm>
            <a:off x="6824980" y="4707128"/>
            <a:ext cx="213360" cy="213360"/>
          </a:xfrm>
          <a:prstGeom prst="ellipse">
            <a:avLst/>
          </a:prstGeom>
          <a:solidFill>
            <a:srgbClr val="0B308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24980" y="4707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04</a:t>
            </a:r>
          </a:p>
        </p:txBody>
      </p:sp>
      <p:sp>
        <p:nvSpPr>
          <p:cNvPr id="34" name="TextBox 33"/>
          <p:cNvSpPr txBox="1"/>
          <p:nvPr/>
        </p:nvSpPr>
        <p:spPr>
          <a:xfrm>
            <a:off x="7289800" y="4572000"/>
            <a:ext cx="4064000" cy="863600"/>
          </a:xfrm>
          <a:prstGeom prst="rect">
            <a:avLst/>
          </a:prstGeom>
          <a:noFill/>
        </p:spPr>
        <p:txBody>
          <a:bodyPr wrap="square" lIns="0" rIns="0" tIns="0" bIns="0" anchor="ctr">
            <a:spAutoFit/>
          </a:bodyPr>
          <a:lstStyle/>
          <a:p>
            <a:pPr algn="l">
              <a:lnSpc>
                <a:spcPct val="120000"/>
              </a:lnSpc>
              <a:spcAft>
                <a:spcPts val="0"/>
              </a:spcAft>
            </a:pPr>
            <a:r>
              <a:rPr sz="1700" b="0">
                <a:solidFill>
                  <a:srgbClr val="0B308E"/>
                </a:solidFill>
                <a:latin typeface="Segoe UI Semibold"/>
              </a:rPr>
              <a:t>Business model</a:t>
            </a:r>
          </a:p>
        </p:txBody>
      </p:sp>
      <p:sp>
        <p:nvSpPr>
          <p:cNvPr id="35" name="TextBox 34"/>
          <p:cNvSpPr txBox="1"/>
          <p:nvPr/>
        </p:nvSpPr>
        <p:spPr>
          <a:xfrm>
            <a:off x="11201400" y="63500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04   BUSINESS MODEL</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19</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Utilities fund the coverage; every other industry builds on it</a:t>
            </a:r>
          </a:p>
        </p:txBody>
      </p:sp>
      <p:sp>
        <p:nvSpPr>
          <p:cNvPr id="10" name="Rectangle 9"/>
          <p:cNvSpPr/>
          <p:nvPr/>
        </p:nvSpPr>
        <p:spPr>
          <a:xfrm>
            <a:off x="609600" y="1549400"/>
            <a:ext cx="3352800" cy="965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package_white.png"/>
          <p:cNvPicPr>
            <a:picLocks noChangeAspect="1"/>
          </p:cNvPicPr>
          <p:nvPr/>
        </p:nvPicPr>
        <p:blipFill>
          <a:blip r:embed="rId2"/>
          <a:stretch>
            <a:fillRect/>
          </a:stretch>
        </p:blipFill>
        <p:spPr>
          <a:xfrm>
            <a:off x="812800" y="1778000"/>
            <a:ext cx="508000" cy="508000"/>
          </a:xfrm>
          <a:prstGeom prst="rect">
            <a:avLst/>
          </a:prstGeom>
        </p:spPr>
      </p:pic>
      <p:sp>
        <p:nvSpPr>
          <p:cNvPr id="12" name="TextBox 11"/>
          <p:cNvSpPr txBox="1"/>
          <p:nvPr/>
        </p:nvSpPr>
        <p:spPr>
          <a:xfrm>
            <a:off x="1473200" y="1651000"/>
            <a:ext cx="2362200" cy="381000"/>
          </a:xfrm>
          <a:prstGeom prst="rect">
            <a:avLst/>
          </a:prstGeom>
          <a:noFill/>
        </p:spPr>
        <p:txBody>
          <a:bodyPr wrap="square" lIns="0" rIns="0" tIns="0" bIns="0" anchor="ctr">
            <a:spAutoFit/>
          </a:bodyPr>
          <a:lstStyle/>
          <a:p>
            <a:pPr algn="l">
              <a:lnSpc>
                <a:spcPct val="120000"/>
              </a:lnSpc>
              <a:spcAft>
                <a:spcPts val="0"/>
              </a:spcAft>
            </a:pPr>
            <a:r>
              <a:rPr sz="1500" b="0">
                <a:solidFill>
                  <a:srgbClr val="FFFFFF"/>
                </a:solidFill>
                <a:latin typeface="Segoe UI Semibold"/>
              </a:rPr>
              <a:t>Hytera</a:t>
            </a:r>
          </a:p>
        </p:txBody>
      </p:sp>
      <p:sp>
        <p:nvSpPr>
          <p:cNvPr id="13" name="TextBox 12"/>
          <p:cNvSpPr txBox="1"/>
          <p:nvPr/>
        </p:nvSpPr>
        <p:spPr>
          <a:xfrm>
            <a:off x="1473200" y="2006600"/>
            <a:ext cx="2362200" cy="355600"/>
          </a:xfrm>
          <a:prstGeom prst="rect">
            <a:avLst/>
          </a:prstGeom>
          <a:noFill/>
        </p:spPr>
        <p:txBody>
          <a:bodyPr wrap="square" lIns="0" rIns="0" tIns="0" bIns="0" anchor="ctr">
            <a:spAutoFit/>
          </a:bodyPr>
          <a:lstStyle/>
          <a:p>
            <a:pPr algn="l">
              <a:lnSpc>
                <a:spcPct val="120000"/>
              </a:lnSpc>
              <a:spcAft>
                <a:spcPts val="0"/>
              </a:spcAft>
            </a:pPr>
            <a:r>
              <a:rPr sz="1200" b="0">
                <a:solidFill>
                  <a:srgbClr val="DCE5F3"/>
                </a:solidFill>
                <a:latin typeface="Segoe UI"/>
              </a:rPr>
              <a:t>Radio, terminals, platform</a:t>
            </a:r>
          </a:p>
        </p:txBody>
      </p:sp>
      <p:pic>
        <p:nvPicPr>
          <p:cNvPr id="14" name="Picture 13" descr="arrow-right_steel.png"/>
          <p:cNvPicPr>
            <a:picLocks noChangeAspect="1"/>
          </p:cNvPicPr>
          <p:nvPr/>
        </p:nvPicPr>
        <p:blipFill>
          <a:blip r:embed="rId3"/>
          <a:stretch>
            <a:fillRect/>
          </a:stretch>
        </p:blipFill>
        <p:spPr>
          <a:xfrm>
            <a:off x="4038600" y="1905000"/>
            <a:ext cx="304800" cy="304800"/>
          </a:xfrm>
          <a:prstGeom prst="rect">
            <a:avLst/>
          </a:prstGeom>
        </p:spPr>
      </p:pic>
      <p:sp>
        <p:nvSpPr>
          <p:cNvPr id="15" name="Rectangle 14"/>
          <p:cNvSpPr/>
          <p:nvPr/>
        </p:nvSpPr>
        <p:spPr>
          <a:xfrm>
            <a:off x="4419600" y="1549400"/>
            <a:ext cx="3352800" cy="9652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radio-tower_white.png"/>
          <p:cNvPicPr>
            <a:picLocks noChangeAspect="1"/>
          </p:cNvPicPr>
          <p:nvPr/>
        </p:nvPicPr>
        <p:blipFill>
          <a:blip r:embed="rId4"/>
          <a:stretch>
            <a:fillRect/>
          </a:stretch>
        </p:blipFill>
        <p:spPr>
          <a:xfrm>
            <a:off x="4622800" y="1778000"/>
            <a:ext cx="508000" cy="508000"/>
          </a:xfrm>
          <a:prstGeom prst="rect">
            <a:avLst/>
          </a:prstGeom>
        </p:spPr>
      </p:pic>
      <p:sp>
        <p:nvSpPr>
          <p:cNvPr id="17" name="TextBox 16"/>
          <p:cNvSpPr txBox="1"/>
          <p:nvPr/>
        </p:nvSpPr>
        <p:spPr>
          <a:xfrm>
            <a:off x="5283200" y="1651000"/>
            <a:ext cx="2362200" cy="381000"/>
          </a:xfrm>
          <a:prstGeom prst="rect">
            <a:avLst/>
          </a:prstGeom>
          <a:noFill/>
        </p:spPr>
        <p:txBody>
          <a:bodyPr wrap="square" lIns="0" rIns="0" tIns="0" bIns="0" anchor="ctr">
            <a:spAutoFit/>
          </a:bodyPr>
          <a:lstStyle/>
          <a:p>
            <a:pPr algn="l">
              <a:lnSpc>
                <a:spcPct val="120000"/>
              </a:lnSpc>
              <a:spcAft>
                <a:spcPts val="0"/>
              </a:spcAft>
            </a:pPr>
            <a:r>
              <a:rPr sz="1500" b="0">
                <a:solidFill>
                  <a:srgbClr val="FFFFFF"/>
                </a:solidFill>
                <a:latin typeface="Segoe UI Semibold"/>
              </a:rPr>
              <a:t>Globe Telecom</a:t>
            </a:r>
          </a:p>
        </p:txBody>
      </p:sp>
      <p:sp>
        <p:nvSpPr>
          <p:cNvPr id="18" name="TextBox 17"/>
          <p:cNvSpPr txBox="1"/>
          <p:nvPr/>
        </p:nvSpPr>
        <p:spPr>
          <a:xfrm>
            <a:off x="5283200" y="2006600"/>
            <a:ext cx="2362200" cy="355600"/>
          </a:xfrm>
          <a:prstGeom prst="rect">
            <a:avLst/>
          </a:prstGeom>
          <a:noFill/>
        </p:spPr>
        <p:txBody>
          <a:bodyPr wrap="square" lIns="0" rIns="0" tIns="0" bIns="0" anchor="ctr">
            <a:spAutoFit/>
          </a:bodyPr>
          <a:lstStyle/>
          <a:p>
            <a:pPr algn="l">
              <a:lnSpc>
                <a:spcPct val="120000"/>
              </a:lnSpc>
              <a:spcAft>
                <a:spcPts val="0"/>
              </a:spcAft>
            </a:pPr>
            <a:r>
              <a:rPr sz="1200" b="0">
                <a:solidFill>
                  <a:srgbClr val="FFFFFF"/>
                </a:solidFill>
                <a:latin typeface="Segoe UI"/>
              </a:rPr>
              <a:t>Spectrum, network, customers</a:t>
            </a:r>
          </a:p>
        </p:txBody>
      </p:sp>
      <p:pic>
        <p:nvPicPr>
          <p:cNvPr id="19" name="Picture 18" descr="arrow-right_steel.png"/>
          <p:cNvPicPr>
            <a:picLocks noChangeAspect="1"/>
          </p:cNvPicPr>
          <p:nvPr/>
        </p:nvPicPr>
        <p:blipFill>
          <a:blip r:embed="rId3"/>
          <a:stretch>
            <a:fillRect/>
          </a:stretch>
        </p:blipFill>
        <p:spPr>
          <a:xfrm>
            <a:off x="7848600" y="1905000"/>
            <a:ext cx="304800" cy="304800"/>
          </a:xfrm>
          <a:prstGeom prst="rect">
            <a:avLst/>
          </a:prstGeom>
        </p:spPr>
      </p:pic>
      <p:sp>
        <p:nvSpPr>
          <p:cNvPr id="20" name="Rectangle 19"/>
          <p:cNvSpPr/>
          <p:nvPr/>
        </p:nvSpPr>
        <p:spPr>
          <a:xfrm>
            <a:off x="8229600" y="1549400"/>
            <a:ext cx="3352800" cy="965200"/>
          </a:xfrm>
          <a:prstGeom prst="rect">
            <a:avLst/>
          </a:prstGeom>
          <a:solidFill>
            <a:srgbClr val="3A5B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building-2_white.png"/>
          <p:cNvPicPr>
            <a:picLocks noChangeAspect="1"/>
          </p:cNvPicPr>
          <p:nvPr/>
        </p:nvPicPr>
        <p:blipFill>
          <a:blip r:embed="rId5"/>
          <a:stretch>
            <a:fillRect/>
          </a:stretch>
        </p:blipFill>
        <p:spPr>
          <a:xfrm>
            <a:off x="8432800" y="1778000"/>
            <a:ext cx="508000" cy="508000"/>
          </a:xfrm>
          <a:prstGeom prst="rect">
            <a:avLst/>
          </a:prstGeom>
        </p:spPr>
      </p:pic>
      <p:sp>
        <p:nvSpPr>
          <p:cNvPr id="22" name="TextBox 21"/>
          <p:cNvSpPr txBox="1"/>
          <p:nvPr/>
        </p:nvSpPr>
        <p:spPr>
          <a:xfrm>
            <a:off x="9093200" y="1651000"/>
            <a:ext cx="2362200" cy="381000"/>
          </a:xfrm>
          <a:prstGeom prst="rect">
            <a:avLst/>
          </a:prstGeom>
          <a:noFill/>
        </p:spPr>
        <p:txBody>
          <a:bodyPr wrap="square" lIns="0" rIns="0" tIns="0" bIns="0" anchor="ctr">
            <a:spAutoFit/>
          </a:bodyPr>
          <a:lstStyle/>
          <a:p>
            <a:pPr algn="l">
              <a:lnSpc>
                <a:spcPct val="120000"/>
              </a:lnSpc>
              <a:spcAft>
                <a:spcPts val="0"/>
              </a:spcAft>
            </a:pPr>
            <a:r>
              <a:rPr sz="1500" b="0">
                <a:solidFill>
                  <a:srgbClr val="FFFFFF"/>
                </a:solidFill>
                <a:latin typeface="Segoe UI Semibold"/>
              </a:rPr>
              <a:t>Anchor customers</a:t>
            </a:r>
          </a:p>
        </p:txBody>
      </p:sp>
      <p:sp>
        <p:nvSpPr>
          <p:cNvPr id="23" name="TextBox 22"/>
          <p:cNvSpPr txBox="1"/>
          <p:nvPr/>
        </p:nvSpPr>
        <p:spPr>
          <a:xfrm>
            <a:off x="9093200" y="2006600"/>
            <a:ext cx="2362200" cy="355600"/>
          </a:xfrm>
          <a:prstGeom prst="rect">
            <a:avLst/>
          </a:prstGeom>
          <a:noFill/>
        </p:spPr>
        <p:txBody>
          <a:bodyPr wrap="square" lIns="0" rIns="0" tIns="0" bIns="0" anchor="ctr">
            <a:spAutoFit/>
          </a:bodyPr>
          <a:lstStyle/>
          <a:p>
            <a:pPr algn="l">
              <a:lnSpc>
                <a:spcPct val="120000"/>
              </a:lnSpc>
              <a:spcAft>
                <a:spcPts val="0"/>
              </a:spcAft>
            </a:pPr>
            <a:r>
              <a:rPr sz="1200" b="0">
                <a:solidFill>
                  <a:srgbClr val="DCE5F3"/>
                </a:solidFill>
                <a:latin typeface="Segoe UI"/>
              </a:rPr>
              <a:t>Contract capacity first</a:t>
            </a:r>
          </a:p>
        </p:txBody>
      </p:sp>
      <p:sp>
        <p:nvSpPr>
          <p:cNvPr id="24" name="TextBox 23"/>
          <p:cNvSpPr txBox="1"/>
          <p:nvPr/>
        </p:nvSpPr>
        <p:spPr>
          <a:xfrm>
            <a:off x="609600" y="2743200"/>
            <a:ext cx="508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SIX REVENUE LINES  ·  AND WHO BUYS THEM</a:t>
            </a:r>
          </a:p>
        </p:txBody>
      </p:sp>
      <p:sp>
        <p:nvSpPr>
          <p:cNvPr id="25" name="Rectangle 24"/>
          <p:cNvSpPr/>
          <p:nvPr/>
        </p:nvSpPr>
        <p:spPr>
          <a:xfrm>
            <a:off x="609600" y="3022600"/>
            <a:ext cx="3454400" cy="1168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812800" y="3340100"/>
            <a:ext cx="533400" cy="5334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gauge_white.png"/>
          <p:cNvPicPr>
            <a:picLocks noChangeAspect="1"/>
          </p:cNvPicPr>
          <p:nvPr/>
        </p:nvPicPr>
        <p:blipFill>
          <a:blip r:embed="rId6"/>
          <a:stretch>
            <a:fillRect/>
          </a:stretch>
        </p:blipFill>
        <p:spPr>
          <a:xfrm>
            <a:off x="940816" y="3468116"/>
            <a:ext cx="277368" cy="277368"/>
          </a:xfrm>
          <a:prstGeom prst="rect">
            <a:avLst/>
          </a:prstGeom>
        </p:spPr>
      </p:pic>
      <p:sp>
        <p:nvSpPr>
          <p:cNvPr id="28" name="TextBox 27"/>
          <p:cNvSpPr txBox="1"/>
          <p:nvPr/>
        </p:nvSpPr>
        <p:spPr>
          <a:xfrm>
            <a:off x="1524000" y="3251200"/>
            <a:ext cx="2413000" cy="3556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IoT connectivity</a:t>
            </a:r>
          </a:p>
        </p:txBody>
      </p:sp>
      <p:sp>
        <p:nvSpPr>
          <p:cNvPr id="29" name="TextBox 28"/>
          <p:cNvSpPr txBox="1"/>
          <p:nvPr/>
        </p:nvSpPr>
        <p:spPr>
          <a:xfrm>
            <a:off x="1524000" y="3606800"/>
            <a:ext cx="2413000" cy="330200"/>
          </a:xfrm>
          <a:prstGeom prst="rect">
            <a:avLst/>
          </a:prstGeom>
          <a:noFill/>
        </p:spPr>
        <p:txBody>
          <a:bodyPr wrap="square" lIns="0" rIns="0" tIns="0" bIns="0" anchor="ctr">
            <a:spAutoFit/>
          </a:bodyPr>
          <a:lstStyle/>
          <a:p>
            <a:pPr algn="l">
              <a:lnSpc>
                <a:spcPct val="120000"/>
              </a:lnSpc>
              <a:spcAft>
                <a:spcPts val="0"/>
              </a:spcAft>
            </a:pPr>
            <a:r>
              <a:rPr sz="1200" b="0">
                <a:solidFill>
                  <a:srgbClr val="7F9B00"/>
                </a:solidFill>
                <a:latin typeface="Segoe UI"/>
              </a:rPr>
              <a:t>Power  ·  Water</a:t>
            </a:r>
          </a:p>
        </p:txBody>
      </p:sp>
      <p:sp>
        <p:nvSpPr>
          <p:cNvPr id="30" name="Rectangle 29"/>
          <p:cNvSpPr/>
          <p:nvPr/>
        </p:nvSpPr>
        <p:spPr>
          <a:xfrm>
            <a:off x="4368800" y="3022600"/>
            <a:ext cx="3454400" cy="1168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Oval 30"/>
          <p:cNvSpPr/>
          <p:nvPr/>
        </p:nvSpPr>
        <p:spPr>
          <a:xfrm>
            <a:off x="4572000" y="3340100"/>
            <a:ext cx="533400" cy="533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2" name="Picture 31" descr="radio_white.png"/>
          <p:cNvPicPr>
            <a:picLocks noChangeAspect="1"/>
          </p:cNvPicPr>
          <p:nvPr/>
        </p:nvPicPr>
        <p:blipFill>
          <a:blip r:embed="rId7"/>
          <a:stretch>
            <a:fillRect/>
          </a:stretch>
        </p:blipFill>
        <p:spPr>
          <a:xfrm>
            <a:off x="4700016" y="3468116"/>
            <a:ext cx="277368" cy="277368"/>
          </a:xfrm>
          <a:prstGeom prst="rect">
            <a:avLst/>
          </a:prstGeom>
        </p:spPr>
      </p:pic>
      <p:sp>
        <p:nvSpPr>
          <p:cNvPr id="33" name="TextBox 32"/>
          <p:cNvSpPr txBox="1"/>
          <p:nvPr/>
        </p:nvSpPr>
        <p:spPr>
          <a:xfrm>
            <a:off x="5283200" y="3251200"/>
            <a:ext cx="2413000" cy="3556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MCX as a service</a:t>
            </a:r>
          </a:p>
        </p:txBody>
      </p:sp>
      <p:sp>
        <p:nvSpPr>
          <p:cNvPr id="34" name="TextBox 33"/>
          <p:cNvSpPr txBox="1"/>
          <p:nvPr/>
        </p:nvSpPr>
        <p:spPr>
          <a:xfrm>
            <a:off x="5283200" y="3606800"/>
            <a:ext cx="2413000" cy="330200"/>
          </a:xfrm>
          <a:prstGeom prst="rect">
            <a:avLst/>
          </a:prstGeom>
          <a:noFill/>
        </p:spPr>
        <p:txBody>
          <a:bodyPr wrap="square" lIns="0" rIns="0" tIns="0" bIns="0" anchor="ctr">
            <a:spAutoFit/>
          </a:bodyPr>
          <a:lstStyle/>
          <a:p>
            <a:pPr algn="l">
              <a:lnSpc>
                <a:spcPct val="120000"/>
              </a:lnSpc>
              <a:spcAft>
                <a:spcPts val="0"/>
              </a:spcAft>
            </a:pPr>
            <a:r>
              <a:rPr sz="1200" b="0">
                <a:solidFill>
                  <a:srgbClr val="7F9B00"/>
                </a:solidFill>
                <a:latin typeface="Segoe UI"/>
              </a:rPr>
              <a:t>Police  ·  Rail  ·  Port</a:t>
            </a:r>
          </a:p>
        </p:txBody>
      </p:sp>
      <p:sp>
        <p:nvSpPr>
          <p:cNvPr id="35" name="Rectangle 34"/>
          <p:cNvSpPr/>
          <p:nvPr/>
        </p:nvSpPr>
        <p:spPr>
          <a:xfrm>
            <a:off x="8128000" y="3022600"/>
            <a:ext cx="3454400" cy="1168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Oval 35"/>
          <p:cNvSpPr/>
          <p:nvPr/>
        </p:nvSpPr>
        <p:spPr>
          <a:xfrm>
            <a:off x="8331200" y="3340100"/>
            <a:ext cx="533400" cy="533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layers_white.png"/>
          <p:cNvPicPr>
            <a:picLocks noChangeAspect="1"/>
          </p:cNvPicPr>
          <p:nvPr/>
        </p:nvPicPr>
        <p:blipFill>
          <a:blip r:embed="rId8"/>
          <a:stretch>
            <a:fillRect/>
          </a:stretch>
        </p:blipFill>
        <p:spPr>
          <a:xfrm>
            <a:off x="8459216" y="3468116"/>
            <a:ext cx="277368" cy="277368"/>
          </a:xfrm>
          <a:prstGeom prst="rect">
            <a:avLst/>
          </a:prstGeom>
        </p:spPr>
      </p:pic>
      <p:sp>
        <p:nvSpPr>
          <p:cNvPr id="38" name="TextBox 37"/>
          <p:cNvSpPr txBox="1"/>
          <p:nvPr/>
        </p:nvSpPr>
        <p:spPr>
          <a:xfrm>
            <a:off x="9042400" y="3251200"/>
            <a:ext cx="2413000" cy="3556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Capacity packages</a:t>
            </a:r>
          </a:p>
        </p:txBody>
      </p:sp>
      <p:sp>
        <p:nvSpPr>
          <p:cNvPr id="39" name="TextBox 38"/>
          <p:cNvSpPr txBox="1"/>
          <p:nvPr/>
        </p:nvSpPr>
        <p:spPr>
          <a:xfrm>
            <a:off x="9042400" y="3606800"/>
            <a:ext cx="2413000" cy="330200"/>
          </a:xfrm>
          <a:prstGeom prst="rect">
            <a:avLst/>
          </a:prstGeom>
          <a:noFill/>
        </p:spPr>
        <p:txBody>
          <a:bodyPr wrap="square" lIns="0" rIns="0" tIns="0" bIns="0" anchor="ctr">
            <a:spAutoFit/>
          </a:bodyPr>
          <a:lstStyle/>
          <a:p>
            <a:pPr algn="l">
              <a:lnSpc>
                <a:spcPct val="120000"/>
              </a:lnSpc>
              <a:spcAft>
                <a:spcPts val="0"/>
              </a:spcAft>
            </a:pPr>
            <a:r>
              <a:rPr sz="1200" b="0">
                <a:solidFill>
                  <a:srgbClr val="7F9B00"/>
                </a:solidFill>
                <a:latin typeface="Segoe UI"/>
              </a:rPr>
              <a:t>Power  ·  Port</a:t>
            </a:r>
          </a:p>
        </p:txBody>
      </p:sp>
      <p:sp>
        <p:nvSpPr>
          <p:cNvPr id="40" name="Rectangle 39"/>
          <p:cNvSpPr/>
          <p:nvPr/>
        </p:nvSpPr>
        <p:spPr>
          <a:xfrm>
            <a:off x="609600" y="4343400"/>
            <a:ext cx="3454400" cy="1168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Oval 40"/>
          <p:cNvSpPr/>
          <p:nvPr/>
        </p:nvSpPr>
        <p:spPr>
          <a:xfrm>
            <a:off x="812800" y="4660900"/>
            <a:ext cx="533400" cy="533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2" name="Picture 41" descr="smartphone_white.png"/>
          <p:cNvPicPr>
            <a:picLocks noChangeAspect="1"/>
          </p:cNvPicPr>
          <p:nvPr/>
        </p:nvPicPr>
        <p:blipFill>
          <a:blip r:embed="rId9"/>
          <a:stretch>
            <a:fillRect/>
          </a:stretch>
        </p:blipFill>
        <p:spPr>
          <a:xfrm>
            <a:off x="940816" y="4788916"/>
            <a:ext cx="277368" cy="277368"/>
          </a:xfrm>
          <a:prstGeom prst="rect">
            <a:avLst/>
          </a:prstGeom>
        </p:spPr>
      </p:pic>
      <p:sp>
        <p:nvSpPr>
          <p:cNvPr id="43" name="TextBox 42"/>
          <p:cNvSpPr txBox="1"/>
          <p:nvPr/>
        </p:nvSpPr>
        <p:spPr>
          <a:xfrm>
            <a:off x="1524000" y="4572000"/>
            <a:ext cx="2413000" cy="3556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Devices as a service</a:t>
            </a:r>
          </a:p>
        </p:txBody>
      </p:sp>
      <p:sp>
        <p:nvSpPr>
          <p:cNvPr id="44" name="TextBox 43"/>
          <p:cNvSpPr txBox="1"/>
          <p:nvPr/>
        </p:nvSpPr>
        <p:spPr>
          <a:xfrm>
            <a:off x="1524000" y="4927600"/>
            <a:ext cx="2413000" cy="330200"/>
          </a:xfrm>
          <a:prstGeom prst="rect">
            <a:avLst/>
          </a:prstGeom>
          <a:noFill/>
        </p:spPr>
        <p:txBody>
          <a:bodyPr wrap="square" lIns="0" rIns="0" tIns="0" bIns="0" anchor="ctr">
            <a:spAutoFit/>
          </a:bodyPr>
          <a:lstStyle/>
          <a:p>
            <a:pPr algn="l">
              <a:lnSpc>
                <a:spcPct val="120000"/>
              </a:lnSpc>
              <a:spcAft>
                <a:spcPts val="0"/>
              </a:spcAft>
            </a:pPr>
            <a:r>
              <a:rPr sz="1200" b="0">
                <a:solidFill>
                  <a:srgbClr val="7F9B00"/>
                </a:solidFill>
                <a:latin typeface="Segoe UI"/>
              </a:rPr>
              <a:t>Police  ·  Rail</a:t>
            </a:r>
          </a:p>
        </p:txBody>
      </p:sp>
      <p:sp>
        <p:nvSpPr>
          <p:cNvPr id="45" name="Rectangle 44"/>
          <p:cNvSpPr/>
          <p:nvPr/>
        </p:nvSpPr>
        <p:spPr>
          <a:xfrm>
            <a:off x="4368800" y="4343400"/>
            <a:ext cx="3454400" cy="1168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Oval 45"/>
          <p:cNvSpPr/>
          <p:nvPr/>
        </p:nvSpPr>
        <p:spPr>
          <a:xfrm>
            <a:off x="4572000" y="4660900"/>
            <a:ext cx="533400" cy="533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7" name="Picture 46" descr="cpu_white.png"/>
          <p:cNvPicPr>
            <a:picLocks noChangeAspect="1"/>
          </p:cNvPicPr>
          <p:nvPr/>
        </p:nvPicPr>
        <p:blipFill>
          <a:blip r:embed="rId10"/>
          <a:stretch>
            <a:fillRect/>
          </a:stretch>
        </p:blipFill>
        <p:spPr>
          <a:xfrm>
            <a:off x="4700016" y="4788916"/>
            <a:ext cx="277368" cy="277368"/>
          </a:xfrm>
          <a:prstGeom prst="rect">
            <a:avLst/>
          </a:prstGeom>
        </p:spPr>
      </p:pic>
      <p:sp>
        <p:nvSpPr>
          <p:cNvPr id="48" name="TextBox 47"/>
          <p:cNvSpPr txBox="1"/>
          <p:nvPr/>
        </p:nvSpPr>
        <p:spPr>
          <a:xfrm>
            <a:off x="5283200" y="4572000"/>
            <a:ext cx="2413000" cy="3556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Integration &amp; O&amp;M</a:t>
            </a:r>
          </a:p>
        </p:txBody>
      </p:sp>
      <p:sp>
        <p:nvSpPr>
          <p:cNvPr id="49" name="TextBox 48"/>
          <p:cNvSpPr txBox="1"/>
          <p:nvPr/>
        </p:nvSpPr>
        <p:spPr>
          <a:xfrm>
            <a:off x="5283200" y="4927600"/>
            <a:ext cx="2413000" cy="330200"/>
          </a:xfrm>
          <a:prstGeom prst="rect">
            <a:avLst/>
          </a:prstGeom>
          <a:noFill/>
        </p:spPr>
        <p:txBody>
          <a:bodyPr wrap="square" lIns="0" rIns="0" tIns="0" bIns="0" anchor="ctr">
            <a:spAutoFit/>
          </a:bodyPr>
          <a:lstStyle/>
          <a:p>
            <a:pPr algn="l">
              <a:lnSpc>
                <a:spcPct val="120000"/>
              </a:lnSpc>
              <a:spcAft>
                <a:spcPts val="0"/>
              </a:spcAft>
            </a:pPr>
            <a:r>
              <a:rPr sz="1200" b="0">
                <a:solidFill>
                  <a:srgbClr val="7F9B00"/>
                </a:solidFill>
                <a:latin typeface="Segoe UI"/>
              </a:rPr>
              <a:t>Power  ·  Water</a:t>
            </a:r>
          </a:p>
        </p:txBody>
      </p:sp>
      <p:sp>
        <p:nvSpPr>
          <p:cNvPr id="50" name="Rectangle 49"/>
          <p:cNvSpPr/>
          <p:nvPr/>
        </p:nvSpPr>
        <p:spPr>
          <a:xfrm>
            <a:off x="8128000" y="4343400"/>
            <a:ext cx="3454400" cy="1168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Oval 50"/>
          <p:cNvSpPr/>
          <p:nvPr/>
        </p:nvSpPr>
        <p:spPr>
          <a:xfrm>
            <a:off x="8331200" y="4660900"/>
            <a:ext cx="533400" cy="533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2" name="Picture 51" descr="siren_white.png"/>
          <p:cNvPicPr>
            <a:picLocks noChangeAspect="1"/>
          </p:cNvPicPr>
          <p:nvPr/>
        </p:nvPicPr>
        <p:blipFill>
          <a:blip r:embed="rId11"/>
          <a:stretch>
            <a:fillRect/>
          </a:stretch>
        </p:blipFill>
        <p:spPr>
          <a:xfrm>
            <a:off x="8459216" y="4788916"/>
            <a:ext cx="277368" cy="277368"/>
          </a:xfrm>
          <a:prstGeom prst="rect">
            <a:avLst/>
          </a:prstGeom>
        </p:spPr>
      </p:pic>
      <p:sp>
        <p:nvSpPr>
          <p:cNvPr id="53" name="TextBox 52"/>
          <p:cNvSpPr txBox="1"/>
          <p:nvPr/>
        </p:nvSpPr>
        <p:spPr>
          <a:xfrm>
            <a:off x="9042400" y="4572000"/>
            <a:ext cx="2413000" cy="3556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Emergency readiness</a:t>
            </a:r>
          </a:p>
        </p:txBody>
      </p:sp>
      <p:sp>
        <p:nvSpPr>
          <p:cNvPr id="54" name="TextBox 53"/>
          <p:cNvSpPr txBox="1"/>
          <p:nvPr/>
        </p:nvSpPr>
        <p:spPr>
          <a:xfrm>
            <a:off x="9042400" y="4927600"/>
            <a:ext cx="2413000" cy="330200"/>
          </a:xfrm>
          <a:prstGeom prst="rect">
            <a:avLst/>
          </a:prstGeom>
          <a:noFill/>
        </p:spPr>
        <p:txBody>
          <a:bodyPr wrap="square" lIns="0" rIns="0" tIns="0" bIns="0" anchor="ctr">
            <a:spAutoFit/>
          </a:bodyPr>
          <a:lstStyle/>
          <a:p>
            <a:pPr algn="l">
              <a:lnSpc>
                <a:spcPct val="120000"/>
              </a:lnSpc>
              <a:spcAft>
                <a:spcPts val="0"/>
              </a:spcAft>
            </a:pPr>
            <a:r>
              <a:rPr sz="1200" b="0">
                <a:solidFill>
                  <a:srgbClr val="7F9B00"/>
                </a:solidFill>
                <a:latin typeface="Segoe UI"/>
              </a:rPr>
              <a:t>Emergency</a:t>
            </a:r>
          </a:p>
        </p:txBody>
      </p:sp>
      <p:sp>
        <p:nvSpPr>
          <p:cNvPr id="55" name="Rectangle 54"/>
          <p:cNvSpPr/>
          <p:nvPr/>
        </p:nvSpPr>
        <p:spPr>
          <a:xfrm>
            <a:off x="609600" y="5816600"/>
            <a:ext cx="10972800" cy="5080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6" name="Picture 55" descr="info_navy.png"/>
          <p:cNvPicPr>
            <a:picLocks noChangeAspect="1"/>
          </p:cNvPicPr>
          <p:nvPr/>
        </p:nvPicPr>
        <p:blipFill>
          <a:blip r:embed="rId12"/>
          <a:stretch>
            <a:fillRect/>
          </a:stretch>
        </p:blipFill>
        <p:spPr>
          <a:xfrm>
            <a:off x="812800" y="5943600"/>
            <a:ext cx="254000" cy="254000"/>
          </a:xfrm>
          <a:prstGeom prst="rect">
            <a:avLst/>
          </a:prstGeom>
        </p:spPr>
      </p:pic>
      <p:sp>
        <p:nvSpPr>
          <p:cNvPr id="57" name="TextBox 56"/>
          <p:cNvSpPr txBox="1"/>
          <p:nvPr/>
        </p:nvSpPr>
        <p:spPr>
          <a:xfrm>
            <a:off x="1219200" y="5816600"/>
            <a:ext cx="10160000" cy="508000"/>
          </a:xfrm>
          <a:prstGeom prst="rect">
            <a:avLst/>
          </a:prstGeom>
          <a:noFill/>
        </p:spPr>
        <p:txBody>
          <a:bodyPr wrap="square" lIns="0" rIns="0" tIns="0" bIns="0" anchor="ctr">
            <a:spAutoFit/>
          </a:bodyPr>
          <a:lstStyle/>
          <a:p>
            <a:pPr algn="l">
              <a:lnSpc>
                <a:spcPct val="130000"/>
              </a:lnSpc>
            </a:pPr>
            <a:r>
              <a:rPr sz="1250" b="0">
                <a:solidFill>
                  <a:srgbClr val="0B308E"/>
                </a:solidFill>
                <a:latin typeface="Segoe UI Semibold"/>
              </a:rPr>
              <a:t>Sign demand before the build:   </a:t>
            </a:r>
            <a:r>
              <a:rPr sz="1250" b="0">
                <a:solidFill>
                  <a:srgbClr val="16213E"/>
                </a:solidFill>
                <a:latin typeface="Segoe UI"/>
              </a:rPr>
              <a:t>Portugal’s 450 MHz trial stalled on commercial terms, not technology</a:t>
            </a:r>
          </a:p>
        </p:txBody>
      </p:sp>
      <p:sp>
        <p:nvSpPr>
          <p:cNvPr id="58" name="TextBox 57"/>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Hytera proposal; 450 MHz Alliance, Annual Global Update (Dec 2025) p9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000" cy="76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0"/>
            <a:ext cx="40640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0" y="76200"/>
            <a:ext cx="76200" cy="67818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a_2b6cd945d1.png"/>
          <p:cNvPicPr>
            <a:picLocks noChangeAspect="1"/>
          </p:cNvPicPr>
          <p:nvPr/>
        </p:nvPicPr>
        <p:blipFill>
          <a:blip r:embed="rId2"/>
          <a:stretch>
            <a:fillRect/>
          </a:stretch>
        </p:blipFill>
        <p:spPr>
          <a:xfrm>
            <a:off x="10013244" y="431800"/>
            <a:ext cx="1284111" cy="508000"/>
          </a:xfrm>
          <a:prstGeom prst="rect">
            <a:avLst/>
          </a:prstGeom>
        </p:spPr>
      </p:pic>
      <p:sp>
        <p:nvSpPr>
          <p:cNvPr id="7" name="Oval 6"/>
          <p:cNvSpPr/>
          <p:nvPr/>
        </p:nvSpPr>
        <p:spPr>
          <a:xfrm>
            <a:off x="6959600" y="1626615"/>
            <a:ext cx="4470400" cy="4112768"/>
          </a:xfrm>
          <a:prstGeom prst="ellipse">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Oval 7"/>
          <p:cNvSpPr/>
          <p:nvPr/>
        </p:nvSpPr>
        <p:spPr>
          <a:xfrm>
            <a:off x="7518400" y="2140712"/>
            <a:ext cx="3352800" cy="3084576"/>
          </a:xfrm>
          <a:prstGeom prst="ellipse">
            <a:avLst/>
          </a:prstGeom>
          <a:solidFill>
            <a:srgbClr val="EAF0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Oval 8"/>
          <p:cNvSpPr/>
          <p:nvPr/>
        </p:nvSpPr>
        <p:spPr>
          <a:xfrm>
            <a:off x="8077200" y="2654808"/>
            <a:ext cx="2235200" cy="2056384"/>
          </a:xfrm>
          <a:prstGeom prst="ellipse">
            <a:avLst/>
          </a:prstGeom>
          <a:solidFill>
            <a:srgbClr val="DFE7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0" name="Picture 9" descr="a_64ddced7b1.png"/>
          <p:cNvPicPr>
            <a:picLocks noChangeAspect="1"/>
          </p:cNvPicPr>
          <p:nvPr/>
        </p:nvPicPr>
        <p:blipFill>
          <a:blip r:embed="rId3"/>
          <a:stretch>
            <a:fillRect/>
          </a:stretch>
        </p:blipFill>
        <p:spPr>
          <a:xfrm>
            <a:off x="8255000" y="2022122"/>
            <a:ext cx="2159000" cy="3118555"/>
          </a:xfrm>
          <a:prstGeom prst="rect">
            <a:avLst/>
          </a:prstGeom>
        </p:spPr>
      </p:pic>
      <p:pic>
        <p:nvPicPr>
          <p:cNvPr id="11" name="Picture 10" descr="a_7405c6dee5.png"/>
          <p:cNvPicPr>
            <a:picLocks noChangeAspect="1"/>
          </p:cNvPicPr>
          <p:nvPr/>
        </p:nvPicPr>
        <p:blipFill>
          <a:blip r:embed="rId4"/>
          <a:stretch>
            <a:fillRect/>
          </a:stretch>
        </p:blipFill>
        <p:spPr>
          <a:xfrm>
            <a:off x="6604000" y="2501900"/>
            <a:ext cx="2159000" cy="3022600"/>
          </a:xfrm>
          <a:prstGeom prst="rect">
            <a:avLst/>
          </a:prstGeom>
        </p:spPr>
      </p:pic>
      <p:cxnSp>
        <p:nvCxnSpPr>
          <p:cNvPr id="12" name="Connector 11"/>
          <p:cNvCxnSpPr/>
          <p:nvPr/>
        </p:nvCxnSpPr>
        <p:spPr>
          <a:xfrm>
            <a:off x="609600" y="5969000"/>
            <a:ext cx="109728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63600" y="1600200"/>
            <a:ext cx="5588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HYTERA  ×  GLOBE TELECOM</a:t>
            </a:r>
          </a:p>
        </p:txBody>
      </p:sp>
      <p:sp>
        <p:nvSpPr>
          <p:cNvPr id="14" name="TextBox 13"/>
          <p:cNvSpPr txBox="1"/>
          <p:nvPr/>
        </p:nvSpPr>
        <p:spPr>
          <a:xfrm>
            <a:off x="863600" y="1905000"/>
            <a:ext cx="5588000" cy="762000"/>
          </a:xfrm>
          <a:prstGeom prst="rect">
            <a:avLst/>
          </a:prstGeom>
          <a:noFill/>
        </p:spPr>
        <p:txBody>
          <a:bodyPr wrap="square" lIns="0" rIns="0" tIns="0" bIns="0" anchor="t">
            <a:spAutoFit/>
          </a:bodyPr>
          <a:lstStyle/>
          <a:p>
            <a:pPr algn="l">
              <a:lnSpc>
                <a:spcPct val="120000"/>
              </a:lnSpc>
              <a:spcAft>
                <a:spcPts val="0"/>
              </a:spcAft>
            </a:pPr>
            <a:r>
              <a:rPr sz="4000" b="0">
                <a:solidFill>
                  <a:srgbClr val="0B308E"/>
                </a:solidFill>
                <a:latin typeface="Segoe UI Semibold"/>
              </a:rPr>
              <a:t>Thank you</a:t>
            </a:r>
          </a:p>
        </p:txBody>
      </p:sp>
      <p:sp>
        <p:nvSpPr>
          <p:cNvPr id="15" name="Rectangle 14"/>
          <p:cNvSpPr/>
          <p:nvPr/>
        </p:nvSpPr>
        <p:spPr>
          <a:xfrm>
            <a:off x="863600" y="2870200"/>
            <a:ext cx="812800" cy="508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63600" y="3225800"/>
            <a:ext cx="5588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FOR DISCUSSION</a:t>
            </a:r>
          </a:p>
        </p:txBody>
      </p:sp>
      <p:sp>
        <p:nvSpPr>
          <p:cNvPr id="17" name="Oval 16"/>
          <p:cNvSpPr/>
          <p:nvPr/>
        </p:nvSpPr>
        <p:spPr>
          <a:xfrm>
            <a:off x="863600" y="3530600"/>
            <a:ext cx="406400" cy="406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radio-tower_white.png"/>
          <p:cNvPicPr>
            <a:picLocks noChangeAspect="1"/>
          </p:cNvPicPr>
          <p:nvPr/>
        </p:nvPicPr>
        <p:blipFill>
          <a:blip r:embed="rId5"/>
          <a:stretch>
            <a:fillRect/>
          </a:stretch>
        </p:blipFill>
        <p:spPr>
          <a:xfrm>
            <a:off x="961136" y="3628136"/>
            <a:ext cx="211328" cy="211328"/>
          </a:xfrm>
          <a:prstGeom prst="rect">
            <a:avLst/>
          </a:prstGeom>
        </p:spPr>
      </p:pic>
      <p:sp>
        <p:nvSpPr>
          <p:cNvPr id="19" name="TextBox 18"/>
          <p:cNvSpPr txBox="1"/>
          <p:nvPr/>
        </p:nvSpPr>
        <p:spPr>
          <a:xfrm>
            <a:off x="1422400" y="3530600"/>
            <a:ext cx="4826000" cy="4064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Band and bandwidth</a:t>
            </a:r>
          </a:p>
        </p:txBody>
      </p:sp>
      <p:sp>
        <p:nvSpPr>
          <p:cNvPr id="20" name="Oval 19"/>
          <p:cNvSpPr/>
          <p:nvPr/>
        </p:nvSpPr>
        <p:spPr>
          <a:xfrm>
            <a:off x="863600" y="4089400"/>
            <a:ext cx="406400" cy="406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users_white.png"/>
          <p:cNvPicPr>
            <a:picLocks noChangeAspect="1"/>
          </p:cNvPicPr>
          <p:nvPr/>
        </p:nvPicPr>
        <p:blipFill>
          <a:blip r:embed="rId6"/>
          <a:stretch>
            <a:fillRect/>
          </a:stretch>
        </p:blipFill>
        <p:spPr>
          <a:xfrm>
            <a:off x="961136" y="4186936"/>
            <a:ext cx="211328" cy="211328"/>
          </a:xfrm>
          <a:prstGeom prst="rect">
            <a:avLst/>
          </a:prstGeom>
        </p:spPr>
      </p:pic>
      <p:sp>
        <p:nvSpPr>
          <p:cNvPr id="22" name="TextBox 21"/>
          <p:cNvSpPr txBox="1"/>
          <p:nvPr/>
        </p:nvSpPr>
        <p:spPr>
          <a:xfrm>
            <a:off x="1422400" y="4089400"/>
            <a:ext cx="4826000" cy="4064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Which industries matter most</a:t>
            </a:r>
          </a:p>
        </p:txBody>
      </p:sp>
      <p:sp>
        <p:nvSpPr>
          <p:cNvPr id="23" name="Oval 22"/>
          <p:cNvSpPr/>
          <p:nvPr/>
        </p:nvSpPr>
        <p:spPr>
          <a:xfrm>
            <a:off x="863600" y="4648200"/>
            <a:ext cx="406400" cy="406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map-pin_white.png"/>
          <p:cNvPicPr>
            <a:picLocks noChangeAspect="1"/>
          </p:cNvPicPr>
          <p:nvPr/>
        </p:nvPicPr>
        <p:blipFill>
          <a:blip r:embed="rId7"/>
          <a:stretch>
            <a:fillRect/>
          </a:stretch>
        </p:blipFill>
        <p:spPr>
          <a:xfrm>
            <a:off x="961136" y="4745736"/>
            <a:ext cx="211328" cy="211328"/>
          </a:xfrm>
          <a:prstGeom prst="rect">
            <a:avLst/>
          </a:prstGeom>
        </p:spPr>
      </p:pic>
      <p:sp>
        <p:nvSpPr>
          <p:cNvPr id="25" name="TextBox 24"/>
          <p:cNvSpPr txBox="1"/>
          <p:nvPr/>
        </p:nvSpPr>
        <p:spPr>
          <a:xfrm>
            <a:off x="1422400" y="4648200"/>
            <a:ext cx="4826000" cy="4064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Where coverage is needed first</a:t>
            </a:r>
          </a:p>
        </p:txBody>
      </p:sp>
      <p:sp>
        <p:nvSpPr>
          <p:cNvPr id="26" name="TextBox 25"/>
          <p:cNvSpPr txBox="1"/>
          <p:nvPr/>
        </p:nvSpPr>
        <p:spPr>
          <a:xfrm>
            <a:off x="609600" y="6070600"/>
            <a:ext cx="5334000" cy="304800"/>
          </a:xfrm>
          <a:prstGeom prst="rect">
            <a:avLst/>
          </a:prstGeom>
          <a:noFill/>
        </p:spPr>
        <p:txBody>
          <a:bodyPr wrap="square" lIns="0" rIns="0" tIns="0" bIns="0" anchor="ctr">
            <a:spAutoFit/>
          </a:bodyPr>
          <a:lstStyle/>
          <a:p>
            <a:pPr algn="l">
              <a:lnSpc>
                <a:spcPct val="120000"/>
              </a:lnSpc>
              <a:spcAft>
                <a:spcPts val="0"/>
              </a:spcAft>
            </a:pPr>
            <a:r>
              <a:rPr sz="1100" b="0">
                <a:solidFill>
                  <a:srgbClr val="7F9B00"/>
                </a:solidFill>
                <a:latin typeface="Segoe UI Semibold"/>
              </a:rPr>
              <a:t>Mission First  ·  Safety Always</a:t>
            </a:r>
          </a:p>
        </p:txBody>
      </p:sp>
      <p:sp>
        <p:nvSpPr>
          <p:cNvPr id="27" name="TextBox 26"/>
          <p:cNvSpPr txBox="1"/>
          <p:nvPr/>
        </p:nvSpPr>
        <p:spPr>
          <a:xfrm>
            <a:off x="6502400" y="6070600"/>
            <a:ext cx="5080000" cy="304800"/>
          </a:xfrm>
          <a:prstGeom prst="rect">
            <a:avLst/>
          </a:prstGeom>
          <a:noFill/>
        </p:spPr>
        <p:txBody>
          <a:bodyPr wrap="square" lIns="0" rIns="0" tIns="0" bIns="0" anchor="ctr">
            <a:spAutoFit/>
          </a:bodyPr>
          <a:lstStyle/>
          <a:p>
            <a:pPr algn="r">
              <a:lnSpc>
                <a:spcPct val="120000"/>
              </a:lnSpc>
              <a:spcAft>
                <a:spcPts val="0"/>
              </a:spcAft>
            </a:pPr>
            <a:r>
              <a:rPr sz="950" b="0">
                <a:solidFill>
                  <a:srgbClr val="93A0B4"/>
                </a:solidFill>
                <a:latin typeface="Segoe UI"/>
              </a:rPr>
              <a:t>Hytera Communications Corporation Limited</a:t>
            </a:r>
          </a:p>
        </p:txBody>
      </p:sp>
    </p:spTree>
  </p:cSld>
  <p:clrMapOvr>
    <a:masterClrMapping/>
  </p:clrMapOvr>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TotalTime>
  <Words>3459</Words>
  <Application>Microsoft Macintosh PowerPoint</Application>
  <PresentationFormat>宽屏</PresentationFormat>
  <Paragraphs>390</Paragraphs>
  <Slides>17</Slides>
  <Notes>17</Notes>
  <HiddenSlides>0</HiddenSlides>
  <MMClips>0</MMClips>
  <ScaleCrop>false</ScaleCrop>
  <HeadingPairs>
    <vt:vector size="6" baseType="variant">
      <vt:variant>
        <vt:lpstr>已用的字体</vt:lpstr>
      </vt:variant>
      <vt:variant>
        <vt:i4>3</vt:i4>
      </vt:variant>
      <vt:variant>
        <vt:lpstr>主题</vt:lpstr>
      </vt:variant>
      <vt:variant>
        <vt:i4>1</vt:i4>
      </vt:variant>
      <vt:variant>
        <vt:lpstr>幻灯片标题</vt:lpstr>
      </vt:variant>
      <vt:variant>
        <vt:i4>17</vt:i4>
      </vt:variant>
    </vt:vector>
  </HeadingPairs>
  <TitlesOfParts>
    <vt:vector size="21" baseType="lpstr">
      <vt:lpstr>等线</vt:lpstr>
      <vt:lpstr>等线 Light</vt:lpstr>
      <vt:lpstr>Arial</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stefan yu</dc:creator>
  <cp:lastModifiedBy>stefan yu</cp:lastModifiedBy>
  <cp:revision>1</cp:revision>
  <dcterms:created xsi:type="dcterms:W3CDTF">2026-10-10T01:12:47Z</dcterms:created>
  <dcterms:modified xsi:type="dcterms:W3CDTF">2026-10-10T01:38:43Z</dcterms:modified>
</cp:coreProperties>
</file>