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The regulator reserved the band for energy and water in 2020 and licensed 450connect in 2021, to 2040. Seventy-plus utilities stand behind it; Nokia supplies the network. During 2025 coverage rose from thirty to over ninety percent of Germany, on a thousand sites with seventy-two hours of backup, and over ten thousand substations are connected. One operator, one network, many utilities,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jp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22.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jpg"/><Relationship Id="rId6" Type="http://schemas.openxmlformats.org/officeDocument/2006/relationships/image" Target="../media/image39.jpg"/><Relationship Id="rId7" Type="http://schemas.openxmlformats.org/officeDocument/2006/relationships/image" Target="../media/image40.jpg"/><Relationship Id="rId8" Type="http://schemas.openxmlformats.org/officeDocument/2006/relationships/image" Target="../media/image41.jpg"/><Relationship Id="rId9" Type="http://schemas.openxmlformats.org/officeDocument/2006/relationships/image" Target="../media/image42.jpg"/><Relationship Id="rId10" Type="http://schemas.openxmlformats.org/officeDocument/2006/relationships/image" Target="../media/image43.jp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21.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49.png"/><Relationship Id="rId4" Type="http://schemas.openxmlformats.org/officeDocument/2006/relationships/image" Target="../media/image46.png"/><Relationship Id="rId5" Type="http://schemas.openxmlformats.org/officeDocument/2006/relationships/image" Target="../media/image50.png"/><Relationship Id="rId6" Type="http://schemas.openxmlformats.org/officeDocument/2006/relationships/image" Target="../media/image44.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55.png"/><Relationship Id="rId4" Type="http://schemas.openxmlformats.org/officeDocument/2006/relationships/image" Target="../media/image54.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58.png"/><Relationship Id="rId4" Type="http://schemas.openxmlformats.org/officeDocument/2006/relationships/image" Target="../media/image45.png"/><Relationship Id="rId5" Type="http://schemas.openxmlformats.org/officeDocument/2006/relationships/image" Target="../media/image56.png"/><Relationship Id="rId6" Type="http://schemas.openxmlformats.org/officeDocument/2006/relationships/image" Target="../media/image59.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60.png"/><Relationship Id="rId4" Type="http://schemas.openxmlformats.org/officeDocument/2006/relationships/image" Target="../media/image45.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8.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16.png"/><Relationship Id="rId11" Type="http://schemas.openxmlformats.org/officeDocument/2006/relationships/image" Target="../media/image47.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67.png"/><Relationship Id="rId6" Type="http://schemas.openxmlformats.org/officeDocument/2006/relationships/image" Target="../media/image70.png"/><Relationship Id="rId7" Type="http://schemas.openxmlformats.org/officeDocument/2006/relationships/image" Target="../media/image19.png"/><Relationship Id="rId8" Type="http://schemas.openxmlformats.org/officeDocument/2006/relationships/image" Target="../media/image71.png"/><Relationship Id="rId9" Type="http://schemas.openxmlformats.org/officeDocument/2006/relationships/image" Target="../media/image16.png"/><Relationship Id="rId10" Type="http://schemas.openxmlformats.org/officeDocument/2006/relationships/image" Target="../media/image57.png"/><Relationship Id="rId11" Type="http://schemas.openxmlformats.org/officeDocument/2006/relationships/image" Target="../media/image1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9.png"/><Relationship Id="rId6" Type="http://schemas.openxmlformats.org/officeDocument/2006/relationships/image" Target="../media/image21.png"/><Relationship Id="rId7" Type="http://schemas.openxmlformats.org/officeDocument/2006/relationships/image" Target="../media/image74.png"/><Relationship Id="rId8" Type="http://schemas.openxmlformats.org/officeDocument/2006/relationships/image" Target="../media/image19.png"/><Relationship Id="rId9" Type="http://schemas.openxmlformats.org/officeDocument/2006/relationships/image" Target="../media/image33.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1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jpg"/><Relationship Id="rId9" Type="http://schemas.openxmlformats.org/officeDocument/2006/relationships/image" Target="../media/image81.jpg"/><Relationship Id="rId10" Type="http://schemas.openxmlformats.org/officeDocument/2006/relationships/image" Target="../media/image82.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38.jp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67.png"/><Relationship Id="rId9" Type="http://schemas.openxmlformats.org/officeDocument/2006/relationships/image" Target="../media/image19.png"/><Relationship Id="rId10" Type="http://schemas.openxmlformats.org/officeDocument/2006/relationships/image" Target="../media/image73.png"/><Relationship Id="rId11" Type="http://schemas.openxmlformats.org/officeDocument/2006/relationships/image" Target="../media/image51.png"/><Relationship Id="rId12" Type="http://schemas.openxmlformats.org/officeDocument/2006/relationships/image" Target="../media/image22.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5.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pic>
        <p:nvPicPr>
          <p:cNvPr id="35" name="Picture 34" descr="v6_5c1aa6a0bd.jpg"/>
          <p:cNvPicPr>
            <a:picLocks noChangeAspect="1"/>
          </p:cNvPicPr>
          <p:nvPr/>
        </p:nvPicPr>
        <p:blipFill>
          <a:blip r:embed="rId4"/>
          <a:srcRect t="36586" b="26586"/>
          <a:stretch>
            <a:fillRect/>
          </a:stretch>
        </p:blipFill>
        <p:spPr>
          <a:xfrm>
            <a:off x="5791200" y="1549400"/>
            <a:ext cx="5791200" cy="1422400"/>
          </a:xfrm>
          <a:prstGeom prst="rect">
            <a:avLst/>
          </a:prstGeom>
        </p:spPr>
      </p:pic>
      <p:sp>
        <p:nvSpPr>
          <p:cNvPr id="36" name="Rounded Rectangle 35"/>
          <p:cNvSpPr/>
          <p:nvPr/>
        </p:nvSpPr>
        <p:spPr>
          <a:xfrm>
            <a:off x="5943600" y="2565400"/>
            <a:ext cx="2489200" cy="2794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43600" y="2565400"/>
            <a:ext cx="2489200" cy="279400"/>
          </a:xfrm>
          <a:prstGeom prst="rect">
            <a:avLst/>
          </a:prstGeom>
          <a:noFill/>
        </p:spPr>
        <p:txBody>
          <a:bodyPr wrap="square" lIns="0" rIns="0" tIns="0" bIns="0" anchor="ctr">
            <a:spAutoFit/>
          </a:bodyPr>
          <a:lstStyle/>
          <a:p>
            <a:pPr algn="ctr">
              <a:lnSpc>
                <a:spcPct val="120000"/>
              </a:lnSpc>
              <a:spcAft>
                <a:spcPts val="0"/>
              </a:spcAft>
            </a:pPr>
            <a:r>
              <a:rPr sz="1000" b="0">
                <a:solidFill>
                  <a:srgbClr val="FFFFFF"/>
                </a:solidFill>
                <a:latin typeface="Segoe UI Semibold"/>
              </a:rPr>
              <a:t>Critical infrastructure first</a:t>
            </a:r>
          </a:p>
        </p:txBody>
      </p:sp>
      <p:sp>
        <p:nvSpPr>
          <p:cNvPr id="38" name="TextBox 37"/>
          <p:cNvSpPr txBox="1"/>
          <p:nvPr/>
        </p:nvSpPr>
        <p:spPr>
          <a:xfrm>
            <a:off x="5791200" y="30988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39" name="Rectangle 38"/>
          <p:cNvSpPr/>
          <p:nvPr/>
        </p:nvSpPr>
        <p:spPr>
          <a:xfrm>
            <a:off x="5791200" y="33528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5994400" y="3492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smartphone_white.png"/>
          <p:cNvPicPr>
            <a:picLocks noChangeAspect="1"/>
          </p:cNvPicPr>
          <p:nvPr/>
        </p:nvPicPr>
        <p:blipFill>
          <a:blip r:embed="rId5"/>
          <a:stretch>
            <a:fillRect/>
          </a:stretch>
        </p:blipFill>
        <p:spPr>
          <a:xfrm>
            <a:off x="6098032" y="3596132"/>
            <a:ext cx="224536" cy="224536"/>
          </a:xfrm>
          <a:prstGeom prst="rect">
            <a:avLst/>
          </a:prstGeom>
        </p:spPr>
      </p:pic>
      <p:sp>
        <p:nvSpPr>
          <p:cNvPr id="42" name="TextBox 41"/>
          <p:cNvSpPr txBox="1"/>
          <p:nvPr/>
        </p:nvSpPr>
        <p:spPr>
          <a:xfrm>
            <a:off x="6604000" y="34290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No consumer handsets</a:t>
            </a:r>
          </a:p>
        </p:txBody>
      </p:sp>
      <p:sp>
        <p:nvSpPr>
          <p:cNvPr id="43" name="TextBox 42"/>
          <p:cNvSpPr txBox="1"/>
          <p:nvPr/>
        </p:nvSpPr>
        <p:spPr>
          <a:xfrm>
            <a:off x="6604000" y="36957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Phones lack Band 31/72; devices are routers, meters, rugged handhelds.</a:t>
            </a:r>
          </a:p>
        </p:txBody>
      </p:sp>
      <p:sp>
        <p:nvSpPr>
          <p:cNvPr id="44" name="Rectangle 43"/>
          <p:cNvSpPr/>
          <p:nvPr/>
        </p:nvSpPr>
        <p:spPr>
          <a:xfrm>
            <a:off x="5791200" y="41402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5994400" y="4279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badge-check_white.png"/>
          <p:cNvPicPr>
            <a:picLocks noChangeAspect="1"/>
          </p:cNvPicPr>
          <p:nvPr/>
        </p:nvPicPr>
        <p:blipFill>
          <a:blip r:embed="rId6"/>
          <a:stretch>
            <a:fillRect/>
          </a:stretch>
        </p:blipFill>
        <p:spPr>
          <a:xfrm>
            <a:off x="6098032" y="4383532"/>
            <a:ext cx="224536" cy="224536"/>
          </a:xfrm>
          <a:prstGeom prst="rect">
            <a:avLst/>
          </a:prstGeom>
        </p:spPr>
      </p:pic>
      <p:sp>
        <p:nvSpPr>
          <p:cNvPr id="47" name="TextBox 46"/>
          <p:cNvSpPr txBox="1"/>
          <p:nvPr/>
        </p:nvSpPr>
        <p:spPr>
          <a:xfrm>
            <a:off x="6604000" y="42164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Licensed for critical infrastructure</a:t>
            </a:r>
          </a:p>
        </p:txBody>
      </p:sp>
      <p:sp>
        <p:nvSpPr>
          <p:cNvPr id="48" name="TextBox 47"/>
          <p:cNvSpPr txBox="1"/>
          <p:nvPr/>
        </p:nvSpPr>
        <p:spPr>
          <a:xfrm>
            <a:off x="6604000" y="44831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Germany: energy &amp; water. Singapore: public safety. South Africa: rail.</a:t>
            </a:r>
          </a:p>
        </p:txBody>
      </p:sp>
      <p:sp>
        <p:nvSpPr>
          <p:cNvPr id="49" name="Rectangle 48"/>
          <p:cNvSpPr/>
          <p:nvPr/>
        </p:nvSpPr>
        <p:spPr>
          <a:xfrm>
            <a:off x="5791200" y="49276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Oval 49"/>
          <p:cNvSpPr/>
          <p:nvPr/>
        </p:nvSpPr>
        <p:spPr>
          <a:xfrm>
            <a:off x="5994400" y="5067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1" name="Picture 50" descr="zap_white.png"/>
          <p:cNvPicPr>
            <a:picLocks noChangeAspect="1"/>
          </p:cNvPicPr>
          <p:nvPr/>
        </p:nvPicPr>
        <p:blipFill>
          <a:blip r:embed="rId7"/>
          <a:stretch>
            <a:fillRect/>
          </a:stretch>
        </p:blipFill>
        <p:spPr>
          <a:xfrm>
            <a:off x="6098032" y="5170932"/>
            <a:ext cx="224536" cy="224536"/>
          </a:xfrm>
          <a:prstGeom prst="rect">
            <a:avLst/>
          </a:prstGeom>
        </p:spPr>
      </p:pic>
      <p:sp>
        <p:nvSpPr>
          <p:cNvPr id="52" name="TextBox 51"/>
          <p:cNvSpPr txBox="1"/>
          <p:nvPr/>
        </p:nvSpPr>
        <p:spPr>
          <a:xfrm>
            <a:off x="6604000" y="50038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Built for resilience, not consumer cost</a:t>
            </a:r>
          </a:p>
        </p:txBody>
      </p:sp>
      <p:sp>
        <p:nvSpPr>
          <p:cNvPr id="53" name="TextBox 52"/>
          <p:cNvSpPr txBox="1"/>
          <p:nvPr/>
        </p:nvSpPr>
        <p:spPr>
          <a:xfrm>
            <a:off x="6604000" y="52705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Long backup power (72 h at 450connect) and mission-critical priority.</a:t>
            </a:r>
          </a:p>
        </p:txBody>
      </p:sp>
      <p:sp>
        <p:nvSpPr>
          <p:cNvPr id="54" name="Rectangle 53"/>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info_navy.png"/>
          <p:cNvPicPr>
            <a:picLocks noChangeAspect="1"/>
          </p:cNvPicPr>
          <p:nvPr/>
        </p:nvPicPr>
        <p:blipFill>
          <a:blip r:embed="rId8"/>
          <a:stretch>
            <a:fillRect/>
          </a:stretch>
        </p:blipFill>
        <p:spPr>
          <a:xfrm>
            <a:off x="812800" y="5918200"/>
            <a:ext cx="254000" cy="254000"/>
          </a:xfrm>
          <a:prstGeom prst="rect">
            <a:avLst/>
          </a:prstGeom>
        </p:spPr>
      </p:pic>
      <p:sp>
        <p:nvSpPr>
          <p:cNvPr id="56" name="TextBox 55"/>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57" name="TextBox 5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pic>
        <p:nvPicPr>
          <p:cNvPr id="19" name="Picture 18" descr="v6_13015b8219.jpg"/>
          <p:cNvPicPr>
            <a:picLocks noChangeAspect="1"/>
          </p:cNvPicPr>
          <p:nvPr/>
        </p:nvPicPr>
        <p:blipFill>
          <a:blip r:embed="rId5"/>
          <a:srcRect l="3125" r="3125"/>
          <a:stretch>
            <a:fillRect/>
          </a:stretch>
        </p:blipFill>
        <p:spPr>
          <a:xfrm>
            <a:off x="1143000" y="2032000"/>
            <a:ext cx="762000" cy="457200"/>
          </a:xfrm>
          <a:prstGeom prst="rect">
            <a:avLst/>
          </a:prstGeom>
        </p:spPr>
      </p:pic>
      <p:sp>
        <p:nvSpPr>
          <p:cNvPr id="20" name="TextBox 19"/>
          <p:cNvSpPr txBox="1"/>
          <p:nvPr/>
        </p:nvSpPr>
        <p:spPr>
          <a:xfrm>
            <a:off x="2057400" y="1981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1" name="Oval 20"/>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1" name="Rectangle 30"/>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pic>
        <p:nvPicPr>
          <p:cNvPr id="33" name="Picture 32" descr="v6_5f9dad8d68.jpg"/>
          <p:cNvPicPr>
            <a:picLocks noChangeAspect="1"/>
          </p:cNvPicPr>
          <p:nvPr/>
        </p:nvPicPr>
        <p:blipFill>
          <a:blip r:embed="rId6"/>
          <a:srcRect t="9844" b="19844"/>
          <a:stretch>
            <a:fillRect/>
          </a:stretch>
        </p:blipFill>
        <p:spPr>
          <a:xfrm>
            <a:off x="1143000" y="2667000"/>
            <a:ext cx="762000" cy="457200"/>
          </a:xfrm>
          <a:prstGeom prst="rect">
            <a:avLst/>
          </a:prstGeom>
        </p:spPr>
      </p:pic>
      <p:sp>
        <p:nvSpPr>
          <p:cNvPr id="34" name="TextBox 33"/>
          <p:cNvSpPr txBox="1"/>
          <p:nvPr/>
        </p:nvSpPr>
        <p:spPr>
          <a:xfrm>
            <a:off x="2057400" y="2616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5" name="Oval 34"/>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5" name="Rectangle 44"/>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pic>
        <p:nvPicPr>
          <p:cNvPr id="47" name="Picture 46" descr="v6_4589fbbd86.jpg"/>
          <p:cNvPicPr>
            <a:picLocks noChangeAspect="1"/>
          </p:cNvPicPr>
          <p:nvPr/>
        </p:nvPicPr>
        <p:blipFill>
          <a:blip r:embed="rId7"/>
          <a:srcRect b="9944"/>
          <a:stretch>
            <a:fillRect/>
          </a:stretch>
        </p:blipFill>
        <p:spPr>
          <a:xfrm>
            <a:off x="1143000" y="3302000"/>
            <a:ext cx="762000" cy="457200"/>
          </a:xfrm>
          <a:prstGeom prst="rect">
            <a:avLst/>
          </a:prstGeom>
        </p:spPr>
      </p:pic>
      <p:sp>
        <p:nvSpPr>
          <p:cNvPr id="48" name="TextBox 47"/>
          <p:cNvSpPr txBox="1"/>
          <p:nvPr/>
        </p:nvSpPr>
        <p:spPr>
          <a:xfrm>
            <a:off x="2057400" y="3251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49" name="Oval 48"/>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Oval 49"/>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Oval 51"/>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59" name="Rectangle 58"/>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pic>
        <p:nvPicPr>
          <p:cNvPr id="61" name="Picture 60" descr="v6_6c17f9f128.jpg"/>
          <p:cNvPicPr>
            <a:picLocks noChangeAspect="1"/>
          </p:cNvPicPr>
          <p:nvPr/>
        </p:nvPicPr>
        <p:blipFill>
          <a:blip r:embed="rId8"/>
          <a:srcRect b="9605"/>
          <a:stretch>
            <a:fillRect/>
          </a:stretch>
        </p:blipFill>
        <p:spPr>
          <a:xfrm>
            <a:off x="1143000" y="3937000"/>
            <a:ext cx="762000" cy="457200"/>
          </a:xfrm>
          <a:prstGeom prst="rect">
            <a:avLst/>
          </a:prstGeom>
        </p:spPr>
      </p:pic>
      <p:sp>
        <p:nvSpPr>
          <p:cNvPr id="62" name="TextBox 61"/>
          <p:cNvSpPr txBox="1"/>
          <p:nvPr/>
        </p:nvSpPr>
        <p:spPr>
          <a:xfrm>
            <a:off x="2057400" y="3886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3" name="Oval 62"/>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Oval 63"/>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Oval 64"/>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Oval 65"/>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Oval 66"/>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3" name="Rectangle 72"/>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pic>
        <p:nvPicPr>
          <p:cNvPr id="75" name="Picture 74" descr="v6_8b437e2f48.jpg"/>
          <p:cNvPicPr>
            <a:picLocks noChangeAspect="1"/>
          </p:cNvPicPr>
          <p:nvPr/>
        </p:nvPicPr>
        <p:blipFill>
          <a:blip r:embed="rId9"/>
          <a:srcRect t="4016" b="14016"/>
          <a:stretch>
            <a:fillRect/>
          </a:stretch>
        </p:blipFill>
        <p:spPr>
          <a:xfrm>
            <a:off x="1143000" y="4572000"/>
            <a:ext cx="762000" cy="457200"/>
          </a:xfrm>
          <a:prstGeom prst="rect">
            <a:avLst/>
          </a:prstGeom>
        </p:spPr>
      </p:pic>
      <p:sp>
        <p:nvSpPr>
          <p:cNvPr id="76" name="TextBox 75"/>
          <p:cNvSpPr txBox="1"/>
          <p:nvPr/>
        </p:nvSpPr>
        <p:spPr>
          <a:xfrm>
            <a:off x="2057400" y="4521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77" name="Oval 76"/>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Oval 77"/>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Oval 78"/>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Oval 79"/>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Oval 80"/>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Oval 81"/>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87" name="Rectangle 86"/>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TextBox 87"/>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pic>
        <p:nvPicPr>
          <p:cNvPr id="89" name="Picture 88" descr="v6_b6694edb9e.jpg"/>
          <p:cNvPicPr>
            <a:picLocks noChangeAspect="1"/>
          </p:cNvPicPr>
          <p:nvPr/>
        </p:nvPicPr>
        <p:blipFill>
          <a:blip r:embed="rId10"/>
          <a:srcRect l="3125" r="3125"/>
          <a:stretch>
            <a:fillRect/>
          </a:stretch>
        </p:blipFill>
        <p:spPr>
          <a:xfrm>
            <a:off x="1143000" y="5207000"/>
            <a:ext cx="762000" cy="457200"/>
          </a:xfrm>
          <a:prstGeom prst="rect">
            <a:avLst/>
          </a:prstGeom>
        </p:spPr>
      </p:pic>
      <p:sp>
        <p:nvSpPr>
          <p:cNvPr id="90" name="TextBox 89"/>
          <p:cNvSpPr txBox="1"/>
          <p:nvPr/>
        </p:nvSpPr>
        <p:spPr>
          <a:xfrm>
            <a:off x="2057400" y="5156200"/>
            <a:ext cx="1905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1" name="Oval 90"/>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Oval 91"/>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Oval 92"/>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Oval 93"/>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Oval 94"/>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Oval 95"/>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Oval 96"/>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TextBox 99"/>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1" name="Picture 100"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2" name="TextBox 101"/>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3" name="TextBox 102"/>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04" name="TextBox 10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90%+ area</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and macro eNB supplier lists</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 (below)</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layers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1" name="Rectangle 30"/>
          <p:cNvSpPr/>
          <p:nvPr/>
        </p:nvSpPr>
        <p:spPr>
          <a:xfrm>
            <a:off x="609600" y="4775200"/>
            <a:ext cx="4876800" cy="838200"/>
          </a:xfrm>
          <a:prstGeom prst="rect">
            <a:avLst/>
          </a:prstGeom>
          <a:solidFill>
            <a:srgbClr val="FFFFFF"/>
          </a:solidFill>
          <a:ln w="9525">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a_e8b6d055b5.png"/>
          <p:cNvPicPr>
            <a:picLocks noChangeAspect="1"/>
          </p:cNvPicPr>
          <p:nvPr/>
        </p:nvPicPr>
        <p:blipFill>
          <a:blip r:embed="rId6"/>
          <a:stretch>
            <a:fillRect/>
          </a:stretch>
        </p:blipFill>
        <p:spPr>
          <a:xfrm>
            <a:off x="1098176" y="4826000"/>
            <a:ext cx="3899647" cy="736600"/>
          </a:xfrm>
          <a:prstGeom prst="rect">
            <a:avLst/>
          </a:prstGeom>
        </p:spPr>
      </p:pic>
      <p:sp>
        <p:nvSpPr>
          <p:cNvPr id="33" name="TextBox 32"/>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4" name="Rectangle 33"/>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martphone_white.png"/>
          <p:cNvPicPr>
            <a:picLocks noChangeAspect="1"/>
          </p:cNvPicPr>
          <p:nvPr/>
        </p:nvPicPr>
        <p:blipFill>
          <a:blip r:embed="rId7"/>
          <a:stretch>
            <a:fillRect/>
          </a:stretch>
        </p:blipFill>
        <p:spPr>
          <a:xfrm>
            <a:off x="5943600" y="2057400"/>
            <a:ext cx="304800" cy="304800"/>
          </a:xfrm>
          <a:prstGeom prst="rect">
            <a:avLst/>
          </a:prstGeom>
        </p:spPr>
      </p:pic>
      <p:sp>
        <p:nvSpPr>
          <p:cNvPr id="36" name="TextBox 35"/>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37" name="Connector 36"/>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0" name="Rectangle 39"/>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radio-tower_white.png"/>
          <p:cNvPicPr>
            <a:picLocks noChangeAspect="1"/>
          </p:cNvPicPr>
          <p:nvPr/>
        </p:nvPicPr>
        <p:blipFill>
          <a:blip r:embed="rId3"/>
          <a:stretch>
            <a:fillRect/>
          </a:stretch>
        </p:blipFill>
        <p:spPr>
          <a:xfrm>
            <a:off x="5943600" y="2971800"/>
            <a:ext cx="304800" cy="304800"/>
          </a:xfrm>
          <a:prstGeom prst="rect">
            <a:avLst/>
          </a:prstGeom>
        </p:spPr>
      </p:pic>
      <p:sp>
        <p:nvSpPr>
          <p:cNvPr id="42" name="TextBox 41"/>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3" name="Connector 42"/>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6" name="Rectangle 45"/>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layers_white.png"/>
          <p:cNvPicPr>
            <a:picLocks noChangeAspect="1"/>
          </p:cNvPicPr>
          <p:nvPr/>
        </p:nvPicPr>
        <p:blipFill>
          <a:blip r:embed="rId5"/>
          <a:stretch>
            <a:fillRect/>
          </a:stretch>
        </p:blipFill>
        <p:spPr>
          <a:xfrm>
            <a:off x="5943600" y="3886200"/>
            <a:ext cx="304800" cy="304800"/>
          </a:xfrm>
          <a:prstGeom prst="rect">
            <a:avLst/>
          </a:prstGeom>
        </p:spPr>
      </p:pic>
      <p:sp>
        <p:nvSpPr>
          <p:cNvPr id="48" name="TextBox 47"/>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49" name="Connector 48"/>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2" name="Rectangle 51"/>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4" name="Picture 53" descr="server_green.png"/>
          <p:cNvPicPr>
            <a:picLocks noChangeAspect="1"/>
          </p:cNvPicPr>
          <p:nvPr/>
        </p:nvPicPr>
        <p:blipFill>
          <a:blip r:embed="rId8"/>
          <a:stretch>
            <a:fillRect/>
          </a:stretch>
        </p:blipFill>
        <p:spPr>
          <a:xfrm>
            <a:off x="9652000" y="2057400"/>
            <a:ext cx="381000" cy="381000"/>
          </a:xfrm>
          <a:prstGeom prst="rect">
            <a:avLst/>
          </a:prstGeom>
        </p:spPr>
      </p:pic>
      <p:sp>
        <p:nvSpPr>
          <p:cNvPr id="55" name="TextBox 54"/>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6" name="TextBox 55"/>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57" name="Picture 56" descr="check_green.png"/>
          <p:cNvPicPr>
            <a:picLocks noChangeAspect="1"/>
          </p:cNvPicPr>
          <p:nvPr/>
        </p:nvPicPr>
        <p:blipFill>
          <a:blip r:embed="rId9"/>
          <a:stretch>
            <a:fillRect/>
          </a:stretch>
        </p:blipFill>
        <p:spPr>
          <a:xfrm>
            <a:off x="9652000" y="3327400"/>
            <a:ext cx="152400" cy="152400"/>
          </a:xfrm>
          <a:prstGeom prst="rect">
            <a:avLst/>
          </a:prstGeom>
        </p:spPr>
      </p:pic>
      <p:sp>
        <p:nvSpPr>
          <p:cNvPr id="58" name="TextBox 57"/>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59" name="Picture 58" descr="check_green.png"/>
          <p:cNvPicPr>
            <a:picLocks noChangeAspect="1"/>
          </p:cNvPicPr>
          <p:nvPr/>
        </p:nvPicPr>
        <p:blipFill>
          <a:blip r:embed="rId9"/>
          <a:stretch>
            <a:fillRect/>
          </a:stretch>
        </p:blipFill>
        <p:spPr>
          <a:xfrm>
            <a:off x="9652000" y="3581400"/>
            <a:ext cx="152400" cy="152400"/>
          </a:xfrm>
          <a:prstGeom prst="rect">
            <a:avLst/>
          </a:prstGeom>
        </p:spPr>
      </p:pic>
      <p:sp>
        <p:nvSpPr>
          <p:cNvPr id="60" name="TextBox 59"/>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1" name="Picture 60" descr="check_green.png"/>
          <p:cNvPicPr>
            <a:picLocks noChangeAspect="1"/>
          </p:cNvPicPr>
          <p:nvPr/>
        </p:nvPicPr>
        <p:blipFill>
          <a:blip r:embed="rId9"/>
          <a:stretch>
            <a:fillRect/>
          </a:stretch>
        </p:blipFill>
        <p:spPr>
          <a:xfrm>
            <a:off x="9652000" y="3835400"/>
            <a:ext cx="152400" cy="152400"/>
          </a:xfrm>
          <a:prstGeom prst="rect">
            <a:avLst/>
          </a:prstGeom>
        </p:spPr>
      </p:pic>
      <p:sp>
        <p:nvSpPr>
          <p:cNvPr id="62" name="TextBox 61"/>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3" name="Picture 62" descr="check_green.png"/>
          <p:cNvPicPr>
            <a:picLocks noChangeAspect="1"/>
          </p:cNvPicPr>
          <p:nvPr/>
        </p:nvPicPr>
        <p:blipFill>
          <a:blip r:embed="rId9"/>
          <a:stretch>
            <a:fillRect/>
          </a:stretch>
        </p:blipFill>
        <p:spPr>
          <a:xfrm>
            <a:off x="9652000" y="4089400"/>
            <a:ext cx="152400" cy="152400"/>
          </a:xfrm>
          <a:prstGeom prst="rect">
            <a:avLst/>
          </a:prstGeom>
        </p:spPr>
      </p:pic>
      <p:sp>
        <p:nvSpPr>
          <p:cNvPr id="64" name="TextBox 63"/>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5" name="Rectangle 64"/>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6" name="Picture 65" descr="network_navy.png"/>
          <p:cNvPicPr>
            <a:picLocks noChangeAspect="1"/>
          </p:cNvPicPr>
          <p:nvPr/>
        </p:nvPicPr>
        <p:blipFill>
          <a:blip r:embed="rId10"/>
          <a:stretch>
            <a:fillRect/>
          </a:stretch>
        </p:blipFill>
        <p:spPr>
          <a:xfrm>
            <a:off x="5994400" y="4826000"/>
            <a:ext cx="381000" cy="381000"/>
          </a:xfrm>
          <a:prstGeom prst="rect">
            <a:avLst/>
          </a:prstGeom>
        </p:spPr>
      </p:pic>
      <p:sp>
        <p:nvSpPr>
          <p:cNvPr id="67" name="TextBox 66"/>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68" name="TextBox 67"/>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69" name="Rectangle 68"/>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handshake_navy.png"/>
          <p:cNvPicPr>
            <a:picLocks noChangeAspect="1"/>
          </p:cNvPicPr>
          <p:nvPr/>
        </p:nvPicPr>
        <p:blipFill>
          <a:blip r:embed="rId11"/>
          <a:stretch>
            <a:fillRect/>
          </a:stretch>
        </p:blipFill>
        <p:spPr>
          <a:xfrm>
            <a:off x="812800" y="5867400"/>
            <a:ext cx="254000" cy="254000"/>
          </a:xfrm>
          <a:prstGeom prst="rect">
            <a:avLst/>
          </a:prstGeom>
        </p:spPr>
      </p:pic>
      <p:sp>
        <p:nvSpPr>
          <p:cNvPr id="71" name="TextBox 70"/>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2" name="TextBox 7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pic>
        <p:nvPicPr>
          <p:cNvPr id="10" name="Picture 9" descr="v6_f102d88041.jpg"/>
          <p:cNvPicPr>
            <a:picLocks noChangeAspect="1"/>
          </p:cNvPicPr>
          <p:nvPr/>
        </p:nvPicPr>
        <p:blipFill>
          <a:blip r:embed="rId2"/>
          <a:srcRect l="19875" r="23875"/>
          <a:stretch>
            <a:fillRect/>
          </a:stretch>
        </p:blipFill>
        <p:spPr>
          <a:xfrm>
            <a:off x="609600" y="1549400"/>
            <a:ext cx="3429000" cy="4064000"/>
          </a:xfrm>
          <a:prstGeom prst="rect">
            <a:avLst/>
          </a:prstGeom>
        </p:spPr>
      </p:pic>
      <p:sp>
        <p:nvSpPr>
          <p:cNvPr id="11" name="Rectangle 10"/>
          <p:cNvSpPr/>
          <p:nvPr/>
        </p:nvSpPr>
        <p:spPr>
          <a:xfrm>
            <a:off x="609600" y="4292600"/>
            <a:ext cx="3429000" cy="1320800"/>
          </a:xfrm>
          <a:prstGeom prst="rect">
            <a:avLst/>
          </a:prstGeom>
          <a:solidFill>
            <a:srgbClr val="0B308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8200" y="4419600"/>
            <a:ext cx="2921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8CC63F"/>
                </a:solidFill>
                <a:latin typeface="Segoe UI Semibold"/>
              </a:rPr>
              <a:t>COVERAGE</a:t>
            </a:r>
          </a:p>
        </p:txBody>
      </p:sp>
      <p:sp>
        <p:nvSpPr>
          <p:cNvPr id="13" name="TextBox 12"/>
          <p:cNvSpPr txBox="1"/>
          <p:nvPr/>
        </p:nvSpPr>
        <p:spPr>
          <a:xfrm>
            <a:off x="812800" y="4597400"/>
            <a:ext cx="1524000" cy="558800"/>
          </a:xfrm>
          <a:prstGeom prst="rect">
            <a:avLst/>
          </a:prstGeom>
          <a:noFill/>
        </p:spPr>
        <p:txBody>
          <a:bodyPr wrap="square" lIns="0" rIns="0" tIns="0" bIns="0" anchor="ctr">
            <a:spAutoFit/>
          </a:bodyPr>
          <a:lstStyle/>
          <a:p>
            <a:pPr algn="l">
              <a:lnSpc>
                <a:spcPct val="120000"/>
              </a:lnSpc>
              <a:spcAft>
                <a:spcPts val="0"/>
              </a:spcAft>
            </a:pPr>
            <a:r>
              <a:rPr sz="3200" b="0">
                <a:solidFill>
                  <a:srgbClr val="FFFFFF"/>
                </a:solidFill>
                <a:latin typeface="Segoe UI Light"/>
              </a:rPr>
              <a:t>90%+</a:t>
            </a:r>
          </a:p>
        </p:txBody>
      </p:sp>
      <p:sp>
        <p:nvSpPr>
          <p:cNvPr id="14" name="TextBox 13"/>
          <p:cNvSpPr txBox="1"/>
          <p:nvPr/>
        </p:nvSpPr>
        <p:spPr>
          <a:xfrm>
            <a:off x="2184400" y="4648200"/>
            <a:ext cx="1727200" cy="508000"/>
          </a:xfrm>
          <a:prstGeom prst="rect">
            <a:avLst/>
          </a:prstGeom>
          <a:noFill/>
        </p:spPr>
        <p:txBody>
          <a:bodyPr wrap="square" lIns="0" rIns="0" tIns="0" bIns="0" anchor="ctr">
            <a:spAutoFit/>
          </a:bodyPr>
          <a:lstStyle/>
          <a:p>
            <a:pPr algn="l">
              <a:lnSpc>
                <a:spcPct val="115000"/>
              </a:lnSpc>
              <a:spcAft>
                <a:spcPts val="0"/>
              </a:spcAft>
            </a:pPr>
            <a:r>
              <a:rPr sz="1050" b="0">
                <a:solidFill>
                  <a:srgbClr val="DCE5F3"/>
                </a:solidFill>
                <a:latin typeface="Segoe UI"/>
              </a:rPr>
              <a:t>of Germany’s area</a:t>
            </a:r>
          </a:p>
          <a:p>
            <a:pPr algn="l">
              <a:lnSpc>
                <a:spcPct val="115000"/>
              </a:lnSpc>
              <a:spcAft>
                <a:spcPts val="0"/>
              </a:spcAft>
            </a:pPr>
            <a:r>
              <a:rPr sz="1050" b="0">
                <a:solidFill>
                  <a:srgbClr val="DCE5F3"/>
                </a:solidFill>
                <a:latin typeface="Segoe UI"/>
              </a:rPr>
              <a:t>by Q4 2025</a:t>
            </a:r>
          </a:p>
        </p:txBody>
      </p:sp>
      <p:sp>
        <p:nvSpPr>
          <p:cNvPr id="15" name="TextBox 14"/>
          <p:cNvSpPr txBox="1"/>
          <p:nvPr/>
        </p:nvSpPr>
        <p:spPr>
          <a:xfrm>
            <a:off x="838200" y="5232400"/>
            <a:ext cx="3048000" cy="254000"/>
          </a:xfrm>
          <a:prstGeom prst="rect">
            <a:avLst/>
          </a:prstGeom>
          <a:noFill/>
        </p:spPr>
        <p:txBody>
          <a:bodyPr wrap="square" lIns="0" rIns="0" tIns="0" bIns="0" anchor="ctr">
            <a:spAutoFit/>
          </a:bodyPr>
          <a:lstStyle/>
          <a:p>
            <a:pPr algn="l">
              <a:lnSpc>
                <a:spcPct val="120000"/>
              </a:lnSpc>
              <a:spcAft>
                <a:spcPts val="0"/>
              </a:spcAft>
            </a:pPr>
            <a:r>
              <a:rPr sz="950" b="0">
                <a:solidFill>
                  <a:srgbClr val="FFFFFF"/>
                </a:solidFill>
                <a:latin typeface="Segoe UI Semibold"/>
              </a:rPr>
              <a:t>Band 72  ·  2×4.74 MHz  ·  licence to 2040</a:t>
            </a:r>
          </a:p>
        </p:txBody>
      </p:sp>
      <p:sp>
        <p:nvSpPr>
          <p:cNvPr id="16" name="Rectangle 15"/>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19" name="TextBox 18"/>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a:t>
            </a:r>
          </a:p>
        </p:txBody>
      </p:sp>
      <p:sp>
        <p:nvSpPr>
          <p:cNvPr id="20" name="TextBox 19"/>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live (Oct 2025), ~1,600 planned</a:t>
            </a:r>
          </a:p>
        </p:txBody>
      </p:sp>
      <p:sp>
        <p:nvSpPr>
          <p:cNvPr id="21" name="Rectangle 20"/>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pu_white.png"/>
          <p:cNvPicPr>
            <a:picLocks noChangeAspect="1"/>
          </p:cNvPicPr>
          <p:nvPr/>
        </p:nvPicPr>
        <p:blipFill>
          <a:blip r:embed="rId4"/>
          <a:stretch>
            <a:fillRect/>
          </a:stretch>
        </p:blipFill>
        <p:spPr>
          <a:xfrm>
            <a:off x="8339328" y="1900427"/>
            <a:ext cx="237744" cy="237744"/>
          </a:xfrm>
          <a:prstGeom prst="rect">
            <a:avLst/>
          </a:prstGeom>
        </p:spPr>
      </p:pic>
      <p:sp>
        <p:nvSpPr>
          <p:cNvPr id="24" name="TextBox 23"/>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10,000+</a:t>
            </a:r>
          </a:p>
        </p:txBody>
      </p:sp>
      <p:sp>
        <p:nvSpPr>
          <p:cNvPr id="25" name="TextBox 24"/>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substations connected (Feb 2026)</a:t>
            </a:r>
          </a:p>
        </p:txBody>
      </p:sp>
      <p:sp>
        <p:nvSpPr>
          <p:cNvPr id="26" name="Rectangle 25"/>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users_white.png"/>
          <p:cNvPicPr>
            <a:picLocks noChangeAspect="1"/>
          </p:cNvPicPr>
          <p:nvPr/>
        </p:nvPicPr>
        <p:blipFill>
          <a:blip r:embed="rId5"/>
          <a:stretch>
            <a:fillRect/>
          </a:stretch>
        </p:blipFill>
        <p:spPr>
          <a:xfrm>
            <a:off x="4656328" y="2941828"/>
            <a:ext cx="237744" cy="237744"/>
          </a:xfrm>
          <a:prstGeom prst="rect">
            <a:avLst/>
          </a:prstGeom>
        </p:spPr>
      </p:pic>
      <p:sp>
        <p:nvSpPr>
          <p:cNvPr id="29" name="TextBox 28"/>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70+</a:t>
            </a:r>
          </a:p>
        </p:txBody>
      </p:sp>
      <p:sp>
        <p:nvSpPr>
          <p:cNvPr id="30" name="TextBox 29"/>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energy and water utilities behind it, via 4 equal shareholders</a:t>
            </a:r>
          </a:p>
        </p:txBody>
      </p:sp>
      <p:sp>
        <p:nvSpPr>
          <p:cNvPr id="31" name="Rectangle 30"/>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zap_white.png"/>
          <p:cNvPicPr>
            <a:picLocks noChangeAspect="1"/>
          </p:cNvPicPr>
          <p:nvPr/>
        </p:nvPicPr>
        <p:blipFill>
          <a:blip r:embed="rId6"/>
          <a:stretch>
            <a:fillRect/>
          </a:stretch>
        </p:blipFill>
        <p:spPr>
          <a:xfrm>
            <a:off x="8339328" y="2941828"/>
            <a:ext cx="237744" cy="237744"/>
          </a:xfrm>
          <a:prstGeom prst="rect">
            <a:avLst/>
          </a:prstGeom>
        </p:spPr>
      </p:pic>
      <p:sp>
        <p:nvSpPr>
          <p:cNvPr id="34" name="TextBox 33"/>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35" name="TextBox 34"/>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data plus MCPTT voice with dispatch</a:t>
            </a:r>
          </a:p>
        </p:txBody>
      </p:sp>
      <p:sp>
        <p:nvSpPr>
          <p:cNvPr id="36" name="Rectangle 35"/>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39" name="TextBox 38"/>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0" name="TextBox 39"/>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1" name="Rectangle 40"/>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4" name="TextBox 43"/>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5" name="TextBox 44"/>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whitelisted (announced MWC 2026)</a:t>
            </a:r>
          </a:p>
        </p:txBody>
      </p:sp>
      <p:sp>
        <p:nvSpPr>
          <p:cNvPr id="46" name="TextBox 45"/>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7" name="Rectangle 46"/>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49" name="TextBox 48"/>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0" name="Rectangle 49"/>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2" name="TextBox 51"/>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3" name="Rectangle 52"/>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Oct 2025</a:t>
            </a:r>
          </a:p>
        </p:txBody>
      </p:sp>
      <p:sp>
        <p:nvSpPr>
          <p:cNvPr id="55" name="TextBox 54"/>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1,000 sites, 90% area</a:t>
            </a:r>
          </a:p>
        </p:txBody>
      </p:sp>
      <p:sp>
        <p:nvSpPr>
          <p:cNvPr id="56" name="Rectangle 55"/>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2026</a:t>
            </a:r>
          </a:p>
        </p:txBody>
      </p:sp>
      <p:sp>
        <p:nvSpPr>
          <p:cNvPr id="58" name="TextBox 57"/>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Nationwide target</a:t>
            </a:r>
          </a:p>
        </p:txBody>
      </p:sp>
      <p:sp>
        <p:nvSpPr>
          <p:cNvPr id="59" name="Rectangle 58"/>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0" name="Picture 59" descr="check_navy.png"/>
          <p:cNvPicPr>
            <a:picLocks noChangeAspect="1"/>
          </p:cNvPicPr>
          <p:nvPr/>
        </p:nvPicPr>
        <p:blipFill>
          <a:blip r:embed="rId9"/>
          <a:stretch>
            <a:fillRect/>
          </a:stretch>
        </p:blipFill>
        <p:spPr>
          <a:xfrm>
            <a:off x="812800" y="5918200"/>
            <a:ext cx="254000" cy="254000"/>
          </a:xfrm>
          <a:prstGeom prst="rect">
            <a:avLst/>
          </a:prstGeom>
        </p:spPr>
      </p:pic>
      <p:sp>
        <p:nvSpPr>
          <p:cNvPr id="61" name="TextBox 60"/>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2" name="TextBox 6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(Mar 2021); Nokia (Feb 2022); 450connect press releases (Feb 2025, Oct 2025, Feb 2026); 50komma2 (Feb 2026); Hytera MWC 2026. Photo © Westfalen Weser Netz GmbH, via 450connect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90%+ area (Q4 2025)</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1625600"/>
            <a:ext cx="812800" cy="812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a_7405c6dee5.png"/>
          <p:cNvPicPr>
            <a:picLocks noChangeAspect="1"/>
          </p:cNvPicPr>
          <p:nvPr/>
        </p:nvPicPr>
        <p:blipFill>
          <a:blip r:embed="rId2"/>
          <a:stretch>
            <a:fillRect/>
          </a:stretch>
        </p:blipFill>
        <p:spPr>
          <a:xfrm>
            <a:off x="829128" y="1663700"/>
            <a:ext cx="526142" cy="736600"/>
          </a:xfrm>
          <a:prstGeom prst="rect">
            <a:avLst/>
          </a:prstGeom>
        </p:spPr>
      </p:pic>
      <p:sp>
        <p:nvSpPr>
          <p:cNvPr id="13" name="TextBox 12"/>
          <p:cNvSpPr txBox="1"/>
          <p:nvPr/>
        </p:nvSpPr>
        <p:spPr>
          <a:xfrm>
            <a:off x="1651000" y="1651000"/>
            <a:ext cx="2235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4" name="TextBox 13"/>
          <p:cNvSpPr txBox="1"/>
          <p:nvPr/>
        </p:nvSpPr>
        <p:spPr>
          <a:xfrm>
            <a:off x="1651000" y="2006600"/>
            <a:ext cx="2235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5" name="Picture 14"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6" name="Rectangle 15"/>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495800" y="1625600"/>
            <a:ext cx="812800" cy="812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a_c40f559451.png"/>
          <p:cNvPicPr>
            <a:picLocks noChangeAspect="1"/>
          </p:cNvPicPr>
          <p:nvPr/>
        </p:nvPicPr>
        <p:blipFill>
          <a:blip r:embed="rId4"/>
          <a:stretch>
            <a:fillRect/>
          </a:stretch>
        </p:blipFill>
        <p:spPr>
          <a:xfrm>
            <a:off x="4666805" y="1663700"/>
            <a:ext cx="470789" cy="736600"/>
          </a:xfrm>
          <a:prstGeom prst="rect">
            <a:avLst/>
          </a:prstGeom>
        </p:spPr>
      </p:pic>
      <p:sp>
        <p:nvSpPr>
          <p:cNvPr id="19" name="TextBox 18"/>
          <p:cNvSpPr txBox="1"/>
          <p:nvPr/>
        </p:nvSpPr>
        <p:spPr>
          <a:xfrm>
            <a:off x="5461000" y="1651000"/>
            <a:ext cx="2235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20" name="TextBox 19"/>
          <p:cNvSpPr txBox="1"/>
          <p:nvPr/>
        </p:nvSpPr>
        <p:spPr>
          <a:xfrm>
            <a:off x="5461000" y="2006600"/>
            <a:ext cx="2235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21" name="Picture 20"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2" name="Rectangle 21"/>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v6_13015b8219.jpg"/>
          <p:cNvPicPr>
            <a:picLocks noChangeAspect="1"/>
          </p:cNvPicPr>
          <p:nvPr/>
        </p:nvPicPr>
        <p:blipFill>
          <a:blip r:embed="rId5"/>
          <a:srcRect l="21875" r="21875"/>
          <a:stretch>
            <a:fillRect/>
          </a:stretch>
        </p:blipFill>
        <p:spPr>
          <a:xfrm>
            <a:off x="8305800" y="1625600"/>
            <a:ext cx="812800" cy="812800"/>
          </a:xfrm>
          <a:prstGeom prst="rect">
            <a:avLst/>
          </a:prstGeom>
        </p:spPr>
      </p:pic>
      <p:sp>
        <p:nvSpPr>
          <p:cNvPr id="24" name="TextBox 23"/>
          <p:cNvSpPr txBox="1"/>
          <p:nvPr/>
        </p:nvSpPr>
        <p:spPr>
          <a:xfrm>
            <a:off x="9271000" y="1651000"/>
            <a:ext cx="2235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5" name="TextBox 24"/>
          <p:cNvSpPr txBox="1"/>
          <p:nvPr/>
        </p:nvSpPr>
        <p:spPr>
          <a:xfrm>
            <a:off x="9271000" y="2006600"/>
            <a:ext cx="2235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6" name="TextBox 25"/>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7" name="Rectangle 26"/>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gauge_white.png"/>
          <p:cNvPicPr>
            <a:picLocks noChangeAspect="1"/>
          </p:cNvPicPr>
          <p:nvPr/>
        </p:nvPicPr>
        <p:blipFill>
          <a:blip r:embed="rId6"/>
          <a:stretch>
            <a:fillRect/>
          </a:stretch>
        </p:blipFill>
        <p:spPr>
          <a:xfrm>
            <a:off x="940816" y="3468116"/>
            <a:ext cx="277368" cy="277368"/>
          </a:xfrm>
          <a:prstGeom prst="rect">
            <a:avLst/>
          </a:prstGeom>
        </p:spPr>
      </p:pic>
      <p:sp>
        <p:nvSpPr>
          <p:cNvPr id="30" name="TextBox 29"/>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31" name="TextBox 30"/>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2" name="Rectangle 31"/>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5" name="TextBox 34"/>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6" name="TextBox 35"/>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7" name="Rectangle 36"/>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9" name="Picture 38"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40" name="TextBox 39"/>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41" name="TextBox 40"/>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2" name="Rectangle 41"/>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5" name="TextBox 44"/>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6" name="TextBox 45"/>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7" name="Rectangle 46"/>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Oval 47"/>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9" name="Picture 48" descr="cpu_white.png"/>
          <p:cNvPicPr>
            <a:picLocks noChangeAspect="1"/>
          </p:cNvPicPr>
          <p:nvPr/>
        </p:nvPicPr>
        <p:blipFill>
          <a:blip r:embed="rId10"/>
          <a:stretch>
            <a:fillRect/>
          </a:stretch>
        </p:blipFill>
        <p:spPr>
          <a:xfrm>
            <a:off x="4700016" y="4788916"/>
            <a:ext cx="277368" cy="277368"/>
          </a:xfrm>
          <a:prstGeom prst="rect">
            <a:avLst/>
          </a:prstGeom>
        </p:spPr>
      </p:pic>
      <p:sp>
        <p:nvSpPr>
          <p:cNvPr id="50" name="TextBox 49"/>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51" name="TextBox 50"/>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2" name="Rectangle 51"/>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4" name="Picture 53"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5" name="TextBox 54"/>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6" name="TextBox 55"/>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7" name="Rectangle 56"/>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info_navy.png"/>
          <p:cNvPicPr>
            <a:picLocks noChangeAspect="1"/>
          </p:cNvPicPr>
          <p:nvPr/>
        </p:nvPicPr>
        <p:blipFill>
          <a:blip r:embed="rId12"/>
          <a:stretch>
            <a:fillRect/>
          </a:stretch>
        </p:blipFill>
        <p:spPr>
          <a:xfrm>
            <a:off x="812800" y="5943600"/>
            <a:ext cx="254000" cy="254000"/>
          </a:xfrm>
          <a:prstGeom prst="rect">
            <a:avLst/>
          </a:prstGeom>
        </p:spPr>
      </p:pic>
      <p:sp>
        <p:nvSpPr>
          <p:cNvPr id="59" name="TextBox 58"/>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60" name="TextBox 5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