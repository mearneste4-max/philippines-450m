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6"/>
    <p:sldId id="269" r:id="rId5"/>
    <p:sldId id="270" r:id="rId4"/>
    <p:sldId id="271" r:id="rId3"/>
    <p:sldId id="272" r:id="rId2"/>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594"/>
    <p:restoredTop sz="87603"/>
  </p:normalViewPr>
  <p:slideViewPr>
    <p:cSldViewPr snapToGrid="0">
      <p:cViewPr varScale="1">
        <p:scale>
          <a:sx n="110" d="100"/>
          <a:sy n="110" d="100"/>
        </p:scale>
        <p:origin x="880"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7.xml"/><Relationship Id="rId3" Type="http://schemas.openxmlformats.org/officeDocument/2006/relationships/slide" Target="slides/slide16.xml"/><Relationship Id="rId4" Type="http://schemas.openxmlformats.org/officeDocument/2006/relationships/slide" Target="slides/slide15.xml"/><Relationship Id="rId5" Type="http://schemas.openxmlformats.org/officeDocument/2006/relationships/slide" Target="slides/slide14.xml"/><Relationship Id="rId6" Type="http://schemas.openxmlformats.org/officeDocument/2006/relationships/slide" Target="slides/slide1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9" name="Notes Placeholder"/>
          <p:cNvSpPr>
            <a:spLocks noGrp="1"/>
          </p:cNvSpPr>
          <p:nvPr>
            <p:ph type="body" sz="quarter" idx="1"/>
          </p:nvPr>
        </p:nvSpPr>
        <p:spPr>
          <a:xfrm>
            <a:off x="685800" y="4343400"/>
            <a:ext cx="5486400" cy="4114800"/>
          </a:xfrm>
        </p:spPr>
        <p:txBody>
          <a:bodyPr/>
          <a:lstStyle/>
          <a:p/>
        </p:txBody>
      </p:sp>
    </p:spTree>
    <p:extLst>
      <p:ext uri="{BB962C8B-B14F-4D97-AF65-F5344CB8AC3E}">
        <p14:creationId xmlns:p14="http://schemas.microsoft.com/office/powerpoint/2010/main" val="38466017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Thank you for your time today. Globe already holds 450 MHz spectrum, so the question is not whether to have it but what to do with it. This is a working session, not a proposal. I will give you the answer first, then why this band, who pays for it, and how it would be delivered. Please interrupt at any point.</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Here is the answer on one page. What it is: a resilience layer, alongside your 4G and 5G, not a replacement. Why now: the band is mainstream, with networks in seventy-seven countries and thirty-nine already on LTE. Who pays first: the utilities, power and water. What we propose: one pilot province with two anchor customers. And what we would ask today is small: confirm the spectrum parameters and nominate a pilot province.</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The geography explains the need. Seven thousand six hundred and forty-one islands, first in the World Risk Index, around twenty cyclones a year. Typhoon Tino alone left one point four million electricity consumers without power. Public 4G and 5G do the capacity job in the cities very well. What is missing is coverage that is still standing after the storm, and that is the job of a 450 MHz layer.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This is the physics in one picture. Same site grid, three frequencies. At 450 MHz the grid covers everything. At 740 megahertz about nine percent goes dark, at 2.35 gigahertz about forty-one percent. Closing those gaps costs two and a half to fifteen times the sites. Fewer sites is what makes backup power affordable. To be clear about the limit: with three to five megahertz this carries voice, telemetry and low-rate video. It is not a capacity layer.</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The band is mainstream. Eighty-six percent of the world lives where it is allocated or under consultation, seventy-seven countries have networks, and thirty-nine already run LTE. The colours show what the networks are used for: dark blue is utilities and smart grid, which is the largest group. The pattern repeats everywhere: one licensed operator carries the traffic and the utilities anchor the demand. The Philippines licence is Band 31, the same band as Malaysia and Singapore.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Six industries can use this network, but they do not pay at the same speed. We rank power and water first: they have the budget, the fit is strong, and revenue comes quickly. Emergency is next, paid as standby readiness. Police has the largest budget but the slowest path, because DMR and TETRA are already in service. Rail and port come later. This ranking is our reading, to be tested in the pilot.</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Power is the anchor customer. There are one hundred and twenty-one electric cooperatives under NEA, and a single typhoon cut off one point four million consumers. The network gives them three things: a private data path for SCADA and feeder automation, push-to-talk for line crews, and smart meters deep indoors. This is exactly how 450connect in Germany and TNB in Malaysia started. For Globe it is a capacity package, IoT per meter, and integration.</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Water uses the same sites as power with a different payoff. Of five hundred and thirty-two water districts, only one hundred and forty-nine kept their losses within LWUA's twenty percent limit. Most districts know their losses as a percentage, not as a location. On this network meters report, pressure sensors locate the leaks, and pump and reservoir sites send telemetry. Bahrain already runs a water-meter network in this band range.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Emergency is the industry that matches the typhoon risk most directly. When the public network fails, a 450 MHz layer with satellite backhaul can be extended within hours, with a field command post on the same network. In Indonesia, SeaTelSat is building Band 31 rural LTE over satellite backhaul. For Globe this is a readiness retainer: kits on standby, paid by the province or the agency whether or not a storm comes.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For police, the requirement is not another private network. It is one group call across agencies that already run DMR and TETRA, with priority when the public network congests. The network provides cross-agency group calls, live video from the scene, and interworking with the radio systems already in service. Singapore runs Band 31 for public safety today. For Globe it is MCX as a service, per user per month.</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Rail needs coverage that follows the track, not the towns, including cuttings and tunnels. A 450 MHz corridor gives dispatch along the line and on-board video on one network, rather than a separate private system. South Africa has assigned Band 31 to Transnet for rail, and our own MCS runs on nine lines in Sri Lanka. For Globe this is MCX as a service and devices as a service.</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Port is the last on our list, and we will be candid: there is no 450 MHz port network to point to yet. The case rests on coverage over open water: quay dispatch, ship-to-shore voice and data, and coast guard patrols on one group call. The same coastal sites also serve island communities. For Globe it is MCX as a service plus capacity, if the pilot data supports it.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One build serves all six industries. Only the terminals and the applications change. At the terminal layer: the PNC660 450M handheld, a vehicle radio, and a 5G plus 450 model coming in 2026. At the network layer: 450 MHz eNodeBs, a private or shared core, and backhaul. On top sit the mission-critical services. MCS is a 3GPP standard and runs on any LTE or 5G radio, so it carries over to 450 MHz unchanged.</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Two kinds of evidence, three of each. Top row: 450 MHz networks in service. 450connect covers more than ninety-five percent of Germany, and our PNC660 is on its whitelist. TNB in Malaysia and Singapore's public safety network both run Band 31, the same band as yours. Bottom row: our MCS at national scale on LTE and 5G. Sri Lanka Railways with one thousand nine hundred and fifty terminals, Hong Kong Light Rail, the first railway MCS on 5G, and the Papua New Guinea police command centre.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Three parties, one chain. Hytera supplies the radio, terminals and platform. Globe holds the spectrum, runs the network and owns the customer. The anchor customers contract capacity first. That gives six revenue lines, each tied to an industry page you have seen. The lesson from Portugal is simple: the 450 MHz trial there stalled on commercial terms, not on technology. So the sequence matters: sign the demand before the build.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We are not proposing a build. We are proposing a pilot that tests the assumptions in your own terrain. Five steps: confirm the spectrum, pick a typhoon-belt province, build the pilot, measure coverage, uptime and cost, and then decide on scale. To start we need three things: the band and bandwidth, one candidate province, and introductions to one electric cooperative and one water district.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Thank you. To summarise the next step: confirm the spectrum parameters, nominate a pilot province, and design the pilot together. We are happy to take questions now, and to run a follow-up technical workshop with your network planning team.</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svg"/><Relationship Id="rId5"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F947FDD-D38F-E8F5-8586-E9662854F614}"/>
              </a:ext>
            </a:extLst>
          </p:cNvPr>
          <p:cNvSpPr>
            <a:spLocks noGrp="1"/>
          </p:cNvSpPr>
          <p:nvPr>
            <p:ph type="ctrTitle"/>
          </p:nvPr>
        </p:nvSpPr>
        <p:spPr>
          <a:xfrm>
            <a:off x="1524000" y="1122363"/>
            <a:ext cx="9144000" cy="2387600"/>
          </a:xfrm>
        </p:spPr>
        <p:txBody>
          <a:bodyPr anchor="b"/>
          <a:lstStyle>
            <a:lvl1pPr algn="ctr">
              <a:defRPr sz="6000"/>
            </a:lvl1pPr>
          </a:lstStyle>
          <a:p>
            <a:r>
              <a:rPr kumimoji="1" lang="zh-CN" altLang="en-US"/>
              <a:t>单击此处编辑母版标题样式</a:t>
            </a:r>
          </a:p>
        </p:txBody>
      </p:sp>
      <p:sp>
        <p:nvSpPr>
          <p:cNvPr id="3" name="副标题 2">
            <a:extLst>
              <a:ext uri="{FF2B5EF4-FFF2-40B4-BE49-F238E27FC236}">
                <a16:creationId xmlns:a16="http://schemas.microsoft.com/office/drawing/2014/main" id="{B3190AE4-F9E4-5FD9-42AF-9099DFB806C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zh-CN" altLang="en-US"/>
              <a:t>单击此处编辑母版副标题样式</a:t>
            </a:r>
          </a:p>
        </p:txBody>
      </p:sp>
      <p:sp>
        <p:nvSpPr>
          <p:cNvPr id="4" name="日期占位符 3">
            <a:extLst>
              <a:ext uri="{FF2B5EF4-FFF2-40B4-BE49-F238E27FC236}">
                <a16:creationId xmlns:a16="http://schemas.microsoft.com/office/drawing/2014/main" id="{9444CE86-5C68-32E7-D4E0-B2761B6CF044}"/>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BDB1EA70-862F-65FC-F764-9F45D4A993EA}"/>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A5FC33ED-5EBC-FA7B-0C38-EA39C46DC309}"/>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79284595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B537B1B-511C-D4F8-7DF7-64EC8B6C7056}"/>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83EBE62D-2664-56CB-82C4-04C33D46D385}"/>
              </a:ext>
            </a:extLst>
          </p:cNvPr>
          <p:cNvSpPr>
            <a:spLocks noGrp="1"/>
          </p:cNvSpPr>
          <p:nvPr>
            <p:ph idx="1"/>
          </p:nvPr>
        </p:nvSpPr>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BD5467FE-6C09-037E-14DD-381C54D5CBA6}"/>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D1396919-FD4A-9072-7E35-742516F97F38}"/>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A27BDBD7-22AF-728F-B452-8AA3C2EF1340}"/>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4590038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83A9FEF-46D9-58A0-4123-77A3F86E55F3}"/>
              </a:ext>
            </a:extLst>
          </p:cNvPr>
          <p:cNvSpPr>
            <a:spLocks noGrp="1"/>
          </p:cNvSpPr>
          <p:nvPr>
            <p:ph type="title"/>
          </p:nvPr>
        </p:nvSpPr>
        <p:spPr>
          <a:xfrm>
            <a:off x="831850" y="1709738"/>
            <a:ext cx="10515600" cy="2852737"/>
          </a:xfrm>
        </p:spPr>
        <p:txBody>
          <a:bodyPr anchor="b"/>
          <a:lstStyle>
            <a:lvl1pPr>
              <a:defRPr sz="6000"/>
            </a:lvl1pPr>
          </a:lstStyle>
          <a:p>
            <a:r>
              <a:rPr kumimoji="1" lang="zh-CN" altLang="en-US"/>
              <a:t>单击此处编辑母版标题样式</a:t>
            </a:r>
          </a:p>
        </p:txBody>
      </p:sp>
      <p:sp>
        <p:nvSpPr>
          <p:cNvPr id="3" name="文本占位符 2">
            <a:extLst>
              <a:ext uri="{FF2B5EF4-FFF2-40B4-BE49-F238E27FC236}">
                <a16:creationId xmlns:a16="http://schemas.microsoft.com/office/drawing/2014/main" id="{53B04C57-B239-E772-614E-004D45A9231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zh-CN" altLang="en-US"/>
              <a:t>单击此处编辑母版文本样式</a:t>
            </a:r>
          </a:p>
        </p:txBody>
      </p:sp>
      <p:sp>
        <p:nvSpPr>
          <p:cNvPr id="4" name="日期占位符 3">
            <a:extLst>
              <a:ext uri="{FF2B5EF4-FFF2-40B4-BE49-F238E27FC236}">
                <a16:creationId xmlns:a16="http://schemas.microsoft.com/office/drawing/2014/main" id="{55D51A5B-944A-D7C3-E6C5-B7BA6FC4AF29}"/>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01F9A231-E1D6-02E5-049E-13B6C93B374A}"/>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0F785DA2-F919-AB2D-F4AB-9744308204FA}"/>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9645380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19ECDE-D311-74B1-0F20-F87A6A7A78D6}"/>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9E3C9B88-FA6C-8ECF-D8A5-00CA3EDE00D5}"/>
              </a:ext>
            </a:extLst>
          </p:cNvPr>
          <p:cNvSpPr>
            <a:spLocks noGrp="1"/>
          </p:cNvSpPr>
          <p:nvPr>
            <p:ph sz="half" idx="1"/>
          </p:nvPr>
        </p:nvSpPr>
        <p:spPr>
          <a:xfrm>
            <a:off x="838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内容占位符 3">
            <a:extLst>
              <a:ext uri="{FF2B5EF4-FFF2-40B4-BE49-F238E27FC236}">
                <a16:creationId xmlns:a16="http://schemas.microsoft.com/office/drawing/2014/main" id="{DAC993D3-8E45-B3B9-AB74-754EF2E7E086}"/>
              </a:ext>
            </a:extLst>
          </p:cNvPr>
          <p:cNvSpPr>
            <a:spLocks noGrp="1"/>
          </p:cNvSpPr>
          <p:nvPr>
            <p:ph sz="half" idx="2"/>
          </p:nvPr>
        </p:nvSpPr>
        <p:spPr>
          <a:xfrm>
            <a:off x="6172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日期占位符 4">
            <a:extLst>
              <a:ext uri="{FF2B5EF4-FFF2-40B4-BE49-F238E27FC236}">
                <a16:creationId xmlns:a16="http://schemas.microsoft.com/office/drawing/2014/main" id="{22EEAE69-5CB6-4FFB-A05B-FAFE465FA368}"/>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8B47215C-0B7F-E4B7-5E41-E225FE479C11}"/>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ECF1607B-F95D-FA9A-48D0-AB90D6EDA81F}"/>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8595900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469B30D-EF98-9776-0E67-87371B217684}"/>
              </a:ext>
            </a:extLst>
          </p:cNvPr>
          <p:cNvSpPr>
            <a:spLocks noGrp="1"/>
          </p:cNvSpPr>
          <p:nvPr>
            <p:ph type="title"/>
          </p:nvPr>
        </p:nvSpPr>
        <p:spPr>
          <a:xfrm>
            <a:off x="839788" y="365125"/>
            <a:ext cx="10515600" cy="1325563"/>
          </a:xfrm>
        </p:spPr>
        <p:txBody>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37E8FDD7-C50E-7D11-4708-BD3BD0488D2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4" name="内容占位符 3">
            <a:extLst>
              <a:ext uri="{FF2B5EF4-FFF2-40B4-BE49-F238E27FC236}">
                <a16:creationId xmlns:a16="http://schemas.microsoft.com/office/drawing/2014/main" id="{93F05520-BEDD-DC89-EDB8-29A55A688142}"/>
              </a:ext>
            </a:extLst>
          </p:cNvPr>
          <p:cNvSpPr>
            <a:spLocks noGrp="1"/>
          </p:cNvSpPr>
          <p:nvPr>
            <p:ph sz="half" idx="2"/>
          </p:nvPr>
        </p:nvSpPr>
        <p:spPr>
          <a:xfrm>
            <a:off x="839788" y="2505075"/>
            <a:ext cx="5157787"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文本占位符 4">
            <a:extLst>
              <a:ext uri="{FF2B5EF4-FFF2-40B4-BE49-F238E27FC236}">
                <a16:creationId xmlns:a16="http://schemas.microsoft.com/office/drawing/2014/main" id="{88A41E8D-4EDE-E951-9249-16343C408DF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6" name="内容占位符 5">
            <a:extLst>
              <a:ext uri="{FF2B5EF4-FFF2-40B4-BE49-F238E27FC236}">
                <a16:creationId xmlns:a16="http://schemas.microsoft.com/office/drawing/2014/main" id="{C3A15438-E2BC-3C49-A770-61F2058F0C5B}"/>
              </a:ext>
            </a:extLst>
          </p:cNvPr>
          <p:cNvSpPr>
            <a:spLocks noGrp="1"/>
          </p:cNvSpPr>
          <p:nvPr>
            <p:ph sz="quarter" idx="4"/>
          </p:nvPr>
        </p:nvSpPr>
        <p:spPr>
          <a:xfrm>
            <a:off x="6172200" y="2505075"/>
            <a:ext cx="5183188"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7" name="日期占位符 6">
            <a:extLst>
              <a:ext uri="{FF2B5EF4-FFF2-40B4-BE49-F238E27FC236}">
                <a16:creationId xmlns:a16="http://schemas.microsoft.com/office/drawing/2014/main" id="{A469E29F-2CA3-451B-1588-22B05F1C1FF4}"/>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8" name="页脚占位符 7">
            <a:extLst>
              <a:ext uri="{FF2B5EF4-FFF2-40B4-BE49-F238E27FC236}">
                <a16:creationId xmlns:a16="http://schemas.microsoft.com/office/drawing/2014/main" id="{7D3E0C48-D0FC-01D7-EFB2-E342FFD1CAB9}"/>
              </a:ext>
            </a:extLst>
          </p:cNvPr>
          <p:cNvSpPr>
            <a:spLocks noGrp="1"/>
          </p:cNvSpPr>
          <p:nvPr>
            <p:ph type="ftr" sz="quarter" idx="11"/>
          </p:nvPr>
        </p:nvSpPr>
        <p:spPr/>
        <p:txBody>
          <a:bodyPr/>
          <a:lstStyle/>
          <a:p>
            <a:endParaRPr kumimoji="1" lang="zh-CN" altLang="en-US"/>
          </a:p>
        </p:txBody>
      </p:sp>
      <p:sp>
        <p:nvSpPr>
          <p:cNvPr id="9" name="灯片编号占位符 8">
            <a:extLst>
              <a:ext uri="{FF2B5EF4-FFF2-40B4-BE49-F238E27FC236}">
                <a16:creationId xmlns:a16="http://schemas.microsoft.com/office/drawing/2014/main" id="{EB2CF963-EAD2-D222-FE32-733BFF9279B7}"/>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8451725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D9A2317-4DD0-7705-8F0E-9C1AE468940F}"/>
              </a:ext>
            </a:extLst>
          </p:cNvPr>
          <p:cNvSpPr>
            <a:spLocks noGrp="1"/>
          </p:cNvSpPr>
          <p:nvPr>
            <p:ph type="title"/>
          </p:nvPr>
        </p:nvSpPr>
        <p:spPr/>
        <p:txBody>
          <a:bodyPr/>
          <a:lstStyle/>
          <a:p>
            <a:r>
              <a:rPr kumimoji="1" lang="zh-CN" altLang="en-US"/>
              <a:t>单击此处编辑母版标题样式</a:t>
            </a:r>
          </a:p>
        </p:txBody>
      </p:sp>
      <p:sp>
        <p:nvSpPr>
          <p:cNvPr id="3" name="日期占位符 2">
            <a:extLst>
              <a:ext uri="{FF2B5EF4-FFF2-40B4-BE49-F238E27FC236}">
                <a16:creationId xmlns:a16="http://schemas.microsoft.com/office/drawing/2014/main" id="{D80B3C6B-F1F3-8087-82E4-22E777BFA3C3}"/>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4" name="页脚占位符 3">
            <a:extLst>
              <a:ext uri="{FF2B5EF4-FFF2-40B4-BE49-F238E27FC236}">
                <a16:creationId xmlns:a16="http://schemas.microsoft.com/office/drawing/2014/main" id="{7BE57A2B-3769-94B4-A8DA-143705DFDD31}"/>
              </a:ext>
            </a:extLst>
          </p:cNvPr>
          <p:cNvSpPr>
            <a:spLocks noGrp="1"/>
          </p:cNvSpPr>
          <p:nvPr>
            <p:ph type="ftr" sz="quarter" idx="11"/>
          </p:nvPr>
        </p:nvSpPr>
        <p:spPr/>
        <p:txBody>
          <a:bodyPr/>
          <a:lstStyle/>
          <a:p>
            <a:endParaRPr kumimoji="1" lang="zh-CN" altLang="en-US"/>
          </a:p>
        </p:txBody>
      </p:sp>
      <p:sp>
        <p:nvSpPr>
          <p:cNvPr id="5" name="灯片编号占位符 4">
            <a:extLst>
              <a:ext uri="{FF2B5EF4-FFF2-40B4-BE49-F238E27FC236}">
                <a16:creationId xmlns:a16="http://schemas.microsoft.com/office/drawing/2014/main" id="{E6269BBB-3D3E-D5C1-373C-4AEBE84F81FA}"/>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1734887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3053ED18-81E5-087C-CE7B-D43178BA1583}"/>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3" name="页脚占位符 2">
            <a:extLst>
              <a:ext uri="{FF2B5EF4-FFF2-40B4-BE49-F238E27FC236}">
                <a16:creationId xmlns:a16="http://schemas.microsoft.com/office/drawing/2014/main" id="{A2BD668C-C643-0734-3F58-28ECB6961713}"/>
              </a:ext>
            </a:extLst>
          </p:cNvPr>
          <p:cNvSpPr>
            <a:spLocks noGrp="1"/>
          </p:cNvSpPr>
          <p:nvPr>
            <p:ph type="ftr" sz="quarter" idx="11"/>
          </p:nvPr>
        </p:nvSpPr>
        <p:spPr/>
        <p:txBody>
          <a:bodyPr/>
          <a:lstStyle/>
          <a:p>
            <a:endParaRPr kumimoji="1" lang="zh-CN" altLang="en-US"/>
          </a:p>
        </p:txBody>
      </p:sp>
      <p:sp>
        <p:nvSpPr>
          <p:cNvPr id="4" name="灯片编号占位符 3">
            <a:extLst>
              <a:ext uri="{FF2B5EF4-FFF2-40B4-BE49-F238E27FC236}">
                <a16:creationId xmlns:a16="http://schemas.microsoft.com/office/drawing/2014/main" id="{F2FAAAAD-C5EF-CB82-DA12-5DCCE44FC6BF}"/>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5445614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175AE71-64EC-7CAF-DCC1-AC7B7F2512A4}"/>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内容占位符 2">
            <a:extLst>
              <a:ext uri="{FF2B5EF4-FFF2-40B4-BE49-F238E27FC236}">
                <a16:creationId xmlns:a16="http://schemas.microsoft.com/office/drawing/2014/main" id="{371341FA-757E-CC97-7EBF-8640D3A5859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文本占位符 3">
            <a:extLst>
              <a:ext uri="{FF2B5EF4-FFF2-40B4-BE49-F238E27FC236}">
                <a16:creationId xmlns:a16="http://schemas.microsoft.com/office/drawing/2014/main" id="{6AD92CD0-2012-EC24-D6A6-D8F0D6235C9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A8589081-6ADA-73DD-0406-D90801775B10}"/>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2E305348-185C-AEBE-DDBC-FA8F58358714}"/>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C434C1BA-03A9-E84F-1095-593ADDB3722D}"/>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4637444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5198B2-5754-13F5-8B12-C9C8CBC44565}"/>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图片占位符 2">
            <a:extLst>
              <a:ext uri="{FF2B5EF4-FFF2-40B4-BE49-F238E27FC236}">
                <a16:creationId xmlns:a16="http://schemas.microsoft.com/office/drawing/2014/main" id="{5E5E2333-142C-3E91-91F4-A347E32A479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zh-CN" altLang="en-US"/>
          </a:p>
        </p:txBody>
      </p:sp>
      <p:sp>
        <p:nvSpPr>
          <p:cNvPr id="4" name="文本占位符 3">
            <a:extLst>
              <a:ext uri="{FF2B5EF4-FFF2-40B4-BE49-F238E27FC236}">
                <a16:creationId xmlns:a16="http://schemas.microsoft.com/office/drawing/2014/main" id="{1AE17102-E033-CDC0-B618-299CC91D40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3F05AFF9-9891-A28B-4FBF-DFF532046A32}"/>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D942270D-2426-270F-0336-B3337C395059}"/>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7EA358EA-4E08-6B21-F095-EE06B95312D0}"/>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4596142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CCA809F-C91F-7B47-8C12-D25BA362AFC6}"/>
              </a:ext>
            </a:extLst>
          </p:cNvPr>
          <p:cNvSpPr>
            <a:spLocks noGrp="1"/>
          </p:cNvSpPr>
          <p:nvPr>
            <p:ph type="title"/>
          </p:nvPr>
        </p:nvSpPr>
        <p:spPr/>
        <p:txBody>
          <a:bodyPr/>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904A7382-0CA7-7D8B-83FF-08EF76126FD7}"/>
              </a:ext>
            </a:extLst>
          </p:cNvPr>
          <p:cNvSpPr>
            <a:spLocks noGrp="1"/>
          </p:cNvSpPr>
          <p:nvPr>
            <p:ph type="body" orient="vert" idx="1"/>
          </p:nvPr>
        </p:nvSpPr>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9B9417F5-F88C-8CA1-E9BC-7CAC37C486D7}"/>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2724339F-FA6A-38A9-D527-0FDC93D8D7AD}"/>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47AB572A-7476-7FB5-9791-802D508D7519}"/>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6472807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EFF63993-AF72-23D1-D01C-F973643BA679}"/>
              </a:ext>
            </a:extLst>
          </p:cNvPr>
          <p:cNvSpPr>
            <a:spLocks noGrp="1"/>
          </p:cNvSpPr>
          <p:nvPr>
            <p:ph type="title" orient="vert"/>
          </p:nvPr>
        </p:nvSpPr>
        <p:spPr>
          <a:xfrm>
            <a:off x="8724900" y="365125"/>
            <a:ext cx="2628900" cy="5811838"/>
          </a:xfrm>
        </p:spPr>
        <p:txBody>
          <a:bodyPr vert="eaVert"/>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E1A46C64-EFAA-9A05-E2F3-ABC719457BB3}"/>
              </a:ext>
            </a:extLst>
          </p:cNvPr>
          <p:cNvSpPr>
            <a:spLocks noGrp="1"/>
          </p:cNvSpPr>
          <p:nvPr>
            <p:ph type="body" orient="vert" idx="1"/>
          </p:nvPr>
        </p:nvSpPr>
        <p:spPr>
          <a:xfrm>
            <a:off x="838200" y="365125"/>
            <a:ext cx="7734300" cy="5811838"/>
          </a:xfrm>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452B8B04-FC76-CEC2-9550-07C425ADE2DE}"/>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00466A49-4F49-DA65-9C97-50D34FC9A11E}"/>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69331544-F576-56EF-205E-90A98A61DCBD}"/>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29402791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仅标题">
    <p:spTree>
      <p:nvGrpSpPr>
        <p:cNvPr id="1" name=""/>
        <p:cNvGrpSpPr/>
        <p:nvPr/>
      </p:nvGrpSpPr>
      <p:grpSpPr>
        <a:xfrm>
          <a:off x="0" y="0"/>
          <a:ext cx="0" cy="0"/>
          <a:chOff x="0" y="0"/>
          <a:chExt cx="0" cy="0"/>
        </a:xfrm>
      </p:grpSpPr>
      <p:pic>
        <p:nvPicPr>
          <p:cNvPr id="6" name="图片 5">
            <a:extLst>
              <a:ext uri="{FF2B5EF4-FFF2-40B4-BE49-F238E27FC236}">
                <a16:creationId xmlns:a16="http://schemas.microsoft.com/office/drawing/2014/main" id="{F96E172E-41BA-F174-FF99-50C83FEBC34E}"/>
              </a:ext>
            </a:extLst>
          </p:cNvPr>
          <p:cNvPicPr>
            <a:picLocks noChangeAspect="1"/>
          </p:cNvPicPr>
          <p:nvPr userDrawn="1"/>
        </p:nvPicPr>
        <p:blipFill>
          <a:blip r:embed="rId2">
            <a:alphaModFix amt="15000"/>
          </a:blip>
          <a:stretch>
            <a:fillRect/>
          </a:stretch>
        </p:blipFill>
        <p:spPr>
          <a:xfrm>
            <a:off x="-600" y="6136968"/>
            <a:ext cx="12193200" cy="721032"/>
          </a:xfrm>
          <a:prstGeom prst="rect">
            <a:avLst/>
          </a:prstGeom>
        </p:spPr>
      </p:pic>
      <p:grpSp>
        <p:nvGrpSpPr>
          <p:cNvPr id="7" name="图形 12">
            <a:extLst>
              <a:ext uri="{FF2B5EF4-FFF2-40B4-BE49-F238E27FC236}">
                <a16:creationId xmlns:a16="http://schemas.microsoft.com/office/drawing/2014/main" id="{1E6E911F-38F1-42B3-AAB8-57311022C81E}"/>
              </a:ext>
            </a:extLst>
          </p:cNvPr>
          <p:cNvGrpSpPr/>
          <p:nvPr userDrawn="1"/>
        </p:nvGrpSpPr>
        <p:grpSpPr>
          <a:xfrm>
            <a:off x="10477059" y="327570"/>
            <a:ext cx="1306953" cy="520464"/>
            <a:chOff x="1739537" y="98099"/>
            <a:chExt cx="4612704" cy="1836902"/>
          </a:xfrm>
        </p:grpSpPr>
        <p:sp>
          <p:nvSpPr>
            <p:cNvPr id="8" name="任意形状 7">
              <a:extLst>
                <a:ext uri="{FF2B5EF4-FFF2-40B4-BE49-F238E27FC236}">
                  <a16:creationId xmlns:a16="http://schemas.microsoft.com/office/drawing/2014/main" id="{1FF87494-65BD-1CE3-B49E-C51C092D8D37}"/>
                </a:ext>
              </a:extLst>
            </p:cNvPr>
            <p:cNvSpPr/>
            <p:nvPr/>
          </p:nvSpPr>
          <p:spPr>
            <a:xfrm>
              <a:off x="1739537" y="771564"/>
              <a:ext cx="650741" cy="894889"/>
            </a:xfrm>
            <a:custGeom>
              <a:avLst/>
              <a:gdLst>
                <a:gd name="connsiteX0" fmla="*/ 495249 w 650741"/>
                <a:gd name="connsiteY0" fmla="*/ 368834 h 894889"/>
                <a:gd name="connsiteX1" fmla="*/ 155316 w 650741"/>
                <a:gd name="connsiteY1" fmla="*/ 368834 h 894889"/>
                <a:gd name="connsiteX2" fmla="*/ 155316 w 650741"/>
                <a:gd name="connsiteY2" fmla="*/ 0 h 894889"/>
                <a:gd name="connsiteX3" fmla="*/ 0 w 650741"/>
                <a:gd name="connsiteY3" fmla="*/ 0 h 894889"/>
                <a:gd name="connsiteX4" fmla="*/ 0 w 650741"/>
                <a:gd name="connsiteY4" fmla="*/ 894890 h 894889"/>
                <a:gd name="connsiteX5" fmla="*/ 155316 w 650741"/>
                <a:gd name="connsiteY5" fmla="*/ 894890 h 894889"/>
                <a:gd name="connsiteX6" fmla="*/ 155316 w 650741"/>
                <a:gd name="connsiteY6" fmla="*/ 488856 h 894889"/>
                <a:gd name="connsiteX7" fmla="*/ 495249 w 650741"/>
                <a:gd name="connsiteY7" fmla="*/ 488856 h 894889"/>
                <a:gd name="connsiteX8" fmla="*/ 495249 w 650741"/>
                <a:gd name="connsiteY8" fmla="*/ 894890 h 894889"/>
                <a:gd name="connsiteX9" fmla="*/ 510839 w 650741"/>
                <a:gd name="connsiteY9" fmla="*/ 894890 h 894889"/>
                <a:gd name="connsiteX10" fmla="*/ 650742 w 650741"/>
                <a:gd name="connsiteY10" fmla="*/ 894890 h 894889"/>
                <a:gd name="connsiteX11" fmla="*/ 650742 w 650741"/>
                <a:gd name="connsiteY11" fmla="*/ 0 h 894889"/>
                <a:gd name="connsiteX12" fmla="*/ 495249 w 650741"/>
                <a:gd name="connsiteY12" fmla="*/ 0 h 894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50741" h="894889">
                  <a:moveTo>
                    <a:pt x="495249" y="368834"/>
                  </a:moveTo>
                  <a:lnTo>
                    <a:pt x="155316" y="368834"/>
                  </a:lnTo>
                  <a:lnTo>
                    <a:pt x="155316" y="0"/>
                  </a:lnTo>
                  <a:lnTo>
                    <a:pt x="0" y="0"/>
                  </a:lnTo>
                  <a:lnTo>
                    <a:pt x="0" y="894890"/>
                  </a:lnTo>
                  <a:lnTo>
                    <a:pt x="155316" y="894890"/>
                  </a:lnTo>
                  <a:lnTo>
                    <a:pt x="155316" y="488856"/>
                  </a:lnTo>
                  <a:lnTo>
                    <a:pt x="495249" y="488856"/>
                  </a:lnTo>
                  <a:lnTo>
                    <a:pt x="495249" y="894890"/>
                  </a:lnTo>
                  <a:lnTo>
                    <a:pt x="510839" y="894890"/>
                  </a:lnTo>
                  <a:lnTo>
                    <a:pt x="650742" y="894890"/>
                  </a:lnTo>
                  <a:lnTo>
                    <a:pt x="650742" y="0"/>
                  </a:lnTo>
                  <a:lnTo>
                    <a:pt x="495249" y="0"/>
                  </a:lnTo>
                  <a:close/>
                </a:path>
              </a:pathLst>
            </a:custGeom>
            <a:solidFill>
              <a:srgbClr val="656464"/>
            </a:solidFill>
            <a:ln w="109" cap="flat">
              <a:noFill/>
              <a:prstDash val="solid"/>
              <a:miter/>
            </a:ln>
          </p:spPr>
          <p:txBody>
            <a:bodyPr rtlCol="0" anchor="ctr"/>
            <a:lstStyle/>
            <a:p>
              <a:endParaRPr lang="zh-CN" altLang="en-US"/>
            </a:p>
          </p:txBody>
        </p:sp>
        <p:sp>
          <p:nvSpPr>
            <p:cNvPr id="9" name="任意形状 8">
              <a:extLst>
                <a:ext uri="{FF2B5EF4-FFF2-40B4-BE49-F238E27FC236}">
                  <a16:creationId xmlns:a16="http://schemas.microsoft.com/office/drawing/2014/main" id="{4F5D7A08-87FA-A7AA-66DC-CC3FFCCD16AF}"/>
                </a:ext>
              </a:extLst>
            </p:cNvPr>
            <p:cNvSpPr/>
            <p:nvPr/>
          </p:nvSpPr>
          <p:spPr>
            <a:xfrm>
              <a:off x="2459620" y="1005434"/>
              <a:ext cx="592694" cy="929567"/>
            </a:xfrm>
            <a:custGeom>
              <a:avLst/>
              <a:gdLst>
                <a:gd name="connsiteX0" fmla="*/ 436748 w 592694"/>
                <a:gd name="connsiteY0" fmla="*/ 12476 h 929567"/>
                <a:gd name="connsiteX1" fmla="*/ 310454 w 592694"/>
                <a:gd name="connsiteY1" fmla="*/ 485449 h 929567"/>
                <a:gd name="connsiteX2" fmla="*/ 161943 w 592694"/>
                <a:gd name="connsiteY2" fmla="*/ 11764 h 929567"/>
                <a:gd name="connsiteX3" fmla="*/ 158997 w 592694"/>
                <a:gd name="connsiteY3" fmla="*/ 0 h 929567"/>
                <a:gd name="connsiteX4" fmla="*/ 0 w 592694"/>
                <a:gd name="connsiteY4" fmla="*/ 0 h 929567"/>
                <a:gd name="connsiteX5" fmla="*/ 5002 w 592694"/>
                <a:gd name="connsiteY5" fmla="*/ 19361 h 929567"/>
                <a:gd name="connsiteX6" fmla="*/ 223669 w 592694"/>
                <a:gd name="connsiteY6" fmla="*/ 647854 h 929567"/>
                <a:gd name="connsiteX7" fmla="*/ 147979 w 592694"/>
                <a:gd name="connsiteY7" fmla="*/ 785362 h 929567"/>
                <a:gd name="connsiteX8" fmla="*/ 93871 w 592694"/>
                <a:gd name="connsiteY8" fmla="*/ 815643 h 929567"/>
                <a:gd name="connsiteX9" fmla="*/ 12975 w 592694"/>
                <a:gd name="connsiteY9" fmla="*/ 815643 h 929567"/>
                <a:gd name="connsiteX10" fmla="*/ 6806 w 592694"/>
                <a:gd name="connsiteY10" fmla="*/ 916128 h 929567"/>
                <a:gd name="connsiteX11" fmla="*/ 19348 w 592694"/>
                <a:gd name="connsiteY11" fmla="*/ 919258 h 929567"/>
                <a:gd name="connsiteX12" fmla="*/ 103087 w 592694"/>
                <a:gd name="connsiteY12" fmla="*/ 929567 h 929567"/>
                <a:gd name="connsiteX13" fmla="*/ 104889 w 592694"/>
                <a:gd name="connsiteY13" fmla="*/ 929567 h 929567"/>
                <a:gd name="connsiteX14" fmla="*/ 243016 w 592694"/>
                <a:gd name="connsiteY14" fmla="*/ 871489 h 929567"/>
                <a:gd name="connsiteX15" fmla="*/ 378346 w 592694"/>
                <a:gd name="connsiteY15" fmla="*/ 652078 h 929567"/>
                <a:gd name="connsiteX16" fmla="*/ 587872 w 592694"/>
                <a:gd name="connsiteY16" fmla="*/ 19287 h 929567"/>
                <a:gd name="connsiteX17" fmla="*/ 592695 w 592694"/>
                <a:gd name="connsiteY17" fmla="*/ 2 h 929567"/>
                <a:gd name="connsiteX18" fmla="*/ 439078 w 592694"/>
                <a:gd name="connsiteY18" fmla="*/ 2 h 929567"/>
                <a:gd name="connsiteX19" fmla="*/ 436748 w 592694"/>
                <a:gd name="connsiteY19" fmla="*/ 12478 h 9295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92694" h="929567">
                  <a:moveTo>
                    <a:pt x="436748" y="12476"/>
                  </a:moveTo>
                  <a:cubicBezTo>
                    <a:pt x="404955" y="174421"/>
                    <a:pt x="360448" y="339438"/>
                    <a:pt x="310454" y="485449"/>
                  </a:cubicBezTo>
                  <a:cubicBezTo>
                    <a:pt x="255533" y="333879"/>
                    <a:pt x="204855" y="182322"/>
                    <a:pt x="161943" y="11764"/>
                  </a:cubicBezTo>
                  <a:lnTo>
                    <a:pt x="158997" y="0"/>
                  </a:lnTo>
                  <a:lnTo>
                    <a:pt x="0" y="0"/>
                  </a:lnTo>
                  <a:lnTo>
                    <a:pt x="5002" y="19361"/>
                  </a:lnTo>
                  <a:cubicBezTo>
                    <a:pt x="62158" y="239336"/>
                    <a:pt x="146988" y="470850"/>
                    <a:pt x="223669" y="647854"/>
                  </a:cubicBezTo>
                  <a:cubicBezTo>
                    <a:pt x="192133" y="717948"/>
                    <a:pt x="168114" y="761067"/>
                    <a:pt x="147979" y="785362"/>
                  </a:cubicBezTo>
                  <a:cubicBezTo>
                    <a:pt x="126752" y="810281"/>
                    <a:pt x="113296" y="815216"/>
                    <a:pt x="93871" y="815643"/>
                  </a:cubicBezTo>
                  <a:lnTo>
                    <a:pt x="12975" y="815643"/>
                  </a:lnTo>
                  <a:lnTo>
                    <a:pt x="6806" y="916128"/>
                  </a:lnTo>
                  <a:lnTo>
                    <a:pt x="19348" y="919258"/>
                  </a:lnTo>
                  <a:cubicBezTo>
                    <a:pt x="40043" y="924358"/>
                    <a:pt x="69597" y="929567"/>
                    <a:pt x="103087" y="929567"/>
                  </a:cubicBezTo>
                  <a:lnTo>
                    <a:pt x="104889" y="929567"/>
                  </a:lnTo>
                  <a:cubicBezTo>
                    <a:pt x="155951" y="929567"/>
                    <a:pt x="201171" y="913896"/>
                    <a:pt x="243016" y="871489"/>
                  </a:cubicBezTo>
                  <a:cubicBezTo>
                    <a:pt x="285545" y="828732"/>
                    <a:pt x="326678" y="760432"/>
                    <a:pt x="378346" y="652078"/>
                  </a:cubicBezTo>
                  <a:cubicBezTo>
                    <a:pt x="447061" y="509460"/>
                    <a:pt x="516553" y="303411"/>
                    <a:pt x="587872" y="19287"/>
                  </a:cubicBezTo>
                  <a:lnTo>
                    <a:pt x="592695" y="2"/>
                  </a:lnTo>
                  <a:lnTo>
                    <a:pt x="439078" y="2"/>
                  </a:lnTo>
                  <a:lnTo>
                    <a:pt x="436748" y="12478"/>
                  </a:lnTo>
                  <a:close/>
                </a:path>
              </a:pathLst>
            </a:custGeom>
            <a:solidFill>
              <a:srgbClr val="656464"/>
            </a:solidFill>
            <a:ln w="109" cap="flat">
              <a:noFill/>
              <a:prstDash val="solid"/>
              <a:miter/>
            </a:ln>
          </p:spPr>
          <p:txBody>
            <a:bodyPr rtlCol="0" anchor="ctr"/>
            <a:lstStyle/>
            <a:p>
              <a:endParaRPr lang="zh-CN" altLang="en-US"/>
            </a:p>
          </p:txBody>
        </p:sp>
        <p:sp>
          <p:nvSpPr>
            <p:cNvPr id="10" name="任意形状 9">
              <a:extLst>
                <a:ext uri="{FF2B5EF4-FFF2-40B4-BE49-F238E27FC236}">
                  <a16:creationId xmlns:a16="http://schemas.microsoft.com/office/drawing/2014/main" id="{50E9FEE1-E93A-F1E5-E543-3E55DCA60665}"/>
                </a:ext>
              </a:extLst>
            </p:cNvPr>
            <p:cNvSpPr/>
            <p:nvPr/>
          </p:nvSpPr>
          <p:spPr>
            <a:xfrm>
              <a:off x="3117596" y="822326"/>
              <a:ext cx="394925" cy="853987"/>
            </a:xfrm>
            <a:custGeom>
              <a:avLst/>
              <a:gdLst>
                <a:gd name="connsiteX0" fmla="*/ 263816 w 394925"/>
                <a:gd name="connsiteY0" fmla="*/ 726822 h 853987"/>
                <a:gd name="connsiteX1" fmla="*/ 245453 w 394925"/>
                <a:gd name="connsiteY1" fmla="*/ 649176 h 853987"/>
                <a:gd name="connsiteX2" fmla="*/ 245453 w 394925"/>
                <a:gd name="connsiteY2" fmla="*/ 292104 h 853987"/>
                <a:gd name="connsiteX3" fmla="*/ 394859 w 394925"/>
                <a:gd name="connsiteY3" fmla="*/ 292104 h 853987"/>
                <a:gd name="connsiteX4" fmla="*/ 394859 w 394925"/>
                <a:gd name="connsiteY4" fmla="*/ 183108 h 853987"/>
                <a:gd name="connsiteX5" fmla="*/ 245453 w 394925"/>
                <a:gd name="connsiteY5" fmla="*/ 183108 h 853987"/>
                <a:gd name="connsiteX6" fmla="*/ 245453 w 394925"/>
                <a:gd name="connsiteY6" fmla="*/ 0 h 853987"/>
                <a:gd name="connsiteX7" fmla="*/ 122994 w 394925"/>
                <a:gd name="connsiteY7" fmla="*/ 0 h 853987"/>
                <a:gd name="connsiteX8" fmla="*/ 94329 w 394925"/>
                <a:gd name="connsiteY8" fmla="*/ 183108 h 853987"/>
                <a:gd name="connsiteX9" fmla="*/ 0 w 394925"/>
                <a:gd name="connsiteY9" fmla="*/ 183108 h 853987"/>
                <a:gd name="connsiteX10" fmla="*/ 0 w 394925"/>
                <a:gd name="connsiteY10" fmla="*/ 292104 h 853987"/>
                <a:gd name="connsiteX11" fmla="*/ 93695 w 394925"/>
                <a:gd name="connsiteY11" fmla="*/ 292104 h 853987"/>
                <a:gd name="connsiteX12" fmla="*/ 93695 w 394925"/>
                <a:gd name="connsiteY12" fmla="*/ 678954 h 853987"/>
                <a:gd name="connsiteX13" fmla="*/ 144573 w 394925"/>
                <a:gd name="connsiteY13" fmla="*/ 818311 h 853987"/>
                <a:gd name="connsiteX14" fmla="*/ 272215 w 394925"/>
                <a:gd name="connsiteY14" fmla="*/ 853988 h 853987"/>
                <a:gd name="connsiteX15" fmla="*/ 382840 w 394925"/>
                <a:gd name="connsiteY15" fmla="*/ 842420 h 853987"/>
                <a:gd name="connsiteX16" fmla="*/ 394925 w 394925"/>
                <a:gd name="connsiteY16" fmla="*/ 839750 h 853987"/>
                <a:gd name="connsiteX17" fmla="*/ 394925 w 394925"/>
                <a:gd name="connsiteY17" fmla="*/ 740162 h 853987"/>
                <a:gd name="connsiteX18" fmla="*/ 324985 w 394925"/>
                <a:gd name="connsiteY18" fmla="*/ 740162 h 853987"/>
                <a:gd name="connsiteX19" fmla="*/ 263816 w 394925"/>
                <a:gd name="connsiteY19" fmla="*/ 726822 h 8539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4925" h="853987">
                  <a:moveTo>
                    <a:pt x="263816" y="726822"/>
                  </a:moveTo>
                  <a:cubicBezTo>
                    <a:pt x="253426" y="717574"/>
                    <a:pt x="245354" y="695621"/>
                    <a:pt x="245453" y="649176"/>
                  </a:cubicBezTo>
                  <a:lnTo>
                    <a:pt x="245453" y="292104"/>
                  </a:lnTo>
                  <a:lnTo>
                    <a:pt x="394859" y="292104"/>
                  </a:lnTo>
                  <a:lnTo>
                    <a:pt x="394859" y="183108"/>
                  </a:lnTo>
                  <a:lnTo>
                    <a:pt x="245453" y="183108"/>
                  </a:lnTo>
                  <a:lnTo>
                    <a:pt x="245453" y="0"/>
                  </a:lnTo>
                  <a:lnTo>
                    <a:pt x="122994" y="0"/>
                  </a:lnTo>
                  <a:lnTo>
                    <a:pt x="94329" y="183108"/>
                  </a:lnTo>
                  <a:lnTo>
                    <a:pt x="0" y="183108"/>
                  </a:lnTo>
                  <a:lnTo>
                    <a:pt x="0" y="292104"/>
                  </a:lnTo>
                  <a:lnTo>
                    <a:pt x="93695" y="292104"/>
                  </a:lnTo>
                  <a:lnTo>
                    <a:pt x="93695" y="678954"/>
                  </a:lnTo>
                  <a:cubicBezTo>
                    <a:pt x="93618" y="745010"/>
                    <a:pt x="111270" y="790722"/>
                    <a:pt x="144573" y="818311"/>
                  </a:cubicBezTo>
                  <a:cubicBezTo>
                    <a:pt x="177820" y="845922"/>
                    <a:pt x="222322" y="853911"/>
                    <a:pt x="272215" y="853988"/>
                  </a:cubicBezTo>
                  <a:cubicBezTo>
                    <a:pt x="312790" y="853911"/>
                    <a:pt x="354175" y="848975"/>
                    <a:pt x="382840" y="842420"/>
                  </a:cubicBezTo>
                  <a:lnTo>
                    <a:pt x="394925" y="839750"/>
                  </a:lnTo>
                  <a:lnTo>
                    <a:pt x="394925" y="740162"/>
                  </a:lnTo>
                  <a:lnTo>
                    <a:pt x="324985" y="740162"/>
                  </a:lnTo>
                  <a:cubicBezTo>
                    <a:pt x="293093" y="740337"/>
                    <a:pt x="273670" y="736572"/>
                    <a:pt x="263816" y="726822"/>
                  </a:cubicBezTo>
                  <a:close/>
                </a:path>
              </a:pathLst>
            </a:custGeom>
            <a:solidFill>
              <a:srgbClr val="656464"/>
            </a:solidFill>
            <a:ln w="109" cap="flat">
              <a:noFill/>
              <a:prstDash val="solid"/>
              <a:miter/>
            </a:ln>
          </p:spPr>
          <p:txBody>
            <a:bodyPr rtlCol="0" anchor="ctr"/>
            <a:lstStyle/>
            <a:p>
              <a:endParaRPr lang="zh-CN" altLang="en-US"/>
            </a:p>
          </p:txBody>
        </p:sp>
        <p:sp>
          <p:nvSpPr>
            <p:cNvPr id="11" name="任意形状 10">
              <a:extLst>
                <a:ext uri="{FF2B5EF4-FFF2-40B4-BE49-F238E27FC236}">
                  <a16:creationId xmlns:a16="http://schemas.microsoft.com/office/drawing/2014/main" id="{C63A48D9-4FC7-12B4-7763-ECF778419844}"/>
                </a:ext>
              </a:extLst>
            </p:cNvPr>
            <p:cNvSpPr/>
            <p:nvPr/>
          </p:nvSpPr>
          <p:spPr>
            <a:xfrm>
              <a:off x="3556629" y="991891"/>
              <a:ext cx="579088" cy="688176"/>
            </a:xfrm>
            <a:custGeom>
              <a:avLst/>
              <a:gdLst>
                <a:gd name="connsiteX0" fmla="*/ 302411 w 579088"/>
                <a:gd name="connsiteY0" fmla="*/ 106382 h 688176"/>
                <a:gd name="connsiteX1" fmla="*/ 392519 w 579088"/>
                <a:gd name="connsiteY1" fmla="*/ 147363 h 688176"/>
                <a:gd name="connsiteX2" fmla="*/ 424586 w 579088"/>
                <a:gd name="connsiteY2" fmla="*/ 266121 h 688176"/>
                <a:gd name="connsiteX3" fmla="*/ 157379 w 579088"/>
                <a:gd name="connsiteY3" fmla="*/ 266121 h 688176"/>
                <a:gd name="connsiteX4" fmla="*/ 192847 w 579088"/>
                <a:gd name="connsiteY4" fmla="*/ 160347 h 688176"/>
                <a:gd name="connsiteX5" fmla="*/ 302411 w 579088"/>
                <a:gd name="connsiteY5" fmla="*/ 106384 h 688176"/>
                <a:gd name="connsiteX6" fmla="*/ 309925 w 579088"/>
                <a:gd name="connsiteY6" fmla="*/ 2 h 688176"/>
                <a:gd name="connsiteX7" fmla="*/ 77924 w 579088"/>
                <a:gd name="connsiteY7" fmla="*/ 94567 h 688176"/>
                <a:gd name="connsiteX8" fmla="*/ 0 w 579088"/>
                <a:gd name="connsiteY8" fmla="*/ 345967 h 688176"/>
                <a:gd name="connsiteX9" fmla="*/ 76043 w 579088"/>
                <a:gd name="connsiteY9" fmla="*/ 600802 h 688176"/>
                <a:gd name="connsiteX10" fmla="*/ 310909 w 579088"/>
                <a:gd name="connsiteY10" fmla="*/ 688177 h 688176"/>
                <a:gd name="connsiteX11" fmla="*/ 311445 w 579088"/>
                <a:gd name="connsiteY11" fmla="*/ 688177 h 688176"/>
                <a:gd name="connsiteX12" fmla="*/ 549713 w 579088"/>
                <a:gd name="connsiteY12" fmla="*/ 654131 h 688176"/>
                <a:gd name="connsiteX13" fmla="*/ 563504 w 579088"/>
                <a:gd name="connsiteY13" fmla="*/ 650093 h 688176"/>
                <a:gd name="connsiteX14" fmla="*/ 540570 w 579088"/>
                <a:gd name="connsiteY14" fmla="*/ 540743 h 688176"/>
                <a:gd name="connsiteX15" fmla="*/ 524733 w 579088"/>
                <a:gd name="connsiteY15" fmla="*/ 545131 h 688176"/>
                <a:gd name="connsiteX16" fmla="*/ 329633 w 579088"/>
                <a:gd name="connsiteY16" fmla="*/ 574253 h 688176"/>
                <a:gd name="connsiteX17" fmla="*/ 193941 w 579088"/>
                <a:gd name="connsiteY17" fmla="*/ 518330 h 688176"/>
                <a:gd name="connsiteX18" fmla="*/ 156417 w 579088"/>
                <a:gd name="connsiteY18" fmla="*/ 370076 h 688176"/>
                <a:gd name="connsiteX19" fmla="*/ 577568 w 579088"/>
                <a:gd name="connsiteY19" fmla="*/ 370076 h 688176"/>
                <a:gd name="connsiteX20" fmla="*/ 577568 w 579088"/>
                <a:gd name="connsiteY20" fmla="*/ 354481 h 688176"/>
                <a:gd name="connsiteX21" fmla="*/ 579089 w 579088"/>
                <a:gd name="connsiteY21" fmla="*/ 295232 h 688176"/>
                <a:gd name="connsiteX22" fmla="*/ 517110 w 579088"/>
                <a:gd name="connsiteY22" fmla="*/ 82269 h 688176"/>
                <a:gd name="connsiteX23" fmla="*/ 309925 w 579088"/>
                <a:gd name="connsiteY23" fmla="*/ 1 h 6881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79088" h="688176">
                  <a:moveTo>
                    <a:pt x="302411" y="106382"/>
                  </a:moveTo>
                  <a:cubicBezTo>
                    <a:pt x="343260" y="106763"/>
                    <a:pt x="371903" y="120991"/>
                    <a:pt x="392519" y="147363"/>
                  </a:cubicBezTo>
                  <a:cubicBezTo>
                    <a:pt x="412861" y="173787"/>
                    <a:pt x="424586" y="214128"/>
                    <a:pt x="424586" y="266121"/>
                  </a:cubicBezTo>
                  <a:lnTo>
                    <a:pt x="157379" y="266121"/>
                  </a:lnTo>
                  <a:cubicBezTo>
                    <a:pt x="161229" y="227118"/>
                    <a:pt x="172538" y="189033"/>
                    <a:pt x="192847" y="160347"/>
                  </a:cubicBezTo>
                  <a:cubicBezTo>
                    <a:pt x="216153" y="128004"/>
                    <a:pt x="249467" y="106764"/>
                    <a:pt x="302411" y="106384"/>
                  </a:cubicBezTo>
                  <a:close/>
                  <a:moveTo>
                    <a:pt x="309925" y="2"/>
                  </a:moveTo>
                  <a:cubicBezTo>
                    <a:pt x="209351" y="-175"/>
                    <a:pt x="130431" y="33437"/>
                    <a:pt x="77924" y="94567"/>
                  </a:cubicBezTo>
                  <a:cubicBezTo>
                    <a:pt x="25439" y="155519"/>
                    <a:pt x="0" y="242001"/>
                    <a:pt x="0" y="345967"/>
                  </a:cubicBezTo>
                  <a:cubicBezTo>
                    <a:pt x="0" y="456312"/>
                    <a:pt x="23744" y="542089"/>
                    <a:pt x="76043" y="600802"/>
                  </a:cubicBezTo>
                  <a:cubicBezTo>
                    <a:pt x="128178" y="659493"/>
                    <a:pt x="207546" y="688177"/>
                    <a:pt x="310909" y="688177"/>
                  </a:cubicBezTo>
                  <a:lnTo>
                    <a:pt x="311445" y="688177"/>
                  </a:lnTo>
                  <a:cubicBezTo>
                    <a:pt x="400667" y="688177"/>
                    <a:pt x="480647" y="674278"/>
                    <a:pt x="549713" y="654131"/>
                  </a:cubicBezTo>
                  <a:lnTo>
                    <a:pt x="563504" y="650093"/>
                  </a:lnTo>
                  <a:lnTo>
                    <a:pt x="540570" y="540743"/>
                  </a:lnTo>
                  <a:lnTo>
                    <a:pt x="524733" y="545131"/>
                  </a:lnTo>
                  <a:cubicBezTo>
                    <a:pt x="463280" y="562160"/>
                    <a:pt x="406409" y="574176"/>
                    <a:pt x="329633" y="574253"/>
                  </a:cubicBezTo>
                  <a:cubicBezTo>
                    <a:pt x="260666" y="573892"/>
                    <a:pt x="220091" y="553821"/>
                    <a:pt x="193941" y="518330"/>
                  </a:cubicBezTo>
                  <a:cubicBezTo>
                    <a:pt x="169661" y="484996"/>
                    <a:pt x="157937" y="434720"/>
                    <a:pt x="156417" y="370076"/>
                  </a:cubicBezTo>
                  <a:lnTo>
                    <a:pt x="577568" y="370076"/>
                  </a:lnTo>
                  <a:lnTo>
                    <a:pt x="577568" y="354481"/>
                  </a:lnTo>
                  <a:cubicBezTo>
                    <a:pt x="577568" y="336566"/>
                    <a:pt x="579089" y="308419"/>
                    <a:pt x="579089" y="295232"/>
                  </a:cubicBezTo>
                  <a:cubicBezTo>
                    <a:pt x="579012" y="209028"/>
                    <a:pt x="561010" y="135241"/>
                    <a:pt x="517110" y="82269"/>
                  </a:cubicBezTo>
                  <a:cubicBezTo>
                    <a:pt x="473309" y="29321"/>
                    <a:pt x="404254" y="-177"/>
                    <a:pt x="309925" y="1"/>
                  </a:cubicBezTo>
                  <a:close/>
                </a:path>
              </a:pathLst>
            </a:custGeom>
            <a:solidFill>
              <a:srgbClr val="656464"/>
            </a:solidFill>
            <a:ln w="109" cap="flat">
              <a:noFill/>
              <a:prstDash val="solid"/>
              <a:miter/>
            </a:ln>
          </p:spPr>
          <p:txBody>
            <a:bodyPr rtlCol="0" anchor="ctr"/>
            <a:lstStyle/>
            <a:p>
              <a:endParaRPr lang="zh-CN" altLang="en-US"/>
            </a:p>
          </p:txBody>
        </p:sp>
        <p:sp>
          <p:nvSpPr>
            <p:cNvPr id="12" name="任意形状 11">
              <a:extLst>
                <a:ext uri="{FF2B5EF4-FFF2-40B4-BE49-F238E27FC236}">
                  <a16:creationId xmlns:a16="http://schemas.microsoft.com/office/drawing/2014/main" id="{341E5E21-2A07-AD8F-3B28-E1CBFDE6C95C}"/>
                </a:ext>
              </a:extLst>
            </p:cNvPr>
            <p:cNvSpPr/>
            <p:nvPr/>
          </p:nvSpPr>
          <p:spPr>
            <a:xfrm>
              <a:off x="4227181" y="991914"/>
              <a:ext cx="380685" cy="674561"/>
            </a:xfrm>
            <a:custGeom>
              <a:avLst/>
              <a:gdLst>
                <a:gd name="connsiteX0" fmla="*/ 288773 w 380685"/>
                <a:gd name="connsiteY0" fmla="*/ 5 h 674561"/>
                <a:gd name="connsiteX1" fmla="*/ 198403 w 380685"/>
                <a:gd name="connsiteY1" fmla="*/ 32906 h 674561"/>
                <a:gd name="connsiteX2" fmla="*/ 133811 w 380685"/>
                <a:gd name="connsiteY2" fmla="*/ 102802 h 674561"/>
                <a:gd name="connsiteX3" fmla="*/ 124493 w 380685"/>
                <a:gd name="connsiteY3" fmla="*/ 13546 h 674561"/>
                <a:gd name="connsiteX4" fmla="*/ 0 w 380685"/>
                <a:gd name="connsiteY4" fmla="*/ 13546 h 674561"/>
                <a:gd name="connsiteX5" fmla="*/ 0 w 380685"/>
                <a:gd name="connsiteY5" fmla="*/ 674562 h 674561"/>
                <a:gd name="connsiteX6" fmla="*/ 151627 w 380685"/>
                <a:gd name="connsiteY6" fmla="*/ 674562 h 674561"/>
                <a:gd name="connsiteX7" fmla="*/ 151627 w 380685"/>
                <a:gd name="connsiteY7" fmla="*/ 244704 h 674561"/>
                <a:gd name="connsiteX8" fmla="*/ 233160 w 380685"/>
                <a:gd name="connsiteY8" fmla="*/ 148356 h 674561"/>
                <a:gd name="connsiteX9" fmla="*/ 284191 w 380685"/>
                <a:gd name="connsiteY9" fmla="*/ 122542 h 674561"/>
                <a:gd name="connsiteX10" fmla="*/ 340460 w 380685"/>
                <a:gd name="connsiteY10" fmla="*/ 131943 h 674561"/>
                <a:gd name="connsiteX11" fmla="*/ 356482 w 380685"/>
                <a:gd name="connsiteY11" fmla="*/ 136338 h 674561"/>
                <a:gd name="connsiteX12" fmla="*/ 359807 w 380685"/>
                <a:gd name="connsiteY12" fmla="*/ 120027 h 674561"/>
                <a:gd name="connsiteX13" fmla="*/ 380685 w 380685"/>
                <a:gd name="connsiteY13" fmla="*/ 15681 h 674561"/>
                <a:gd name="connsiteX14" fmla="*/ 366971 w 380685"/>
                <a:gd name="connsiteY14" fmla="*/ 11844 h 674561"/>
                <a:gd name="connsiteX15" fmla="*/ 288773 w 380685"/>
                <a:gd name="connsiteY15" fmla="*/ 5 h 6745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0685" h="674561">
                  <a:moveTo>
                    <a:pt x="288773" y="5"/>
                  </a:moveTo>
                  <a:cubicBezTo>
                    <a:pt x="255525" y="-275"/>
                    <a:pt x="225898" y="10574"/>
                    <a:pt x="198403" y="32906"/>
                  </a:cubicBezTo>
                  <a:cubicBezTo>
                    <a:pt x="177426" y="49650"/>
                    <a:pt x="157095" y="72618"/>
                    <a:pt x="133811" y="102802"/>
                  </a:cubicBezTo>
                  <a:lnTo>
                    <a:pt x="124493" y="13546"/>
                  </a:lnTo>
                  <a:lnTo>
                    <a:pt x="0" y="13546"/>
                  </a:lnTo>
                  <a:lnTo>
                    <a:pt x="0" y="674562"/>
                  </a:lnTo>
                  <a:lnTo>
                    <a:pt x="151627" y="674562"/>
                  </a:lnTo>
                  <a:lnTo>
                    <a:pt x="151627" y="244704"/>
                  </a:lnTo>
                  <a:cubicBezTo>
                    <a:pt x="186919" y="198815"/>
                    <a:pt x="212643" y="167437"/>
                    <a:pt x="233160" y="148356"/>
                  </a:cubicBezTo>
                  <a:cubicBezTo>
                    <a:pt x="254815" y="128539"/>
                    <a:pt x="268814" y="122619"/>
                    <a:pt x="284191" y="122542"/>
                  </a:cubicBezTo>
                  <a:cubicBezTo>
                    <a:pt x="300246" y="122542"/>
                    <a:pt x="318598" y="125845"/>
                    <a:pt x="340460" y="131943"/>
                  </a:cubicBezTo>
                  <a:lnTo>
                    <a:pt x="356482" y="136338"/>
                  </a:lnTo>
                  <a:lnTo>
                    <a:pt x="359807" y="120027"/>
                  </a:lnTo>
                  <a:lnTo>
                    <a:pt x="380685" y="15681"/>
                  </a:lnTo>
                  <a:lnTo>
                    <a:pt x="366971" y="11844"/>
                  </a:lnTo>
                  <a:cubicBezTo>
                    <a:pt x="340285" y="3943"/>
                    <a:pt x="314485" y="5"/>
                    <a:pt x="288773" y="5"/>
                  </a:cubicBezTo>
                  <a:close/>
                </a:path>
              </a:pathLst>
            </a:custGeom>
            <a:solidFill>
              <a:srgbClr val="656464"/>
            </a:solidFill>
            <a:ln w="109" cap="flat">
              <a:noFill/>
              <a:prstDash val="solid"/>
              <a:miter/>
            </a:ln>
          </p:spPr>
          <p:txBody>
            <a:bodyPr rtlCol="0" anchor="ctr"/>
            <a:lstStyle/>
            <a:p>
              <a:endParaRPr lang="zh-CN" altLang="en-US"/>
            </a:p>
          </p:txBody>
        </p:sp>
        <p:sp>
          <p:nvSpPr>
            <p:cNvPr id="13" name="任意形状 12">
              <a:extLst>
                <a:ext uri="{FF2B5EF4-FFF2-40B4-BE49-F238E27FC236}">
                  <a16:creationId xmlns:a16="http://schemas.microsoft.com/office/drawing/2014/main" id="{797F1EB2-7BFE-7EFE-A850-707DBB310097}"/>
                </a:ext>
              </a:extLst>
            </p:cNvPr>
            <p:cNvSpPr/>
            <p:nvPr/>
          </p:nvSpPr>
          <p:spPr>
            <a:xfrm>
              <a:off x="4620026" y="991866"/>
              <a:ext cx="539861" cy="688201"/>
            </a:xfrm>
            <a:custGeom>
              <a:avLst/>
              <a:gdLst>
                <a:gd name="connsiteX0" fmla="*/ 187108 w 539861"/>
                <a:gd name="connsiteY0" fmla="*/ 410329 h 688201"/>
                <a:gd name="connsiteX1" fmla="*/ 296136 w 539861"/>
                <a:gd name="connsiteY1" fmla="*/ 381208 h 688201"/>
                <a:gd name="connsiteX2" fmla="*/ 296311 w 539861"/>
                <a:gd name="connsiteY2" fmla="*/ 381208 h 688201"/>
                <a:gd name="connsiteX3" fmla="*/ 389547 w 539861"/>
                <a:gd name="connsiteY3" fmla="*/ 381208 h 688201"/>
                <a:gd name="connsiteX4" fmla="*/ 389547 w 539861"/>
                <a:gd name="connsiteY4" fmla="*/ 501589 h 688201"/>
                <a:gd name="connsiteX5" fmla="*/ 248015 w 539861"/>
                <a:gd name="connsiteY5" fmla="*/ 579202 h 688201"/>
                <a:gd name="connsiteX6" fmla="*/ 176084 w 539861"/>
                <a:gd name="connsiteY6" fmla="*/ 554743 h 688201"/>
                <a:gd name="connsiteX7" fmla="*/ 153336 w 539861"/>
                <a:gd name="connsiteY7" fmla="*/ 488325 h 688201"/>
                <a:gd name="connsiteX8" fmla="*/ 187108 w 539861"/>
                <a:gd name="connsiteY8" fmla="*/ 410329 h 688201"/>
                <a:gd name="connsiteX9" fmla="*/ 481634 w 539861"/>
                <a:gd name="connsiteY9" fmla="*/ 63926 h 688201"/>
                <a:gd name="connsiteX10" fmla="*/ 282772 w 539861"/>
                <a:gd name="connsiteY10" fmla="*/ 0 h 688201"/>
                <a:gd name="connsiteX11" fmla="*/ 53932 w 539861"/>
                <a:gd name="connsiteY11" fmla="*/ 41872 h 688201"/>
                <a:gd name="connsiteX12" fmla="*/ 40042 w 539861"/>
                <a:gd name="connsiteY12" fmla="*/ 46877 h 688201"/>
                <a:gd name="connsiteX13" fmla="*/ 73880 w 539861"/>
                <a:gd name="connsiteY13" fmla="*/ 152291 h 688201"/>
                <a:gd name="connsiteX14" fmla="*/ 89225 w 539861"/>
                <a:gd name="connsiteY14" fmla="*/ 146194 h 688201"/>
                <a:gd name="connsiteX15" fmla="*/ 264595 w 539861"/>
                <a:gd name="connsiteY15" fmla="*/ 110242 h 688201"/>
                <a:gd name="connsiteX16" fmla="*/ 363113 w 539861"/>
                <a:gd name="connsiteY16" fmla="*/ 140198 h 688201"/>
                <a:gd name="connsiteX17" fmla="*/ 389547 w 539861"/>
                <a:gd name="connsiteY17" fmla="*/ 237003 h 688201"/>
                <a:gd name="connsiteX18" fmla="*/ 389547 w 539861"/>
                <a:gd name="connsiteY18" fmla="*/ 279727 h 688201"/>
                <a:gd name="connsiteX19" fmla="*/ 309993 w 539861"/>
                <a:gd name="connsiteY19" fmla="*/ 279727 h 688201"/>
                <a:gd name="connsiteX20" fmla="*/ 88765 w 539861"/>
                <a:gd name="connsiteY20" fmla="*/ 330571 h 688201"/>
                <a:gd name="connsiteX21" fmla="*/ 3 w 539861"/>
                <a:gd name="connsiteY21" fmla="*/ 493250 h 688201"/>
                <a:gd name="connsiteX22" fmla="*/ 61084 w 539861"/>
                <a:gd name="connsiteY22" fmla="*/ 636930 h 688201"/>
                <a:gd name="connsiteX23" fmla="*/ 220870 w 539861"/>
                <a:gd name="connsiteY23" fmla="*/ 688201 h 688201"/>
                <a:gd name="connsiteX24" fmla="*/ 221056 w 539861"/>
                <a:gd name="connsiteY24" fmla="*/ 688201 h 688201"/>
                <a:gd name="connsiteX25" fmla="*/ 407899 w 539861"/>
                <a:gd name="connsiteY25" fmla="*/ 618183 h 688201"/>
                <a:gd name="connsiteX26" fmla="*/ 413641 w 539861"/>
                <a:gd name="connsiteY26" fmla="*/ 674664 h 688201"/>
                <a:gd name="connsiteX27" fmla="*/ 427607 w 539861"/>
                <a:gd name="connsiteY27" fmla="*/ 674664 h 688201"/>
                <a:gd name="connsiteX28" fmla="*/ 539861 w 539861"/>
                <a:gd name="connsiteY28" fmla="*/ 674664 h 688201"/>
                <a:gd name="connsiteX29" fmla="*/ 539861 w 539861"/>
                <a:gd name="connsiteY29" fmla="*/ 217282 h 688201"/>
                <a:gd name="connsiteX30" fmla="*/ 481634 w 539861"/>
                <a:gd name="connsiteY30" fmla="*/ 63924 h 688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539861" h="688201">
                  <a:moveTo>
                    <a:pt x="187108" y="410329"/>
                  </a:moveTo>
                  <a:cubicBezTo>
                    <a:pt x="209594" y="392316"/>
                    <a:pt x="245423" y="381208"/>
                    <a:pt x="296136" y="381208"/>
                  </a:cubicBezTo>
                  <a:lnTo>
                    <a:pt x="296311" y="381208"/>
                  </a:lnTo>
                  <a:lnTo>
                    <a:pt x="389547" y="381208"/>
                  </a:lnTo>
                  <a:lnTo>
                    <a:pt x="389547" y="501589"/>
                  </a:lnTo>
                  <a:cubicBezTo>
                    <a:pt x="343339" y="547301"/>
                    <a:pt x="301134" y="579278"/>
                    <a:pt x="248015" y="579202"/>
                  </a:cubicBezTo>
                  <a:cubicBezTo>
                    <a:pt x="213816" y="579103"/>
                    <a:pt x="191067" y="569703"/>
                    <a:pt x="176084" y="554743"/>
                  </a:cubicBezTo>
                  <a:cubicBezTo>
                    <a:pt x="161407" y="539772"/>
                    <a:pt x="153336" y="517720"/>
                    <a:pt x="153336" y="488325"/>
                  </a:cubicBezTo>
                  <a:cubicBezTo>
                    <a:pt x="153434" y="453371"/>
                    <a:pt x="164710" y="428364"/>
                    <a:pt x="187108" y="410329"/>
                  </a:cubicBezTo>
                  <a:close/>
                  <a:moveTo>
                    <a:pt x="481634" y="63926"/>
                  </a:moveTo>
                  <a:cubicBezTo>
                    <a:pt x="439976" y="23578"/>
                    <a:pt x="375045" y="0"/>
                    <a:pt x="282772" y="0"/>
                  </a:cubicBezTo>
                  <a:cubicBezTo>
                    <a:pt x="208074" y="0"/>
                    <a:pt x="126650" y="15144"/>
                    <a:pt x="53932" y="41872"/>
                  </a:cubicBezTo>
                  <a:lnTo>
                    <a:pt x="40042" y="46877"/>
                  </a:lnTo>
                  <a:lnTo>
                    <a:pt x="73880" y="152291"/>
                  </a:lnTo>
                  <a:lnTo>
                    <a:pt x="89225" y="146194"/>
                  </a:lnTo>
                  <a:cubicBezTo>
                    <a:pt x="149322" y="122183"/>
                    <a:pt x="211027" y="110242"/>
                    <a:pt x="264595" y="110242"/>
                  </a:cubicBezTo>
                  <a:cubicBezTo>
                    <a:pt x="315484" y="110242"/>
                    <a:pt x="345472" y="121193"/>
                    <a:pt x="363113" y="140198"/>
                  </a:cubicBezTo>
                  <a:cubicBezTo>
                    <a:pt x="380940" y="159101"/>
                    <a:pt x="389645" y="190377"/>
                    <a:pt x="389547" y="237003"/>
                  </a:cubicBezTo>
                  <a:lnTo>
                    <a:pt x="389547" y="279727"/>
                  </a:lnTo>
                  <a:lnTo>
                    <a:pt x="309993" y="279727"/>
                  </a:lnTo>
                  <a:cubicBezTo>
                    <a:pt x="220443" y="279727"/>
                    <a:pt x="144302" y="295683"/>
                    <a:pt x="88765" y="330571"/>
                  </a:cubicBezTo>
                  <a:cubicBezTo>
                    <a:pt x="33239" y="365252"/>
                    <a:pt x="-358" y="421174"/>
                    <a:pt x="3" y="493250"/>
                  </a:cubicBezTo>
                  <a:cubicBezTo>
                    <a:pt x="-106" y="553210"/>
                    <a:pt x="21679" y="603136"/>
                    <a:pt x="61084" y="636930"/>
                  </a:cubicBezTo>
                  <a:cubicBezTo>
                    <a:pt x="100314" y="670724"/>
                    <a:pt x="155490" y="688201"/>
                    <a:pt x="220870" y="688201"/>
                  </a:cubicBezTo>
                  <a:lnTo>
                    <a:pt x="221056" y="688201"/>
                  </a:lnTo>
                  <a:cubicBezTo>
                    <a:pt x="301845" y="688201"/>
                    <a:pt x="362763" y="656005"/>
                    <a:pt x="407899" y="618183"/>
                  </a:cubicBezTo>
                  <a:lnTo>
                    <a:pt x="413641" y="674664"/>
                  </a:lnTo>
                  <a:lnTo>
                    <a:pt x="427607" y="674664"/>
                  </a:lnTo>
                  <a:lnTo>
                    <a:pt x="539861" y="674664"/>
                  </a:lnTo>
                  <a:lnTo>
                    <a:pt x="539861" y="217282"/>
                  </a:lnTo>
                  <a:cubicBezTo>
                    <a:pt x="539861" y="159454"/>
                    <a:pt x="523456" y="104244"/>
                    <a:pt x="481634" y="63924"/>
                  </a:cubicBezTo>
                  <a:close/>
                </a:path>
              </a:pathLst>
            </a:custGeom>
            <a:solidFill>
              <a:srgbClr val="656464"/>
            </a:solidFill>
            <a:ln w="109" cap="flat">
              <a:noFill/>
              <a:prstDash val="solid"/>
              <a:miter/>
            </a:ln>
          </p:spPr>
          <p:txBody>
            <a:bodyPr rtlCol="0" anchor="ctr"/>
            <a:lstStyle/>
            <a:p>
              <a:endParaRPr lang="zh-CN" altLang="en-US"/>
            </a:p>
          </p:txBody>
        </p:sp>
        <p:sp>
          <p:nvSpPr>
            <p:cNvPr id="14" name="任意形状 13">
              <a:extLst>
                <a:ext uri="{FF2B5EF4-FFF2-40B4-BE49-F238E27FC236}">
                  <a16:creationId xmlns:a16="http://schemas.microsoft.com/office/drawing/2014/main" id="{19BC152C-2577-764E-802F-9B05F4CFABCE}"/>
                </a:ext>
              </a:extLst>
            </p:cNvPr>
            <p:cNvSpPr/>
            <p:nvPr/>
          </p:nvSpPr>
          <p:spPr>
            <a:xfrm>
              <a:off x="5059160" y="682028"/>
              <a:ext cx="1293081" cy="539038"/>
            </a:xfrm>
            <a:custGeom>
              <a:avLst/>
              <a:gdLst>
                <a:gd name="connsiteX0" fmla="*/ 0 w 1293081"/>
                <a:gd name="connsiteY0" fmla="*/ 167611 h 539038"/>
                <a:gd name="connsiteX1" fmla="*/ 1128189 w 1293081"/>
                <a:gd name="connsiteY1" fmla="*/ 172185 h 539038"/>
                <a:gd name="connsiteX2" fmla="*/ 1128189 w 1293081"/>
                <a:gd name="connsiteY2" fmla="*/ 172185 h 539038"/>
                <a:gd name="connsiteX3" fmla="*/ 1128189 w 1293081"/>
                <a:gd name="connsiteY3" fmla="*/ 172082 h 539038"/>
                <a:gd name="connsiteX4" fmla="*/ 1293082 w 1293081"/>
                <a:gd name="connsiteY4" fmla="*/ 0 h 539038"/>
                <a:gd name="connsiteX5" fmla="*/ 0 w 1293081"/>
                <a:gd name="connsiteY5" fmla="*/ 167611 h 539038"/>
                <a:gd name="connsiteX6" fmla="*/ 952085 w 1293081"/>
                <a:gd name="connsiteY6" fmla="*/ 329836 h 539038"/>
                <a:gd name="connsiteX7" fmla="*/ 1066188 w 1293081"/>
                <a:gd name="connsiteY7" fmla="*/ 230546 h 539038"/>
                <a:gd name="connsiteX8" fmla="*/ 1066188 w 1293081"/>
                <a:gd name="connsiteY8" fmla="*/ 230546 h 539038"/>
                <a:gd name="connsiteX9" fmla="*/ 48723 w 1293081"/>
                <a:gd name="connsiteY9" fmla="*/ 206054 h 539038"/>
                <a:gd name="connsiteX10" fmla="*/ 48723 w 1293081"/>
                <a:gd name="connsiteY10" fmla="*/ 206054 h 539038"/>
                <a:gd name="connsiteX11" fmla="*/ 952085 w 1293081"/>
                <a:gd name="connsiteY11" fmla="*/ 329837 h 539038"/>
                <a:gd name="connsiteX12" fmla="*/ 800776 w 1293081"/>
                <a:gd name="connsiteY12" fmla="*/ 445820 h 539038"/>
                <a:gd name="connsiteX13" fmla="*/ 889287 w 1293081"/>
                <a:gd name="connsiteY13" fmla="*/ 380039 h 539038"/>
                <a:gd name="connsiteX14" fmla="*/ 889287 w 1293081"/>
                <a:gd name="connsiteY14" fmla="*/ 380039 h 539038"/>
                <a:gd name="connsiteX15" fmla="*/ 94045 w 1293081"/>
                <a:gd name="connsiteY15" fmla="*/ 251963 h 539038"/>
                <a:gd name="connsiteX16" fmla="*/ 94045 w 1293081"/>
                <a:gd name="connsiteY16" fmla="*/ 251963 h 539038"/>
                <a:gd name="connsiteX17" fmla="*/ 800776 w 1293081"/>
                <a:gd name="connsiteY17" fmla="*/ 445820 h 539038"/>
                <a:gd name="connsiteX18" fmla="*/ 657822 w 1293081"/>
                <a:gd name="connsiteY18" fmla="*/ 539038 h 539038"/>
                <a:gd name="connsiteX19" fmla="*/ 745349 w 1293081"/>
                <a:gd name="connsiteY19" fmla="*/ 484006 h 539038"/>
                <a:gd name="connsiteX20" fmla="*/ 745349 w 1293081"/>
                <a:gd name="connsiteY20" fmla="*/ 484006 h 539038"/>
                <a:gd name="connsiteX21" fmla="*/ 202625 w 1293081"/>
                <a:gd name="connsiteY21" fmla="*/ 337457 h 539038"/>
                <a:gd name="connsiteX22" fmla="*/ 202625 w 1293081"/>
                <a:gd name="connsiteY22" fmla="*/ 337457 h 539038"/>
                <a:gd name="connsiteX23" fmla="*/ 657822 w 1293081"/>
                <a:gd name="connsiteY23" fmla="*/ 539038 h 5390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293081" h="539038">
                  <a:moveTo>
                    <a:pt x="0" y="167611"/>
                  </a:moveTo>
                  <a:cubicBezTo>
                    <a:pt x="536741" y="245762"/>
                    <a:pt x="1127915" y="172185"/>
                    <a:pt x="1128189" y="172185"/>
                  </a:cubicBezTo>
                  <a:lnTo>
                    <a:pt x="1128189" y="172185"/>
                  </a:lnTo>
                  <a:lnTo>
                    <a:pt x="1128189" y="172082"/>
                  </a:lnTo>
                  <a:lnTo>
                    <a:pt x="1293082" y="0"/>
                  </a:lnTo>
                  <a:cubicBezTo>
                    <a:pt x="504489" y="190197"/>
                    <a:pt x="0" y="167611"/>
                    <a:pt x="0" y="167611"/>
                  </a:cubicBezTo>
                  <a:close/>
                  <a:moveTo>
                    <a:pt x="952085" y="329836"/>
                  </a:moveTo>
                  <a:cubicBezTo>
                    <a:pt x="992836" y="296221"/>
                    <a:pt x="1031071" y="262812"/>
                    <a:pt x="1066188" y="230546"/>
                  </a:cubicBezTo>
                  <a:lnTo>
                    <a:pt x="1066188" y="230546"/>
                  </a:lnTo>
                  <a:cubicBezTo>
                    <a:pt x="551331" y="289058"/>
                    <a:pt x="48723" y="206054"/>
                    <a:pt x="48723" y="206054"/>
                  </a:cubicBezTo>
                  <a:lnTo>
                    <a:pt x="48723" y="206054"/>
                  </a:lnTo>
                  <a:cubicBezTo>
                    <a:pt x="381856" y="318201"/>
                    <a:pt x="859812" y="328946"/>
                    <a:pt x="952085" y="329837"/>
                  </a:cubicBezTo>
                  <a:close/>
                  <a:moveTo>
                    <a:pt x="800776" y="445820"/>
                  </a:moveTo>
                  <a:cubicBezTo>
                    <a:pt x="831147" y="424223"/>
                    <a:pt x="860796" y="402271"/>
                    <a:pt x="889287" y="380039"/>
                  </a:cubicBezTo>
                  <a:lnTo>
                    <a:pt x="889287" y="380039"/>
                  </a:lnTo>
                  <a:cubicBezTo>
                    <a:pt x="790135" y="376178"/>
                    <a:pt x="372712" y="358443"/>
                    <a:pt x="94045" y="251963"/>
                  </a:cubicBezTo>
                  <a:lnTo>
                    <a:pt x="94045" y="251963"/>
                  </a:lnTo>
                  <a:cubicBezTo>
                    <a:pt x="94045" y="251963"/>
                    <a:pt x="346300" y="401738"/>
                    <a:pt x="800776" y="445820"/>
                  </a:cubicBezTo>
                  <a:close/>
                  <a:moveTo>
                    <a:pt x="657822" y="539038"/>
                  </a:moveTo>
                  <a:cubicBezTo>
                    <a:pt x="687658" y="521299"/>
                    <a:pt x="716935" y="502832"/>
                    <a:pt x="745349" y="484006"/>
                  </a:cubicBezTo>
                  <a:lnTo>
                    <a:pt x="745349" y="484006"/>
                  </a:lnTo>
                  <a:cubicBezTo>
                    <a:pt x="682375" y="478263"/>
                    <a:pt x="476611" y="442870"/>
                    <a:pt x="202625" y="337457"/>
                  </a:cubicBezTo>
                  <a:lnTo>
                    <a:pt x="202625" y="337457"/>
                  </a:lnTo>
                  <a:cubicBezTo>
                    <a:pt x="202625" y="337457"/>
                    <a:pt x="440881" y="503824"/>
                    <a:pt x="657822" y="539038"/>
                  </a:cubicBezTo>
                  <a:close/>
                </a:path>
              </a:pathLst>
            </a:custGeom>
            <a:gradFill>
              <a:gsLst>
                <a:gs pos="0">
                  <a:srgbClr val="FFFFFF"/>
                </a:gs>
                <a:gs pos="50000">
                  <a:srgbClr val="4550A4"/>
                </a:gs>
                <a:gs pos="100000">
                  <a:srgbClr val="0B308E"/>
                </a:gs>
              </a:gsLst>
              <a:lin ang="380415" scaled="1"/>
            </a:gradFill>
            <a:ln w="109" cap="flat">
              <a:noFill/>
              <a:prstDash val="solid"/>
              <a:miter/>
            </a:ln>
          </p:spPr>
          <p:txBody>
            <a:bodyPr rtlCol="0" anchor="ctr"/>
            <a:lstStyle/>
            <a:p>
              <a:endParaRPr lang="zh-CN" altLang="en-US"/>
            </a:p>
          </p:txBody>
        </p:sp>
        <p:sp>
          <p:nvSpPr>
            <p:cNvPr id="15" name="任意形状 14">
              <a:extLst>
                <a:ext uri="{FF2B5EF4-FFF2-40B4-BE49-F238E27FC236}">
                  <a16:creationId xmlns:a16="http://schemas.microsoft.com/office/drawing/2014/main" id="{9581C1DF-FC14-054E-3982-7B96D62B6852}"/>
                </a:ext>
              </a:extLst>
            </p:cNvPr>
            <p:cNvSpPr/>
            <p:nvPr/>
          </p:nvSpPr>
          <p:spPr>
            <a:xfrm>
              <a:off x="4797706" y="98099"/>
              <a:ext cx="809109" cy="689987"/>
            </a:xfrm>
            <a:custGeom>
              <a:avLst/>
              <a:gdLst>
                <a:gd name="connsiteX0" fmla="*/ 0 w 809109"/>
                <a:gd name="connsiteY0" fmla="*/ 0 h 689987"/>
                <a:gd name="connsiteX1" fmla="*/ 0 w 809109"/>
                <a:gd name="connsiteY1" fmla="*/ 2540 h 689987"/>
                <a:gd name="connsiteX2" fmla="*/ 13507 w 809109"/>
                <a:gd name="connsiteY2" fmla="*/ 192331 h 689987"/>
                <a:gd name="connsiteX3" fmla="*/ 14043 w 809109"/>
                <a:gd name="connsiteY3" fmla="*/ 193043 h 689987"/>
                <a:gd name="connsiteX4" fmla="*/ 809110 w 809109"/>
                <a:gd name="connsiteY4" fmla="*/ 646128 h 689987"/>
                <a:gd name="connsiteX5" fmla="*/ 809110 w 809109"/>
                <a:gd name="connsiteY5" fmla="*/ 646128 h 689987"/>
                <a:gd name="connsiteX6" fmla="*/ 0 w 809109"/>
                <a:gd name="connsiteY6" fmla="*/ 1 h 689987"/>
                <a:gd name="connsiteX7" fmla="*/ 53196 w 809109"/>
                <a:gd name="connsiteY7" fmla="*/ 378134 h 689987"/>
                <a:gd name="connsiteX8" fmla="*/ 747383 w 809109"/>
                <a:gd name="connsiteY8" fmla="*/ 658857 h 689987"/>
                <a:gd name="connsiteX9" fmla="*/ 747383 w 809109"/>
                <a:gd name="connsiteY9" fmla="*/ 658857 h 689987"/>
                <a:gd name="connsiteX10" fmla="*/ 23645 w 809109"/>
                <a:gd name="connsiteY10" fmla="*/ 253995 h 689987"/>
                <a:gd name="connsiteX11" fmla="*/ 23645 w 809109"/>
                <a:gd name="connsiteY11" fmla="*/ 253995 h 689987"/>
                <a:gd name="connsiteX12" fmla="*/ 53196 w 809109"/>
                <a:gd name="connsiteY12" fmla="*/ 378134 h 689987"/>
                <a:gd name="connsiteX13" fmla="*/ 109083 w 809109"/>
                <a:gd name="connsiteY13" fmla="*/ 527553 h 689987"/>
                <a:gd name="connsiteX14" fmla="*/ 660775 w 809109"/>
                <a:gd name="connsiteY14" fmla="*/ 668002 h 689987"/>
                <a:gd name="connsiteX15" fmla="*/ 660775 w 809109"/>
                <a:gd name="connsiteY15" fmla="*/ 668002 h 689987"/>
                <a:gd name="connsiteX16" fmla="*/ 68158 w 809109"/>
                <a:gd name="connsiteY16" fmla="*/ 425009 h 689987"/>
                <a:gd name="connsiteX17" fmla="*/ 68158 w 809109"/>
                <a:gd name="connsiteY17" fmla="*/ 425009 h 689987"/>
                <a:gd name="connsiteX18" fmla="*/ 109083 w 809109"/>
                <a:gd name="connsiteY18" fmla="*/ 527553 h 689987"/>
                <a:gd name="connsiteX19" fmla="*/ 129425 w 809109"/>
                <a:gd name="connsiteY19" fmla="*/ 569424 h 689987"/>
                <a:gd name="connsiteX20" fmla="*/ 186930 w 809109"/>
                <a:gd name="connsiteY20" fmla="*/ 665588 h 689987"/>
                <a:gd name="connsiteX21" fmla="*/ 186930 w 809109"/>
                <a:gd name="connsiteY21" fmla="*/ 665588 h 689987"/>
                <a:gd name="connsiteX22" fmla="*/ 186930 w 809109"/>
                <a:gd name="connsiteY22" fmla="*/ 665665 h 689987"/>
                <a:gd name="connsiteX23" fmla="*/ 587138 w 809109"/>
                <a:gd name="connsiteY23" fmla="*/ 686550 h 689987"/>
                <a:gd name="connsiteX24" fmla="*/ 587138 w 809109"/>
                <a:gd name="connsiteY24" fmla="*/ 686550 h 689987"/>
                <a:gd name="connsiteX25" fmla="*/ 129775 w 809109"/>
                <a:gd name="connsiteY25" fmla="*/ 569424 h 689987"/>
                <a:gd name="connsiteX26" fmla="*/ 129775 w 809109"/>
                <a:gd name="connsiteY26" fmla="*/ 569424 h 689987"/>
                <a:gd name="connsiteX27" fmla="*/ 129425 w 809109"/>
                <a:gd name="connsiteY27" fmla="*/ 569424 h 6899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809109" h="689987">
                  <a:moveTo>
                    <a:pt x="0" y="0"/>
                  </a:moveTo>
                  <a:lnTo>
                    <a:pt x="0" y="2540"/>
                  </a:lnTo>
                  <a:cubicBezTo>
                    <a:pt x="284" y="55818"/>
                    <a:pt x="3631" y="120886"/>
                    <a:pt x="13507" y="192331"/>
                  </a:cubicBezTo>
                  <a:lnTo>
                    <a:pt x="14043" y="193043"/>
                  </a:lnTo>
                  <a:cubicBezTo>
                    <a:pt x="393591" y="495286"/>
                    <a:pt x="809110" y="646128"/>
                    <a:pt x="809110" y="646128"/>
                  </a:cubicBezTo>
                  <a:lnTo>
                    <a:pt x="809110" y="646128"/>
                  </a:lnTo>
                  <a:cubicBezTo>
                    <a:pt x="275693" y="342819"/>
                    <a:pt x="0" y="1"/>
                    <a:pt x="0" y="1"/>
                  </a:cubicBezTo>
                  <a:close/>
                  <a:moveTo>
                    <a:pt x="53196" y="378134"/>
                  </a:moveTo>
                  <a:cubicBezTo>
                    <a:pt x="476436" y="613250"/>
                    <a:pt x="747383" y="658857"/>
                    <a:pt x="747383" y="658857"/>
                  </a:cubicBezTo>
                  <a:lnTo>
                    <a:pt x="747383" y="658857"/>
                  </a:lnTo>
                  <a:cubicBezTo>
                    <a:pt x="287964" y="461849"/>
                    <a:pt x="23897" y="254273"/>
                    <a:pt x="23645" y="253995"/>
                  </a:cubicBezTo>
                  <a:lnTo>
                    <a:pt x="23645" y="253995"/>
                  </a:lnTo>
                  <a:cubicBezTo>
                    <a:pt x="31082" y="294341"/>
                    <a:pt x="40761" y="335932"/>
                    <a:pt x="53196" y="378134"/>
                  </a:cubicBezTo>
                  <a:close/>
                  <a:moveTo>
                    <a:pt x="109083" y="527553"/>
                  </a:moveTo>
                  <a:cubicBezTo>
                    <a:pt x="428326" y="649811"/>
                    <a:pt x="660775" y="668002"/>
                    <a:pt x="660775" y="668002"/>
                  </a:cubicBezTo>
                  <a:lnTo>
                    <a:pt x="660775" y="668002"/>
                  </a:lnTo>
                  <a:cubicBezTo>
                    <a:pt x="286433" y="551485"/>
                    <a:pt x="68508" y="425287"/>
                    <a:pt x="68158" y="425009"/>
                  </a:cubicBezTo>
                  <a:lnTo>
                    <a:pt x="68158" y="425009"/>
                  </a:lnTo>
                  <a:cubicBezTo>
                    <a:pt x="79707" y="459156"/>
                    <a:pt x="93236" y="493581"/>
                    <a:pt x="109083" y="527553"/>
                  </a:cubicBezTo>
                  <a:close/>
                  <a:moveTo>
                    <a:pt x="129425" y="569424"/>
                  </a:moveTo>
                  <a:cubicBezTo>
                    <a:pt x="146355" y="601868"/>
                    <a:pt x="165429" y="634211"/>
                    <a:pt x="186930" y="665588"/>
                  </a:cubicBezTo>
                  <a:lnTo>
                    <a:pt x="186930" y="665588"/>
                  </a:lnTo>
                  <a:lnTo>
                    <a:pt x="186930" y="665665"/>
                  </a:lnTo>
                  <a:cubicBezTo>
                    <a:pt x="397878" y="702506"/>
                    <a:pt x="587138" y="686550"/>
                    <a:pt x="587138" y="686550"/>
                  </a:cubicBezTo>
                  <a:lnTo>
                    <a:pt x="587138" y="686550"/>
                  </a:lnTo>
                  <a:cubicBezTo>
                    <a:pt x="316629" y="642290"/>
                    <a:pt x="166238" y="583219"/>
                    <a:pt x="129775" y="569424"/>
                  </a:cubicBezTo>
                  <a:lnTo>
                    <a:pt x="129775" y="569424"/>
                  </a:lnTo>
                  <a:lnTo>
                    <a:pt x="129425" y="569424"/>
                  </a:lnTo>
                  <a:close/>
                </a:path>
              </a:pathLst>
            </a:custGeom>
            <a:gradFill>
              <a:gsLst>
                <a:gs pos="0">
                  <a:srgbClr val="FFFFFF"/>
                </a:gs>
                <a:gs pos="50000">
                  <a:srgbClr val="BFCD7F"/>
                </a:gs>
                <a:gs pos="100000">
                  <a:srgbClr val="809B00"/>
                </a:gs>
              </a:gsLst>
              <a:lin ang="12509132" scaled="1"/>
            </a:gradFill>
            <a:ln w="109" cap="flat">
              <a:noFill/>
              <a:prstDash val="solid"/>
              <a:miter/>
            </a:ln>
          </p:spPr>
          <p:txBody>
            <a:bodyPr rtlCol="0" anchor="ctr"/>
            <a:lstStyle/>
            <a:p>
              <a:endParaRPr lang="zh-CN" altLang="en-US"/>
            </a:p>
          </p:txBody>
        </p:sp>
      </p:grpSp>
      <p:grpSp>
        <p:nvGrpSpPr>
          <p:cNvPr id="28" name="组合 27">
            <a:extLst>
              <a:ext uri="{FF2B5EF4-FFF2-40B4-BE49-F238E27FC236}">
                <a16:creationId xmlns:a16="http://schemas.microsoft.com/office/drawing/2014/main" id="{EF36AEA8-3AEE-2BD2-6A1A-683B2C33F84A}"/>
              </a:ext>
            </a:extLst>
          </p:cNvPr>
          <p:cNvGrpSpPr/>
          <p:nvPr userDrawn="1"/>
        </p:nvGrpSpPr>
        <p:grpSpPr>
          <a:xfrm>
            <a:off x="407988" y="416022"/>
            <a:ext cx="446425" cy="432024"/>
            <a:chOff x="3157789" y="1162600"/>
            <a:chExt cx="2232000" cy="2160000"/>
          </a:xfrm>
        </p:grpSpPr>
        <p:sp>
          <p:nvSpPr>
            <p:cNvPr id="29" name="椭圆 28">
              <a:extLst>
                <a:ext uri="{FF2B5EF4-FFF2-40B4-BE49-F238E27FC236}">
                  <a16:creationId xmlns:a16="http://schemas.microsoft.com/office/drawing/2014/main" id="{6314E6E3-A28B-A97E-0AE5-88C0DE0B414D}"/>
                </a:ext>
              </a:extLst>
            </p:cNvPr>
            <p:cNvSpPr>
              <a:spLocks noChangeAspect="1"/>
            </p:cNvSpPr>
            <p:nvPr/>
          </p:nvSpPr>
          <p:spPr>
            <a:xfrm>
              <a:off x="3193787" y="1162600"/>
              <a:ext cx="2159999" cy="2160000"/>
            </a:xfrm>
            <a:prstGeom prst="ellipse">
              <a:avLst/>
            </a:prstGeom>
            <a:solidFill>
              <a:srgbClr val="0B308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pic>
          <p:nvPicPr>
            <p:cNvPr id="30" name="图形 29">
              <a:extLst>
                <a:ext uri="{FF2B5EF4-FFF2-40B4-BE49-F238E27FC236}">
                  <a16:creationId xmlns:a16="http://schemas.microsoft.com/office/drawing/2014/main" id="{46565262-88D8-725C-5ACD-4D69907B94B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157789" y="1461401"/>
              <a:ext cx="2232000" cy="1562399"/>
            </a:xfrm>
            <a:prstGeom prst="rect">
              <a:avLst/>
            </a:prstGeom>
          </p:spPr>
        </p:pic>
      </p:grpSp>
      <p:sp>
        <p:nvSpPr>
          <p:cNvPr id="32" name="任意形状 31">
            <a:extLst>
              <a:ext uri="{FF2B5EF4-FFF2-40B4-BE49-F238E27FC236}">
                <a16:creationId xmlns:a16="http://schemas.microsoft.com/office/drawing/2014/main" id="{B149AD21-405B-D537-EB6C-FEB360C5FB03}"/>
              </a:ext>
            </a:extLst>
          </p:cNvPr>
          <p:cNvSpPr/>
          <p:nvPr userDrawn="1"/>
        </p:nvSpPr>
        <p:spPr>
          <a:xfrm>
            <a:off x="777665" y="416034"/>
            <a:ext cx="8213621" cy="432000"/>
          </a:xfrm>
          <a:custGeom>
            <a:avLst/>
            <a:gdLst>
              <a:gd name="connsiteX0" fmla="*/ 0 w 8213621"/>
              <a:gd name="connsiteY0" fmla="*/ 0 h 432000"/>
              <a:gd name="connsiteX1" fmla="*/ 7997621 w 8213621"/>
              <a:gd name="connsiteY1" fmla="*/ 0 h 432000"/>
              <a:gd name="connsiteX2" fmla="*/ 8213621 w 8213621"/>
              <a:gd name="connsiteY2" fmla="*/ 216000 h 432000"/>
              <a:gd name="connsiteX3" fmla="*/ 7997621 w 8213621"/>
              <a:gd name="connsiteY3" fmla="*/ 432000 h 432000"/>
              <a:gd name="connsiteX4" fmla="*/ 0 w 8213621"/>
              <a:gd name="connsiteY4" fmla="*/ 432000 h 432000"/>
              <a:gd name="connsiteX5" fmla="*/ 38100 w 8213621"/>
              <a:gd name="connsiteY5" fmla="*/ 400565 h 432000"/>
              <a:gd name="connsiteX6" fmla="*/ 114549 w 8213621"/>
              <a:gd name="connsiteY6" fmla="*/ 216000 h 432000"/>
              <a:gd name="connsiteX7" fmla="*/ 38100 w 8213621"/>
              <a:gd name="connsiteY7" fmla="*/ 31435 h 43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213621" h="432000">
                <a:moveTo>
                  <a:pt x="0" y="0"/>
                </a:moveTo>
                <a:lnTo>
                  <a:pt x="7997621" y="0"/>
                </a:lnTo>
                <a:cubicBezTo>
                  <a:pt x="8116915" y="0"/>
                  <a:pt x="8213621" y="96706"/>
                  <a:pt x="8213621" y="216000"/>
                </a:cubicBezTo>
                <a:cubicBezTo>
                  <a:pt x="8213621" y="335294"/>
                  <a:pt x="8116915" y="432000"/>
                  <a:pt x="7997621" y="432000"/>
                </a:cubicBezTo>
                <a:lnTo>
                  <a:pt x="0" y="432000"/>
                </a:lnTo>
                <a:lnTo>
                  <a:pt x="38100" y="400565"/>
                </a:lnTo>
                <a:cubicBezTo>
                  <a:pt x="85334" y="353331"/>
                  <a:pt x="114549" y="288077"/>
                  <a:pt x="114549" y="216000"/>
                </a:cubicBezTo>
                <a:cubicBezTo>
                  <a:pt x="114549" y="143923"/>
                  <a:pt x="85334" y="78670"/>
                  <a:pt x="38100" y="31435"/>
                </a:cubicBezTo>
                <a:close/>
              </a:path>
            </a:pathLst>
          </a:custGeom>
          <a:gradFill flip="none" rotWithShape="1">
            <a:gsLst>
              <a:gs pos="0">
                <a:srgbClr val="6492D4">
                  <a:alpha val="2000"/>
                </a:srgbClr>
              </a:gs>
              <a:gs pos="50000">
                <a:srgbClr val="6492D4">
                  <a:alpha val="10000"/>
                </a:srgbClr>
              </a:gs>
              <a:gs pos="98000">
                <a:srgbClr val="6492D4">
                  <a:alpha val="15000"/>
                </a:srgb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zh-CN" altLang="en-US"/>
          </a:p>
        </p:txBody>
      </p:sp>
      <p:pic>
        <p:nvPicPr>
          <p:cNvPr id="16" name="图片 15">
            <a:extLst>
              <a:ext uri="{FF2B5EF4-FFF2-40B4-BE49-F238E27FC236}">
                <a16:creationId xmlns:a16="http://schemas.microsoft.com/office/drawing/2014/main" id="{4AAD96DA-A547-44C3-527A-3BB8CA701C33}"/>
              </a:ext>
            </a:extLst>
          </p:cNvPr>
          <p:cNvPicPr>
            <a:picLocks noChangeAspect="1"/>
          </p:cNvPicPr>
          <p:nvPr userDrawn="1"/>
        </p:nvPicPr>
        <p:blipFill>
          <a:blip r:embed="rId5"/>
          <a:srcRect/>
          <a:stretch/>
        </p:blipFill>
        <p:spPr>
          <a:xfrm>
            <a:off x="265112" y="6498448"/>
            <a:ext cx="1555083" cy="101928"/>
          </a:xfrm>
          <a:prstGeom prst="rect">
            <a:avLst/>
          </a:prstGeom>
        </p:spPr>
      </p:pic>
    </p:spTree>
    <p:extLst>
      <p:ext uri="{BB962C8B-B14F-4D97-AF65-F5344CB8AC3E}">
        <p14:creationId xmlns:p14="http://schemas.microsoft.com/office/powerpoint/2010/main" val="79837990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CC4FF59C-D32E-291D-F4BC-2EBEDD3FC65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2FCCB62A-A28B-9E82-A3F3-AF5202CE418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790780B2-EC77-5362-71CA-6DDF89EE997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B95DEC29-7515-0103-604F-66D4083E185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zh-CN" altLang="en-US"/>
          </a:p>
        </p:txBody>
      </p:sp>
      <p:sp>
        <p:nvSpPr>
          <p:cNvPr id="6" name="灯片编号占位符 5">
            <a:extLst>
              <a:ext uri="{FF2B5EF4-FFF2-40B4-BE49-F238E27FC236}">
                <a16:creationId xmlns:a16="http://schemas.microsoft.com/office/drawing/2014/main" id="{049263E4-CC43-E1F8-6671-5541F77EC6F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65361097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6.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jpg"/><Relationship Id="rId7" Type="http://schemas.openxmlformats.org/officeDocument/2006/relationships/image" Target="../media/image19.png"/><Relationship Id="rId8" Type="http://schemas.openxmlformats.org/officeDocument/2006/relationships/image" Target="../media/image12.png"/><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14.png"/><Relationship Id="rId6" Type="http://schemas.openxmlformats.org/officeDocument/2006/relationships/image" Target="../media/image23.png"/><Relationship Id="rId7" Type="http://schemas.openxmlformats.org/officeDocument/2006/relationships/image" Target="../media/image17.png"/><Relationship Id="rId8" Type="http://schemas.openxmlformats.org/officeDocument/2006/relationships/image" Target="../media/image24.png"/><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9.png"/><Relationship Id="rId5" Type="http://schemas.openxmlformats.org/officeDocument/2006/relationships/image" Target="../media/image12.png"/><Relationship Id="rId6" Type="http://schemas.openxmlformats.org/officeDocument/2006/relationships/image" Target="../media/image27.png"/><Relationship Id="rId7" Type="http://schemas.openxmlformats.org/officeDocument/2006/relationships/image" Target="../media/image28.png"/><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17.png"/><Relationship Id="rId6" Type="http://schemas.openxmlformats.org/officeDocument/2006/relationships/image" Target="../media/image32.png"/><Relationship Id="rId7" Type="http://schemas.openxmlformats.org/officeDocument/2006/relationships/image" Target="../media/image33.png"/><Relationship Id="rId8" Type="http://schemas.openxmlformats.org/officeDocument/2006/relationships/image" Target="../media/image34.png"/><Relationship Id="rId9" Type="http://schemas.openxmlformats.org/officeDocument/2006/relationships/image" Target="../media/image35.png"/><Relationship Id="rId10" Type="http://schemas.openxmlformats.org/officeDocument/2006/relationships/image" Target="../media/image36.png"/><Relationship Id="rId11" Type="http://schemas.openxmlformats.org/officeDocument/2006/relationships/image" Target="../media/image37.png"/><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image" Target="../media/image17.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image" Target="../media/image41.png"/><Relationship Id="rId7" Type="http://schemas.openxmlformats.org/officeDocument/2006/relationships/image" Target="../media/image42.png"/><Relationship Id="rId8" Type="http://schemas.openxmlformats.org/officeDocument/2006/relationships/image" Target="../media/image43.png"/><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jpg"/><Relationship Id="rId3" Type="http://schemas.openxmlformats.org/officeDocument/2006/relationships/image" Target="../media/image32.png"/><Relationship Id="rId4" Type="http://schemas.openxmlformats.org/officeDocument/2006/relationships/image" Target="../media/image41.png"/><Relationship Id="rId5" Type="http://schemas.openxmlformats.org/officeDocument/2006/relationships/image" Target="../media/image45.png"/><Relationship Id="rId6" Type="http://schemas.openxmlformats.org/officeDocument/2006/relationships/image" Target="../media/image39.png"/><Relationship Id="rId7" Type="http://schemas.openxmlformats.org/officeDocument/2006/relationships/image" Target="../media/image42.png"/><Relationship Id="rId8" Type="http://schemas.openxmlformats.org/officeDocument/2006/relationships/image" Target="../media/image43.png"/><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jpg"/><Relationship Id="rId3" Type="http://schemas.openxmlformats.org/officeDocument/2006/relationships/image" Target="../media/image33.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image" Target="../media/image42.png"/><Relationship Id="rId8" Type="http://schemas.openxmlformats.org/officeDocument/2006/relationships/image" Target="../media/image43.png"/><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jpg"/><Relationship Id="rId3" Type="http://schemas.openxmlformats.org/officeDocument/2006/relationships/image" Target="../media/image34.png"/><Relationship Id="rId4" Type="http://schemas.openxmlformats.org/officeDocument/2006/relationships/image" Target="../media/image49.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42.png"/><Relationship Id="rId8" Type="http://schemas.openxmlformats.org/officeDocument/2006/relationships/image" Target="../media/image43.png"/><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jpg"/><Relationship Id="rId3" Type="http://schemas.openxmlformats.org/officeDocument/2006/relationships/image" Target="../media/image35.png"/><Relationship Id="rId4" Type="http://schemas.openxmlformats.org/officeDocument/2006/relationships/image" Target="../media/image40.png"/><Relationship Id="rId5" Type="http://schemas.openxmlformats.org/officeDocument/2006/relationships/image" Target="../media/image51.png"/><Relationship Id="rId6" Type="http://schemas.openxmlformats.org/officeDocument/2006/relationships/image" Target="../media/image54.png"/><Relationship Id="rId7" Type="http://schemas.openxmlformats.org/officeDocument/2006/relationships/image" Target="../media/image42.png"/><Relationship Id="rId8" Type="http://schemas.openxmlformats.org/officeDocument/2006/relationships/image" Target="../media/image43.png"/><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6.png"/><Relationship Id="rId4" Type="http://schemas.openxmlformats.org/officeDocument/2006/relationships/image" Target="../media/image40.png"/><Relationship Id="rId5" Type="http://schemas.openxmlformats.org/officeDocument/2006/relationships/image" Target="../media/image56.png"/><Relationship Id="rId6" Type="http://schemas.openxmlformats.org/officeDocument/2006/relationships/image" Target="../media/image57.png"/><Relationship Id="rId7" Type="http://schemas.openxmlformats.org/officeDocument/2006/relationships/image" Target="../media/image42.png"/><Relationship Id="rId8" Type="http://schemas.openxmlformats.org/officeDocument/2006/relationships/image" Target="../media/image43.png"/><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12.png"/><Relationship Id="rId6" Type="http://schemas.openxmlformats.org/officeDocument/2006/relationships/image" Target="../media/image61.png"/><Relationship Id="rId7" Type="http://schemas.openxmlformats.org/officeDocument/2006/relationships/image" Target="../media/image8.png"/><Relationship Id="rId8" Type="http://schemas.openxmlformats.org/officeDocument/2006/relationships/image" Target="../media/image62.png"/><Relationship Id="rId9" Type="http://schemas.openxmlformats.org/officeDocument/2006/relationships/image" Target="../media/image37.png"/><Relationship Id="rId10" Type="http://schemas.openxmlformats.org/officeDocument/2006/relationships/image" Target="../media/image42.png"/><Relationship Id="rId1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image" Target="../media/image64.png"/><Relationship Id="rId4" Type="http://schemas.openxmlformats.org/officeDocument/2006/relationships/image" Target="../media/image37.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jpg"/><Relationship Id="rId9" Type="http://schemas.openxmlformats.org/officeDocument/2006/relationships/image" Target="../media/image69.jpg"/><Relationship Id="rId10" Type="http://schemas.openxmlformats.org/officeDocument/2006/relationships/image" Target="../media/image70.jpg"/><Relationship Id="rId11"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image" Target="../media/image60.png"/><Relationship Id="rId4" Type="http://schemas.openxmlformats.org/officeDocument/2006/relationships/image" Target="../media/image12.png"/><Relationship Id="rId5" Type="http://schemas.openxmlformats.org/officeDocument/2006/relationships/image" Target="../media/image72.png"/><Relationship Id="rId6" Type="http://schemas.openxmlformats.org/officeDocument/2006/relationships/image" Target="../media/image73.png"/><Relationship Id="rId7" Type="http://schemas.openxmlformats.org/officeDocument/2006/relationships/image" Target="../media/image74.png"/><Relationship Id="rId8" Type="http://schemas.openxmlformats.org/officeDocument/2006/relationships/image" Target="../media/image8.png"/><Relationship Id="rId9" Type="http://schemas.openxmlformats.org/officeDocument/2006/relationships/image" Target="../media/image58.png"/><Relationship Id="rId10" Type="http://schemas.openxmlformats.org/officeDocument/2006/relationships/image" Target="../media/image75.png"/><Relationship Id="rId11" Type="http://schemas.openxmlformats.org/officeDocument/2006/relationships/image" Target="../media/image33.png"/><Relationship Id="rId12" Type="http://schemas.openxmlformats.org/officeDocument/2006/relationships/image" Target="../media/image76.png"/><Relationship Id="rId1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 Id="rId3" Type="http://schemas.openxmlformats.org/officeDocument/2006/relationships/image" Target="../media/image60.png"/><Relationship Id="rId4" Type="http://schemas.openxmlformats.org/officeDocument/2006/relationships/image" Target="../media/image78.png"/><Relationship Id="rId5" Type="http://schemas.openxmlformats.org/officeDocument/2006/relationships/image" Target="../media/image71.png"/><Relationship Id="rId6" Type="http://schemas.openxmlformats.org/officeDocument/2006/relationships/image" Target="../media/image15.png"/><Relationship Id="rId7" Type="http://schemas.openxmlformats.org/officeDocument/2006/relationships/image" Target="../media/image27.png"/><Relationship Id="rId8" Type="http://schemas.openxmlformats.org/officeDocument/2006/relationships/image" Target="../media/image12.png"/><Relationship Id="rId9" Type="http://schemas.openxmlformats.org/officeDocument/2006/relationships/image" Target="../media/image79.png"/><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12.png"/><Relationship Id="rId6" Type="http://schemas.openxmlformats.org/officeDocument/2006/relationships/image" Target="../media/image78.png"/><Relationship Id="rId7" Type="http://schemas.openxmlformats.org/officeDocument/2006/relationships/image" Target="../media/image79.png"/><Relationship Id="rId8"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0" y="76200"/>
            <a:ext cx="76200" cy="6781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a_2b6cd945d1.png"/>
          <p:cNvPicPr>
            <a:picLocks noChangeAspect="1"/>
          </p:cNvPicPr>
          <p:nvPr/>
        </p:nvPicPr>
        <p:blipFill>
          <a:blip r:embed="rId2"/>
          <a:stretch>
            <a:fillRect/>
          </a:stretch>
        </p:blipFill>
        <p:spPr>
          <a:xfrm>
            <a:off x="10013244" y="431800"/>
            <a:ext cx="1284111" cy="508000"/>
          </a:xfrm>
          <a:prstGeom prst="rect">
            <a:avLst/>
          </a:prstGeom>
        </p:spPr>
      </p:pic>
      <p:sp>
        <p:nvSpPr>
          <p:cNvPr id="7" name="Oval 6"/>
          <p:cNvSpPr/>
          <p:nvPr/>
        </p:nvSpPr>
        <p:spPr>
          <a:xfrm>
            <a:off x="6959600" y="1626615"/>
            <a:ext cx="4470400" cy="4112768"/>
          </a:xfrm>
          <a:prstGeom prst="ellipse">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Oval 7"/>
          <p:cNvSpPr/>
          <p:nvPr/>
        </p:nvSpPr>
        <p:spPr>
          <a:xfrm>
            <a:off x="7518400" y="2140712"/>
            <a:ext cx="3352800" cy="3084576"/>
          </a:xfrm>
          <a:prstGeom prst="ellipse">
            <a:avLst/>
          </a:prstGeom>
          <a:solidFill>
            <a:srgbClr val="EAF0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8077200" y="2654808"/>
            <a:ext cx="2235200" cy="2056384"/>
          </a:xfrm>
          <a:prstGeom prst="ellipse">
            <a:avLst/>
          </a:prstGeom>
          <a:solidFill>
            <a:srgbClr val="DFE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 name="Picture 9" descr="a_64ddced7b1.png"/>
          <p:cNvPicPr>
            <a:picLocks noChangeAspect="1"/>
          </p:cNvPicPr>
          <p:nvPr/>
        </p:nvPicPr>
        <p:blipFill>
          <a:blip r:embed="rId3"/>
          <a:stretch>
            <a:fillRect/>
          </a:stretch>
        </p:blipFill>
        <p:spPr>
          <a:xfrm>
            <a:off x="8255000" y="2022122"/>
            <a:ext cx="2159000" cy="3118555"/>
          </a:xfrm>
          <a:prstGeom prst="rect">
            <a:avLst/>
          </a:prstGeom>
        </p:spPr>
      </p:pic>
      <p:pic>
        <p:nvPicPr>
          <p:cNvPr id="11" name="Picture 10" descr="a_b7de459c1a.png"/>
          <p:cNvPicPr>
            <a:picLocks noChangeAspect="1"/>
          </p:cNvPicPr>
          <p:nvPr/>
        </p:nvPicPr>
        <p:blipFill>
          <a:blip r:embed="rId4"/>
          <a:stretch>
            <a:fillRect/>
          </a:stretch>
        </p:blipFill>
        <p:spPr>
          <a:xfrm>
            <a:off x="7041849" y="2413000"/>
            <a:ext cx="1029301" cy="3175000"/>
          </a:xfrm>
          <a:prstGeom prst="rect">
            <a:avLst/>
          </a:prstGeom>
        </p:spPr>
      </p:pic>
      <p:cxnSp>
        <p:nvCxnSpPr>
          <p:cNvPr id="12" name="Connector 11"/>
          <p:cNvCxnSpPr/>
          <p:nvPr/>
        </p:nvCxnSpPr>
        <p:spPr>
          <a:xfrm>
            <a:off x="609600" y="5969000"/>
            <a:ext cx="109728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63600" y="1600200"/>
            <a:ext cx="5588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HYTERA  ×  GLOBE TELECOM</a:t>
            </a:r>
          </a:p>
        </p:txBody>
      </p:sp>
      <p:sp>
        <p:nvSpPr>
          <p:cNvPr id="14" name="TextBox 13"/>
          <p:cNvSpPr txBox="1"/>
          <p:nvPr/>
        </p:nvSpPr>
        <p:spPr>
          <a:xfrm>
            <a:off x="863600" y="1905000"/>
            <a:ext cx="5969000" cy="1651000"/>
          </a:xfrm>
          <a:prstGeom prst="rect">
            <a:avLst/>
          </a:prstGeom>
          <a:noFill/>
        </p:spPr>
        <p:txBody>
          <a:bodyPr wrap="square" lIns="0" rIns="0" tIns="0" bIns="0" anchor="t">
            <a:spAutoFit/>
          </a:bodyPr>
          <a:lstStyle/>
          <a:p>
            <a:pPr algn="l">
              <a:lnSpc>
                <a:spcPct val="106000"/>
              </a:lnSpc>
              <a:spcAft>
                <a:spcPts val="0"/>
              </a:spcAft>
            </a:pPr>
            <a:r>
              <a:rPr sz="3200" b="0">
                <a:solidFill>
                  <a:srgbClr val="0B308E"/>
                </a:solidFill>
                <a:latin typeface="Segoe UI Semibold"/>
              </a:rPr>
              <a:t>450 MHz</a:t>
            </a:r>
          </a:p>
          <a:p>
            <a:pPr algn="l">
              <a:lnSpc>
                <a:spcPct val="106000"/>
              </a:lnSpc>
              <a:spcAft>
                <a:spcPts val="0"/>
              </a:spcAft>
            </a:pPr>
            <a:r>
              <a:rPr sz="3200" b="0">
                <a:solidFill>
                  <a:srgbClr val="0B308E"/>
                </a:solidFill>
                <a:latin typeface="Segoe UI Semibold"/>
              </a:rPr>
              <a:t>Mission-Critical Network</a:t>
            </a:r>
          </a:p>
          <a:p>
            <a:pPr algn="l">
              <a:lnSpc>
                <a:spcPct val="106000"/>
              </a:lnSpc>
              <a:spcAft>
                <a:spcPts val="0"/>
              </a:spcAft>
            </a:pPr>
            <a:r>
              <a:rPr sz="3200" b="0">
                <a:solidFill>
                  <a:srgbClr val="0B308E"/>
                </a:solidFill>
                <a:latin typeface="Segoe UI Semibold"/>
              </a:rPr>
              <a:t>for the Philippines</a:t>
            </a:r>
          </a:p>
        </p:txBody>
      </p:sp>
      <p:sp>
        <p:nvSpPr>
          <p:cNvPr id="15" name="Rectangle 14"/>
          <p:cNvSpPr/>
          <p:nvPr/>
        </p:nvSpPr>
        <p:spPr>
          <a:xfrm>
            <a:off x="863600" y="37084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63600" y="3962400"/>
            <a:ext cx="5588000" cy="635000"/>
          </a:xfrm>
          <a:prstGeom prst="rect">
            <a:avLst/>
          </a:prstGeom>
          <a:noFill/>
        </p:spPr>
        <p:txBody>
          <a:bodyPr wrap="square" lIns="0" rIns="0" tIns="0" bIns="0" anchor="t">
            <a:spAutoFit/>
          </a:bodyPr>
          <a:lstStyle/>
          <a:p>
            <a:pPr algn="l">
              <a:lnSpc>
                <a:spcPct val="130000"/>
              </a:lnSpc>
              <a:spcAft>
                <a:spcPts val="0"/>
              </a:spcAft>
            </a:pPr>
            <a:r>
              <a:rPr sz="1400" b="0">
                <a:solidFill>
                  <a:srgbClr val="55607A"/>
                </a:solidFill>
                <a:latin typeface="Segoe UI"/>
              </a:rPr>
              <a:t>Coverage and resilience for utilities,</a:t>
            </a:r>
          </a:p>
          <a:p>
            <a:pPr algn="l">
              <a:lnSpc>
                <a:spcPct val="130000"/>
              </a:lnSpc>
              <a:spcAft>
                <a:spcPts val="0"/>
              </a:spcAft>
            </a:pPr>
            <a:r>
              <a:rPr sz="1400" b="0">
                <a:solidFill>
                  <a:srgbClr val="55607A"/>
                </a:solidFill>
                <a:latin typeface="Segoe UI"/>
              </a:rPr>
              <a:t>public safety and transport</a:t>
            </a:r>
          </a:p>
        </p:txBody>
      </p:sp>
      <p:sp>
        <p:nvSpPr>
          <p:cNvPr id="17" name="TextBox 16"/>
          <p:cNvSpPr txBox="1"/>
          <p:nvPr/>
        </p:nvSpPr>
        <p:spPr>
          <a:xfrm>
            <a:off x="609600" y="6070600"/>
            <a:ext cx="5334000" cy="304800"/>
          </a:xfrm>
          <a:prstGeom prst="rect">
            <a:avLst/>
          </a:prstGeom>
          <a:noFill/>
        </p:spPr>
        <p:txBody>
          <a:bodyPr wrap="square" lIns="0" rIns="0" tIns="0" bIns="0" anchor="ctr">
            <a:spAutoFit/>
          </a:bodyPr>
          <a:lstStyle/>
          <a:p>
            <a:pPr algn="l">
              <a:lnSpc>
                <a:spcPct val="120000"/>
              </a:lnSpc>
              <a:spcAft>
                <a:spcPts val="0"/>
              </a:spcAft>
            </a:pPr>
            <a:r>
              <a:rPr sz="1100" b="0">
                <a:solidFill>
                  <a:srgbClr val="0B308E"/>
                </a:solidFill>
                <a:latin typeface="Segoe UI Semibold"/>
              </a:rPr>
              <a:t>Initial technical exchange  ·  October 2026</a:t>
            </a:r>
          </a:p>
        </p:txBody>
      </p:sp>
      <p:sp>
        <p:nvSpPr>
          <p:cNvPr id="18" name="TextBox 17"/>
          <p:cNvSpPr txBox="1"/>
          <p:nvPr/>
        </p:nvSpPr>
        <p:spPr>
          <a:xfrm>
            <a:off x="6502400" y="6070600"/>
            <a:ext cx="5080000" cy="304800"/>
          </a:xfrm>
          <a:prstGeom prst="rect">
            <a:avLst/>
          </a:prstGeom>
          <a:noFill/>
        </p:spPr>
        <p:txBody>
          <a:bodyPr wrap="square" lIns="0" rIns="0" tIns="0" bIns="0" anchor="ctr">
            <a:spAutoFit/>
          </a:bodyPr>
          <a:lstStyle/>
          <a:p>
            <a:pPr algn="r">
              <a:lnSpc>
                <a:spcPct val="120000"/>
              </a:lnSpc>
              <a:spcAft>
                <a:spcPts val="0"/>
              </a:spcAft>
            </a:pPr>
            <a:r>
              <a:rPr sz="950" b="0">
                <a:solidFill>
                  <a:srgbClr val="93A0B4"/>
                </a:solidFill>
                <a:latin typeface="Segoe UI"/>
              </a:rPr>
              <a:t>Hytera Communications Corporation Limited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A   THE ANSWER</a:t>
            </a:r>
          </a:p>
        </p:txBody>
      </p:sp>
      <p:sp>
        <p:nvSpPr>
          <p:cNvPr id="4" name="Rectangle 3"/>
          <p:cNvSpPr/>
          <p:nvPr/>
        </p:nvSpPr>
        <p:spPr>
          <a:xfrm>
            <a:off x="96266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02</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450 MHz: the coverage that stays up after the storm</a:t>
            </a:r>
          </a:p>
        </p:txBody>
      </p:sp>
      <p:sp>
        <p:nvSpPr>
          <p:cNvPr id="10" name="Oval 9"/>
          <p:cNvSpPr/>
          <p:nvPr/>
        </p:nvSpPr>
        <p:spPr>
          <a:xfrm>
            <a:off x="609600" y="1663700"/>
            <a:ext cx="685800" cy="685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ayers_white.png"/>
          <p:cNvPicPr>
            <a:picLocks noChangeAspect="1"/>
          </p:cNvPicPr>
          <p:nvPr/>
        </p:nvPicPr>
        <p:blipFill>
          <a:blip r:embed="rId2"/>
          <a:stretch>
            <a:fillRect/>
          </a:stretch>
        </p:blipFill>
        <p:spPr>
          <a:xfrm>
            <a:off x="774192" y="1828292"/>
            <a:ext cx="356616" cy="356616"/>
          </a:xfrm>
          <a:prstGeom prst="rect">
            <a:avLst/>
          </a:prstGeom>
        </p:spPr>
      </p:pic>
      <p:sp>
        <p:nvSpPr>
          <p:cNvPr id="12" name="TextBox 11"/>
          <p:cNvSpPr txBox="1"/>
          <p:nvPr/>
        </p:nvSpPr>
        <p:spPr>
          <a:xfrm>
            <a:off x="1549400" y="16002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IT IS</a:t>
            </a:r>
          </a:p>
        </p:txBody>
      </p:sp>
      <p:sp>
        <p:nvSpPr>
          <p:cNvPr id="13" name="TextBox 12"/>
          <p:cNvSpPr txBox="1"/>
          <p:nvPr/>
        </p:nvSpPr>
        <p:spPr>
          <a:xfrm>
            <a:off x="1549400" y="1803400"/>
            <a:ext cx="4318000" cy="330200"/>
          </a:xfrm>
          <a:prstGeom prst="rect">
            <a:avLst/>
          </a:prstGeom>
          <a:noFill/>
        </p:spPr>
        <p:txBody>
          <a:bodyPr wrap="square" lIns="0" rIns="0" tIns="0" bIns="0" anchor="t">
            <a:spAutoFit/>
          </a:bodyPr>
          <a:lstStyle/>
          <a:p>
            <a:pPr algn="l">
              <a:lnSpc>
                <a:spcPct val="120000"/>
              </a:lnSpc>
              <a:spcAft>
                <a:spcPts val="0"/>
              </a:spcAft>
            </a:pPr>
            <a:r>
              <a:rPr sz="1900" b="0">
                <a:solidFill>
                  <a:srgbClr val="0B308E"/>
                </a:solidFill>
                <a:latin typeface="Segoe UI Semibold"/>
              </a:rPr>
              <a:t>A resilience layer</a:t>
            </a:r>
          </a:p>
        </p:txBody>
      </p:sp>
      <p:sp>
        <p:nvSpPr>
          <p:cNvPr id="14" name="TextBox 13"/>
          <p:cNvSpPr txBox="1"/>
          <p:nvPr/>
        </p:nvSpPr>
        <p:spPr>
          <a:xfrm>
            <a:off x="1549400" y="2159000"/>
            <a:ext cx="4572000" cy="254000"/>
          </a:xfrm>
          <a:prstGeom prst="rect">
            <a:avLst/>
          </a:prstGeom>
          <a:noFill/>
        </p:spPr>
        <p:txBody>
          <a:bodyPr wrap="square" lIns="0" rIns="0" tIns="0" bIns="0" anchor="t">
            <a:spAutoFit/>
          </a:bodyPr>
          <a:lstStyle/>
          <a:p>
            <a:pPr algn="l">
              <a:lnSpc>
                <a:spcPct val="120000"/>
              </a:lnSpc>
              <a:spcAft>
                <a:spcPts val="0"/>
              </a:spcAft>
            </a:pPr>
            <a:r>
              <a:rPr sz="1300" b="0">
                <a:solidFill>
                  <a:srgbClr val="55607A"/>
                </a:solidFill>
                <a:latin typeface="Segoe UI"/>
              </a:rPr>
              <a:t>Alongside 4G and 5G</a:t>
            </a:r>
          </a:p>
        </p:txBody>
      </p:sp>
      <p:cxnSp>
        <p:nvCxnSpPr>
          <p:cNvPr id="15" name="Connector 14"/>
          <p:cNvCxnSpPr/>
          <p:nvPr/>
        </p:nvCxnSpPr>
        <p:spPr>
          <a:xfrm>
            <a:off x="1549400" y="2514600"/>
            <a:ext cx="44704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609600" y="2705100"/>
            <a:ext cx="685800" cy="685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globe_white.png"/>
          <p:cNvPicPr>
            <a:picLocks noChangeAspect="1"/>
          </p:cNvPicPr>
          <p:nvPr/>
        </p:nvPicPr>
        <p:blipFill>
          <a:blip r:embed="rId3"/>
          <a:stretch>
            <a:fillRect/>
          </a:stretch>
        </p:blipFill>
        <p:spPr>
          <a:xfrm>
            <a:off x="774192" y="2869692"/>
            <a:ext cx="356616" cy="356616"/>
          </a:xfrm>
          <a:prstGeom prst="rect">
            <a:avLst/>
          </a:prstGeom>
        </p:spPr>
      </p:pic>
      <p:sp>
        <p:nvSpPr>
          <p:cNvPr id="18" name="TextBox 17"/>
          <p:cNvSpPr txBox="1"/>
          <p:nvPr/>
        </p:nvSpPr>
        <p:spPr>
          <a:xfrm>
            <a:off x="1549400" y="2641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WHY NOW</a:t>
            </a:r>
          </a:p>
        </p:txBody>
      </p:sp>
      <p:sp>
        <p:nvSpPr>
          <p:cNvPr id="19" name="TextBox 18"/>
          <p:cNvSpPr txBox="1"/>
          <p:nvPr/>
        </p:nvSpPr>
        <p:spPr>
          <a:xfrm>
            <a:off x="1549400" y="2844800"/>
            <a:ext cx="4318000" cy="330200"/>
          </a:xfrm>
          <a:prstGeom prst="rect">
            <a:avLst/>
          </a:prstGeom>
          <a:noFill/>
        </p:spPr>
        <p:txBody>
          <a:bodyPr wrap="square" lIns="0" rIns="0" tIns="0" bIns="0" anchor="t">
            <a:spAutoFit/>
          </a:bodyPr>
          <a:lstStyle/>
          <a:p>
            <a:pPr algn="l">
              <a:lnSpc>
                <a:spcPct val="120000"/>
              </a:lnSpc>
              <a:spcAft>
                <a:spcPts val="0"/>
              </a:spcAft>
            </a:pPr>
            <a:r>
              <a:rPr sz="1900" b="0">
                <a:solidFill>
                  <a:srgbClr val="0B308E"/>
                </a:solidFill>
                <a:latin typeface="Segoe UI Semibold"/>
              </a:rPr>
              <a:t>A mainstream band</a:t>
            </a:r>
          </a:p>
        </p:txBody>
      </p:sp>
      <p:sp>
        <p:nvSpPr>
          <p:cNvPr id="20" name="TextBox 19"/>
          <p:cNvSpPr txBox="1"/>
          <p:nvPr/>
        </p:nvSpPr>
        <p:spPr>
          <a:xfrm>
            <a:off x="1549400" y="3200400"/>
            <a:ext cx="4572000" cy="254000"/>
          </a:xfrm>
          <a:prstGeom prst="rect">
            <a:avLst/>
          </a:prstGeom>
          <a:noFill/>
        </p:spPr>
        <p:txBody>
          <a:bodyPr wrap="square" lIns="0" rIns="0" tIns="0" bIns="0" anchor="t">
            <a:spAutoFit/>
          </a:bodyPr>
          <a:lstStyle/>
          <a:p>
            <a:pPr algn="l">
              <a:lnSpc>
                <a:spcPct val="120000"/>
              </a:lnSpc>
              <a:spcAft>
                <a:spcPts val="0"/>
              </a:spcAft>
            </a:pPr>
            <a:r>
              <a:rPr sz="1300" b="0">
                <a:solidFill>
                  <a:srgbClr val="55607A"/>
                </a:solidFill>
                <a:latin typeface="Segoe UI"/>
              </a:rPr>
              <a:t>77 countries deployed  ·  39 on LTE</a:t>
            </a:r>
          </a:p>
        </p:txBody>
      </p:sp>
      <p:cxnSp>
        <p:nvCxnSpPr>
          <p:cNvPr id="21" name="Connector 20"/>
          <p:cNvCxnSpPr/>
          <p:nvPr/>
        </p:nvCxnSpPr>
        <p:spPr>
          <a:xfrm>
            <a:off x="1549400" y="3556000"/>
            <a:ext cx="44704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609600" y="3746500"/>
            <a:ext cx="685800" cy="685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hand-coins_white.png"/>
          <p:cNvPicPr>
            <a:picLocks noChangeAspect="1"/>
          </p:cNvPicPr>
          <p:nvPr/>
        </p:nvPicPr>
        <p:blipFill>
          <a:blip r:embed="rId4"/>
          <a:stretch>
            <a:fillRect/>
          </a:stretch>
        </p:blipFill>
        <p:spPr>
          <a:xfrm>
            <a:off x="774192" y="3911091"/>
            <a:ext cx="356616" cy="356616"/>
          </a:xfrm>
          <a:prstGeom prst="rect">
            <a:avLst/>
          </a:prstGeom>
        </p:spPr>
      </p:pic>
      <p:sp>
        <p:nvSpPr>
          <p:cNvPr id="24" name="TextBox 23"/>
          <p:cNvSpPr txBox="1"/>
          <p:nvPr/>
        </p:nvSpPr>
        <p:spPr>
          <a:xfrm>
            <a:off x="1549400" y="3683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WHO PAYS FIRST</a:t>
            </a:r>
          </a:p>
        </p:txBody>
      </p:sp>
      <p:sp>
        <p:nvSpPr>
          <p:cNvPr id="25" name="TextBox 24"/>
          <p:cNvSpPr txBox="1"/>
          <p:nvPr/>
        </p:nvSpPr>
        <p:spPr>
          <a:xfrm>
            <a:off x="1549400" y="3886200"/>
            <a:ext cx="4318000" cy="330200"/>
          </a:xfrm>
          <a:prstGeom prst="rect">
            <a:avLst/>
          </a:prstGeom>
          <a:noFill/>
        </p:spPr>
        <p:txBody>
          <a:bodyPr wrap="square" lIns="0" rIns="0" tIns="0" bIns="0" anchor="t">
            <a:spAutoFit/>
          </a:bodyPr>
          <a:lstStyle/>
          <a:p>
            <a:pPr algn="l">
              <a:lnSpc>
                <a:spcPct val="120000"/>
              </a:lnSpc>
              <a:spcAft>
                <a:spcPts val="0"/>
              </a:spcAft>
            </a:pPr>
            <a:r>
              <a:rPr sz="1900" b="0">
                <a:solidFill>
                  <a:srgbClr val="0B308E"/>
                </a:solidFill>
                <a:latin typeface="Segoe UI Semibold"/>
              </a:rPr>
              <a:t>The utilities</a:t>
            </a:r>
          </a:p>
        </p:txBody>
      </p:sp>
      <p:sp>
        <p:nvSpPr>
          <p:cNvPr id="26" name="TextBox 25"/>
          <p:cNvSpPr txBox="1"/>
          <p:nvPr/>
        </p:nvSpPr>
        <p:spPr>
          <a:xfrm>
            <a:off x="1549400" y="4241800"/>
            <a:ext cx="4572000" cy="254000"/>
          </a:xfrm>
          <a:prstGeom prst="rect">
            <a:avLst/>
          </a:prstGeom>
          <a:noFill/>
        </p:spPr>
        <p:txBody>
          <a:bodyPr wrap="square" lIns="0" rIns="0" tIns="0" bIns="0" anchor="t">
            <a:spAutoFit/>
          </a:bodyPr>
          <a:lstStyle/>
          <a:p>
            <a:pPr algn="l">
              <a:lnSpc>
                <a:spcPct val="120000"/>
              </a:lnSpc>
              <a:spcAft>
                <a:spcPts val="0"/>
              </a:spcAft>
            </a:pPr>
            <a:r>
              <a:rPr sz="1300" b="0">
                <a:solidFill>
                  <a:srgbClr val="55607A"/>
                </a:solidFill>
                <a:latin typeface="Segoe UI"/>
              </a:rPr>
              <a:t>Power and water anchor the build</a:t>
            </a:r>
          </a:p>
        </p:txBody>
      </p:sp>
      <p:cxnSp>
        <p:nvCxnSpPr>
          <p:cNvPr id="27" name="Connector 26"/>
          <p:cNvCxnSpPr/>
          <p:nvPr/>
        </p:nvCxnSpPr>
        <p:spPr>
          <a:xfrm>
            <a:off x="1549400" y="4597400"/>
            <a:ext cx="44704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609600" y="4787900"/>
            <a:ext cx="685800" cy="6858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flag_white.png"/>
          <p:cNvPicPr>
            <a:picLocks noChangeAspect="1"/>
          </p:cNvPicPr>
          <p:nvPr/>
        </p:nvPicPr>
        <p:blipFill>
          <a:blip r:embed="rId5"/>
          <a:stretch>
            <a:fillRect/>
          </a:stretch>
        </p:blipFill>
        <p:spPr>
          <a:xfrm>
            <a:off x="774192" y="4952492"/>
            <a:ext cx="356616" cy="356616"/>
          </a:xfrm>
          <a:prstGeom prst="rect">
            <a:avLst/>
          </a:prstGeom>
        </p:spPr>
      </p:pic>
      <p:sp>
        <p:nvSpPr>
          <p:cNvPr id="30" name="TextBox 29"/>
          <p:cNvSpPr txBox="1"/>
          <p:nvPr/>
        </p:nvSpPr>
        <p:spPr>
          <a:xfrm>
            <a:off x="1549400" y="47244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WE PROPOSE</a:t>
            </a:r>
          </a:p>
        </p:txBody>
      </p:sp>
      <p:sp>
        <p:nvSpPr>
          <p:cNvPr id="31" name="TextBox 30"/>
          <p:cNvSpPr txBox="1"/>
          <p:nvPr/>
        </p:nvSpPr>
        <p:spPr>
          <a:xfrm>
            <a:off x="1549400" y="4927600"/>
            <a:ext cx="4318000" cy="330200"/>
          </a:xfrm>
          <a:prstGeom prst="rect">
            <a:avLst/>
          </a:prstGeom>
          <a:noFill/>
        </p:spPr>
        <p:txBody>
          <a:bodyPr wrap="square" lIns="0" rIns="0" tIns="0" bIns="0" anchor="t">
            <a:spAutoFit/>
          </a:bodyPr>
          <a:lstStyle/>
          <a:p>
            <a:pPr algn="l">
              <a:lnSpc>
                <a:spcPct val="120000"/>
              </a:lnSpc>
              <a:spcAft>
                <a:spcPts val="0"/>
              </a:spcAft>
            </a:pPr>
            <a:r>
              <a:rPr sz="1900" b="0">
                <a:solidFill>
                  <a:srgbClr val="0B308E"/>
                </a:solidFill>
                <a:latin typeface="Segoe UI Semibold"/>
              </a:rPr>
              <a:t>One pilot province</a:t>
            </a:r>
          </a:p>
        </p:txBody>
      </p:sp>
      <p:sp>
        <p:nvSpPr>
          <p:cNvPr id="32" name="TextBox 31"/>
          <p:cNvSpPr txBox="1"/>
          <p:nvPr/>
        </p:nvSpPr>
        <p:spPr>
          <a:xfrm>
            <a:off x="1549400" y="5283200"/>
            <a:ext cx="4572000" cy="254000"/>
          </a:xfrm>
          <a:prstGeom prst="rect">
            <a:avLst/>
          </a:prstGeom>
          <a:noFill/>
        </p:spPr>
        <p:txBody>
          <a:bodyPr wrap="square" lIns="0" rIns="0" tIns="0" bIns="0" anchor="t">
            <a:spAutoFit/>
          </a:bodyPr>
          <a:lstStyle/>
          <a:p>
            <a:pPr algn="l">
              <a:lnSpc>
                <a:spcPct val="120000"/>
              </a:lnSpc>
              <a:spcAft>
                <a:spcPts val="0"/>
              </a:spcAft>
            </a:pPr>
            <a:r>
              <a:rPr sz="1300" b="0">
                <a:solidFill>
                  <a:srgbClr val="55607A"/>
                </a:solidFill>
                <a:latin typeface="Segoe UI"/>
              </a:rPr>
              <a:t>Two anchor customers</a:t>
            </a:r>
          </a:p>
        </p:txBody>
      </p:sp>
      <p:sp>
        <p:nvSpPr>
          <p:cNvPr id="33" name="Rectangle 32"/>
          <p:cNvSpPr/>
          <p:nvPr/>
        </p:nvSpPr>
        <p:spPr>
          <a:xfrm>
            <a:off x="6604000" y="1549400"/>
            <a:ext cx="4978400" cy="41402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7188200" y="1752600"/>
            <a:ext cx="3810000" cy="3505200"/>
          </a:xfrm>
          <a:prstGeom prst="ellipse">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Oval 34"/>
          <p:cNvSpPr/>
          <p:nvPr/>
        </p:nvSpPr>
        <p:spPr>
          <a:xfrm>
            <a:off x="7670800" y="2196591"/>
            <a:ext cx="2844800" cy="2617216"/>
          </a:xfrm>
          <a:prstGeom prst="ellipse">
            <a:avLst/>
          </a:prstGeom>
          <a:solidFill>
            <a:srgbClr val="E4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Oval 35"/>
          <p:cNvSpPr/>
          <p:nvPr/>
        </p:nvSpPr>
        <p:spPr>
          <a:xfrm>
            <a:off x="8153400" y="2640584"/>
            <a:ext cx="1879600" cy="1729232"/>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a_64ddced7b1.png"/>
          <p:cNvPicPr>
            <a:picLocks noChangeAspect="1"/>
          </p:cNvPicPr>
          <p:nvPr/>
        </p:nvPicPr>
        <p:blipFill>
          <a:blip r:embed="rId6"/>
          <a:stretch>
            <a:fillRect/>
          </a:stretch>
        </p:blipFill>
        <p:spPr>
          <a:xfrm>
            <a:off x="8128000" y="2098322"/>
            <a:ext cx="1930400" cy="2788355"/>
          </a:xfrm>
          <a:prstGeom prst="rect">
            <a:avLst/>
          </a:prstGeom>
        </p:spPr>
      </p:pic>
      <p:sp>
        <p:nvSpPr>
          <p:cNvPr id="38" name="Oval 37"/>
          <p:cNvSpPr/>
          <p:nvPr/>
        </p:nvSpPr>
        <p:spPr>
          <a:xfrm>
            <a:off x="8839200" y="29464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9" name="Picture 38" descr="radio-tower_white.png"/>
          <p:cNvPicPr>
            <a:picLocks noChangeAspect="1"/>
          </p:cNvPicPr>
          <p:nvPr/>
        </p:nvPicPr>
        <p:blipFill>
          <a:blip r:embed="rId7"/>
          <a:stretch>
            <a:fillRect/>
          </a:stretch>
        </p:blipFill>
        <p:spPr>
          <a:xfrm>
            <a:off x="8950960" y="3058160"/>
            <a:ext cx="284480" cy="284480"/>
          </a:xfrm>
          <a:prstGeom prst="rect">
            <a:avLst/>
          </a:prstGeom>
        </p:spPr>
      </p:pic>
      <p:sp>
        <p:nvSpPr>
          <p:cNvPr id="40" name="TextBox 39"/>
          <p:cNvSpPr txBox="1"/>
          <p:nvPr/>
        </p:nvSpPr>
        <p:spPr>
          <a:xfrm>
            <a:off x="6604000" y="5334000"/>
            <a:ext cx="4978400" cy="254000"/>
          </a:xfrm>
          <a:prstGeom prst="rect">
            <a:avLst/>
          </a:prstGeom>
          <a:noFill/>
        </p:spPr>
        <p:txBody>
          <a:bodyPr wrap="square" lIns="0" rIns="0" tIns="0" bIns="0" anchor="ctr">
            <a:spAutoFit/>
          </a:bodyPr>
          <a:lstStyle/>
          <a:p>
            <a:pPr algn="ctr">
              <a:lnSpc>
                <a:spcPct val="120000"/>
              </a:lnSpc>
              <a:spcAft>
                <a:spcPts val="0"/>
              </a:spcAft>
            </a:pPr>
            <a:r>
              <a:rPr sz="1100" b="0">
                <a:solidFill>
                  <a:srgbClr val="55607A"/>
                </a:solidFill>
                <a:latin typeface="Segoe UI"/>
              </a:rPr>
              <a:t>One low-band layer across 7,641 islands</a:t>
            </a:r>
          </a:p>
        </p:txBody>
      </p:sp>
      <p:sp>
        <p:nvSpPr>
          <p:cNvPr id="41" name="Rectangle 40"/>
          <p:cNvSpPr/>
          <p:nvPr/>
        </p:nvSpPr>
        <p:spPr>
          <a:xfrm>
            <a:off x="609600" y="5867400"/>
            <a:ext cx="10972800" cy="4826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2" name="Picture 41" descr="arrow-right_white.png"/>
          <p:cNvPicPr>
            <a:picLocks noChangeAspect="1"/>
          </p:cNvPicPr>
          <p:nvPr/>
        </p:nvPicPr>
        <p:blipFill>
          <a:blip r:embed="rId8"/>
          <a:stretch>
            <a:fillRect/>
          </a:stretch>
        </p:blipFill>
        <p:spPr>
          <a:xfrm>
            <a:off x="812800" y="5981700"/>
            <a:ext cx="254000" cy="254000"/>
          </a:xfrm>
          <a:prstGeom prst="rect">
            <a:avLst/>
          </a:prstGeom>
        </p:spPr>
      </p:pic>
      <p:sp>
        <p:nvSpPr>
          <p:cNvPr id="43" name="TextBox 42"/>
          <p:cNvSpPr txBox="1"/>
          <p:nvPr/>
        </p:nvSpPr>
        <p:spPr>
          <a:xfrm>
            <a:off x="1219200" y="5867400"/>
            <a:ext cx="1524000" cy="482600"/>
          </a:xfrm>
          <a:prstGeom prst="rect">
            <a:avLst/>
          </a:prstGeom>
          <a:noFill/>
        </p:spPr>
        <p:txBody>
          <a:bodyPr wrap="square" lIns="0" rIns="0" tIns="0" bIns="0" anchor="ctr">
            <a:spAutoFit/>
          </a:bodyPr>
          <a:lstStyle/>
          <a:p>
            <a:pPr algn="l">
              <a:lnSpc>
                <a:spcPct val="120000"/>
              </a:lnSpc>
              <a:spcAft>
                <a:spcPts val="0"/>
              </a:spcAft>
            </a:pPr>
            <a:r>
              <a:rPr sz="1300" b="0">
                <a:solidFill>
                  <a:srgbClr val="8CC63F"/>
                </a:solidFill>
                <a:latin typeface="Segoe UI Semibold"/>
              </a:rPr>
              <a:t>Today’s ask</a:t>
            </a:r>
          </a:p>
        </p:txBody>
      </p:sp>
      <p:sp>
        <p:nvSpPr>
          <p:cNvPr id="44" name="TextBox 43"/>
          <p:cNvSpPr txBox="1"/>
          <p:nvPr/>
        </p:nvSpPr>
        <p:spPr>
          <a:xfrm>
            <a:off x="2768600" y="5867400"/>
            <a:ext cx="8636000" cy="482600"/>
          </a:xfrm>
          <a:prstGeom prst="rect">
            <a:avLst/>
          </a:prstGeom>
          <a:noFill/>
        </p:spPr>
        <p:txBody>
          <a:bodyPr wrap="square" lIns="0" rIns="0" tIns="0" bIns="0" anchor="ctr">
            <a:spAutoFit/>
          </a:bodyPr>
          <a:lstStyle/>
          <a:p>
            <a:pPr algn="l">
              <a:lnSpc>
                <a:spcPct val="120000"/>
              </a:lnSpc>
              <a:spcAft>
                <a:spcPts val="0"/>
              </a:spcAft>
            </a:pPr>
            <a:r>
              <a:rPr sz="1300" b="0">
                <a:solidFill>
                  <a:srgbClr val="FFFFFF"/>
                </a:solidFill>
                <a:latin typeface="Segoe UI"/>
              </a:rPr>
              <a:t>Confirm the spectrum  ·  Nominate a pilot province</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p11 Table 1; NAMRIA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B   THE GAP</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03</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What is missing is coverage that survives the storm</a:t>
            </a:r>
          </a:p>
        </p:txBody>
      </p:sp>
      <p:sp>
        <p:nvSpPr>
          <p:cNvPr id="10" name="Rectangle 9"/>
          <p:cNvSpPr/>
          <p:nvPr/>
        </p:nvSpPr>
        <p:spPr>
          <a:xfrm>
            <a:off x="609600" y="1549400"/>
            <a:ext cx="23622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12800" y="17526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ountain_white.png"/>
          <p:cNvPicPr>
            <a:picLocks noChangeAspect="1"/>
          </p:cNvPicPr>
          <p:nvPr/>
        </p:nvPicPr>
        <p:blipFill>
          <a:blip r:embed="rId2"/>
          <a:stretch>
            <a:fillRect/>
          </a:stretch>
        </p:blipFill>
        <p:spPr>
          <a:xfrm>
            <a:off x="922528" y="1862327"/>
            <a:ext cx="237744" cy="237744"/>
          </a:xfrm>
          <a:prstGeom prst="rect">
            <a:avLst/>
          </a:prstGeom>
        </p:spPr>
      </p:pic>
      <p:sp>
        <p:nvSpPr>
          <p:cNvPr id="13" name="TextBox 12"/>
          <p:cNvSpPr txBox="1"/>
          <p:nvPr/>
        </p:nvSpPr>
        <p:spPr>
          <a:xfrm>
            <a:off x="812800" y="2336800"/>
            <a:ext cx="1955800" cy="558800"/>
          </a:xfrm>
          <a:prstGeom prst="rect">
            <a:avLst/>
          </a:prstGeom>
          <a:noFill/>
        </p:spPr>
        <p:txBody>
          <a:bodyPr wrap="square" lIns="0" rIns="0" tIns="0" bIns="0" anchor="t">
            <a:spAutoFit/>
          </a:bodyPr>
          <a:lstStyle/>
          <a:p>
            <a:pPr algn="l">
              <a:lnSpc>
                <a:spcPct val="120000"/>
              </a:lnSpc>
              <a:spcAft>
                <a:spcPts val="0"/>
              </a:spcAft>
            </a:pPr>
            <a:r>
              <a:rPr sz="3400" b="0">
                <a:solidFill>
                  <a:srgbClr val="0B308E"/>
                </a:solidFill>
                <a:latin typeface="Segoe UI Light"/>
              </a:rPr>
              <a:t>7,641</a:t>
            </a:r>
          </a:p>
        </p:txBody>
      </p:sp>
      <p:sp>
        <p:nvSpPr>
          <p:cNvPr id="14" name="TextBox 13"/>
          <p:cNvSpPr txBox="1"/>
          <p:nvPr/>
        </p:nvSpPr>
        <p:spPr>
          <a:xfrm>
            <a:off x="812800" y="2946400"/>
            <a:ext cx="1955800" cy="4318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islands, mostly mountainous</a:t>
            </a:r>
          </a:p>
        </p:txBody>
      </p:sp>
      <p:sp>
        <p:nvSpPr>
          <p:cNvPr id="15" name="Rectangle 14"/>
          <p:cNvSpPr/>
          <p:nvPr/>
        </p:nvSpPr>
        <p:spPr>
          <a:xfrm>
            <a:off x="3124200" y="1549400"/>
            <a:ext cx="23622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327400" y="17526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activity_white.png"/>
          <p:cNvPicPr>
            <a:picLocks noChangeAspect="1"/>
          </p:cNvPicPr>
          <p:nvPr/>
        </p:nvPicPr>
        <p:blipFill>
          <a:blip r:embed="rId3"/>
          <a:stretch>
            <a:fillRect/>
          </a:stretch>
        </p:blipFill>
        <p:spPr>
          <a:xfrm>
            <a:off x="3437128" y="1862327"/>
            <a:ext cx="237744" cy="237744"/>
          </a:xfrm>
          <a:prstGeom prst="rect">
            <a:avLst/>
          </a:prstGeom>
        </p:spPr>
      </p:pic>
      <p:sp>
        <p:nvSpPr>
          <p:cNvPr id="18" name="TextBox 17"/>
          <p:cNvSpPr txBox="1"/>
          <p:nvPr/>
        </p:nvSpPr>
        <p:spPr>
          <a:xfrm>
            <a:off x="3327400" y="2336800"/>
            <a:ext cx="1955800" cy="558800"/>
          </a:xfrm>
          <a:prstGeom prst="rect">
            <a:avLst/>
          </a:prstGeom>
          <a:noFill/>
        </p:spPr>
        <p:txBody>
          <a:bodyPr wrap="square" lIns="0" rIns="0" tIns="0" bIns="0" anchor="t">
            <a:spAutoFit/>
          </a:bodyPr>
          <a:lstStyle/>
          <a:p>
            <a:pPr algn="l">
              <a:lnSpc>
                <a:spcPct val="120000"/>
              </a:lnSpc>
              <a:spcAft>
                <a:spcPts val="0"/>
              </a:spcAft>
            </a:pPr>
            <a:r>
              <a:rPr sz="3400" b="0">
                <a:solidFill>
                  <a:srgbClr val="0B308E"/>
                </a:solidFill>
                <a:latin typeface="Segoe UI Light"/>
              </a:rPr>
              <a:t>#1</a:t>
            </a:r>
          </a:p>
        </p:txBody>
      </p:sp>
      <p:sp>
        <p:nvSpPr>
          <p:cNvPr id="19" name="TextBox 18"/>
          <p:cNvSpPr txBox="1"/>
          <p:nvPr/>
        </p:nvSpPr>
        <p:spPr>
          <a:xfrm>
            <a:off x="3327400" y="2946400"/>
            <a:ext cx="1955800" cy="4318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WorldRiskIndex 2025</a:t>
            </a:r>
          </a:p>
        </p:txBody>
      </p:sp>
      <p:sp>
        <p:nvSpPr>
          <p:cNvPr id="20" name="Rectangle 19"/>
          <p:cNvSpPr/>
          <p:nvPr/>
        </p:nvSpPr>
        <p:spPr>
          <a:xfrm>
            <a:off x="609600" y="3606800"/>
            <a:ext cx="23622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812800" y="3810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2" name="Picture 21" descr="tornado_white.png"/>
          <p:cNvPicPr>
            <a:picLocks noChangeAspect="1"/>
          </p:cNvPicPr>
          <p:nvPr/>
        </p:nvPicPr>
        <p:blipFill>
          <a:blip r:embed="rId4"/>
          <a:stretch>
            <a:fillRect/>
          </a:stretch>
        </p:blipFill>
        <p:spPr>
          <a:xfrm>
            <a:off x="922528" y="3919728"/>
            <a:ext cx="237744" cy="237744"/>
          </a:xfrm>
          <a:prstGeom prst="rect">
            <a:avLst/>
          </a:prstGeom>
        </p:spPr>
      </p:pic>
      <p:sp>
        <p:nvSpPr>
          <p:cNvPr id="23" name="TextBox 22"/>
          <p:cNvSpPr txBox="1"/>
          <p:nvPr/>
        </p:nvSpPr>
        <p:spPr>
          <a:xfrm>
            <a:off x="812800" y="4394200"/>
            <a:ext cx="1955800" cy="558800"/>
          </a:xfrm>
          <a:prstGeom prst="rect">
            <a:avLst/>
          </a:prstGeom>
          <a:noFill/>
        </p:spPr>
        <p:txBody>
          <a:bodyPr wrap="square" lIns="0" rIns="0" tIns="0" bIns="0" anchor="t">
            <a:spAutoFit/>
          </a:bodyPr>
          <a:lstStyle/>
          <a:p>
            <a:pPr algn="l">
              <a:lnSpc>
                <a:spcPct val="120000"/>
              </a:lnSpc>
              <a:spcAft>
                <a:spcPts val="0"/>
              </a:spcAft>
            </a:pPr>
            <a:r>
              <a:rPr sz="3400" b="0">
                <a:solidFill>
                  <a:srgbClr val="0B308E"/>
                </a:solidFill>
                <a:latin typeface="Segoe UI Light"/>
              </a:rPr>
              <a:t>~20</a:t>
            </a:r>
          </a:p>
        </p:txBody>
      </p:sp>
      <p:sp>
        <p:nvSpPr>
          <p:cNvPr id="24" name="TextBox 23"/>
          <p:cNvSpPr txBox="1"/>
          <p:nvPr/>
        </p:nvSpPr>
        <p:spPr>
          <a:xfrm>
            <a:off x="812800" y="5003800"/>
            <a:ext cx="1955800" cy="4318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tropical cyclones a year</a:t>
            </a:r>
          </a:p>
        </p:txBody>
      </p:sp>
      <p:sp>
        <p:nvSpPr>
          <p:cNvPr id="25" name="Rectangle 24"/>
          <p:cNvSpPr/>
          <p:nvPr/>
        </p:nvSpPr>
        <p:spPr>
          <a:xfrm>
            <a:off x="3124200" y="3606800"/>
            <a:ext cx="23622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3327400" y="3810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zap_white.png"/>
          <p:cNvPicPr>
            <a:picLocks noChangeAspect="1"/>
          </p:cNvPicPr>
          <p:nvPr/>
        </p:nvPicPr>
        <p:blipFill>
          <a:blip r:embed="rId5"/>
          <a:stretch>
            <a:fillRect/>
          </a:stretch>
        </p:blipFill>
        <p:spPr>
          <a:xfrm>
            <a:off x="3437128" y="3919728"/>
            <a:ext cx="237744" cy="237744"/>
          </a:xfrm>
          <a:prstGeom prst="rect">
            <a:avLst/>
          </a:prstGeom>
        </p:spPr>
      </p:pic>
      <p:sp>
        <p:nvSpPr>
          <p:cNvPr id="28" name="TextBox 27"/>
          <p:cNvSpPr txBox="1"/>
          <p:nvPr/>
        </p:nvSpPr>
        <p:spPr>
          <a:xfrm>
            <a:off x="3327400" y="4394200"/>
            <a:ext cx="1955800" cy="558800"/>
          </a:xfrm>
          <a:prstGeom prst="rect">
            <a:avLst/>
          </a:prstGeom>
          <a:noFill/>
        </p:spPr>
        <p:txBody>
          <a:bodyPr wrap="square" lIns="0" rIns="0" tIns="0" bIns="0" anchor="t">
            <a:spAutoFit/>
          </a:bodyPr>
          <a:lstStyle/>
          <a:p>
            <a:pPr algn="l">
              <a:lnSpc>
                <a:spcPct val="120000"/>
              </a:lnSpc>
              <a:spcAft>
                <a:spcPts val="0"/>
              </a:spcAft>
            </a:pPr>
            <a:r>
              <a:rPr sz="3400" b="0">
                <a:solidFill>
                  <a:srgbClr val="0B308E"/>
                </a:solidFill>
                <a:latin typeface="Segoe UI Light"/>
              </a:rPr>
              <a:t>1.4M</a:t>
            </a:r>
          </a:p>
        </p:txBody>
      </p:sp>
      <p:sp>
        <p:nvSpPr>
          <p:cNvPr id="29" name="TextBox 28"/>
          <p:cNvSpPr txBox="1"/>
          <p:nvPr/>
        </p:nvSpPr>
        <p:spPr>
          <a:xfrm>
            <a:off x="3327400" y="5003800"/>
            <a:ext cx="1955800" cy="4318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consumers cut off by Typhoon Tino</a:t>
            </a:r>
          </a:p>
        </p:txBody>
      </p:sp>
      <p:pic>
        <p:nvPicPr>
          <p:cNvPr id="30" name="Picture 29" descr="v6_5c1aa6a0bd.jpg"/>
          <p:cNvPicPr>
            <a:picLocks noChangeAspect="1"/>
          </p:cNvPicPr>
          <p:nvPr/>
        </p:nvPicPr>
        <p:blipFill>
          <a:blip r:embed="rId6"/>
          <a:srcRect l="1264" r="1264"/>
          <a:stretch>
            <a:fillRect/>
          </a:stretch>
        </p:blipFill>
        <p:spPr>
          <a:xfrm>
            <a:off x="5791200" y="1549400"/>
            <a:ext cx="5791200" cy="3962400"/>
          </a:xfrm>
          <a:prstGeom prst="rect">
            <a:avLst/>
          </a:prstGeom>
        </p:spPr>
      </p:pic>
      <p:sp>
        <p:nvSpPr>
          <p:cNvPr id="31" name="TextBox 30"/>
          <p:cNvSpPr txBox="1"/>
          <p:nvPr/>
        </p:nvSpPr>
        <p:spPr>
          <a:xfrm>
            <a:off x="5791200" y="5562600"/>
            <a:ext cx="5791200" cy="1778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Transmission lines over flooded ground. Illustrative imagery.</a:t>
            </a:r>
          </a:p>
        </p:txBody>
      </p:sp>
      <p:sp>
        <p:nvSpPr>
          <p:cNvPr id="32" name="Rectangle 31"/>
          <p:cNvSpPr/>
          <p:nvPr/>
        </p:nvSpPr>
        <p:spPr>
          <a:xfrm>
            <a:off x="609600" y="5816600"/>
            <a:ext cx="4876800" cy="533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3" name="Picture 32" descr="building-2_navy.png"/>
          <p:cNvPicPr>
            <a:picLocks noChangeAspect="1"/>
          </p:cNvPicPr>
          <p:nvPr/>
        </p:nvPicPr>
        <p:blipFill>
          <a:blip r:embed="rId7"/>
          <a:stretch>
            <a:fillRect/>
          </a:stretch>
        </p:blipFill>
        <p:spPr>
          <a:xfrm>
            <a:off x="812800" y="5956300"/>
            <a:ext cx="254000" cy="254000"/>
          </a:xfrm>
          <a:prstGeom prst="rect">
            <a:avLst/>
          </a:prstGeom>
        </p:spPr>
      </p:pic>
      <p:sp>
        <p:nvSpPr>
          <p:cNvPr id="34" name="TextBox 33"/>
          <p:cNvSpPr txBox="1"/>
          <p:nvPr/>
        </p:nvSpPr>
        <p:spPr>
          <a:xfrm>
            <a:off x="1219200" y="5816600"/>
            <a:ext cx="1270000" cy="5334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4G / 5G</a:t>
            </a:r>
          </a:p>
        </p:txBody>
      </p:sp>
      <p:sp>
        <p:nvSpPr>
          <p:cNvPr id="35" name="TextBox 34"/>
          <p:cNvSpPr txBox="1"/>
          <p:nvPr/>
        </p:nvSpPr>
        <p:spPr>
          <a:xfrm>
            <a:off x="2387600" y="5816600"/>
            <a:ext cx="2895600" cy="533400"/>
          </a:xfrm>
          <a:prstGeom prst="rect">
            <a:avLst/>
          </a:prstGeom>
          <a:noFill/>
        </p:spPr>
        <p:txBody>
          <a:bodyPr wrap="square" lIns="0" rIns="0" tIns="0" bIns="0" anchor="ctr">
            <a:spAutoFit/>
          </a:bodyPr>
          <a:lstStyle/>
          <a:p>
            <a:pPr algn="l">
              <a:lnSpc>
                <a:spcPct val="120000"/>
              </a:lnSpc>
              <a:spcAft>
                <a:spcPts val="0"/>
              </a:spcAft>
            </a:pPr>
            <a:r>
              <a:rPr sz="1300" b="0">
                <a:solidFill>
                  <a:srgbClr val="55607A"/>
                </a:solidFill>
                <a:latin typeface="Segoe UI"/>
              </a:rPr>
              <a:t>capacity in the cities</a:t>
            </a:r>
          </a:p>
        </p:txBody>
      </p:sp>
      <p:sp>
        <p:nvSpPr>
          <p:cNvPr id="36" name="Rectangle 35"/>
          <p:cNvSpPr/>
          <p:nvPr/>
        </p:nvSpPr>
        <p:spPr>
          <a:xfrm>
            <a:off x="5791200" y="5816600"/>
            <a:ext cx="5791200" cy="5334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radio-tower_white.png"/>
          <p:cNvPicPr>
            <a:picLocks noChangeAspect="1"/>
          </p:cNvPicPr>
          <p:nvPr/>
        </p:nvPicPr>
        <p:blipFill>
          <a:blip r:embed="rId8"/>
          <a:stretch>
            <a:fillRect/>
          </a:stretch>
        </p:blipFill>
        <p:spPr>
          <a:xfrm>
            <a:off x="5994400" y="5956300"/>
            <a:ext cx="254000" cy="254000"/>
          </a:xfrm>
          <a:prstGeom prst="rect">
            <a:avLst/>
          </a:prstGeom>
        </p:spPr>
      </p:pic>
      <p:sp>
        <p:nvSpPr>
          <p:cNvPr id="38" name="TextBox 37"/>
          <p:cNvSpPr txBox="1"/>
          <p:nvPr/>
        </p:nvSpPr>
        <p:spPr>
          <a:xfrm>
            <a:off x="6400800" y="5816600"/>
            <a:ext cx="1270000" cy="533400"/>
          </a:xfrm>
          <a:prstGeom prst="rect">
            <a:avLst/>
          </a:prstGeom>
          <a:noFill/>
        </p:spPr>
        <p:txBody>
          <a:bodyPr wrap="square" lIns="0" rIns="0" tIns="0" bIns="0" anchor="ctr">
            <a:spAutoFit/>
          </a:bodyPr>
          <a:lstStyle/>
          <a:p>
            <a:pPr algn="l">
              <a:lnSpc>
                <a:spcPct val="120000"/>
              </a:lnSpc>
              <a:spcAft>
                <a:spcPts val="0"/>
              </a:spcAft>
            </a:pPr>
            <a:r>
              <a:rPr sz="1400" b="0">
                <a:solidFill>
                  <a:srgbClr val="8CC63F"/>
                </a:solidFill>
                <a:latin typeface="Segoe UI Semibold"/>
              </a:rPr>
              <a:t>450 MHz</a:t>
            </a:r>
          </a:p>
        </p:txBody>
      </p:sp>
      <p:sp>
        <p:nvSpPr>
          <p:cNvPr id="39" name="TextBox 38"/>
          <p:cNvSpPr txBox="1"/>
          <p:nvPr/>
        </p:nvSpPr>
        <p:spPr>
          <a:xfrm>
            <a:off x="7569200" y="5816600"/>
            <a:ext cx="3810000" cy="533400"/>
          </a:xfrm>
          <a:prstGeom prst="rect">
            <a:avLst/>
          </a:prstGeom>
          <a:noFill/>
        </p:spPr>
        <p:txBody>
          <a:bodyPr wrap="square" lIns="0" rIns="0" tIns="0" bIns="0" anchor="ctr">
            <a:spAutoFit/>
          </a:bodyPr>
          <a:lstStyle/>
          <a:p>
            <a:pPr algn="l">
              <a:lnSpc>
                <a:spcPct val="120000"/>
              </a:lnSpc>
              <a:spcAft>
                <a:spcPts val="0"/>
              </a:spcAft>
            </a:pPr>
            <a:r>
              <a:rPr sz="1300" b="0">
                <a:solidFill>
                  <a:srgbClr val="FFFFFF"/>
                </a:solidFill>
                <a:latin typeface="Segoe UI"/>
              </a:rPr>
              <a:t>coverage that stays up</a:t>
            </a:r>
          </a:p>
        </p:txBody>
      </p:sp>
      <p:sp>
        <p:nvSpPr>
          <p:cNvPr id="40" name="TextBox 39"/>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NAMRIA; WorldRiskReport 2025; PAGASA; Department of Energy (5 Nov 2025)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B   WHY 450 MHZ</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04</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One low-band grid covers what mid-band leaves dark</a:t>
            </a:r>
          </a:p>
        </p:txBody>
      </p:sp>
      <p:sp>
        <p:nvSpPr>
          <p:cNvPr id="10" name="Rectangle 9"/>
          <p:cNvSpPr/>
          <p:nvPr/>
        </p:nvSpPr>
        <p:spPr>
          <a:xfrm>
            <a:off x="609600" y="1549400"/>
            <a:ext cx="2032000" cy="381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09600" y="1701800"/>
            <a:ext cx="2032000" cy="177800"/>
          </a:xfrm>
          <a:prstGeom prst="rect">
            <a:avLst/>
          </a:prstGeom>
          <a:noFill/>
        </p:spPr>
        <p:txBody>
          <a:bodyPr wrap="square" lIns="0" rIns="0" tIns="0" bIns="0" anchor="t">
            <a:spAutoFit/>
          </a:bodyPr>
          <a:lstStyle/>
          <a:p>
            <a:pPr algn="ctr">
              <a:lnSpc>
                <a:spcPct val="120000"/>
              </a:lnSpc>
              <a:spcAft>
                <a:spcPts val="0"/>
              </a:spcAft>
            </a:pPr>
            <a:r>
              <a:rPr sz="1000" b="0" spc="120">
                <a:solidFill>
                  <a:srgbClr val="7F9B00"/>
                </a:solidFill>
                <a:latin typeface="Segoe UI Semibold"/>
              </a:rPr>
              <a:t>410 / 450 MHZ</a:t>
            </a:r>
          </a:p>
        </p:txBody>
      </p:sp>
      <p:pic>
        <p:nvPicPr>
          <p:cNvPr id="12" name="Picture 11" descr="waffle_24_0.png"/>
          <p:cNvPicPr>
            <a:picLocks noChangeAspect="1"/>
          </p:cNvPicPr>
          <p:nvPr/>
        </p:nvPicPr>
        <p:blipFill>
          <a:blip r:embed="rId2"/>
          <a:stretch>
            <a:fillRect/>
          </a:stretch>
        </p:blipFill>
        <p:spPr>
          <a:xfrm>
            <a:off x="711200" y="1981200"/>
            <a:ext cx="1828800" cy="1828800"/>
          </a:xfrm>
          <a:prstGeom prst="rect">
            <a:avLst/>
          </a:prstGeom>
        </p:spPr>
      </p:pic>
      <p:sp>
        <p:nvSpPr>
          <p:cNvPr id="13" name="TextBox 12"/>
          <p:cNvSpPr txBox="1"/>
          <p:nvPr/>
        </p:nvSpPr>
        <p:spPr>
          <a:xfrm>
            <a:off x="609600" y="3886200"/>
            <a:ext cx="2032000" cy="508000"/>
          </a:xfrm>
          <a:prstGeom prst="rect">
            <a:avLst/>
          </a:prstGeom>
          <a:noFill/>
        </p:spPr>
        <p:txBody>
          <a:bodyPr wrap="square" lIns="0" rIns="0" tIns="0" bIns="0" anchor="ctr">
            <a:spAutoFit/>
          </a:bodyPr>
          <a:lstStyle/>
          <a:p>
            <a:pPr algn="ctr">
              <a:lnSpc>
                <a:spcPct val="120000"/>
              </a:lnSpc>
              <a:spcAft>
                <a:spcPts val="0"/>
              </a:spcAft>
            </a:pPr>
            <a:r>
              <a:rPr sz="3000" b="0">
                <a:solidFill>
                  <a:srgbClr val="7F9B00"/>
                </a:solidFill>
                <a:latin typeface="Segoe UI Light"/>
              </a:rPr>
              <a:t>100%</a:t>
            </a:r>
          </a:p>
        </p:txBody>
      </p:sp>
      <p:sp>
        <p:nvSpPr>
          <p:cNvPr id="14" name="TextBox 13"/>
          <p:cNvSpPr txBox="1"/>
          <p:nvPr/>
        </p:nvSpPr>
        <p:spPr>
          <a:xfrm>
            <a:off x="609600" y="4368800"/>
            <a:ext cx="2032000" cy="203200"/>
          </a:xfrm>
          <a:prstGeom prst="rect">
            <a:avLst/>
          </a:prstGeom>
          <a:noFill/>
        </p:spPr>
        <p:txBody>
          <a:bodyPr wrap="square" lIns="0" rIns="0" tIns="0" bIns="0" anchor="ctr">
            <a:spAutoFit/>
          </a:bodyPr>
          <a:lstStyle/>
          <a:p>
            <a:pPr algn="ctr">
              <a:lnSpc>
                <a:spcPct val="120000"/>
              </a:lnSpc>
              <a:spcAft>
                <a:spcPts val="0"/>
              </a:spcAft>
            </a:pPr>
            <a:r>
              <a:rPr sz="1100" b="0">
                <a:solidFill>
                  <a:srgbClr val="55607A"/>
                </a:solidFill>
                <a:latin typeface="Segoe UI"/>
              </a:rPr>
              <a:t>covered</a:t>
            </a:r>
          </a:p>
        </p:txBody>
      </p:sp>
      <p:cxnSp>
        <p:nvCxnSpPr>
          <p:cNvPr id="15" name="Connector 14"/>
          <p:cNvCxnSpPr/>
          <p:nvPr/>
        </p:nvCxnSpPr>
        <p:spPr>
          <a:xfrm>
            <a:off x="914400" y="4673600"/>
            <a:ext cx="14224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09600" y="4775200"/>
            <a:ext cx="2032000" cy="304800"/>
          </a:xfrm>
          <a:prstGeom prst="rect">
            <a:avLst/>
          </a:prstGeom>
          <a:noFill/>
        </p:spPr>
        <p:txBody>
          <a:bodyPr wrap="square" lIns="0" rIns="0" tIns="0" bIns="0" anchor="ctr">
            <a:spAutoFit/>
          </a:bodyPr>
          <a:lstStyle/>
          <a:p>
            <a:pPr algn="ctr">
              <a:lnSpc>
                <a:spcPct val="120000"/>
              </a:lnSpc>
              <a:spcAft>
                <a:spcPts val="0"/>
              </a:spcAft>
            </a:pPr>
            <a:r>
              <a:rPr sz="1700" b="0">
                <a:solidFill>
                  <a:srgbClr val="0B308E"/>
                </a:solidFill>
                <a:latin typeface="Segoe UI Semibold"/>
              </a:rPr>
              <a:t>1×</a:t>
            </a:r>
          </a:p>
        </p:txBody>
      </p:sp>
      <p:sp>
        <p:nvSpPr>
          <p:cNvPr id="17" name="TextBox 16"/>
          <p:cNvSpPr txBox="1"/>
          <p:nvPr/>
        </p:nvSpPr>
        <p:spPr>
          <a:xfrm>
            <a:off x="609600" y="5080000"/>
            <a:ext cx="2032000" cy="177800"/>
          </a:xfrm>
          <a:prstGeom prst="rect">
            <a:avLst/>
          </a:prstGeom>
          <a:noFill/>
        </p:spPr>
        <p:txBody>
          <a:bodyPr wrap="square" lIns="0" rIns="0" tIns="0" bIns="0" anchor="ctr">
            <a:spAutoFit/>
          </a:bodyPr>
          <a:lstStyle/>
          <a:p>
            <a:pPr algn="ctr">
              <a:lnSpc>
                <a:spcPct val="120000"/>
              </a:lnSpc>
              <a:spcAft>
                <a:spcPts val="0"/>
              </a:spcAft>
            </a:pPr>
            <a:r>
              <a:rPr sz="950" b="0">
                <a:solidFill>
                  <a:srgbClr val="55607A"/>
                </a:solidFill>
                <a:latin typeface="Segoe UI"/>
              </a:rPr>
              <a:t>sites to close the gap</a:t>
            </a:r>
          </a:p>
        </p:txBody>
      </p:sp>
      <p:sp>
        <p:nvSpPr>
          <p:cNvPr id="18" name="Rectangle 17"/>
          <p:cNvSpPr/>
          <p:nvPr/>
        </p:nvSpPr>
        <p:spPr>
          <a:xfrm>
            <a:off x="2794000" y="1549400"/>
            <a:ext cx="20320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794000" y="1701800"/>
            <a:ext cx="2032000" cy="177800"/>
          </a:xfrm>
          <a:prstGeom prst="rect">
            <a:avLst/>
          </a:prstGeom>
          <a:noFill/>
        </p:spPr>
        <p:txBody>
          <a:bodyPr wrap="square" lIns="0" rIns="0" tIns="0" bIns="0" anchor="t">
            <a:spAutoFit/>
          </a:bodyPr>
          <a:lstStyle/>
          <a:p>
            <a:pPr algn="ctr">
              <a:lnSpc>
                <a:spcPct val="120000"/>
              </a:lnSpc>
              <a:spcAft>
                <a:spcPts val="0"/>
              </a:spcAft>
            </a:pPr>
            <a:r>
              <a:rPr sz="1000" b="0" spc="120">
                <a:solidFill>
                  <a:srgbClr val="0B308E"/>
                </a:solidFill>
                <a:latin typeface="Segoe UI Semibold"/>
              </a:rPr>
              <a:t>740 MHZ</a:t>
            </a:r>
          </a:p>
        </p:txBody>
      </p:sp>
      <p:pic>
        <p:nvPicPr>
          <p:cNvPr id="20" name="Picture 19" descr="waffle_24_50.png"/>
          <p:cNvPicPr>
            <a:picLocks noChangeAspect="1"/>
          </p:cNvPicPr>
          <p:nvPr/>
        </p:nvPicPr>
        <p:blipFill>
          <a:blip r:embed="rId3"/>
          <a:stretch>
            <a:fillRect/>
          </a:stretch>
        </p:blipFill>
        <p:spPr>
          <a:xfrm>
            <a:off x="2895600" y="1981200"/>
            <a:ext cx="1828800" cy="1828800"/>
          </a:xfrm>
          <a:prstGeom prst="rect">
            <a:avLst/>
          </a:prstGeom>
        </p:spPr>
      </p:pic>
      <p:sp>
        <p:nvSpPr>
          <p:cNvPr id="21" name="TextBox 20"/>
          <p:cNvSpPr txBox="1"/>
          <p:nvPr/>
        </p:nvSpPr>
        <p:spPr>
          <a:xfrm>
            <a:off x="2794000" y="3886200"/>
            <a:ext cx="2032000" cy="508000"/>
          </a:xfrm>
          <a:prstGeom prst="rect">
            <a:avLst/>
          </a:prstGeom>
          <a:noFill/>
        </p:spPr>
        <p:txBody>
          <a:bodyPr wrap="square" lIns="0" rIns="0" tIns="0" bIns="0" anchor="ctr">
            <a:spAutoFit/>
          </a:bodyPr>
          <a:lstStyle/>
          <a:p>
            <a:pPr algn="ctr">
              <a:lnSpc>
                <a:spcPct val="120000"/>
              </a:lnSpc>
              <a:spcAft>
                <a:spcPts val="0"/>
              </a:spcAft>
            </a:pPr>
            <a:r>
              <a:rPr sz="3000" b="0">
                <a:solidFill>
                  <a:srgbClr val="0B308E"/>
                </a:solidFill>
                <a:latin typeface="Segoe UI Light"/>
              </a:rPr>
              <a:t>91%</a:t>
            </a:r>
          </a:p>
        </p:txBody>
      </p:sp>
      <p:sp>
        <p:nvSpPr>
          <p:cNvPr id="22" name="TextBox 21"/>
          <p:cNvSpPr txBox="1"/>
          <p:nvPr/>
        </p:nvSpPr>
        <p:spPr>
          <a:xfrm>
            <a:off x="2794000" y="4368800"/>
            <a:ext cx="2032000" cy="203200"/>
          </a:xfrm>
          <a:prstGeom prst="rect">
            <a:avLst/>
          </a:prstGeom>
          <a:noFill/>
        </p:spPr>
        <p:txBody>
          <a:bodyPr wrap="square" lIns="0" rIns="0" tIns="0" bIns="0" anchor="ctr">
            <a:spAutoFit/>
          </a:bodyPr>
          <a:lstStyle/>
          <a:p>
            <a:pPr algn="ctr">
              <a:lnSpc>
                <a:spcPct val="120000"/>
              </a:lnSpc>
              <a:spcAft>
                <a:spcPts val="0"/>
              </a:spcAft>
            </a:pPr>
            <a:r>
              <a:rPr sz="1100" b="0">
                <a:solidFill>
                  <a:srgbClr val="55607A"/>
                </a:solidFill>
                <a:latin typeface="Segoe UI"/>
              </a:rPr>
              <a:t>covered</a:t>
            </a:r>
          </a:p>
        </p:txBody>
      </p:sp>
      <p:cxnSp>
        <p:nvCxnSpPr>
          <p:cNvPr id="23" name="Connector 22"/>
          <p:cNvCxnSpPr/>
          <p:nvPr/>
        </p:nvCxnSpPr>
        <p:spPr>
          <a:xfrm>
            <a:off x="3098800" y="4673600"/>
            <a:ext cx="14224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794000" y="4775200"/>
            <a:ext cx="2032000" cy="304800"/>
          </a:xfrm>
          <a:prstGeom prst="rect">
            <a:avLst/>
          </a:prstGeom>
          <a:noFill/>
        </p:spPr>
        <p:txBody>
          <a:bodyPr wrap="square" lIns="0" rIns="0" tIns="0" bIns="0" anchor="ctr">
            <a:spAutoFit/>
          </a:bodyPr>
          <a:lstStyle/>
          <a:p>
            <a:pPr algn="ctr">
              <a:lnSpc>
                <a:spcPct val="120000"/>
              </a:lnSpc>
              <a:spcAft>
                <a:spcPts val="0"/>
              </a:spcAft>
            </a:pPr>
            <a:r>
              <a:rPr sz="1700" b="0">
                <a:solidFill>
                  <a:srgbClr val="0B308E"/>
                </a:solidFill>
                <a:latin typeface="Segoe UI Semibold"/>
              </a:rPr>
              <a:t>2.5–3×</a:t>
            </a:r>
          </a:p>
        </p:txBody>
      </p:sp>
      <p:sp>
        <p:nvSpPr>
          <p:cNvPr id="25" name="TextBox 24"/>
          <p:cNvSpPr txBox="1"/>
          <p:nvPr/>
        </p:nvSpPr>
        <p:spPr>
          <a:xfrm>
            <a:off x="2794000" y="5080000"/>
            <a:ext cx="2032000" cy="177800"/>
          </a:xfrm>
          <a:prstGeom prst="rect">
            <a:avLst/>
          </a:prstGeom>
          <a:noFill/>
        </p:spPr>
        <p:txBody>
          <a:bodyPr wrap="square" lIns="0" rIns="0" tIns="0" bIns="0" anchor="ctr">
            <a:spAutoFit/>
          </a:bodyPr>
          <a:lstStyle/>
          <a:p>
            <a:pPr algn="ctr">
              <a:lnSpc>
                <a:spcPct val="120000"/>
              </a:lnSpc>
              <a:spcAft>
                <a:spcPts val="0"/>
              </a:spcAft>
            </a:pPr>
            <a:r>
              <a:rPr sz="950" b="0">
                <a:solidFill>
                  <a:srgbClr val="55607A"/>
                </a:solidFill>
                <a:latin typeface="Segoe UI"/>
              </a:rPr>
              <a:t>sites to close the gap</a:t>
            </a:r>
          </a:p>
        </p:txBody>
      </p:sp>
      <p:sp>
        <p:nvSpPr>
          <p:cNvPr id="26" name="Rectangle 25"/>
          <p:cNvSpPr/>
          <p:nvPr/>
        </p:nvSpPr>
        <p:spPr>
          <a:xfrm>
            <a:off x="4978400" y="1549400"/>
            <a:ext cx="20320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978400" y="1701800"/>
            <a:ext cx="2032000" cy="177800"/>
          </a:xfrm>
          <a:prstGeom prst="rect">
            <a:avLst/>
          </a:prstGeom>
          <a:noFill/>
        </p:spPr>
        <p:txBody>
          <a:bodyPr wrap="square" lIns="0" rIns="0" tIns="0" bIns="0" anchor="t">
            <a:spAutoFit/>
          </a:bodyPr>
          <a:lstStyle/>
          <a:p>
            <a:pPr algn="ctr">
              <a:lnSpc>
                <a:spcPct val="120000"/>
              </a:lnSpc>
              <a:spcAft>
                <a:spcPts val="0"/>
              </a:spcAft>
            </a:pPr>
            <a:r>
              <a:rPr sz="1000" b="0" spc="120">
                <a:solidFill>
                  <a:srgbClr val="0B308E"/>
                </a:solidFill>
                <a:latin typeface="Segoe UI Semibold"/>
              </a:rPr>
              <a:t>2350 MHZ</a:t>
            </a:r>
          </a:p>
        </p:txBody>
      </p:sp>
      <p:pic>
        <p:nvPicPr>
          <p:cNvPr id="28" name="Picture 27" descr="waffle_24_238.png"/>
          <p:cNvPicPr>
            <a:picLocks noChangeAspect="1"/>
          </p:cNvPicPr>
          <p:nvPr/>
        </p:nvPicPr>
        <p:blipFill>
          <a:blip r:embed="rId4"/>
          <a:stretch>
            <a:fillRect/>
          </a:stretch>
        </p:blipFill>
        <p:spPr>
          <a:xfrm>
            <a:off x="5080000" y="1981200"/>
            <a:ext cx="1828800" cy="1828800"/>
          </a:xfrm>
          <a:prstGeom prst="rect">
            <a:avLst/>
          </a:prstGeom>
        </p:spPr>
      </p:pic>
      <p:sp>
        <p:nvSpPr>
          <p:cNvPr id="29" name="TextBox 28"/>
          <p:cNvSpPr txBox="1"/>
          <p:nvPr/>
        </p:nvSpPr>
        <p:spPr>
          <a:xfrm>
            <a:off x="4978400" y="3886200"/>
            <a:ext cx="2032000" cy="508000"/>
          </a:xfrm>
          <a:prstGeom prst="rect">
            <a:avLst/>
          </a:prstGeom>
          <a:noFill/>
        </p:spPr>
        <p:txBody>
          <a:bodyPr wrap="square" lIns="0" rIns="0" tIns="0" bIns="0" anchor="ctr">
            <a:spAutoFit/>
          </a:bodyPr>
          <a:lstStyle/>
          <a:p>
            <a:pPr algn="ctr">
              <a:lnSpc>
                <a:spcPct val="120000"/>
              </a:lnSpc>
              <a:spcAft>
                <a:spcPts val="0"/>
              </a:spcAft>
            </a:pPr>
            <a:r>
              <a:rPr sz="3000" b="0">
                <a:solidFill>
                  <a:srgbClr val="0B308E"/>
                </a:solidFill>
                <a:latin typeface="Segoe UI Light"/>
              </a:rPr>
              <a:t>59%</a:t>
            </a:r>
          </a:p>
        </p:txBody>
      </p:sp>
      <p:sp>
        <p:nvSpPr>
          <p:cNvPr id="30" name="TextBox 29"/>
          <p:cNvSpPr txBox="1"/>
          <p:nvPr/>
        </p:nvSpPr>
        <p:spPr>
          <a:xfrm>
            <a:off x="4978400" y="4368800"/>
            <a:ext cx="2032000" cy="203200"/>
          </a:xfrm>
          <a:prstGeom prst="rect">
            <a:avLst/>
          </a:prstGeom>
          <a:noFill/>
        </p:spPr>
        <p:txBody>
          <a:bodyPr wrap="square" lIns="0" rIns="0" tIns="0" bIns="0" anchor="ctr">
            <a:spAutoFit/>
          </a:bodyPr>
          <a:lstStyle/>
          <a:p>
            <a:pPr algn="ctr">
              <a:lnSpc>
                <a:spcPct val="120000"/>
              </a:lnSpc>
              <a:spcAft>
                <a:spcPts val="0"/>
              </a:spcAft>
            </a:pPr>
            <a:r>
              <a:rPr sz="1100" b="0">
                <a:solidFill>
                  <a:srgbClr val="55607A"/>
                </a:solidFill>
                <a:latin typeface="Segoe UI"/>
              </a:rPr>
              <a:t>covered</a:t>
            </a:r>
          </a:p>
        </p:txBody>
      </p:sp>
      <p:cxnSp>
        <p:nvCxnSpPr>
          <p:cNvPr id="31" name="Connector 30"/>
          <p:cNvCxnSpPr/>
          <p:nvPr/>
        </p:nvCxnSpPr>
        <p:spPr>
          <a:xfrm>
            <a:off x="5283200" y="4673600"/>
            <a:ext cx="14224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4978400" y="4775200"/>
            <a:ext cx="2032000" cy="304800"/>
          </a:xfrm>
          <a:prstGeom prst="rect">
            <a:avLst/>
          </a:prstGeom>
          <a:noFill/>
        </p:spPr>
        <p:txBody>
          <a:bodyPr wrap="square" lIns="0" rIns="0" tIns="0" bIns="0" anchor="ctr">
            <a:spAutoFit/>
          </a:bodyPr>
          <a:lstStyle/>
          <a:p>
            <a:pPr algn="ctr">
              <a:lnSpc>
                <a:spcPct val="120000"/>
              </a:lnSpc>
              <a:spcAft>
                <a:spcPts val="0"/>
              </a:spcAft>
            </a:pPr>
            <a:r>
              <a:rPr sz="1700" b="0">
                <a:solidFill>
                  <a:srgbClr val="0B308E"/>
                </a:solidFill>
                <a:latin typeface="Segoe UI Semibold"/>
              </a:rPr>
              <a:t>12–15×</a:t>
            </a:r>
          </a:p>
        </p:txBody>
      </p:sp>
      <p:sp>
        <p:nvSpPr>
          <p:cNvPr id="33" name="TextBox 32"/>
          <p:cNvSpPr txBox="1"/>
          <p:nvPr/>
        </p:nvSpPr>
        <p:spPr>
          <a:xfrm>
            <a:off x="4978400" y="5080000"/>
            <a:ext cx="2032000" cy="177800"/>
          </a:xfrm>
          <a:prstGeom prst="rect">
            <a:avLst/>
          </a:prstGeom>
          <a:noFill/>
        </p:spPr>
        <p:txBody>
          <a:bodyPr wrap="square" lIns="0" rIns="0" tIns="0" bIns="0" anchor="ctr">
            <a:spAutoFit/>
          </a:bodyPr>
          <a:lstStyle/>
          <a:p>
            <a:pPr algn="ctr">
              <a:lnSpc>
                <a:spcPct val="120000"/>
              </a:lnSpc>
              <a:spcAft>
                <a:spcPts val="0"/>
              </a:spcAft>
            </a:pPr>
            <a:r>
              <a:rPr sz="950" b="0">
                <a:solidFill>
                  <a:srgbClr val="55607A"/>
                </a:solidFill>
                <a:latin typeface="Segoe UI"/>
              </a:rPr>
              <a:t>sites to close the gap</a:t>
            </a:r>
          </a:p>
        </p:txBody>
      </p:sp>
      <p:sp>
        <p:nvSpPr>
          <p:cNvPr id="34" name="Rectangle 33"/>
          <p:cNvSpPr/>
          <p:nvPr/>
        </p:nvSpPr>
        <p:spPr>
          <a:xfrm>
            <a:off x="609600" y="5562600"/>
            <a:ext cx="127000" cy="127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12800" y="5524500"/>
            <a:ext cx="1143000" cy="2032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covered</a:t>
            </a:r>
          </a:p>
        </p:txBody>
      </p:sp>
      <p:sp>
        <p:nvSpPr>
          <p:cNvPr id="36" name="Rectangle 35"/>
          <p:cNvSpPr/>
          <p:nvPr/>
        </p:nvSpPr>
        <p:spPr>
          <a:xfrm>
            <a:off x="2006600" y="5562600"/>
            <a:ext cx="127000" cy="1270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209800" y="5524500"/>
            <a:ext cx="1143000" cy="2032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not covered</a:t>
            </a:r>
          </a:p>
        </p:txBody>
      </p:sp>
      <p:sp>
        <p:nvSpPr>
          <p:cNvPr id="38" name="Rectangle 37"/>
          <p:cNvSpPr/>
          <p:nvPr/>
        </p:nvSpPr>
        <p:spPr>
          <a:xfrm>
            <a:off x="3403600" y="5562600"/>
            <a:ext cx="127000" cy="1270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606800" y="5524500"/>
            <a:ext cx="1143000" cy="2032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site</a:t>
            </a:r>
          </a:p>
        </p:txBody>
      </p:sp>
      <p:sp>
        <p:nvSpPr>
          <p:cNvPr id="40" name="TextBox 39"/>
          <p:cNvSpPr txBox="1"/>
          <p:nvPr/>
        </p:nvSpPr>
        <p:spPr>
          <a:xfrm>
            <a:off x="7315200" y="1549400"/>
            <a:ext cx="4267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THAT BUYS</a:t>
            </a:r>
          </a:p>
        </p:txBody>
      </p:sp>
      <p:sp>
        <p:nvSpPr>
          <p:cNvPr id="41" name="Oval 40"/>
          <p:cNvSpPr/>
          <p:nvPr/>
        </p:nvSpPr>
        <p:spPr>
          <a:xfrm>
            <a:off x="7315200" y="19304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2" name="Picture 41" descr="mountain_white.png"/>
          <p:cNvPicPr>
            <a:picLocks noChangeAspect="1"/>
          </p:cNvPicPr>
          <p:nvPr/>
        </p:nvPicPr>
        <p:blipFill>
          <a:blip r:embed="rId5"/>
          <a:stretch>
            <a:fillRect/>
          </a:stretch>
        </p:blipFill>
        <p:spPr>
          <a:xfrm>
            <a:off x="7449311" y="2064512"/>
            <a:ext cx="290576" cy="290576"/>
          </a:xfrm>
          <a:prstGeom prst="rect">
            <a:avLst/>
          </a:prstGeom>
        </p:spPr>
      </p:pic>
      <p:sp>
        <p:nvSpPr>
          <p:cNvPr id="43" name="TextBox 42"/>
          <p:cNvSpPr txBox="1"/>
          <p:nvPr/>
        </p:nvSpPr>
        <p:spPr>
          <a:xfrm>
            <a:off x="8077200" y="1854200"/>
            <a:ext cx="3505200" cy="711200"/>
          </a:xfrm>
          <a:prstGeom prst="rect">
            <a:avLst/>
          </a:prstGeom>
          <a:noFill/>
        </p:spPr>
        <p:txBody>
          <a:bodyPr wrap="square" lIns="0" rIns="0" tIns="0" bIns="0" anchor="ctr">
            <a:spAutoFit/>
          </a:bodyPr>
          <a:lstStyle/>
          <a:p>
            <a:pPr algn="l">
              <a:lnSpc>
                <a:spcPct val="115000"/>
              </a:lnSpc>
              <a:spcAft>
                <a:spcPts val="0"/>
              </a:spcAft>
            </a:pPr>
            <a:r>
              <a:rPr sz="1400" b="0">
                <a:solidFill>
                  <a:srgbClr val="0B308E"/>
                </a:solidFill>
                <a:latin typeface="Segoe UI Semibold"/>
              </a:rPr>
              <a:t>Reaches over ridges</a:t>
            </a:r>
          </a:p>
          <a:p>
            <a:pPr algn="l">
              <a:lnSpc>
                <a:spcPct val="115000"/>
              </a:lnSpc>
              <a:spcAft>
                <a:spcPts val="0"/>
              </a:spcAft>
            </a:pPr>
            <a:r>
              <a:rPr sz="1400" b="0">
                <a:solidFill>
                  <a:srgbClr val="0B308E"/>
                </a:solidFill>
                <a:latin typeface="Segoe UI Semibold"/>
              </a:rPr>
              <a:t>and into valleys</a:t>
            </a:r>
          </a:p>
        </p:txBody>
      </p:sp>
      <p:sp>
        <p:nvSpPr>
          <p:cNvPr id="44" name="Oval 43"/>
          <p:cNvSpPr/>
          <p:nvPr/>
        </p:nvSpPr>
        <p:spPr>
          <a:xfrm>
            <a:off x="7315200" y="28448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5" name="Picture 44" descr="house_white.png"/>
          <p:cNvPicPr>
            <a:picLocks noChangeAspect="1"/>
          </p:cNvPicPr>
          <p:nvPr/>
        </p:nvPicPr>
        <p:blipFill>
          <a:blip r:embed="rId6"/>
          <a:stretch>
            <a:fillRect/>
          </a:stretch>
        </p:blipFill>
        <p:spPr>
          <a:xfrm>
            <a:off x="7449311" y="2978912"/>
            <a:ext cx="290576" cy="290576"/>
          </a:xfrm>
          <a:prstGeom prst="rect">
            <a:avLst/>
          </a:prstGeom>
        </p:spPr>
      </p:pic>
      <p:sp>
        <p:nvSpPr>
          <p:cNvPr id="46" name="TextBox 45"/>
          <p:cNvSpPr txBox="1"/>
          <p:nvPr/>
        </p:nvSpPr>
        <p:spPr>
          <a:xfrm>
            <a:off x="8077200" y="2768600"/>
            <a:ext cx="3505200" cy="711200"/>
          </a:xfrm>
          <a:prstGeom prst="rect">
            <a:avLst/>
          </a:prstGeom>
          <a:noFill/>
        </p:spPr>
        <p:txBody>
          <a:bodyPr wrap="square" lIns="0" rIns="0" tIns="0" bIns="0" anchor="ctr">
            <a:spAutoFit/>
          </a:bodyPr>
          <a:lstStyle/>
          <a:p>
            <a:pPr algn="l">
              <a:lnSpc>
                <a:spcPct val="115000"/>
              </a:lnSpc>
              <a:spcAft>
                <a:spcPts val="0"/>
              </a:spcAft>
            </a:pPr>
            <a:r>
              <a:rPr sz="1400" b="0">
                <a:solidFill>
                  <a:srgbClr val="0B308E"/>
                </a:solidFill>
                <a:latin typeface="Segoe UI Semibold"/>
              </a:rPr>
              <a:t>Deep indoor: meter boxes</a:t>
            </a:r>
          </a:p>
          <a:p>
            <a:pPr algn="l">
              <a:lnSpc>
                <a:spcPct val="115000"/>
              </a:lnSpc>
              <a:spcAft>
                <a:spcPts val="0"/>
              </a:spcAft>
            </a:pPr>
            <a:r>
              <a:rPr sz="1400" b="0">
                <a:solidFill>
                  <a:srgbClr val="0B308E"/>
                </a:solidFill>
                <a:latin typeface="Segoe UI Semibold"/>
              </a:rPr>
              <a:t>and basements</a:t>
            </a:r>
          </a:p>
        </p:txBody>
      </p:sp>
      <p:sp>
        <p:nvSpPr>
          <p:cNvPr id="47" name="Oval 46"/>
          <p:cNvSpPr/>
          <p:nvPr/>
        </p:nvSpPr>
        <p:spPr>
          <a:xfrm>
            <a:off x="7315200" y="3759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8" name="Picture 47" descr="zap_white.png"/>
          <p:cNvPicPr>
            <a:picLocks noChangeAspect="1"/>
          </p:cNvPicPr>
          <p:nvPr/>
        </p:nvPicPr>
        <p:blipFill>
          <a:blip r:embed="rId7"/>
          <a:stretch>
            <a:fillRect/>
          </a:stretch>
        </p:blipFill>
        <p:spPr>
          <a:xfrm>
            <a:off x="7449311" y="3893312"/>
            <a:ext cx="290576" cy="290576"/>
          </a:xfrm>
          <a:prstGeom prst="rect">
            <a:avLst/>
          </a:prstGeom>
        </p:spPr>
      </p:pic>
      <p:sp>
        <p:nvSpPr>
          <p:cNvPr id="49" name="TextBox 48"/>
          <p:cNvSpPr txBox="1"/>
          <p:nvPr/>
        </p:nvSpPr>
        <p:spPr>
          <a:xfrm>
            <a:off x="8077200" y="3683000"/>
            <a:ext cx="3505200" cy="711200"/>
          </a:xfrm>
          <a:prstGeom prst="rect">
            <a:avLst/>
          </a:prstGeom>
          <a:noFill/>
        </p:spPr>
        <p:txBody>
          <a:bodyPr wrap="square" lIns="0" rIns="0" tIns="0" bIns="0" anchor="ctr">
            <a:spAutoFit/>
          </a:bodyPr>
          <a:lstStyle/>
          <a:p>
            <a:pPr algn="l">
              <a:lnSpc>
                <a:spcPct val="115000"/>
              </a:lnSpc>
              <a:spcAft>
                <a:spcPts val="0"/>
              </a:spcAft>
            </a:pPr>
            <a:r>
              <a:rPr sz="1400" b="0">
                <a:solidFill>
                  <a:srgbClr val="0B308E"/>
                </a:solidFill>
                <a:latin typeface="Segoe UI Semibold"/>
              </a:rPr>
              <a:t>Few sites, so backup</a:t>
            </a:r>
          </a:p>
          <a:p>
            <a:pPr algn="l">
              <a:lnSpc>
                <a:spcPct val="115000"/>
              </a:lnSpc>
              <a:spcAft>
                <a:spcPts val="0"/>
              </a:spcAft>
            </a:pPr>
            <a:r>
              <a:rPr sz="1400" b="0">
                <a:solidFill>
                  <a:srgbClr val="0B308E"/>
                </a:solidFill>
                <a:latin typeface="Segoe UI Semibold"/>
              </a:rPr>
              <a:t>power is affordable</a:t>
            </a:r>
          </a:p>
        </p:txBody>
      </p:sp>
      <p:sp>
        <p:nvSpPr>
          <p:cNvPr id="50" name="Rectangle 49"/>
          <p:cNvSpPr/>
          <p:nvPr/>
        </p:nvSpPr>
        <p:spPr>
          <a:xfrm>
            <a:off x="7315200" y="4673600"/>
            <a:ext cx="4267200" cy="1016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1" name="Picture 50" descr="info_steel.png"/>
          <p:cNvPicPr>
            <a:picLocks noChangeAspect="1"/>
          </p:cNvPicPr>
          <p:nvPr/>
        </p:nvPicPr>
        <p:blipFill>
          <a:blip r:embed="rId8"/>
          <a:stretch>
            <a:fillRect/>
          </a:stretch>
        </p:blipFill>
        <p:spPr>
          <a:xfrm>
            <a:off x="7518400" y="4876800"/>
            <a:ext cx="279400" cy="279400"/>
          </a:xfrm>
          <a:prstGeom prst="rect">
            <a:avLst/>
          </a:prstGeom>
        </p:spPr>
      </p:pic>
      <p:sp>
        <p:nvSpPr>
          <p:cNvPr id="52" name="TextBox 51"/>
          <p:cNvSpPr txBox="1"/>
          <p:nvPr/>
        </p:nvSpPr>
        <p:spPr>
          <a:xfrm>
            <a:off x="7924800" y="4826000"/>
            <a:ext cx="3429000" cy="3810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Not a capacity layer</a:t>
            </a:r>
          </a:p>
        </p:txBody>
      </p:sp>
      <p:sp>
        <p:nvSpPr>
          <p:cNvPr id="53" name="TextBox 52"/>
          <p:cNvSpPr txBox="1"/>
          <p:nvPr/>
        </p:nvSpPr>
        <p:spPr>
          <a:xfrm>
            <a:off x="7924800" y="5207000"/>
            <a:ext cx="3429000" cy="3048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3–5 MHz: voice, telemetry, low-rate video</a:t>
            </a:r>
          </a:p>
        </p:txBody>
      </p:sp>
      <p:sp>
        <p:nvSpPr>
          <p:cNvPr id="54" name="TextBox 53"/>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Brief (Jun 2022) p15 - same site grid, reference modelled at 410 MHz</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B   WHY NOW</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05</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The band is mainstream, and utilities lead the way</a:t>
            </a:r>
          </a:p>
        </p:txBody>
      </p:sp>
      <p:pic>
        <p:nvPicPr>
          <p:cNvPr id="10" name="Picture 9" descr="worldmap_450.png"/>
          <p:cNvPicPr>
            <a:picLocks noChangeAspect="1"/>
          </p:cNvPicPr>
          <p:nvPr/>
        </p:nvPicPr>
        <p:blipFill>
          <a:blip r:embed="rId2"/>
          <a:stretch>
            <a:fillRect/>
          </a:stretch>
        </p:blipFill>
        <p:spPr>
          <a:xfrm>
            <a:off x="609600" y="1524000"/>
            <a:ext cx="7620000" cy="2547257"/>
          </a:xfrm>
          <a:prstGeom prst="rect">
            <a:avLst/>
          </a:prstGeom>
        </p:spPr>
      </p:pic>
      <p:sp>
        <p:nvSpPr>
          <p:cNvPr id="11" name="Rounded Rectangle 10"/>
          <p:cNvSpPr/>
          <p:nvPr/>
        </p:nvSpPr>
        <p:spPr>
          <a:xfrm>
            <a:off x="6199450" y="1665514"/>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99450" y="1665514"/>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Russia</a:t>
            </a:r>
          </a:p>
        </p:txBody>
      </p:sp>
      <p:sp>
        <p:nvSpPr>
          <p:cNvPr id="13" name="Rounded Rectangle 12"/>
          <p:cNvSpPr/>
          <p:nvPr/>
        </p:nvSpPr>
        <p:spPr>
          <a:xfrm>
            <a:off x="6395085" y="2275114"/>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395085" y="2275114"/>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China</a:t>
            </a:r>
          </a:p>
        </p:txBody>
      </p:sp>
      <p:sp>
        <p:nvSpPr>
          <p:cNvPr id="15" name="Rounded Rectangle 14"/>
          <p:cNvSpPr/>
          <p:nvPr/>
        </p:nvSpPr>
        <p:spPr>
          <a:xfrm>
            <a:off x="1888707" y="2514600"/>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88707" y="2514600"/>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Mexico</a:t>
            </a:r>
          </a:p>
        </p:txBody>
      </p:sp>
      <p:sp>
        <p:nvSpPr>
          <p:cNvPr id="17" name="Rounded Rectangle 16"/>
          <p:cNvSpPr/>
          <p:nvPr/>
        </p:nvSpPr>
        <p:spPr>
          <a:xfrm>
            <a:off x="3020822" y="3233057"/>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020822" y="3233057"/>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Brazil</a:t>
            </a:r>
          </a:p>
        </p:txBody>
      </p:sp>
      <p:sp>
        <p:nvSpPr>
          <p:cNvPr id="19" name="Rounded Rectangle 18"/>
          <p:cNvSpPr/>
          <p:nvPr/>
        </p:nvSpPr>
        <p:spPr>
          <a:xfrm>
            <a:off x="3043210" y="2862942"/>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043210" y="2862942"/>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Suriname</a:t>
            </a:r>
          </a:p>
        </p:txBody>
      </p:sp>
      <p:sp>
        <p:nvSpPr>
          <p:cNvPr id="21" name="Rounded Rectangle 20"/>
          <p:cNvSpPr/>
          <p:nvPr/>
        </p:nvSpPr>
        <p:spPr>
          <a:xfrm>
            <a:off x="2629861" y="3799114"/>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629861" y="3799114"/>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Argentina</a:t>
            </a:r>
          </a:p>
        </p:txBody>
      </p:sp>
      <p:sp>
        <p:nvSpPr>
          <p:cNvPr id="23" name="Rounded Rectangle 22"/>
          <p:cNvSpPr/>
          <p:nvPr/>
        </p:nvSpPr>
        <p:spPr>
          <a:xfrm>
            <a:off x="4327416" y="2296885"/>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327416" y="2296885"/>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Tunisia</a:t>
            </a:r>
          </a:p>
        </p:txBody>
      </p:sp>
      <p:sp>
        <p:nvSpPr>
          <p:cNvPr id="25" name="Rounded Rectangle 24"/>
          <p:cNvSpPr/>
          <p:nvPr/>
        </p:nvSpPr>
        <p:spPr>
          <a:xfrm>
            <a:off x="4283873" y="2808514"/>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283873" y="2808514"/>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Nigeria</a:t>
            </a:r>
          </a:p>
        </p:txBody>
      </p:sp>
      <p:sp>
        <p:nvSpPr>
          <p:cNvPr id="27" name="Rounded Rectangle 26"/>
          <p:cNvSpPr/>
          <p:nvPr/>
        </p:nvSpPr>
        <p:spPr>
          <a:xfrm>
            <a:off x="3934913" y="2928257"/>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934913" y="2928257"/>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Ghana</a:t>
            </a:r>
          </a:p>
        </p:txBody>
      </p:sp>
      <p:sp>
        <p:nvSpPr>
          <p:cNvPr id="29" name="Rounded Rectangle 28"/>
          <p:cNvSpPr/>
          <p:nvPr/>
        </p:nvSpPr>
        <p:spPr>
          <a:xfrm>
            <a:off x="5154113" y="3015342"/>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154113" y="3015342"/>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Kenya</a:t>
            </a:r>
          </a:p>
        </p:txBody>
      </p:sp>
      <p:sp>
        <p:nvSpPr>
          <p:cNvPr id="31" name="Rounded Rectangle 30"/>
          <p:cNvSpPr/>
          <p:nvPr/>
        </p:nvSpPr>
        <p:spPr>
          <a:xfrm>
            <a:off x="4501279" y="3265714"/>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501279" y="3265714"/>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Angola</a:t>
            </a:r>
          </a:p>
        </p:txBody>
      </p:sp>
      <p:sp>
        <p:nvSpPr>
          <p:cNvPr id="33" name="Rounded Rectangle 32"/>
          <p:cNvSpPr/>
          <p:nvPr/>
        </p:nvSpPr>
        <p:spPr>
          <a:xfrm>
            <a:off x="4436273" y="3483428"/>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436273" y="3483428"/>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Namibia</a:t>
            </a:r>
          </a:p>
        </p:txBody>
      </p:sp>
      <p:sp>
        <p:nvSpPr>
          <p:cNvPr id="35" name="Rounded Rectangle 34"/>
          <p:cNvSpPr/>
          <p:nvPr/>
        </p:nvSpPr>
        <p:spPr>
          <a:xfrm>
            <a:off x="4546672" y="3712028"/>
            <a:ext cx="61671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4546672" y="3712028"/>
            <a:ext cx="61671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South Africa</a:t>
            </a:r>
          </a:p>
        </p:txBody>
      </p:sp>
      <p:sp>
        <p:nvSpPr>
          <p:cNvPr id="37" name="Rounded Rectangle 36"/>
          <p:cNvSpPr/>
          <p:nvPr/>
        </p:nvSpPr>
        <p:spPr>
          <a:xfrm>
            <a:off x="4960329" y="2514600"/>
            <a:ext cx="61671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960329" y="2514600"/>
            <a:ext cx="61671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Saudi Arabia</a:t>
            </a:r>
          </a:p>
        </p:txBody>
      </p:sp>
      <p:sp>
        <p:nvSpPr>
          <p:cNvPr id="39" name="Rounded Rectangle 38"/>
          <p:cNvSpPr/>
          <p:nvPr/>
        </p:nvSpPr>
        <p:spPr>
          <a:xfrm>
            <a:off x="5415987" y="2405742"/>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415987" y="2405742"/>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Bahrain</a:t>
            </a:r>
          </a:p>
        </p:txBody>
      </p:sp>
      <p:sp>
        <p:nvSpPr>
          <p:cNvPr id="41" name="Rounded Rectangle 40"/>
          <p:cNvSpPr/>
          <p:nvPr/>
        </p:nvSpPr>
        <p:spPr>
          <a:xfrm>
            <a:off x="5089416" y="2079171"/>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089416" y="2079171"/>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Armenia</a:t>
            </a:r>
          </a:p>
        </p:txBody>
      </p:sp>
      <p:sp>
        <p:nvSpPr>
          <p:cNvPr id="43" name="Rounded Rectangle 42"/>
          <p:cNvSpPr/>
          <p:nvPr/>
        </p:nvSpPr>
        <p:spPr>
          <a:xfrm>
            <a:off x="5634318" y="2906485"/>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5634318" y="2906485"/>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Sri Lanka</a:t>
            </a:r>
          </a:p>
        </p:txBody>
      </p:sp>
      <p:sp>
        <p:nvSpPr>
          <p:cNvPr id="45" name="Rounded Rectangle 44"/>
          <p:cNvSpPr/>
          <p:nvPr/>
        </p:nvSpPr>
        <p:spPr>
          <a:xfrm>
            <a:off x="6221838" y="2645228"/>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221838" y="2645228"/>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Cambodia</a:t>
            </a:r>
          </a:p>
        </p:txBody>
      </p:sp>
      <p:sp>
        <p:nvSpPr>
          <p:cNvPr id="47" name="Rounded Rectangle 46"/>
          <p:cNvSpPr/>
          <p:nvPr/>
        </p:nvSpPr>
        <p:spPr>
          <a:xfrm>
            <a:off x="6112981" y="2819400"/>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112981" y="2819400"/>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Malaysia</a:t>
            </a:r>
          </a:p>
        </p:txBody>
      </p:sp>
      <p:sp>
        <p:nvSpPr>
          <p:cNvPr id="49" name="Rounded Rectangle 48"/>
          <p:cNvSpPr/>
          <p:nvPr/>
        </p:nvSpPr>
        <p:spPr>
          <a:xfrm>
            <a:off x="6113290" y="3080657"/>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113290" y="3080657"/>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Singapore</a:t>
            </a:r>
          </a:p>
        </p:txBody>
      </p:sp>
      <p:sp>
        <p:nvSpPr>
          <p:cNvPr id="51" name="Rounded Rectangle 50"/>
          <p:cNvSpPr/>
          <p:nvPr/>
        </p:nvSpPr>
        <p:spPr>
          <a:xfrm>
            <a:off x="6679347" y="3233057"/>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679347" y="3233057"/>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Indonesia</a:t>
            </a:r>
          </a:p>
        </p:txBody>
      </p:sp>
      <p:sp>
        <p:nvSpPr>
          <p:cNvPr id="53" name="Oval 52"/>
          <p:cNvSpPr/>
          <p:nvPr/>
        </p:nvSpPr>
        <p:spPr>
          <a:xfrm>
            <a:off x="6865257" y="2717800"/>
            <a:ext cx="203200" cy="203200"/>
          </a:xfrm>
          <a:prstGeom prst="ellipse">
            <a:avLst/>
          </a:prstGeom>
          <a:noFill/>
          <a:ln w="19050">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54" name="Connector 53"/>
          <p:cNvCxnSpPr/>
          <p:nvPr/>
        </p:nvCxnSpPr>
        <p:spPr>
          <a:xfrm flipV="1">
            <a:off x="7055757" y="2616200"/>
            <a:ext cx="190500" cy="152400"/>
          </a:xfrm>
          <a:prstGeom prst="line">
            <a:avLst/>
          </a:prstGeom>
          <a:ln w="12700">
            <a:solidFill>
              <a:srgbClr val="F2B705"/>
            </a:solidFill>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7195457" y="2463800"/>
            <a:ext cx="1117600" cy="203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7195457" y="2463800"/>
            <a:ext cx="1117600" cy="203200"/>
          </a:xfrm>
          <a:prstGeom prst="rect">
            <a:avLst/>
          </a:prstGeom>
          <a:noFill/>
        </p:spPr>
        <p:txBody>
          <a:bodyPr wrap="square" lIns="0" rIns="0" tIns="0" bIns="0" anchor="ctr">
            <a:spAutoFit/>
          </a:bodyPr>
          <a:lstStyle/>
          <a:p>
            <a:pPr algn="ctr">
              <a:lnSpc>
                <a:spcPct val="120000"/>
              </a:lnSpc>
              <a:spcAft>
                <a:spcPts val="0"/>
              </a:spcAft>
            </a:pPr>
            <a:r>
              <a:rPr sz="750" b="0">
                <a:solidFill>
                  <a:srgbClr val="16213E"/>
                </a:solidFill>
                <a:latin typeface="Segoe UI Semibold"/>
              </a:rPr>
              <a:t>Philippines · Globe</a:t>
            </a:r>
          </a:p>
        </p:txBody>
      </p:sp>
      <p:sp>
        <p:nvSpPr>
          <p:cNvPr id="57" name="Rounded Rectangle 56"/>
          <p:cNvSpPr/>
          <p:nvPr/>
        </p:nvSpPr>
        <p:spPr>
          <a:xfrm>
            <a:off x="7195457" y="2463800"/>
            <a:ext cx="1117600" cy="203200"/>
          </a:xfrm>
          <a:prstGeom prst="roundRect">
            <a:avLst/>
          </a:prstGeom>
          <a:noFill/>
          <a:ln w="12700">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Rectangle 57"/>
          <p:cNvSpPr/>
          <p:nvPr/>
        </p:nvSpPr>
        <p:spPr>
          <a:xfrm>
            <a:off x="8534400" y="1524000"/>
            <a:ext cx="3048000" cy="24384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9" name="Picture 58" descr="worldmap_eu.png"/>
          <p:cNvPicPr>
            <a:picLocks noChangeAspect="1"/>
          </p:cNvPicPr>
          <p:nvPr/>
        </p:nvPicPr>
        <p:blipFill>
          <a:blip r:embed="rId3"/>
          <a:stretch>
            <a:fillRect/>
          </a:stretch>
        </p:blipFill>
        <p:spPr>
          <a:xfrm>
            <a:off x="8534400" y="1524000"/>
            <a:ext cx="3048000" cy="2438400"/>
          </a:xfrm>
          <a:prstGeom prst="rect">
            <a:avLst/>
          </a:prstGeom>
        </p:spPr>
      </p:pic>
      <p:sp>
        <p:nvSpPr>
          <p:cNvPr id="60" name="Rounded Rectangle 59"/>
          <p:cNvSpPr/>
          <p:nvPr/>
        </p:nvSpPr>
        <p:spPr>
          <a:xfrm>
            <a:off x="8604292" y="2653453"/>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8604292" y="2653453"/>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Ireland</a:t>
            </a:r>
          </a:p>
        </p:txBody>
      </p:sp>
      <p:sp>
        <p:nvSpPr>
          <p:cNvPr id="62" name="Rounded Rectangle 61"/>
          <p:cNvSpPr/>
          <p:nvPr/>
        </p:nvSpPr>
        <p:spPr>
          <a:xfrm>
            <a:off x="8952018" y="3547533"/>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8952018" y="3547533"/>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Spain</a:t>
            </a:r>
          </a:p>
        </p:txBody>
      </p:sp>
      <p:sp>
        <p:nvSpPr>
          <p:cNvPr id="64" name="Rounded Rectangle 63"/>
          <p:cNvSpPr/>
          <p:nvPr/>
        </p:nvSpPr>
        <p:spPr>
          <a:xfrm>
            <a:off x="9195773" y="2558626"/>
            <a:ext cx="57378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TextBox 64"/>
          <p:cNvSpPr txBox="1"/>
          <p:nvPr/>
        </p:nvSpPr>
        <p:spPr>
          <a:xfrm>
            <a:off x="9195773" y="2558626"/>
            <a:ext cx="57378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Netherlands</a:t>
            </a:r>
          </a:p>
        </p:txBody>
      </p:sp>
      <p:sp>
        <p:nvSpPr>
          <p:cNvPr id="66" name="Rounded Rectangle 65"/>
          <p:cNvSpPr/>
          <p:nvPr/>
        </p:nvSpPr>
        <p:spPr>
          <a:xfrm>
            <a:off x="9857359" y="2829560"/>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7" name="TextBox 66"/>
          <p:cNvSpPr txBox="1"/>
          <p:nvPr/>
        </p:nvSpPr>
        <p:spPr>
          <a:xfrm>
            <a:off x="9857359" y="2829560"/>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Germany</a:t>
            </a:r>
          </a:p>
        </p:txBody>
      </p:sp>
      <p:sp>
        <p:nvSpPr>
          <p:cNvPr id="68" name="Rounded Rectangle 67"/>
          <p:cNvSpPr/>
          <p:nvPr/>
        </p:nvSpPr>
        <p:spPr>
          <a:xfrm>
            <a:off x="9789625" y="2436706"/>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TextBox 68"/>
          <p:cNvSpPr txBox="1"/>
          <p:nvPr/>
        </p:nvSpPr>
        <p:spPr>
          <a:xfrm>
            <a:off x="9789625" y="2436706"/>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Denmark</a:t>
            </a:r>
          </a:p>
        </p:txBody>
      </p:sp>
      <p:sp>
        <p:nvSpPr>
          <p:cNvPr id="70" name="Rounded Rectangle 69"/>
          <p:cNvSpPr/>
          <p:nvPr/>
        </p:nvSpPr>
        <p:spPr>
          <a:xfrm>
            <a:off x="9743355" y="2057400"/>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1" name="TextBox 70"/>
          <p:cNvSpPr txBox="1"/>
          <p:nvPr/>
        </p:nvSpPr>
        <p:spPr>
          <a:xfrm>
            <a:off x="9743355" y="2057400"/>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Norway</a:t>
            </a:r>
          </a:p>
        </p:txBody>
      </p:sp>
      <p:sp>
        <p:nvSpPr>
          <p:cNvPr id="72" name="Rounded Rectangle 71"/>
          <p:cNvSpPr/>
          <p:nvPr/>
        </p:nvSpPr>
        <p:spPr>
          <a:xfrm>
            <a:off x="10217488" y="1955800"/>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TextBox 72"/>
          <p:cNvSpPr txBox="1"/>
          <p:nvPr/>
        </p:nvSpPr>
        <p:spPr>
          <a:xfrm>
            <a:off x="10217488" y="1955800"/>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Sweden</a:t>
            </a:r>
          </a:p>
        </p:txBody>
      </p:sp>
      <p:sp>
        <p:nvSpPr>
          <p:cNvPr id="74" name="Rounded Rectangle 73"/>
          <p:cNvSpPr/>
          <p:nvPr/>
        </p:nvSpPr>
        <p:spPr>
          <a:xfrm>
            <a:off x="10907225" y="1955800"/>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5" name="TextBox 74"/>
          <p:cNvSpPr txBox="1"/>
          <p:nvPr/>
        </p:nvSpPr>
        <p:spPr>
          <a:xfrm>
            <a:off x="10907225" y="1955800"/>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Finland</a:t>
            </a:r>
          </a:p>
        </p:txBody>
      </p:sp>
      <p:sp>
        <p:nvSpPr>
          <p:cNvPr id="76" name="Rounded Rectangle 75"/>
          <p:cNvSpPr/>
          <p:nvPr/>
        </p:nvSpPr>
        <p:spPr>
          <a:xfrm>
            <a:off x="10488422" y="2721186"/>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7" name="TextBox 76"/>
          <p:cNvSpPr txBox="1"/>
          <p:nvPr/>
        </p:nvSpPr>
        <p:spPr>
          <a:xfrm>
            <a:off x="10488422" y="2721186"/>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Poland</a:t>
            </a:r>
          </a:p>
        </p:txBody>
      </p:sp>
      <p:sp>
        <p:nvSpPr>
          <p:cNvPr id="78" name="Rounded Rectangle 77"/>
          <p:cNvSpPr/>
          <p:nvPr/>
        </p:nvSpPr>
        <p:spPr>
          <a:xfrm>
            <a:off x="10094425" y="3019213"/>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9" name="TextBox 78"/>
          <p:cNvSpPr txBox="1"/>
          <p:nvPr/>
        </p:nvSpPr>
        <p:spPr>
          <a:xfrm>
            <a:off x="10094425" y="3019213"/>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Austria</a:t>
            </a:r>
          </a:p>
        </p:txBody>
      </p:sp>
      <p:sp>
        <p:nvSpPr>
          <p:cNvPr id="80" name="Rounded Rectangle 79"/>
          <p:cNvSpPr/>
          <p:nvPr/>
        </p:nvSpPr>
        <p:spPr>
          <a:xfrm>
            <a:off x="9869762" y="3188546"/>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1" name="TextBox 80"/>
          <p:cNvSpPr txBox="1"/>
          <p:nvPr/>
        </p:nvSpPr>
        <p:spPr>
          <a:xfrm>
            <a:off x="9869762" y="3188546"/>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Slovenia</a:t>
            </a:r>
          </a:p>
        </p:txBody>
      </p:sp>
      <p:sp>
        <p:nvSpPr>
          <p:cNvPr id="82" name="Rounded Rectangle 81"/>
          <p:cNvSpPr/>
          <p:nvPr/>
        </p:nvSpPr>
        <p:spPr>
          <a:xfrm>
            <a:off x="10534692" y="3059853"/>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3" name="TextBox 82"/>
          <p:cNvSpPr txBox="1"/>
          <p:nvPr/>
        </p:nvSpPr>
        <p:spPr>
          <a:xfrm>
            <a:off x="10534692" y="3059853"/>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Hungary</a:t>
            </a:r>
          </a:p>
        </p:txBody>
      </p:sp>
      <p:sp>
        <p:nvSpPr>
          <p:cNvPr id="84" name="Rounded Rectangle 83"/>
          <p:cNvSpPr/>
          <p:nvPr/>
        </p:nvSpPr>
        <p:spPr>
          <a:xfrm>
            <a:off x="10069618" y="3398520"/>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5" name="TextBox 84"/>
          <p:cNvSpPr txBox="1"/>
          <p:nvPr/>
        </p:nvSpPr>
        <p:spPr>
          <a:xfrm>
            <a:off x="10069618" y="3398520"/>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Italy</a:t>
            </a:r>
          </a:p>
        </p:txBody>
      </p:sp>
      <p:sp>
        <p:nvSpPr>
          <p:cNvPr id="86" name="Rounded Rectangle 85"/>
          <p:cNvSpPr/>
          <p:nvPr/>
        </p:nvSpPr>
        <p:spPr>
          <a:xfrm>
            <a:off x="10657755" y="3594946"/>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7" name="TextBox 86"/>
          <p:cNvSpPr txBox="1"/>
          <p:nvPr/>
        </p:nvSpPr>
        <p:spPr>
          <a:xfrm>
            <a:off x="10657755" y="3594946"/>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Greece</a:t>
            </a:r>
          </a:p>
        </p:txBody>
      </p:sp>
      <p:sp>
        <p:nvSpPr>
          <p:cNvPr id="88" name="TextBox 87"/>
          <p:cNvSpPr txBox="1"/>
          <p:nvPr/>
        </p:nvSpPr>
        <p:spPr>
          <a:xfrm>
            <a:off x="8636000" y="1600200"/>
            <a:ext cx="1524000" cy="177800"/>
          </a:xfrm>
          <a:prstGeom prst="rect">
            <a:avLst/>
          </a:prstGeom>
          <a:noFill/>
        </p:spPr>
        <p:txBody>
          <a:bodyPr wrap="square" lIns="0" rIns="0" tIns="0" bIns="0" anchor="t">
            <a:spAutoFit/>
          </a:bodyPr>
          <a:lstStyle/>
          <a:p>
            <a:pPr algn="l">
              <a:lnSpc>
                <a:spcPct val="120000"/>
              </a:lnSpc>
              <a:spcAft>
                <a:spcPts val="0"/>
              </a:spcAft>
            </a:pPr>
            <a:r>
              <a:rPr sz="800" b="0" spc="120">
                <a:solidFill>
                  <a:srgbClr val="55607A"/>
                </a:solidFill>
                <a:latin typeface="Segoe UI Semibold"/>
              </a:rPr>
              <a:t>EUROPE</a:t>
            </a:r>
          </a:p>
        </p:txBody>
      </p:sp>
      <p:sp>
        <p:nvSpPr>
          <p:cNvPr id="89" name="Rectangle 88"/>
          <p:cNvSpPr/>
          <p:nvPr/>
        </p:nvSpPr>
        <p:spPr>
          <a:xfrm>
            <a:off x="609600" y="4140200"/>
            <a:ext cx="127000" cy="127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0" name="TextBox 89"/>
          <p:cNvSpPr txBox="1"/>
          <p:nvPr/>
        </p:nvSpPr>
        <p:spPr>
          <a:xfrm>
            <a:off x="81280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Utilities  14</a:t>
            </a:r>
          </a:p>
        </p:txBody>
      </p:sp>
      <p:sp>
        <p:nvSpPr>
          <p:cNvPr id="91" name="Rectangle 90"/>
          <p:cNvSpPr/>
          <p:nvPr/>
        </p:nvSpPr>
        <p:spPr>
          <a:xfrm>
            <a:off x="2016760" y="4140200"/>
            <a:ext cx="127000" cy="1270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2" name="TextBox 91"/>
          <p:cNvSpPr txBox="1"/>
          <p:nvPr/>
        </p:nvSpPr>
        <p:spPr>
          <a:xfrm>
            <a:off x="221996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Public safety  8</a:t>
            </a:r>
          </a:p>
        </p:txBody>
      </p:sp>
      <p:sp>
        <p:nvSpPr>
          <p:cNvPr id="93" name="Rectangle 92"/>
          <p:cNvSpPr/>
          <p:nvPr/>
        </p:nvSpPr>
        <p:spPr>
          <a:xfrm>
            <a:off x="3637279" y="4140200"/>
            <a:ext cx="127000" cy="1270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4" name="TextBox 93"/>
          <p:cNvSpPr txBox="1"/>
          <p:nvPr/>
        </p:nvSpPr>
        <p:spPr>
          <a:xfrm>
            <a:off x="3840479"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Rail  1</a:t>
            </a:r>
          </a:p>
        </p:txBody>
      </p:sp>
      <p:sp>
        <p:nvSpPr>
          <p:cNvPr id="95" name="Rectangle 94"/>
          <p:cNvSpPr/>
          <p:nvPr/>
        </p:nvSpPr>
        <p:spPr>
          <a:xfrm>
            <a:off x="4617720" y="4140200"/>
            <a:ext cx="127000" cy="127000"/>
          </a:xfrm>
          <a:prstGeom prst="rect">
            <a:avLst/>
          </a:prstGeom>
          <a:solidFill>
            <a:srgbClr val="5B86C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6" name="TextBox 95"/>
          <p:cNvSpPr txBox="1"/>
          <p:nvPr/>
        </p:nvSpPr>
        <p:spPr>
          <a:xfrm>
            <a:off x="482092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Operator  12</a:t>
            </a:r>
          </a:p>
        </p:txBody>
      </p:sp>
      <p:sp>
        <p:nvSpPr>
          <p:cNvPr id="97" name="Rectangle 96"/>
          <p:cNvSpPr/>
          <p:nvPr/>
        </p:nvSpPr>
        <p:spPr>
          <a:xfrm>
            <a:off x="5953759" y="4140200"/>
            <a:ext cx="127000" cy="127000"/>
          </a:xfrm>
          <a:prstGeom prst="rect">
            <a:avLst/>
          </a:prstGeom>
          <a:solidFill>
            <a:srgbClr val="C3D2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8" name="TextBox 97"/>
          <p:cNvSpPr txBox="1"/>
          <p:nvPr/>
        </p:nvSpPr>
        <p:spPr>
          <a:xfrm>
            <a:off x="6156959"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Trial / consultation  17</a:t>
            </a:r>
          </a:p>
        </p:txBody>
      </p:sp>
      <p:sp>
        <p:nvSpPr>
          <p:cNvPr id="99" name="Rectangle 98"/>
          <p:cNvSpPr/>
          <p:nvPr/>
        </p:nvSpPr>
        <p:spPr>
          <a:xfrm>
            <a:off x="609600" y="4470400"/>
            <a:ext cx="3454400" cy="914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0" name="Oval 99"/>
          <p:cNvSpPr/>
          <p:nvPr/>
        </p:nvSpPr>
        <p:spPr>
          <a:xfrm>
            <a:off x="812800" y="4699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1" name="Picture 100" descr="globe_white.png"/>
          <p:cNvPicPr>
            <a:picLocks noChangeAspect="1"/>
          </p:cNvPicPr>
          <p:nvPr/>
        </p:nvPicPr>
        <p:blipFill>
          <a:blip r:embed="rId4"/>
          <a:stretch>
            <a:fillRect/>
          </a:stretch>
        </p:blipFill>
        <p:spPr>
          <a:xfrm>
            <a:off x="922528" y="4808728"/>
            <a:ext cx="237744" cy="237744"/>
          </a:xfrm>
          <a:prstGeom prst="rect">
            <a:avLst/>
          </a:prstGeom>
        </p:spPr>
      </p:pic>
      <p:sp>
        <p:nvSpPr>
          <p:cNvPr id="102" name="TextBox 101"/>
          <p:cNvSpPr txBox="1"/>
          <p:nvPr/>
        </p:nvSpPr>
        <p:spPr>
          <a:xfrm>
            <a:off x="1397000" y="4470400"/>
            <a:ext cx="1143000" cy="914400"/>
          </a:xfrm>
          <a:prstGeom prst="rect">
            <a:avLst/>
          </a:prstGeom>
          <a:noFill/>
        </p:spPr>
        <p:txBody>
          <a:bodyPr wrap="square" lIns="0" rIns="0" tIns="0" bIns="0" anchor="ctr">
            <a:spAutoFit/>
          </a:bodyPr>
          <a:lstStyle/>
          <a:p>
            <a:pPr algn="l">
              <a:lnSpc>
                <a:spcPct val="120000"/>
              </a:lnSpc>
              <a:spcAft>
                <a:spcPts val="0"/>
              </a:spcAft>
            </a:pPr>
            <a:r>
              <a:rPr sz="2400" b="0">
                <a:solidFill>
                  <a:srgbClr val="0B308E"/>
                </a:solidFill>
                <a:latin typeface="Segoe UI Light"/>
              </a:rPr>
              <a:t>86%</a:t>
            </a:r>
          </a:p>
        </p:txBody>
      </p:sp>
      <p:sp>
        <p:nvSpPr>
          <p:cNvPr id="103" name="TextBox 102"/>
          <p:cNvSpPr txBox="1"/>
          <p:nvPr/>
        </p:nvSpPr>
        <p:spPr>
          <a:xfrm>
            <a:off x="2514600" y="4470400"/>
            <a:ext cx="1473200" cy="9144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of the world: allocated</a:t>
            </a:r>
          </a:p>
          <a:p>
            <a:pPr algn="l">
              <a:lnSpc>
                <a:spcPct val="115000"/>
              </a:lnSpc>
              <a:spcAft>
                <a:spcPts val="0"/>
              </a:spcAft>
            </a:pPr>
            <a:r>
              <a:rPr sz="1050" b="0">
                <a:solidFill>
                  <a:srgbClr val="55607A"/>
                </a:solidFill>
                <a:latin typeface="Segoe UI"/>
              </a:rPr>
              <a:t>or in consultation</a:t>
            </a:r>
          </a:p>
        </p:txBody>
      </p:sp>
      <p:sp>
        <p:nvSpPr>
          <p:cNvPr id="104" name="Rectangle 103"/>
          <p:cNvSpPr/>
          <p:nvPr/>
        </p:nvSpPr>
        <p:spPr>
          <a:xfrm>
            <a:off x="4368800" y="4470400"/>
            <a:ext cx="3454400" cy="914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5" name="Oval 104"/>
          <p:cNvSpPr/>
          <p:nvPr/>
        </p:nvSpPr>
        <p:spPr>
          <a:xfrm>
            <a:off x="4572000" y="4699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6" name="Picture 105" descr="radio-tower_white.png"/>
          <p:cNvPicPr>
            <a:picLocks noChangeAspect="1"/>
          </p:cNvPicPr>
          <p:nvPr/>
        </p:nvPicPr>
        <p:blipFill>
          <a:blip r:embed="rId5"/>
          <a:stretch>
            <a:fillRect/>
          </a:stretch>
        </p:blipFill>
        <p:spPr>
          <a:xfrm>
            <a:off x="4681728" y="4808728"/>
            <a:ext cx="237744" cy="237744"/>
          </a:xfrm>
          <a:prstGeom prst="rect">
            <a:avLst/>
          </a:prstGeom>
        </p:spPr>
      </p:pic>
      <p:sp>
        <p:nvSpPr>
          <p:cNvPr id="107" name="TextBox 106"/>
          <p:cNvSpPr txBox="1"/>
          <p:nvPr/>
        </p:nvSpPr>
        <p:spPr>
          <a:xfrm>
            <a:off x="5156200" y="4470400"/>
            <a:ext cx="1143000" cy="914400"/>
          </a:xfrm>
          <a:prstGeom prst="rect">
            <a:avLst/>
          </a:prstGeom>
          <a:noFill/>
        </p:spPr>
        <p:txBody>
          <a:bodyPr wrap="square" lIns="0" rIns="0" tIns="0" bIns="0" anchor="ctr">
            <a:spAutoFit/>
          </a:bodyPr>
          <a:lstStyle/>
          <a:p>
            <a:pPr algn="l">
              <a:lnSpc>
                <a:spcPct val="120000"/>
              </a:lnSpc>
              <a:spcAft>
                <a:spcPts val="0"/>
              </a:spcAft>
            </a:pPr>
            <a:r>
              <a:rPr sz="2400" b="0">
                <a:solidFill>
                  <a:srgbClr val="0B308E"/>
                </a:solidFill>
                <a:latin typeface="Segoe UI Light"/>
              </a:rPr>
              <a:t>77 / 39</a:t>
            </a:r>
          </a:p>
        </p:txBody>
      </p:sp>
      <p:sp>
        <p:nvSpPr>
          <p:cNvPr id="108" name="TextBox 107"/>
          <p:cNvSpPr txBox="1"/>
          <p:nvPr/>
        </p:nvSpPr>
        <p:spPr>
          <a:xfrm>
            <a:off x="6273800" y="4470400"/>
            <a:ext cx="1473200" cy="9144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countries with networks /</a:t>
            </a:r>
          </a:p>
          <a:p>
            <a:pPr algn="l">
              <a:lnSpc>
                <a:spcPct val="115000"/>
              </a:lnSpc>
              <a:spcAft>
                <a:spcPts val="0"/>
              </a:spcAft>
            </a:pPr>
            <a:r>
              <a:rPr sz="1050" b="0">
                <a:solidFill>
                  <a:srgbClr val="55607A"/>
                </a:solidFill>
                <a:latin typeface="Segoe UI"/>
              </a:rPr>
              <a:t>already on LTE</a:t>
            </a:r>
          </a:p>
        </p:txBody>
      </p:sp>
      <p:sp>
        <p:nvSpPr>
          <p:cNvPr id="109" name="Rectangle 108"/>
          <p:cNvSpPr/>
          <p:nvPr/>
        </p:nvSpPr>
        <p:spPr>
          <a:xfrm>
            <a:off x="8128000" y="4470400"/>
            <a:ext cx="3454400" cy="914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0" name="Oval 109"/>
          <p:cNvSpPr/>
          <p:nvPr/>
        </p:nvSpPr>
        <p:spPr>
          <a:xfrm>
            <a:off x="8331200" y="4699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1" name="Picture 110" descr="trending-up_white.png"/>
          <p:cNvPicPr>
            <a:picLocks noChangeAspect="1"/>
          </p:cNvPicPr>
          <p:nvPr/>
        </p:nvPicPr>
        <p:blipFill>
          <a:blip r:embed="rId6"/>
          <a:stretch>
            <a:fillRect/>
          </a:stretch>
        </p:blipFill>
        <p:spPr>
          <a:xfrm>
            <a:off x="8440928" y="4808728"/>
            <a:ext cx="237744" cy="237744"/>
          </a:xfrm>
          <a:prstGeom prst="rect">
            <a:avLst/>
          </a:prstGeom>
        </p:spPr>
      </p:pic>
      <p:sp>
        <p:nvSpPr>
          <p:cNvPr id="112" name="TextBox 111"/>
          <p:cNvSpPr txBox="1"/>
          <p:nvPr/>
        </p:nvSpPr>
        <p:spPr>
          <a:xfrm>
            <a:off x="8915400" y="4470400"/>
            <a:ext cx="1143000" cy="914400"/>
          </a:xfrm>
          <a:prstGeom prst="rect">
            <a:avLst/>
          </a:prstGeom>
          <a:noFill/>
        </p:spPr>
        <p:txBody>
          <a:bodyPr wrap="square" lIns="0" rIns="0" tIns="0" bIns="0" anchor="ctr">
            <a:spAutoFit/>
          </a:bodyPr>
          <a:lstStyle/>
          <a:p>
            <a:pPr algn="l">
              <a:lnSpc>
                <a:spcPct val="120000"/>
              </a:lnSpc>
              <a:spcAft>
                <a:spcPts val="0"/>
              </a:spcAft>
            </a:pPr>
            <a:r>
              <a:rPr sz="2400" b="0">
                <a:solidFill>
                  <a:srgbClr val="0B308E"/>
                </a:solidFill>
                <a:latin typeface="Segoe UI Light"/>
              </a:rPr>
              <a:t>14M</a:t>
            </a:r>
          </a:p>
        </p:txBody>
      </p:sp>
      <p:sp>
        <p:nvSpPr>
          <p:cNvPr id="113" name="TextBox 112"/>
          <p:cNvSpPr txBox="1"/>
          <p:nvPr/>
        </p:nvSpPr>
        <p:spPr>
          <a:xfrm>
            <a:off x="10033000" y="4470400"/>
            <a:ext cx="1473200" cy="9144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sensor links by 2030,</a:t>
            </a:r>
          </a:p>
          <a:p>
            <a:pPr algn="l">
              <a:lnSpc>
                <a:spcPct val="115000"/>
              </a:lnSpc>
              <a:spcAft>
                <a:spcPts val="0"/>
              </a:spcAft>
            </a:pPr>
            <a:r>
              <a:rPr sz="1050" b="0">
                <a:solidFill>
                  <a:srgbClr val="55607A"/>
                </a:solidFill>
                <a:latin typeface="Segoe UI"/>
              </a:rPr>
              <a:t>plus 1.8M broadband</a:t>
            </a:r>
          </a:p>
        </p:txBody>
      </p:sp>
      <p:sp>
        <p:nvSpPr>
          <p:cNvPr id="114" name="Rectangle 113"/>
          <p:cNvSpPr/>
          <p:nvPr/>
        </p:nvSpPr>
        <p:spPr>
          <a:xfrm>
            <a:off x="609600" y="5562600"/>
            <a:ext cx="10972800" cy="4318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5" name="Picture 114" descr="check_navy.png"/>
          <p:cNvPicPr>
            <a:picLocks noChangeAspect="1"/>
          </p:cNvPicPr>
          <p:nvPr/>
        </p:nvPicPr>
        <p:blipFill>
          <a:blip r:embed="rId7"/>
          <a:stretch>
            <a:fillRect/>
          </a:stretch>
        </p:blipFill>
        <p:spPr>
          <a:xfrm>
            <a:off x="812800" y="5651500"/>
            <a:ext cx="254000" cy="254000"/>
          </a:xfrm>
          <a:prstGeom prst="rect">
            <a:avLst/>
          </a:prstGeom>
        </p:spPr>
      </p:pic>
      <p:sp>
        <p:nvSpPr>
          <p:cNvPr id="116" name="TextBox 115"/>
          <p:cNvSpPr txBox="1"/>
          <p:nvPr/>
        </p:nvSpPr>
        <p:spPr>
          <a:xfrm>
            <a:off x="1219200" y="5562600"/>
            <a:ext cx="10160000" cy="4318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Same pattern everywhere:   </a:t>
            </a:r>
            <a:r>
              <a:rPr sz="1250" b="0">
                <a:solidFill>
                  <a:srgbClr val="16213E"/>
                </a:solidFill>
                <a:latin typeface="Segoe UI"/>
              </a:rPr>
              <a:t>one licensed operator carries it; utilities anchor most networks</a:t>
            </a:r>
          </a:p>
        </p:txBody>
      </p:sp>
      <p:sp>
        <p:nvSpPr>
          <p:cNvPr id="117" name="TextBox 116"/>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p4, p6-p9 country updates, p11-p12; countries coloured by main use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C   WHO PAYS FIRST</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06</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Start with the utilities: they pay first and fit best</a:t>
            </a:r>
          </a:p>
        </p:txBody>
      </p:sp>
      <p:pic>
        <p:nvPicPr>
          <p:cNvPr id="10" name="Picture 9" descr="hand-coins_steel.png"/>
          <p:cNvPicPr>
            <a:picLocks noChangeAspect="1"/>
          </p:cNvPicPr>
          <p:nvPr/>
        </p:nvPicPr>
        <p:blipFill>
          <a:blip r:embed="rId2"/>
          <a:stretch>
            <a:fillRect/>
          </a:stretch>
        </p:blipFill>
        <p:spPr>
          <a:xfrm>
            <a:off x="4660900" y="1447800"/>
            <a:ext cx="228600" cy="228600"/>
          </a:xfrm>
          <a:prstGeom prst="rect">
            <a:avLst/>
          </a:prstGeom>
        </p:spPr>
      </p:pic>
      <p:sp>
        <p:nvSpPr>
          <p:cNvPr id="11" name="TextBox 10"/>
          <p:cNvSpPr txBox="1"/>
          <p:nvPr/>
        </p:nvSpPr>
        <p:spPr>
          <a:xfrm>
            <a:off x="4013200" y="1727200"/>
            <a:ext cx="1524000" cy="177800"/>
          </a:xfrm>
          <a:prstGeom prst="rect">
            <a:avLst/>
          </a:prstGeom>
          <a:noFill/>
        </p:spPr>
        <p:txBody>
          <a:bodyPr wrap="square" lIns="0" rIns="0" tIns="0" bIns="0" anchor="t">
            <a:spAutoFit/>
          </a:bodyPr>
          <a:lstStyle/>
          <a:p>
            <a:pPr algn="ctr">
              <a:lnSpc>
                <a:spcPct val="120000"/>
              </a:lnSpc>
              <a:spcAft>
                <a:spcPts val="0"/>
              </a:spcAft>
            </a:pPr>
            <a:r>
              <a:rPr sz="800" b="0" spc="120">
                <a:solidFill>
                  <a:srgbClr val="55607A"/>
                </a:solidFill>
                <a:latin typeface="Segoe UI Semibold"/>
              </a:rPr>
              <a:t>ABILITY TO PAY</a:t>
            </a:r>
          </a:p>
        </p:txBody>
      </p:sp>
      <p:pic>
        <p:nvPicPr>
          <p:cNvPr id="12" name="Picture 11" descr="target_steel.png"/>
          <p:cNvPicPr>
            <a:picLocks noChangeAspect="1"/>
          </p:cNvPicPr>
          <p:nvPr/>
        </p:nvPicPr>
        <p:blipFill>
          <a:blip r:embed="rId3"/>
          <a:stretch>
            <a:fillRect/>
          </a:stretch>
        </p:blipFill>
        <p:spPr>
          <a:xfrm>
            <a:off x="6184900" y="1447800"/>
            <a:ext cx="228600" cy="228600"/>
          </a:xfrm>
          <a:prstGeom prst="rect">
            <a:avLst/>
          </a:prstGeom>
        </p:spPr>
      </p:pic>
      <p:sp>
        <p:nvSpPr>
          <p:cNvPr id="13" name="TextBox 12"/>
          <p:cNvSpPr txBox="1"/>
          <p:nvPr/>
        </p:nvSpPr>
        <p:spPr>
          <a:xfrm>
            <a:off x="5537200" y="1727200"/>
            <a:ext cx="1524000" cy="177800"/>
          </a:xfrm>
          <a:prstGeom prst="rect">
            <a:avLst/>
          </a:prstGeom>
          <a:noFill/>
        </p:spPr>
        <p:txBody>
          <a:bodyPr wrap="square" lIns="0" rIns="0" tIns="0" bIns="0" anchor="t">
            <a:spAutoFit/>
          </a:bodyPr>
          <a:lstStyle/>
          <a:p>
            <a:pPr algn="ctr">
              <a:lnSpc>
                <a:spcPct val="120000"/>
              </a:lnSpc>
              <a:spcAft>
                <a:spcPts val="0"/>
              </a:spcAft>
            </a:pPr>
            <a:r>
              <a:rPr sz="800" b="0" spc="120">
                <a:solidFill>
                  <a:srgbClr val="55607A"/>
                </a:solidFill>
                <a:latin typeface="Segoe UI Semibold"/>
              </a:rPr>
              <a:t>FIT WITH 450</a:t>
            </a:r>
          </a:p>
        </p:txBody>
      </p:sp>
      <p:pic>
        <p:nvPicPr>
          <p:cNvPr id="14" name="Picture 13" descr="clock_steel.png"/>
          <p:cNvPicPr>
            <a:picLocks noChangeAspect="1"/>
          </p:cNvPicPr>
          <p:nvPr/>
        </p:nvPicPr>
        <p:blipFill>
          <a:blip r:embed="rId4"/>
          <a:stretch>
            <a:fillRect/>
          </a:stretch>
        </p:blipFill>
        <p:spPr>
          <a:xfrm>
            <a:off x="7708900" y="1447800"/>
            <a:ext cx="228600" cy="228600"/>
          </a:xfrm>
          <a:prstGeom prst="rect">
            <a:avLst/>
          </a:prstGeom>
        </p:spPr>
      </p:pic>
      <p:sp>
        <p:nvSpPr>
          <p:cNvPr id="15" name="TextBox 14"/>
          <p:cNvSpPr txBox="1"/>
          <p:nvPr/>
        </p:nvSpPr>
        <p:spPr>
          <a:xfrm>
            <a:off x="7061200" y="1727200"/>
            <a:ext cx="1524000" cy="177800"/>
          </a:xfrm>
          <a:prstGeom prst="rect">
            <a:avLst/>
          </a:prstGeom>
          <a:noFill/>
        </p:spPr>
        <p:txBody>
          <a:bodyPr wrap="square" lIns="0" rIns="0" tIns="0" bIns="0" anchor="t">
            <a:spAutoFit/>
          </a:bodyPr>
          <a:lstStyle/>
          <a:p>
            <a:pPr algn="ctr">
              <a:lnSpc>
                <a:spcPct val="120000"/>
              </a:lnSpc>
              <a:spcAft>
                <a:spcPts val="0"/>
              </a:spcAft>
            </a:pPr>
            <a:r>
              <a:rPr sz="800" b="0" spc="120">
                <a:solidFill>
                  <a:srgbClr val="55607A"/>
                </a:solidFill>
                <a:latin typeface="Segoe UI Semibold"/>
              </a:rPr>
              <a:t>SPEED TO REVENUE</a:t>
            </a:r>
          </a:p>
        </p:txBody>
      </p:sp>
      <p:sp>
        <p:nvSpPr>
          <p:cNvPr id="16" name="TextBox 15"/>
          <p:cNvSpPr txBox="1"/>
          <p:nvPr/>
        </p:nvSpPr>
        <p:spPr>
          <a:xfrm>
            <a:off x="8940800" y="1727200"/>
            <a:ext cx="2540000" cy="177800"/>
          </a:xfrm>
          <a:prstGeom prst="rect">
            <a:avLst/>
          </a:prstGeom>
          <a:noFill/>
        </p:spPr>
        <p:txBody>
          <a:bodyPr wrap="square" lIns="0" rIns="0" tIns="0" bIns="0" anchor="t">
            <a:spAutoFit/>
          </a:bodyPr>
          <a:lstStyle/>
          <a:p>
            <a:pPr algn="l">
              <a:lnSpc>
                <a:spcPct val="120000"/>
              </a:lnSpc>
              <a:spcAft>
                <a:spcPts val="0"/>
              </a:spcAft>
            </a:pPr>
            <a:r>
              <a:rPr sz="800" b="0" spc="120">
                <a:solidFill>
                  <a:srgbClr val="55607A"/>
                </a:solidFill>
                <a:latin typeface="Segoe UI Semibold"/>
              </a:rPr>
              <a:t>KEY POINT</a:t>
            </a:r>
          </a:p>
        </p:txBody>
      </p:sp>
      <p:sp>
        <p:nvSpPr>
          <p:cNvPr id="17" name="Rectangle 16"/>
          <p:cNvSpPr/>
          <p:nvPr/>
        </p:nvSpPr>
        <p:spPr>
          <a:xfrm>
            <a:off x="609600" y="1981200"/>
            <a:ext cx="10972800" cy="5588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11200" y="1981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7F9B00"/>
                </a:solidFill>
                <a:latin typeface="Segoe UI Light"/>
              </a:rPr>
              <a:t>1</a:t>
            </a:r>
          </a:p>
        </p:txBody>
      </p:sp>
      <p:sp>
        <p:nvSpPr>
          <p:cNvPr id="19" name="Oval 18"/>
          <p:cNvSpPr/>
          <p:nvPr/>
        </p:nvSpPr>
        <p:spPr>
          <a:xfrm>
            <a:off x="1219200" y="2070100"/>
            <a:ext cx="381000" cy="381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0" name="Picture 19" descr="zap_white.png"/>
          <p:cNvPicPr>
            <a:picLocks noChangeAspect="1"/>
          </p:cNvPicPr>
          <p:nvPr/>
        </p:nvPicPr>
        <p:blipFill>
          <a:blip r:embed="rId5"/>
          <a:stretch>
            <a:fillRect/>
          </a:stretch>
        </p:blipFill>
        <p:spPr>
          <a:xfrm>
            <a:off x="1310640" y="2161540"/>
            <a:ext cx="198120" cy="198120"/>
          </a:xfrm>
          <a:prstGeom prst="rect">
            <a:avLst/>
          </a:prstGeom>
        </p:spPr>
      </p:pic>
      <p:sp>
        <p:nvSpPr>
          <p:cNvPr id="21" name="TextBox 20"/>
          <p:cNvSpPr txBox="1"/>
          <p:nvPr/>
        </p:nvSpPr>
        <p:spPr>
          <a:xfrm>
            <a:off x="1778000" y="1981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Power</a:t>
            </a:r>
          </a:p>
        </p:txBody>
      </p:sp>
      <p:sp>
        <p:nvSpPr>
          <p:cNvPr id="22" name="Oval 21"/>
          <p:cNvSpPr/>
          <p:nvPr/>
        </p:nvSpPr>
        <p:spPr>
          <a:xfrm>
            <a:off x="45085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47117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49149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60325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2357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64389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565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77597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79629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940800" y="1981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Proven anchor abroad</a:t>
            </a:r>
          </a:p>
        </p:txBody>
      </p:sp>
      <p:sp>
        <p:nvSpPr>
          <p:cNvPr id="32" name="Rectangle 31"/>
          <p:cNvSpPr/>
          <p:nvPr/>
        </p:nvSpPr>
        <p:spPr>
          <a:xfrm>
            <a:off x="609600" y="2616200"/>
            <a:ext cx="10972800" cy="5588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11200" y="2616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7F9B00"/>
                </a:solidFill>
                <a:latin typeface="Segoe UI Light"/>
              </a:rPr>
              <a:t>2</a:t>
            </a:r>
          </a:p>
        </p:txBody>
      </p:sp>
      <p:sp>
        <p:nvSpPr>
          <p:cNvPr id="34" name="Oval 33"/>
          <p:cNvSpPr/>
          <p:nvPr/>
        </p:nvSpPr>
        <p:spPr>
          <a:xfrm>
            <a:off x="1219200" y="2705100"/>
            <a:ext cx="381000" cy="381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droplets_white.png"/>
          <p:cNvPicPr>
            <a:picLocks noChangeAspect="1"/>
          </p:cNvPicPr>
          <p:nvPr/>
        </p:nvPicPr>
        <p:blipFill>
          <a:blip r:embed="rId6"/>
          <a:stretch>
            <a:fillRect/>
          </a:stretch>
        </p:blipFill>
        <p:spPr>
          <a:xfrm>
            <a:off x="1310640" y="2796540"/>
            <a:ext cx="198120" cy="198120"/>
          </a:xfrm>
          <a:prstGeom prst="rect">
            <a:avLst/>
          </a:prstGeom>
        </p:spPr>
      </p:pic>
      <p:sp>
        <p:nvSpPr>
          <p:cNvPr id="36" name="TextBox 35"/>
          <p:cNvSpPr txBox="1"/>
          <p:nvPr/>
        </p:nvSpPr>
        <p:spPr>
          <a:xfrm>
            <a:off x="1778000" y="2616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Water</a:t>
            </a:r>
          </a:p>
        </p:txBody>
      </p:sp>
      <p:sp>
        <p:nvSpPr>
          <p:cNvPr id="37" name="Oval 36"/>
          <p:cNvSpPr/>
          <p:nvPr/>
        </p:nvSpPr>
        <p:spPr>
          <a:xfrm>
            <a:off x="45085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Oval 37"/>
          <p:cNvSpPr/>
          <p:nvPr/>
        </p:nvSpPr>
        <p:spPr>
          <a:xfrm>
            <a:off x="47117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Oval 38"/>
          <p:cNvSpPr/>
          <p:nvPr/>
        </p:nvSpPr>
        <p:spPr>
          <a:xfrm>
            <a:off x="4914900" y="283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Oval 39"/>
          <p:cNvSpPr/>
          <p:nvPr/>
        </p:nvSpPr>
        <p:spPr>
          <a:xfrm>
            <a:off x="60325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Oval 40"/>
          <p:cNvSpPr/>
          <p:nvPr/>
        </p:nvSpPr>
        <p:spPr>
          <a:xfrm>
            <a:off x="62357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Oval 41"/>
          <p:cNvSpPr/>
          <p:nvPr/>
        </p:nvSpPr>
        <p:spPr>
          <a:xfrm>
            <a:off x="64389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Oval 42"/>
          <p:cNvSpPr/>
          <p:nvPr/>
        </p:nvSpPr>
        <p:spPr>
          <a:xfrm>
            <a:off x="75565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Oval 43"/>
          <p:cNvSpPr/>
          <p:nvPr/>
        </p:nvSpPr>
        <p:spPr>
          <a:xfrm>
            <a:off x="77597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Oval 44"/>
          <p:cNvSpPr/>
          <p:nvPr/>
        </p:nvSpPr>
        <p:spPr>
          <a:xfrm>
            <a:off x="79629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940800" y="2616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Same sites as power</a:t>
            </a:r>
          </a:p>
        </p:txBody>
      </p:sp>
      <p:sp>
        <p:nvSpPr>
          <p:cNvPr id="47" name="Rectangle 46"/>
          <p:cNvSpPr/>
          <p:nvPr/>
        </p:nvSpPr>
        <p:spPr>
          <a:xfrm>
            <a:off x="609600" y="3251200"/>
            <a:ext cx="109728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711200" y="3251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3</a:t>
            </a:r>
          </a:p>
        </p:txBody>
      </p:sp>
      <p:sp>
        <p:nvSpPr>
          <p:cNvPr id="49" name="Oval 48"/>
          <p:cNvSpPr/>
          <p:nvPr/>
        </p:nvSpPr>
        <p:spPr>
          <a:xfrm>
            <a:off x="1219200" y="3340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0" name="Picture 49" descr="siren_white.png"/>
          <p:cNvPicPr>
            <a:picLocks noChangeAspect="1"/>
          </p:cNvPicPr>
          <p:nvPr/>
        </p:nvPicPr>
        <p:blipFill>
          <a:blip r:embed="rId7"/>
          <a:stretch>
            <a:fillRect/>
          </a:stretch>
        </p:blipFill>
        <p:spPr>
          <a:xfrm>
            <a:off x="1310640" y="3431540"/>
            <a:ext cx="198120" cy="198120"/>
          </a:xfrm>
          <a:prstGeom prst="rect">
            <a:avLst/>
          </a:prstGeom>
        </p:spPr>
      </p:pic>
      <p:sp>
        <p:nvSpPr>
          <p:cNvPr id="51" name="TextBox 50"/>
          <p:cNvSpPr txBox="1"/>
          <p:nvPr/>
        </p:nvSpPr>
        <p:spPr>
          <a:xfrm>
            <a:off x="1778000" y="3251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Emergency</a:t>
            </a:r>
          </a:p>
        </p:txBody>
      </p:sp>
      <p:sp>
        <p:nvSpPr>
          <p:cNvPr id="52" name="Oval 51"/>
          <p:cNvSpPr/>
          <p:nvPr/>
        </p:nvSpPr>
        <p:spPr>
          <a:xfrm>
            <a:off x="45085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Oval 52"/>
          <p:cNvSpPr/>
          <p:nvPr/>
        </p:nvSpPr>
        <p:spPr>
          <a:xfrm>
            <a:off x="47117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Oval 53"/>
          <p:cNvSpPr/>
          <p:nvPr/>
        </p:nvSpPr>
        <p:spPr>
          <a:xfrm>
            <a:off x="4914900" y="346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Oval 54"/>
          <p:cNvSpPr/>
          <p:nvPr/>
        </p:nvSpPr>
        <p:spPr>
          <a:xfrm>
            <a:off x="60325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Oval 55"/>
          <p:cNvSpPr/>
          <p:nvPr/>
        </p:nvSpPr>
        <p:spPr>
          <a:xfrm>
            <a:off x="62357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Oval 56"/>
          <p:cNvSpPr/>
          <p:nvPr/>
        </p:nvSpPr>
        <p:spPr>
          <a:xfrm>
            <a:off x="64389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Oval 57"/>
          <p:cNvSpPr/>
          <p:nvPr/>
        </p:nvSpPr>
        <p:spPr>
          <a:xfrm>
            <a:off x="75565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Oval 58"/>
          <p:cNvSpPr/>
          <p:nvPr/>
        </p:nvSpPr>
        <p:spPr>
          <a:xfrm>
            <a:off x="77597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Oval 59"/>
          <p:cNvSpPr/>
          <p:nvPr/>
        </p:nvSpPr>
        <p:spPr>
          <a:xfrm>
            <a:off x="7962900" y="346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8940800" y="3251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Typhoon readiness</a:t>
            </a:r>
          </a:p>
        </p:txBody>
      </p:sp>
      <p:sp>
        <p:nvSpPr>
          <p:cNvPr id="62" name="Rectangle 61"/>
          <p:cNvSpPr/>
          <p:nvPr/>
        </p:nvSpPr>
        <p:spPr>
          <a:xfrm>
            <a:off x="609600" y="3886200"/>
            <a:ext cx="10972800" cy="5588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711200" y="3886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4</a:t>
            </a:r>
          </a:p>
        </p:txBody>
      </p:sp>
      <p:sp>
        <p:nvSpPr>
          <p:cNvPr id="64" name="Oval 63"/>
          <p:cNvSpPr/>
          <p:nvPr/>
        </p:nvSpPr>
        <p:spPr>
          <a:xfrm>
            <a:off x="1219200" y="3975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5" name="Picture 64" descr="shield_white.png"/>
          <p:cNvPicPr>
            <a:picLocks noChangeAspect="1"/>
          </p:cNvPicPr>
          <p:nvPr/>
        </p:nvPicPr>
        <p:blipFill>
          <a:blip r:embed="rId8"/>
          <a:stretch>
            <a:fillRect/>
          </a:stretch>
        </p:blipFill>
        <p:spPr>
          <a:xfrm>
            <a:off x="1310640" y="4066540"/>
            <a:ext cx="198120" cy="198120"/>
          </a:xfrm>
          <a:prstGeom prst="rect">
            <a:avLst/>
          </a:prstGeom>
        </p:spPr>
      </p:pic>
      <p:sp>
        <p:nvSpPr>
          <p:cNvPr id="66" name="TextBox 65"/>
          <p:cNvSpPr txBox="1"/>
          <p:nvPr/>
        </p:nvSpPr>
        <p:spPr>
          <a:xfrm>
            <a:off x="1778000" y="3886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Police</a:t>
            </a:r>
          </a:p>
        </p:txBody>
      </p:sp>
      <p:sp>
        <p:nvSpPr>
          <p:cNvPr id="67" name="Oval 66"/>
          <p:cNvSpPr/>
          <p:nvPr/>
        </p:nvSpPr>
        <p:spPr>
          <a:xfrm>
            <a:off x="45085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Oval 67"/>
          <p:cNvSpPr/>
          <p:nvPr/>
        </p:nvSpPr>
        <p:spPr>
          <a:xfrm>
            <a:off x="47117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Oval 68"/>
          <p:cNvSpPr/>
          <p:nvPr/>
        </p:nvSpPr>
        <p:spPr>
          <a:xfrm>
            <a:off x="49149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0" name="Oval 69"/>
          <p:cNvSpPr/>
          <p:nvPr/>
        </p:nvSpPr>
        <p:spPr>
          <a:xfrm>
            <a:off x="60325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1" name="Oval 70"/>
          <p:cNvSpPr/>
          <p:nvPr/>
        </p:nvSpPr>
        <p:spPr>
          <a:xfrm>
            <a:off x="62357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2" name="Oval 71"/>
          <p:cNvSpPr/>
          <p:nvPr/>
        </p:nvSpPr>
        <p:spPr>
          <a:xfrm>
            <a:off x="6438900" y="410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Oval 72"/>
          <p:cNvSpPr/>
          <p:nvPr/>
        </p:nvSpPr>
        <p:spPr>
          <a:xfrm>
            <a:off x="75565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4" name="Oval 73"/>
          <p:cNvSpPr/>
          <p:nvPr/>
        </p:nvSpPr>
        <p:spPr>
          <a:xfrm>
            <a:off x="7759700" y="410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5" name="Oval 74"/>
          <p:cNvSpPr/>
          <p:nvPr/>
        </p:nvSpPr>
        <p:spPr>
          <a:xfrm>
            <a:off x="7962900" y="410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6" name="TextBox 75"/>
          <p:cNvSpPr txBox="1"/>
          <p:nvPr/>
        </p:nvSpPr>
        <p:spPr>
          <a:xfrm>
            <a:off x="8940800" y="3886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Interoperate, not replace</a:t>
            </a:r>
          </a:p>
        </p:txBody>
      </p:sp>
      <p:sp>
        <p:nvSpPr>
          <p:cNvPr id="77" name="Rectangle 76"/>
          <p:cNvSpPr/>
          <p:nvPr/>
        </p:nvSpPr>
        <p:spPr>
          <a:xfrm>
            <a:off x="609600" y="4521200"/>
            <a:ext cx="109728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8" name="TextBox 77"/>
          <p:cNvSpPr txBox="1"/>
          <p:nvPr/>
        </p:nvSpPr>
        <p:spPr>
          <a:xfrm>
            <a:off x="711200" y="4521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5</a:t>
            </a:r>
          </a:p>
        </p:txBody>
      </p:sp>
      <p:sp>
        <p:nvSpPr>
          <p:cNvPr id="79" name="Oval 78"/>
          <p:cNvSpPr/>
          <p:nvPr/>
        </p:nvSpPr>
        <p:spPr>
          <a:xfrm>
            <a:off x="1219200" y="4610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80" name="Picture 79" descr="train-front_white.png"/>
          <p:cNvPicPr>
            <a:picLocks noChangeAspect="1"/>
          </p:cNvPicPr>
          <p:nvPr/>
        </p:nvPicPr>
        <p:blipFill>
          <a:blip r:embed="rId9"/>
          <a:stretch>
            <a:fillRect/>
          </a:stretch>
        </p:blipFill>
        <p:spPr>
          <a:xfrm>
            <a:off x="1310640" y="4701540"/>
            <a:ext cx="198120" cy="198120"/>
          </a:xfrm>
          <a:prstGeom prst="rect">
            <a:avLst/>
          </a:prstGeom>
        </p:spPr>
      </p:pic>
      <p:sp>
        <p:nvSpPr>
          <p:cNvPr id="81" name="TextBox 80"/>
          <p:cNvSpPr txBox="1"/>
          <p:nvPr/>
        </p:nvSpPr>
        <p:spPr>
          <a:xfrm>
            <a:off x="1778000" y="4521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Rail</a:t>
            </a:r>
          </a:p>
        </p:txBody>
      </p:sp>
      <p:sp>
        <p:nvSpPr>
          <p:cNvPr id="82" name="Oval 81"/>
          <p:cNvSpPr/>
          <p:nvPr/>
        </p:nvSpPr>
        <p:spPr>
          <a:xfrm>
            <a:off x="45085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3" name="Oval 82"/>
          <p:cNvSpPr/>
          <p:nvPr/>
        </p:nvSpPr>
        <p:spPr>
          <a:xfrm>
            <a:off x="47117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4" name="Oval 83"/>
          <p:cNvSpPr/>
          <p:nvPr/>
        </p:nvSpPr>
        <p:spPr>
          <a:xfrm>
            <a:off x="4914900" y="473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5" name="Oval 84"/>
          <p:cNvSpPr/>
          <p:nvPr/>
        </p:nvSpPr>
        <p:spPr>
          <a:xfrm>
            <a:off x="60325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6" name="Oval 85"/>
          <p:cNvSpPr/>
          <p:nvPr/>
        </p:nvSpPr>
        <p:spPr>
          <a:xfrm>
            <a:off x="62357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7" name="Oval 86"/>
          <p:cNvSpPr/>
          <p:nvPr/>
        </p:nvSpPr>
        <p:spPr>
          <a:xfrm>
            <a:off x="64389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8" name="Oval 87"/>
          <p:cNvSpPr/>
          <p:nvPr/>
        </p:nvSpPr>
        <p:spPr>
          <a:xfrm>
            <a:off x="75565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9" name="Oval 88"/>
          <p:cNvSpPr/>
          <p:nvPr/>
        </p:nvSpPr>
        <p:spPr>
          <a:xfrm>
            <a:off x="7759700" y="473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0" name="Oval 89"/>
          <p:cNvSpPr/>
          <p:nvPr/>
        </p:nvSpPr>
        <p:spPr>
          <a:xfrm>
            <a:off x="7962900" y="473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1" name="TextBox 90"/>
          <p:cNvSpPr txBox="1"/>
          <p:nvPr/>
        </p:nvSpPr>
        <p:spPr>
          <a:xfrm>
            <a:off x="8940800" y="4521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Long project cycles</a:t>
            </a:r>
          </a:p>
        </p:txBody>
      </p:sp>
      <p:sp>
        <p:nvSpPr>
          <p:cNvPr id="92" name="Rectangle 91"/>
          <p:cNvSpPr/>
          <p:nvPr/>
        </p:nvSpPr>
        <p:spPr>
          <a:xfrm>
            <a:off x="609600" y="5156200"/>
            <a:ext cx="10972800" cy="5588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3" name="TextBox 92"/>
          <p:cNvSpPr txBox="1"/>
          <p:nvPr/>
        </p:nvSpPr>
        <p:spPr>
          <a:xfrm>
            <a:off x="711200" y="5156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6</a:t>
            </a:r>
          </a:p>
        </p:txBody>
      </p:sp>
      <p:sp>
        <p:nvSpPr>
          <p:cNvPr id="94" name="Oval 93"/>
          <p:cNvSpPr/>
          <p:nvPr/>
        </p:nvSpPr>
        <p:spPr>
          <a:xfrm>
            <a:off x="1219200" y="5245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95" name="Picture 94" descr="ship_white.png"/>
          <p:cNvPicPr>
            <a:picLocks noChangeAspect="1"/>
          </p:cNvPicPr>
          <p:nvPr/>
        </p:nvPicPr>
        <p:blipFill>
          <a:blip r:embed="rId10"/>
          <a:stretch>
            <a:fillRect/>
          </a:stretch>
        </p:blipFill>
        <p:spPr>
          <a:xfrm>
            <a:off x="1310640" y="5336540"/>
            <a:ext cx="198120" cy="198120"/>
          </a:xfrm>
          <a:prstGeom prst="rect">
            <a:avLst/>
          </a:prstGeom>
        </p:spPr>
      </p:pic>
      <p:sp>
        <p:nvSpPr>
          <p:cNvPr id="96" name="TextBox 95"/>
          <p:cNvSpPr txBox="1"/>
          <p:nvPr/>
        </p:nvSpPr>
        <p:spPr>
          <a:xfrm>
            <a:off x="1778000" y="5156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Port</a:t>
            </a:r>
          </a:p>
        </p:txBody>
      </p:sp>
      <p:sp>
        <p:nvSpPr>
          <p:cNvPr id="97" name="Oval 96"/>
          <p:cNvSpPr/>
          <p:nvPr/>
        </p:nvSpPr>
        <p:spPr>
          <a:xfrm>
            <a:off x="45085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8" name="Oval 97"/>
          <p:cNvSpPr/>
          <p:nvPr/>
        </p:nvSpPr>
        <p:spPr>
          <a:xfrm>
            <a:off x="47117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9" name="Oval 98"/>
          <p:cNvSpPr/>
          <p:nvPr/>
        </p:nvSpPr>
        <p:spPr>
          <a:xfrm>
            <a:off x="4914900" y="537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0" name="Oval 99"/>
          <p:cNvSpPr/>
          <p:nvPr/>
        </p:nvSpPr>
        <p:spPr>
          <a:xfrm>
            <a:off x="60325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1" name="Oval 100"/>
          <p:cNvSpPr/>
          <p:nvPr/>
        </p:nvSpPr>
        <p:spPr>
          <a:xfrm>
            <a:off x="62357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2" name="Oval 101"/>
          <p:cNvSpPr/>
          <p:nvPr/>
        </p:nvSpPr>
        <p:spPr>
          <a:xfrm>
            <a:off x="6438900" y="537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3" name="Oval 102"/>
          <p:cNvSpPr/>
          <p:nvPr/>
        </p:nvSpPr>
        <p:spPr>
          <a:xfrm>
            <a:off x="75565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4" name="Oval 103"/>
          <p:cNvSpPr/>
          <p:nvPr/>
        </p:nvSpPr>
        <p:spPr>
          <a:xfrm>
            <a:off x="77597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5" name="Oval 104"/>
          <p:cNvSpPr/>
          <p:nvPr/>
        </p:nvSpPr>
        <p:spPr>
          <a:xfrm>
            <a:off x="7962900" y="537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6" name="TextBox 105"/>
          <p:cNvSpPr txBox="1"/>
          <p:nvPr/>
        </p:nvSpPr>
        <p:spPr>
          <a:xfrm>
            <a:off x="8940800" y="5156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No 450 MHz precedent yet</a:t>
            </a:r>
          </a:p>
        </p:txBody>
      </p:sp>
      <p:pic>
        <p:nvPicPr>
          <p:cNvPr id="107" name="Picture 106" descr="check_green.png"/>
          <p:cNvPicPr>
            <a:picLocks noChangeAspect="1"/>
          </p:cNvPicPr>
          <p:nvPr/>
        </p:nvPicPr>
        <p:blipFill>
          <a:blip r:embed="rId11"/>
          <a:stretch>
            <a:fillRect/>
          </a:stretch>
        </p:blipFill>
        <p:spPr>
          <a:xfrm>
            <a:off x="609600" y="5892800"/>
            <a:ext cx="203200" cy="203200"/>
          </a:xfrm>
          <a:prstGeom prst="rect">
            <a:avLst/>
          </a:prstGeom>
        </p:spPr>
      </p:pic>
      <p:sp>
        <p:nvSpPr>
          <p:cNvPr id="108" name="TextBox 107"/>
          <p:cNvSpPr txBox="1"/>
          <p:nvPr/>
        </p:nvSpPr>
        <p:spPr>
          <a:xfrm>
            <a:off x="914400" y="5842000"/>
            <a:ext cx="7620000" cy="3048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Green rows: the anchor customers</a:t>
            </a:r>
          </a:p>
        </p:txBody>
      </p:sp>
      <p:sp>
        <p:nvSpPr>
          <p:cNvPr id="109" name="TextBox 108"/>
          <p:cNvSpPr txBox="1"/>
          <p:nvPr/>
        </p:nvSpPr>
        <p:spPr>
          <a:xfrm>
            <a:off x="914400" y="6096000"/>
            <a:ext cx="8890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Our reading, to be tested in the pilot</a:t>
            </a:r>
          </a:p>
        </p:txBody>
      </p:sp>
      <p:sp>
        <p:nvSpPr>
          <p:cNvPr id="110" name="TextBox 109"/>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Hytera assessment; 450 MHz Alliance, Annual Global Update (Dec 2025) p8-p9; LWUA NRW data (2025)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C   PRIORITY 1 OF 6  ·  POWER</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07</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Power anchors the network, as it does in Germany and Malaysia</a:t>
            </a:r>
          </a:p>
        </p:txBody>
      </p:sp>
      <p:pic>
        <p:nvPicPr>
          <p:cNvPr id="10" name="Picture 9" descr="v6_13015b8219.jpg"/>
          <p:cNvPicPr>
            <a:picLocks noChangeAspect="1"/>
          </p:cNvPicPr>
          <p:nvPr/>
        </p:nvPicPr>
        <p:blipFill>
          <a:blip r:embed="rId2"/>
          <a:srcRect l="6800" r="6800"/>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zap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121</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electric cooperatives</a:t>
            </a:r>
          </a:p>
          <a:p>
            <a:pPr algn="l">
              <a:lnSpc>
                <a:spcPct val="115000"/>
              </a:lnSpc>
              <a:spcAft>
                <a:spcPts val="0"/>
              </a:spcAft>
            </a:pPr>
            <a:r>
              <a:rPr sz="1200" b="0">
                <a:solidFill>
                  <a:srgbClr val="55607A"/>
                </a:solidFill>
                <a:latin typeface="Segoe UI"/>
              </a:rPr>
              <a:t>under NEA</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1.4M</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consumers cut off</a:t>
            </a:r>
          </a:p>
          <a:p>
            <a:pPr algn="l">
              <a:lnSpc>
                <a:spcPct val="115000"/>
              </a:lnSpc>
              <a:spcAft>
                <a:spcPts val="0"/>
              </a:spcAft>
            </a:pPr>
            <a:r>
              <a:rPr sz="1200" b="0">
                <a:solidFill>
                  <a:srgbClr val="55607A"/>
                </a:solidFill>
                <a:latin typeface="Segoe UI"/>
              </a:rPr>
              <a:t>by Typhoon Tino</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cpu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SCADA &amp;</a:t>
            </a:r>
          </a:p>
          <a:p>
            <a:pPr algn="l">
              <a:lnSpc>
                <a:spcPct val="115000"/>
              </a:lnSpc>
              <a:spcAft>
                <a:spcPts val="0"/>
              </a:spcAft>
            </a:pPr>
            <a:r>
              <a:rPr sz="1250" b="0">
                <a:solidFill>
                  <a:srgbClr val="0B308E"/>
                </a:solidFill>
                <a:latin typeface="Segoe UI Semibold"/>
              </a:rPr>
              <a:t>feeder automation</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radio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Push-to-talk</a:t>
            </a:r>
          </a:p>
          <a:p>
            <a:pPr algn="l">
              <a:lnSpc>
                <a:spcPct val="115000"/>
              </a:lnSpc>
              <a:spcAft>
                <a:spcPts val="0"/>
              </a:spcAft>
            </a:pPr>
            <a:r>
              <a:rPr sz="1250" b="0">
                <a:solidFill>
                  <a:srgbClr val="0B308E"/>
                </a:solidFill>
                <a:latin typeface="Segoe UI Semibold"/>
              </a:rPr>
              <a:t>for line crews</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gauge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Smart meters,</a:t>
            </a:r>
          </a:p>
          <a:p>
            <a:pPr algn="l">
              <a:lnSpc>
                <a:spcPct val="115000"/>
              </a:lnSpc>
              <a:spcAft>
                <a:spcPts val="0"/>
              </a:spcAft>
            </a:pPr>
            <a:r>
              <a:rPr sz="1250" b="0">
                <a:solidFill>
                  <a:srgbClr val="0B308E"/>
                </a:solidFill>
                <a:latin typeface="Segoe UI Semibold"/>
              </a:rPr>
              <a:t>deep indoors</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Germany  450connect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B72  ·  &gt;95% coverage</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Malaysia  TNB</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  4 areas</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Capacity package</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IoT per meter</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SCADA O&amp;M</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NEA; Department of Energy (5 Nov 2025); 450 MHz Alliance, RFI for devices (2025) p5, Annual Global Update (Dec 2025) p8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C   PRIORITY 2 OF 6  ·  WATER</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08</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Water: find the losses instead of estimating them</a:t>
            </a:r>
          </a:p>
        </p:txBody>
      </p:sp>
      <p:pic>
        <p:nvPicPr>
          <p:cNvPr id="10" name="Picture 9" descr="v6_5f9dad8d68.jpg"/>
          <p:cNvPicPr>
            <a:picLocks noChangeAspect="1"/>
          </p:cNvPicPr>
          <p:nvPr/>
        </p:nvPicPr>
        <p:blipFill>
          <a:blip r:embed="rId2"/>
          <a:srcRect t="11853" b="11853"/>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droplets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532</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water districts</a:t>
            </a:r>
          </a:p>
          <a:p>
            <a:pPr algn="l">
              <a:lnSpc>
                <a:spcPct val="115000"/>
              </a:lnSpc>
              <a:spcAft>
                <a:spcPts val="0"/>
              </a:spcAft>
            </a:pPr>
            <a:r>
              <a:rPr sz="1200" b="0">
                <a:solidFill>
                  <a:srgbClr val="55607A"/>
                </a:solidFill>
                <a:latin typeface="Segoe UI"/>
              </a:rPr>
              <a:t>under LWUA</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149</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kept losses within</a:t>
            </a:r>
          </a:p>
          <a:p>
            <a:pPr algn="l">
              <a:lnSpc>
                <a:spcPct val="115000"/>
              </a:lnSpc>
              <a:spcAft>
                <a:spcPts val="0"/>
              </a:spcAft>
            </a:pPr>
            <a:r>
              <a:rPr sz="1200" b="0">
                <a:solidFill>
                  <a:srgbClr val="55607A"/>
                </a:solidFill>
                <a:latin typeface="Segoe UI"/>
              </a:rPr>
              <a:t>the 20% limit</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gauge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Meters that</a:t>
            </a:r>
          </a:p>
          <a:p>
            <a:pPr algn="l">
              <a:lnSpc>
                <a:spcPct val="115000"/>
              </a:lnSpc>
              <a:spcAft>
                <a:spcPts val="0"/>
              </a:spcAft>
            </a:pPr>
            <a:r>
              <a:rPr sz="1250" b="0">
                <a:solidFill>
                  <a:srgbClr val="0B308E"/>
                </a:solidFill>
                <a:latin typeface="Segoe UI Semibold"/>
              </a:rPr>
              <a:t>report</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activity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Pressure sensing,</a:t>
            </a:r>
          </a:p>
          <a:p>
            <a:pPr algn="l">
              <a:lnSpc>
                <a:spcPct val="115000"/>
              </a:lnSpc>
              <a:spcAft>
                <a:spcPts val="0"/>
              </a:spcAft>
            </a:pPr>
            <a:r>
              <a:rPr sz="1250" b="0">
                <a:solidFill>
                  <a:srgbClr val="0B308E"/>
                </a:solidFill>
                <a:latin typeface="Segoe UI Semibold"/>
              </a:rPr>
              <a:t>leak location</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pu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Pump &amp; reservoir</a:t>
            </a:r>
          </a:p>
          <a:p>
            <a:pPr algn="l">
              <a:lnSpc>
                <a:spcPct val="115000"/>
              </a:lnSpc>
              <a:spcAft>
                <a:spcPts val="0"/>
              </a:spcAft>
            </a:pPr>
            <a:r>
              <a:rPr sz="1250" b="0">
                <a:solidFill>
                  <a:srgbClr val="0B308E"/>
                </a:solidFill>
                <a:latin typeface="Segoe UI Semibold"/>
              </a:rPr>
              <a:t>telemetry</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Bahrain  EWA</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water-meter network</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Kenya</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band reserved for utilities</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IoT per meter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Telemetry</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Integration</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LWUA NRW data, end-2025 (reported Aug 2026); 450 MHz Alliance, Annual Global Update (Dec 2025) p6, p8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C   PRIORITY 3 OF 6  ·  EMERGENCY</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09</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Emergency: the layer that has to survive the storm</a:t>
            </a:r>
          </a:p>
        </p:txBody>
      </p:sp>
      <p:pic>
        <p:nvPicPr>
          <p:cNvPr id="10" name="Picture 9" descr="v6_4589fbbd86.jpg"/>
          <p:cNvPicPr>
            <a:picLocks noChangeAspect="1"/>
          </p:cNvPicPr>
          <p:nvPr/>
        </p:nvPicPr>
        <p:blipFill>
          <a:blip r:embed="rId2"/>
          <a:srcRect b="2283"/>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iren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WorldRiskIndex</a:t>
            </a:r>
          </a:p>
          <a:p>
            <a:pPr algn="l">
              <a:lnSpc>
                <a:spcPct val="115000"/>
              </a:lnSpc>
              <a:spcAft>
                <a:spcPts val="0"/>
              </a:spcAft>
            </a:pPr>
            <a:r>
              <a:rPr sz="1200" b="0">
                <a:solidFill>
                  <a:srgbClr val="55607A"/>
                </a:solidFill>
                <a:latin typeface="Segoe UI"/>
              </a:rPr>
              <a:t>2025</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~20</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tropical cyclones</a:t>
            </a:r>
          </a:p>
          <a:p>
            <a:pPr algn="l">
              <a:lnSpc>
                <a:spcPct val="115000"/>
              </a:lnSpc>
              <a:spcAft>
                <a:spcPts val="0"/>
              </a:spcAft>
            </a:pPr>
            <a:r>
              <a:rPr sz="1200" b="0">
                <a:solidFill>
                  <a:srgbClr val="55607A"/>
                </a:solidFill>
                <a:latin typeface="Segoe UI"/>
              </a:rPr>
              <a:t>a year</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package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Deployed</a:t>
            </a:r>
          </a:p>
          <a:p>
            <a:pPr algn="l">
              <a:lnSpc>
                <a:spcPct val="115000"/>
              </a:lnSpc>
              <a:spcAft>
                <a:spcPts val="0"/>
              </a:spcAft>
            </a:pPr>
            <a:r>
              <a:rPr sz="1250" b="0">
                <a:solidFill>
                  <a:srgbClr val="0B308E"/>
                </a:solidFill>
                <a:latin typeface="Segoe UI Semibold"/>
              </a:rPr>
              <a:t>within hours</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satellite-dish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Satellite</a:t>
            </a:r>
          </a:p>
          <a:p>
            <a:pPr algn="l">
              <a:lnSpc>
                <a:spcPct val="115000"/>
              </a:lnSpc>
              <a:spcAft>
                <a:spcPts val="0"/>
              </a:spcAft>
            </a:pPr>
            <a:r>
              <a:rPr sz="1250" b="0">
                <a:solidFill>
                  <a:srgbClr val="0B308E"/>
                </a:solidFill>
                <a:latin typeface="Segoe UI Semibold"/>
              </a:rPr>
              <a:t>backhaul</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users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Field command</a:t>
            </a:r>
          </a:p>
          <a:p>
            <a:pPr algn="l">
              <a:lnSpc>
                <a:spcPct val="115000"/>
              </a:lnSpc>
              <a:spcAft>
                <a:spcPts val="0"/>
              </a:spcAft>
            </a:pPr>
            <a:r>
              <a:rPr sz="1250" b="0">
                <a:solidFill>
                  <a:srgbClr val="0B308E"/>
                </a:solidFill>
                <a:latin typeface="Segoe UI Semibold"/>
              </a:rPr>
              <a:t>post</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Indonesia  SeaTelSat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over satellite</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Hytera  E-pack200</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rapid-deployment kit</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Readiness retainer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Standby kits</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service</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WorldRiskReport 2025; PAGASA; 450 MHz Alliance, RFI for devices (2025) p5; Hytera product documentation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C   PRIORITY 4 OF 6  ·  POLICE</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10</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Police: one group call across the agencies</a:t>
            </a:r>
          </a:p>
        </p:txBody>
      </p:sp>
      <p:pic>
        <p:nvPicPr>
          <p:cNvPr id="10" name="Picture 9" descr="v6_6c17f9f128.jpg"/>
          <p:cNvPicPr>
            <a:picLocks noChangeAspect="1"/>
          </p:cNvPicPr>
          <p:nvPr/>
        </p:nvPicPr>
        <p:blipFill>
          <a:blip r:embed="rId2"/>
          <a:srcRect b="1915"/>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hield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Interop</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with DMR and TETRA</a:t>
            </a:r>
          </a:p>
          <a:p>
            <a:pPr algn="l">
              <a:lnSpc>
                <a:spcPct val="115000"/>
              </a:lnSpc>
              <a:spcAft>
                <a:spcPts val="0"/>
              </a:spcAft>
            </a:pPr>
            <a:r>
              <a:rPr sz="1200" b="0">
                <a:solidFill>
                  <a:srgbClr val="55607A"/>
                </a:solidFill>
                <a:latin typeface="Segoe UI"/>
              </a:rPr>
              <a:t>already in service</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Priority</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when the public</a:t>
            </a:r>
          </a:p>
          <a:p>
            <a:pPr algn="l">
              <a:lnSpc>
                <a:spcPct val="115000"/>
              </a:lnSpc>
              <a:spcAft>
                <a:spcPts val="0"/>
              </a:spcAft>
            </a:pPr>
            <a:r>
              <a:rPr sz="1200" b="0">
                <a:solidFill>
                  <a:srgbClr val="55607A"/>
                </a:solidFill>
                <a:latin typeface="Segoe UI"/>
              </a:rPr>
              <a:t>network congests</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users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Cross-agency</a:t>
            </a:r>
          </a:p>
          <a:p>
            <a:pPr algn="l">
              <a:lnSpc>
                <a:spcPct val="115000"/>
              </a:lnSpc>
              <a:spcAft>
                <a:spcPts val="0"/>
              </a:spcAft>
            </a:pPr>
            <a:r>
              <a:rPr sz="1250" b="0">
                <a:solidFill>
                  <a:srgbClr val="0B308E"/>
                </a:solidFill>
                <a:latin typeface="Segoe UI Semibold"/>
              </a:rPr>
              <a:t>group call</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video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Live video</a:t>
            </a:r>
          </a:p>
          <a:p>
            <a:pPr algn="l">
              <a:lnSpc>
                <a:spcPct val="115000"/>
              </a:lnSpc>
              <a:spcAft>
                <a:spcPts val="0"/>
              </a:spcAft>
            </a:pPr>
            <a:r>
              <a:rPr sz="1250" b="0">
                <a:solidFill>
                  <a:srgbClr val="0B308E"/>
                </a:solidFill>
                <a:latin typeface="Segoe UI Semibold"/>
              </a:rPr>
              <a:t>from the scene</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network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DMR / TETRA</a:t>
            </a:r>
          </a:p>
          <a:p>
            <a:pPr algn="l">
              <a:lnSpc>
                <a:spcPct val="115000"/>
              </a:lnSpc>
              <a:spcAft>
                <a:spcPts val="0"/>
              </a:spcAft>
            </a:pPr>
            <a:r>
              <a:rPr sz="1250" b="0">
                <a:solidFill>
                  <a:srgbClr val="0B308E"/>
                </a:solidFill>
                <a:latin typeface="Segoe UI Semibold"/>
              </a:rPr>
              <a:t>interworking</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Singapore</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  public safety</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Russia  Rostelecom</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  public safety</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per user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Devices as service</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Integration</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p8-p9; Hytera public-safety references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C   PRIORITY 5 OF 6  ·  RAIL</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11</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Rail: coverage that follows the track, not the towns</a:t>
            </a:r>
          </a:p>
        </p:txBody>
      </p:sp>
      <p:pic>
        <p:nvPicPr>
          <p:cNvPr id="10" name="Picture 9" descr="v6_8b437e2f48.jpg"/>
          <p:cNvPicPr>
            <a:picLocks noChangeAspect="1"/>
          </p:cNvPicPr>
          <p:nvPr/>
        </p:nvPicPr>
        <p:blipFill>
          <a:blip r:embed="rId2"/>
          <a:srcRect t="530" b="10530"/>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train-front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Corridor</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coverage, including</a:t>
            </a:r>
          </a:p>
          <a:p>
            <a:pPr algn="l">
              <a:lnSpc>
                <a:spcPct val="115000"/>
              </a:lnSpc>
              <a:spcAft>
                <a:spcPts val="0"/>
              </a:spcAft>
            </a:pPr>
            <a:r>
              <a:rPr sz="1200" b="0">
                <a:solidFill>
                  <a:srgbClr val="55607A"/>
                </a:solidFill>
                <a:latin typeface="Segoe UI"/>
              </a:rPr>
              <a:t>cuttings and tunnels</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Train</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to ground voice,</a:t>
            </a:r>
          </a:p>
          <a:p>
            <a:pPr algn="l">
              <a:lnSpc>
                <a:spcPct val="115000"/>
              </a:lnSpc>
              <a:spcAft>
                <a:spcPts val="0"/>
              </a:spcAft>
            </a:pPr>
            <a:r>
              <a:rPr sz="1200" b="0">
                <a:solidFill>
                  <a:srgbClr val="55607A"/>
                </a:solidFill>
                <a:latin typeface="Segoe UI"/>
              </a:rPr>
              <a:t>data and video</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radio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Dispatch</a:t>
            </a:r>
          </a:p>
          <a:p>
            <a:pPr algn="l">
              <a:lnSpc>
                <a:spcPct val="115000"/>
              </a:lnSpc>
              <a:spcAft>
                <a:spcPts val="0"/>
              </a:spcAft>
            </a:pPr>
            <a:r>
              <a:rPr sz="1250" b="0">
                <a:solidFill>
                  <a:srgbClr val="0B308E"/>
                </a:solidFill>
                <a:latin typeface="Segoe UI Semibold"/>
              </a:rPr>
              <a:t>along the line</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video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On-board</a:t>
            </a:r>
          </a:p>
          <a:p>
            <a:pPr algn="l">
              <a:lnSpc>
                <a:spcPct val="115000"/>
              </a:lnSpc>
              <a:spcAft>
                <a:spcPts val="0"/>
              </a:spcAft>
            </a:pPr>
            <a:r>
              <a:rPr sz="1250" b="0">
                <a:solidFill>
                  <a:srgbClr val="0B308E"/>
                </a:solidFill>
                <a:latin typeface="Segoe UI Semibold"/>
              </a:rPr>
              <a:t>video</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able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One network,</a:t>
            </a:r>
          </a:p>
          <a:p>
            <a:pPr algn="l">
              <a:lnSpc>
                <a:spcPct val="115000"/>
              </a:lnSpc>
              <a:spcAft>
                <a:spcPts val="0"/>
              </a:spcAft>
            </a:pPr>
            <a:r>
              <a:rPr sz="1250" b="0">
                <a:solidFill>
                  <a:srgbClr val="0B308E"/>
                </a:solidFill>
                <a:latin typeface="Segoe UI Semibold"/>
              </a:rPr>
              <a:t>not a private one</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South Africa  Transnet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for rail</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Hytera  Sri Lanka</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MCS on 9 lines</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per user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Devices as service</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Capacity</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p6; Hytera showroom briefing L211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C   PRIORITY 6 OF 6  ·  PORT</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12</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Port: the case rests on coverage over open water</a:t>
            </a:r>
          </a:p>
        </p:txBody>
      </p:sp>
      <p:pic>
        <p:nvPicPr>
          <p:cNvPr id="10" name="Picture 9" descr="v6_5d04794507.jpg"/>
          <p:cNvPicPr>
            <a:picLocks noChangeAspect="1"/>
          </p:cNvPicPr>
          <p:nvPr/>
        </p:nvPicPr>
        <p:blipFill>
          <a:blip r:embed="rId2"/>
          <a:srcRect l="6124" r="6124"/>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hip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Quay</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to open sea on</a:t>
            </a:r>
          </a:p>
          <a:p>
            <a:pPr algn="l">
              <a:lnSpc>
                <a:spcPct val="115000"/>
              </a:lnSpc>
              <a:spcAft>
                <a:spcPts val="0"/>
              </a:spcAft>
            </a:pPr>
            <a:r>
              <a:rPr sz="1200" b="0">
                <a:solidFill>
                  <a:srgbClr val="55607A"/>
                </a:solidFill>
                <a:latin typeface="Segoe UI"/>
              </a:rPr>
              <a:t>one group call</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Coastal</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sites also serve</a:t>
            </a:r>
          </a:p>
          <a:p>
            <a:pPr algn="l">
              <a:lnSpc>
                <a:spcPct val="115000"/>
              </a:lnSpc>
              <a:spcAft>
                <a:spcPts val="0"/>
              </a:spcAft>
            </a:pPr>
            <a:r>
              <a:rPr sz="1200" b="0">
                <a:solidFill>
                  <a:srgbClr val="55607A"/>
                </a:solidFill>
                <a:latin typeface="Segoe UI"/>
              </a:rPr>
              <a:t>island communities</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radio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Quay</a:t>
            </a:r>
          </a:p>
          <a:p>
            <a:pPr algn="l">
              <a:lnSpc>
                <a:spcPct val="115000"/>
              </a:lnSpc>
              <a:spcAft>
                <a:spcPts val="0"/>
              </a:spcAft>
            </a:pPr>
            <a:r>
              <a:rPr sz="1250" b="0">
                <a:solidFill>
                  <a:srgbClr val="0B308E"/>
                </a:solidFill>
                <a:latin typeface="Segoe UI Semibold"/>
              </a:rPr>
              <a:t>dispatch</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ship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Ship-to-shore</a:t>
            </a:r>
          </a:p>
          <a:p>
            <a:pPr algn="l">
              <a:lnSpc>
                <a:spcPct val="115000"/>
              </a:lnSpc>
              <a:spcAft>
                <a:spcPts val="0"/>
              </a:spcAft>
            </a:pPr>
            <a:r>
              <a:rPr sz="1250" b="0">
                <a:solidFill>
                  <a:srgbClr val="0B308E"/>
                </a:solidFill>
                <a:latin typeface="Segoe UI Semibold"/>
              </a:rPr>
              <a:t>voice &amp; data</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waves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Coast guard</a:t>
            </a:r>
          </a:p>
          <a:p>
            <a:pPr algn="l">
              <a:lnSpc>
                <a:spcPct val="115000"/>
              </a:lnSpc>
              <a:spcAft>
                <a:spcPts val="0"/>
              </a:spcAft>
            </a:pPr>
            <a:r>
              <a:rPr sz="1250" b="0">
                <a:solidFill>
                  <a:srgbClr val="0B308E"/>
                </a:solidFill>
                <a:latin typeface="Segoe UI Semibold"/>
              </a:rPr>
              <a:t>patrols</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Precedent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no 450 MHz port yet</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Basis</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low-band reach over sea</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per user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Capacity</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Coastal coverage</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reports (no port deployment listed); Hytera transport and maritime references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D   HOW WE DELIVER</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13</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One build serves all six industries; only terminals and apps change</a:t>
            </a:r>
          </a:p>
        </p:txBody>
      </p:sp>
      <p:sp>
        <p:nvSpPr>
          <p:cNvPr id="10" name="Rectangle 9"/>
          <p:cNvSpPr/>
          <p:nvPr/>
        </p:nvSpPr>
        <p:spPr>
          <a:xfrm>
            <a:off x="609600" y="1549400"/>
            <a:ext cx="34544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martphone_white.png"/>
          <p:cNvPicPr>
            <a:picLocks noChangeAspect="1"/>
          </p:cNvPicPr>
          <p:nvPr/>
        </p:nvPicPr>
        <p:blipFill>
          <a:blip r:embed="rId2"/>
          <a:stretch>
            <a:fillRect/>
          </a:stretch>
        </p:blipFill>
        <p:spPr>
          <a:xfrm>
            <a:off x="812800" y="1663700"/>
            <a:ext cx="279400" cy="279400"/>
          </a:xfrm>
          <a:prstGeom prst="rect">
            <a:avLst/>
          </a:prstGeom>
        </p:spPr>
      </p:pic>
      <p:sp>
        <p:nvSpPr>
          <p:cNvPr id="12" name="TextBox 11"/>
          <p:cNvSpPr txBox="1"/>
          <p:nvPr/>
        </p:nvSpPr>
        <p:spPr>
          <a:xfrm>
            <a:off x="1219200" y="1549400"/>
            <a:ext cx="2540000" cy="508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Terminal</a:t>
            </a:r>
          </a:p>
        </p:txBody>
      </p:sp>
      <p:sp>
        <p:nvSpPr>
          <p:cNvPr id="13" name="Rectangle 12"/>
          <p:cNvSpPr/>
          <p:nvPr/>
        </p:nvSpPr>
        <p:spPr>
          <a:xfrm>
            <a:off x="609600" y="2057400"/>
            <a:ext cx="3454400" cy="281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812800" y="2184400"/>
            <a:ext cx="3048000" cy="1447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a_d6e477498b.png"/>
          <p:cNvPicPr>
            <a:picLocks noChangeAspect="1"/>
          </p:cNvPicPr>
          <p:nvPr/>
        </p:nvPicPr>
        <p:blipFill>
          <a:blip r:embed="rId3"/>
          <a:stretch>
            <a:fillRect/>
          </a:stretch>
        </p:blipFill>
        <p:spPr>
          <a:xfrm>
            <a:off x="1496591" y="2235200"/>
            <a:ext cx="1680416" cy="1346200"/>
          </a:xfrm>
          <a:prstGeom prst="rect">
            <a:avLst/>
          </a:prstGeom>
        </p:spPr>
      </p:pic>
      <p:sp>
        <p:nvSpPr>
          <p:cNvPr id="16" name="Rectangle 15"/>
          <p:cNvSpPr/>
          <p:nvPr/>
        </p:nvSpPr>
        <p:spPr>
          <a:xfrm>
            <a:off x="812800" y="38354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90600" y="37338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PNC660 450M</a:t>
            </a:r>
          </a:p>
        </p:txBody>
      </p:sp>
      <p:sp>
        <p:nvSpPr>
          <p:cNvPr id="18" name="TextBox 17"/>
          <p:cNvSpPr txBox="1"/>
          <p:nvPr/>
        </p:nvSpPr>
        <p:spPr>
          <a:xfrm>
            <a:off x="2438400" y="37338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handheld</a:t>
            </a:r>
          </a:p>
        </p:txBody>
      </p:sp>
      <p:sp>
        <p:nvSpPr>
          <p:cNvPr id="19" name="Rectangle 18"/>
          <p:cNvSpPr/>
          <p:nvPr/>
        </p:nvSpPr>
        <p:spPr>
          <a:xfrm>
            <a:off x="812800" y="41148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90600" y="40132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MNC650 450M</a:t>
            </a:r>
          </a:p>
        </p:txBody>
      </p:sp>
      <p:sp>
        <p:nvSpPr>
          <p:cNvPr id="21" name="TextBox 20"/>
          <p:cNvSpPr txBox="1"/>
          <p:nvPr/>
        </p:nvSpPr>
        <p:spPr>
          <a:xfrm>
            <a:off x="2438400" y="40132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vehicle radio</a:t>
            </a:r>
          </a:p>
        </p:txBody>
      </p:sp>
      <p:sp>
        <p:nvSpPr>
          <p:cNvPr id="22" name="Rectangle 21"/>
          <p:cNvSpPr/>
          <p:nvPr/>
        </p:nvSpPr>
        <p:spPr>
          <a:xfrm>
            <a:off x="812800" y="4394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90600" y="42926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P70 5G+450M</a:t>
            </a:r>
          </a:p>
        </p:txBody>
      </p:sp>
      <p:sp>
        <p:nvSpPr>
          <p:cNvPr id="24" name="TextBox 23"/>
          <p:cNvSpPr txBox="1"/>
          <p:nvPr/>
        </p:nvSpPr>
        <p:spPr>
          <a:xfrm>
            <a:off x="2438400" y="42926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2026 Q4</a:t>
            </a:r>
          </a:p>
        </p:txBody>
      </p:sp>
      <p:sp>
        <p:nvSpPr>
          <p:cNvPr id="25" name="Rectangle 24"/>
          <p:cNvSpPr/>
          <p:nvPr/>
        </p:nvSpPr>
        <p:spPr>
          <a:xfrm>
            <a:off x="812800" y="46736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90600" y="45720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PNC660Ex</a:t>
            </a:r>
          </a:p>
        </p:txBody>
      </p:sp>
      <p:sp>
        <p:nvSpPr>
          <p:cNvPr id="27" name="TextBox 26"/>
          <p:cNvSpPr txBox="1"/>
          <p:nvPr/>
        </p:nvSpPr>
        <p:spPr>
          <a:xfrm>
            <a:off x="2438400" y="45720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ATEX, 2027 Q2</a:t>
            </a:r>
          </a:p>
        </p:txBody>
      </p:sp>
      <p:pic>
        <p:nvPicPr>
          <p:cNvPr id="28" name="Picture 27" descr="arrow-right_steel.png"/>
          <p:cNvPicPr>
            <a:picLocks noChangeAspect="1"/>
          </p:cNvPicPr>
          <p:nvPr/>
        </p:nvPicPr>
        <p:blipFill>
          <a:blip r:embed="rId4"/>
          <a:stretch>
            <a:fillRect/>
          </a:stretch>
        </p:blipFill>
        <p:spPr>
          <a:xfrm>
            <a:off x="4089400" y="3302000"/>
            <a:ext cx="254000" cy="254000"/>
          </a:xfrm>
          <a:prstGeom prst="rect">
            <a:avLst/>
          </a:prstGeom>
        </p:spPr>
      </p:pic>
      <p:sp>
        <p:nvSpPr>
          <p:cNvPr id="29" name="Rectangle 28"/>
          <p:cNvSpPr/>
          <p:nvPr/>
        </p:nvSpPr>
        <p:spPr>
          <a:xfrm>
            <a:off x="4368800" y="1549400"/>
            <a:ext cx="34544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radio-tower_white.png"/>
          <p:cNvPicPr>
            <a:picLocks noChangeAspect="1"/>
          </p:cNvPicPr>
          <p:nvPr/>
        </p:nvPicPr>
        <p:blipFill>
          <a:blip r:embed="rId5"/>
          <a:stretch>
            <a:fillRect/>
          </a:stretch>
        </p:blipFill>
        <p:spPr>
          <a:xfrm>
            <a:off x="4572000" y="1663700"/>
            <a:ext cx="279400" cy="279400"/>
          </a:xfrm>
          <a:prstGeom prst="rect">
            <a:avLst/>
          </a:prstGeom>
        </p:spPr>
      </p:pic>
      <p:sp>
        <p:nvSpPr>
          <p:cNvPr id="31" name="TextBox 30"/>
          <p:cNvSpPr txBox="1"/>
          <p:nvPr/>
        </p:nvSpPr>
        <p:spPr>
          <a:xfrm>
            <a:off x="4978400" y="1549400"/>
            <a:ext cx="2540000" cy="508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Network</a:t>
            </a:r>
          </a:p>
        </p:txBody>
      </p:sp>
      <p:sp>
        <p:nvSpPr>
          <p:cNvPr id="32" name="Rectangle 31"/>
          <p:cNvSpPr/>
          <p:nvPr/>
        </p:nvSpPr>
        <p:spPr>
          <a:xfrm>
            <a:off x="4368800" y="2057400"/>
            <a:ext cx="3454400" cy="281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4572000" y="2184400"/>
            <a:ext cx="3048000" cy="1447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4" name="Picture 33" descr="a_d5f6457e97.png"/>
          <p:cNvPicPr>
            <a:picLocks noChangeAspect="1"/>
          </p:cNvPicPr>
          <p:nvPr/>
        </p:nvPicPr>
        <p:blipFill>
          <a:blip r:embed="rId6"/>
          <a:stretch>
            <a:fillRect/>
          </a:stretch>
        </p:blipFill>
        <p:spPr>
          <a:xfrm>
            <a:off x="5595982" y="2235200"/>
            <a:ext cx="1000034" cy="1346200"/>
          </a:xfrm>
          <a:prstGeom prst="rect">
            <a:avLst/>
          </a:prstGeom>
        </p:spPr>
      </p:pic>
      <p:sp>
        <p:nvSpPr>
          <p:cNvPr id="35" name="Rectangle 34"/>
          <p:cNvSpPr/>
          <p:nvPr/>
        </p:nvSpPr>
        <p:spPr>
          <a:xfrm>
            <a:off x="4572000" y="38354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4749800" y="37338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450 MHz eNB</a:t>
            </a:r>
          </a:p>
        </p:txBody>
      </p:sp>
      <p:sp>
        <p:nvSpPr>
          <p:cNvPr id="37" name="TextBox 36"/>
          <p:cNvSpPr txBox="1"/>
          <p:nvPr/>
        </p:nvSpPr>
        <p:spPr>
          <a:xfrm>
            <a:off x="6197600" y="37338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few sites</a:t>
            </a:r>
          </a:p>
        </p:txBody>
      </p:sp>
      <p:sp>
        <p:nvSpPr>
          <p:cNvPr id="38" name="Rectangle 37"/>
          <p:cNvSpPr/>
          <p:nvPr/>
        </p:nvSpPr>
        <p:spPr>
          <a:xfrm>
            <a:off x="4572000" y="41148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749800" y="40132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Core</a:t>
            </a:r>
          </a:p>
        </p:txBody>
      </p:sp>
      <p:sp>
        <p:nvSpPr>
          <p:cNvPr id="40" name="TextBox 39"/>
          <p:cNvSpPr txBox="1"/>
          <p:nvPr/>
        </p:nvSpPr>
        <p:spPr>
          <a:xfrm>
            <a:off x="6197600" y="40132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private or shared</a:t>
            </a:r>
          </a:p>
        </p:txBody>
      </p:sp>
      <p:sp>
        <p:nvSpPr>
          <p:cNvPr id="41" name="Rectangle 40"/>
          <p:cNvSpPr/>
          <p:nvPr/>
        </p:nvSpPr>
        <p:spPr>
          <a:xfrm>
            <a:off x="4572000" y="4394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749800" y="42926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Backhaul</a:t>
            </a:r>
          </a:p>
        </p:txBody>
      </p:sp>
      <p:sp>
        <p:nvSpPr>
          <p:cNvPr id="43" name="TextBox 42"/>
          <p:cNvSpPr txBox="1"/>
          <p:nvPr/>
        </p:nvSpPr>
        <p:spPr>
          <a:xfrm>
            <a:off x="6197600" y="42926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fibre / MW / sat</a:t>
            </a:r>
          </a:p>
        </p:txBody>
      </p:sp>
      <p:sp>
        <p:nvSpPr>
          <p:cNvPr id="44" name="Rectangle 43"/>
          <p:cNvSpPr/>
          <p:nvPr/>
        </p:nvSpPr>
        <p:spPr>
          <a:xfrm>
            <a:off x="4572000" y="46736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4749800" y="45720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Rapid deploy</a:t>
            </a:r>
          </a:p>
        </p:txBody>
      </p:sp>
      <p:sp>
        <p:nvSpPr>
          <p:cNvPr id="46" name="TextBox 45"/>
          <p:cNvSpPr txBox="1"/>
          <p:nvPr/>
        </p:nvSpPr>
        <p:spPr>
          <a:xfrm>
            <a:off x="6197600" y="45720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portable kit</a:t>
            </a:r>
          </a:p>
        </p:txBody>
      </p:sp>
      <p:pic>
        <p:nvPicPr>
          <p:cNvPr id="47" name="Picture 46" descr="arrow-right_steel.png"/>
          <p:cNvPicPr>
            <a:picLocks noChangeAspect="1"/>
          </p:cNvPicPr>
          <p:nvPr/>
        </p:nvPicPr>
        <p:blipFill>
          <a:blip r:embed="rId4"/>
          <a:stretch>
            <a:fillRect/>
          </a:stretch>
        </p:blipFill>
        <p:spPr>
          <a:xfrm>
            <a:off x="7848600" y="3302000"/>
            <a:ext cx="254000" cy="254000"/>
          </a:xfrm>
          <a:prstGeom prst="rect">
            <a:avLst/>
          </a:prstGeom>
        </p:spPr>
      </p:pic>
      <p:sp>
        <p:nvSpPr>
          <p:cNvPr id="48" name="Rectangle 47"/>
          <p:cNvSpPr/>
          <p:nvPr/>
        </p:nvSpPr>
        <p:spPr>
          <a:xfrm>
            <a:off x="8128000" y="1549400"/>
            <a:ext cx="34544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9" name="Picture 48" descr="layers_white.png"/>
          <p:cNvPicPr>
            <a:picLocks noChangeAspect="1"/>
          </p:cNvPicPr>
          <p:nvPr/>
        </p:nvPicPr>
        <p:blipFill>
          <a:blip r:embed="rId7"/>
          <a:stretch>
            <a:fillRect/>
          </a:stretch>
        </p:blipFill>
        <p:spPr>
          <a:xfrm>
            <a:off x="8331200" y="1663700"/>
            <a:ext cx="279400" cy="279400"/>
          </a:xfrm>
          <a:prstGeom prst="rect">
            <a:avLst/>
          </a:prstGeom>
        </p:spPr>
      </p:pic>
      <p:sp>
        <p:nvSpPr>
          <p:cNvPr id="50" name="TextBox 49"/>
          <p:cNvSpPr txBox="1"/>
          <p:nvPr/>
        </p:nvSpPr>
        <p:spPr>
          <a:xfrm>
            <a:off x="8737600" y="1549400"/>
            <a:ext cx="2540000" cy="508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Application</a:t>
            </a:r>
          </a:p>
        </p:txBody>
      </p:sp>
      <p:sp>
        <p:nvSpPr>
          <p:cNvPr id="51" name="Rectangle 50"/>
          <p:cNvSpPr/>
          <p:nvPr/>
        </p:nvSpPr>
        <p:spPr>
          <a:xfrm>
            <a:off x="8128000" y="2057400"/>
            <a:ext cx="3454400" cy="281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Rectangle 51"/>
          <p:cNvSpPr/>
          <p:nvPr/>
        </p:nvSpPr>
        <p:spPr>
          <a:xfrm>
            <a:off x="8331200" y="2184400"/>
            <a:ext cx="3048000" cy="1447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3" name="Picture 52" descr="a_5f06b6905c.png"/>
          <p:cNvPicPr>
            <a:picLocks noChangeAspect="1"/>
          </p:cNvPicPr>
          <p:nvPr/>
        </p:nvPicPr>
        <p:blipFill>
          <a:blip r:embed="rId8"/>
          <a:stretch>
            <a:fillRect/>
          </a:stretch>
        </p:blipFill>
        <p:spPr>
          <a:xfrm>
            <a:off x="8407400" y="2251964"/>
            <a:ext cx="2895600" cy="1312672"/>
          </a:xfrm>
          <a:prstGeom prst="rect">
            <a:avLst/>
          </a:prstGeom>
        </p:spPr>
      </p:pic>
      <p:sp>
        <p:nvSpPr>
          <p:cNvPr id="54" name="Rectangle 53"/>
          <p:cNvSpPr/>
          <p:nvPr/>
        </p:nvSpPr>
        <p:spPr>
          <a:xfrm>
            <a:off x="8331200" y="38354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8509000" y="37338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MCS</a:t>
            </a:r>
          </a:p>
        </p:txBody>
      </p:sp>
      <p:sp>
        <p:nvSpPr>
          <p:cNvPr id="56" name="TextBox 55"/>
          <p:cNvSpPr txBox="1"/>
          <p:nvPr/>
        </p:nvSpPr>
        <p:spPr>
          <a:xfrm>
            <a:off x="9956800" y="37338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PTT · video · data</a:t>
            </a:r>
          </a:p>
        </p:txBody>
      </p:sp>
      <p:sp>
        <p:nvSpPr>
          <p:cNvPr id="57" name="Rectangle 56"/>
          <p:cNvSpPr/>
          <p:nvPr/>
        </p:nvSpPr>
        <p:spPr>
          <a:xfrm>
            <a:off x="8331200" y="41148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8509000" y="40132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Dispatch</a:t>
            </a:r>
          </a:p>
        </p:txBody>
      </p:sp>
      <p:sp>
        <p:nvSpPr>
          <p:cNvPr id="59" name="TextBox 58"/>
          <p:cNvSpPr txBox="1"/>
          <p:nvPr/>
        </p:nvSpPr>
        <p:spPr>
          <a:xfrm>
            <a:off x="9956800" y="40132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voice, video, GIS</a:t>
            </a:r>
          </a:p>
        </p:txBody>
      </p:sp>
      <p:sp>
        <p:nvSpPr>
          <p:cNvPr id="60" name="Rectangle 59"/>
          <p:cNvSpPr/>
          <p:nvPr/>
        </p:nvSpPr>
        <p:spPr>
          <a:xfrm>
            <a:off x="8331200" y="4394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8509000" y="42926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Recording</a:t>
            </a:r>
          </a:p>
        </p:txBody>
      </p:sp>
      <p:sp>
        <p:nvSpPr>
          <p:cNvPr id="62" name="TextBox 61"/>
          <p:cNvSpPr txBox="1"/>
          <p:nvPr/>
        </p:nvSpPr>
        <p:spPr>
          <a:xfrm>
            <a:off x="9956800" y="42926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playback</a:t>
            </a:r>
          </a:p>
        </p:txBody>
      </p:sp>
      <p:sp>
        <p:nvSpPr>
          <p:cNvPr id="63" name="Rectangle 62"/>
          <p:cNvSpPr/>
          <p:nvPr/>
        </p:nvSpPr>
        <p:spPr>
          <a:xfrm>
            <a:off x="8331200" y="46736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4" name="TextBox 63"/>
          <p:cNvSpPr txBox="1"/>
          <p:nvPr/>
        </p:nvSpPr>
        <p:spPr>
          <a:xfrm>
            <a:off x="8509000" y="45720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Device mgmt</a:t>
            </a:r>
          </a:p>
        </p:txBody>
      </p:sp>
      <p:sp>
        <p:nvSpPr>
          <p:cNvPr id="65" name="TextBox 64"/>
          <p:cNvSpPr txBox="1"/>
          <p:nvPr/>
        </p:nvSpPr>
        <p:spPr>
          <a:xfrm>
            <a:off x="9956800" y="45720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zero-touch</a:t>
            </a:r>
          </a:p>
        </p:txBody>
      </p:sp>
      <p:sp>
        <p:nvSpPr>
          <p:cNvPr id="66" name="Rectangle 65"/>
          <p:cNvSpPr/>
          <p:nvPr/>
        </p:nvSpPr>
        <p:spPr>
          <a:xfrm>
            <a:off x="609600" y="5080000"/>
            <a:ext cx="5334000" cy="12192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7" name="Picture 66" descr="check_green.png"/>
          <p:cNvPicPr>
            <a:picLocks noChangeAspect="1"/>
          </p:cNvPicPr>
          <p:nvPr/>
        </p:nvPicPr>
        <p:blipFill>
          <a:blip r:embed="rId9"/>
          <a:stretch>
            <a:fillRect/>
          </a:stretch>
        </p:blipFill>
        <p:spPr>
          <a:xfrm>
            <a:off x="812800" y="5257800"/>
            <a:ext cx="304800" cy="304800"/>
          </a:xfrm>
          <a:prstGeom prst="rect">
            <a:avLst/>
          </a:prstGeom>
        </p:spPr>
      </p:pic>
      <p:sp>
        <p:nvSpPr>
          <p:cNvPr id="68" name="TextBox 67"/>
          <p:cNvSpPr txBox="1"/>
          <p:nvPr/>
        </p:nvSpPr>
        <p:spPr>
          <a:xfrm>
            <a:off x="1244600" y="52578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MCS</a:t>
            </a:r>
          </a:p>
        </p:txBody>
      </p:sp>
      <p:sp>
        <p:nvSpPr>
          <p:cNvPr id="69" name="TextBox 68"/>
          <p:cNvSpPr txBox="1"/>
          <p:nvPr/>
        </p:nvSpPr>
        <p:spPr>
          <a:xfrm>
            <a:off x="812800" y="5664200"/>
            <a:ext cx="4927600" cy="508000"/>
          </a:xfrm>
          <a:prstGeom prst="rect">
            <a:avLst/>
          </a:prstGeom>
          <a:noFill/>
        </p:spPr>
        <p:txBody>
          <a:bodyPr wrap="square" lIns="0" rIns="0" tIns="0" bIns="0" anchor="t">
            <a:spAutoFit/>
          </a:bodyPr>
          <a:lstStyle/>
          <a:p>
            <a:pPr algn="l">
              <a:lnSpc>
                <a:spcPct val="120000"/>
              </a:lnSpc>
              <a:spcAft>
                <a:spcPts val="0"/>
              </a:spcAft>
            </a:pPr>
            <a:r>
              <a:rPr sz="1250" b="0">
                <a:solidFill>
                  <a:srgbClr val="16213E"/>
                </a:solidFill>
                <a:latin typeface="Segoe UI"/>
              </a:rPr>
              <a:t>a 3GPP standard: runs on any LTE or 5G radio</a:t>
            </a:r>
          </a:p>
        </p:txBody>
      </p:sp>
      <p:sp>
        <p:nvSpPr>
          <p:cNvPr id="70" name="Rectangle 69"/>
          <p:cNvSpPr/>
          <p:nvPr/>
        </p:nvSpPr>
        <p:spPr>
          <a:xfrm>
            <a:off x="6248400" y="5080000"/>
            <a:ext cx="5334000" cy="12192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1" name="Picture 70" descr="badge-check_navy.png"/>
          <p:cNvPicPr>
            <a:picLocks noChangeAspect="1"/>
          </p:cNvPicPr>
          <p:nvPr/>
        </p:nvPicPr>
        <p:blipFill>
          <a:blip r:embed="rId10"/>
          <a:stretch>
            <a:fillRect/>
          </a:stretch>
        </p:blipFill>
        <p:spPr>
          <a:xfrm>
            <a:off x="6451600" y="5257800"/>
            <a:ext cx="304800" cy="304800"/>
          </a:xfrm>
          <a:prstGeom prst="rect">
            <a:avLst/>
          </a:prstGeom>
        </p:spPr>
      </p:pic>
      <p:sp>
        <p:nvSpPr>
          <p:cNvPr id="72" name="TextBox 71"/>
          <p:cNvSpPr txBox="1"/>
          <p:nvPr/>
        </p:nvSpPr>
        <p:spPr>
          <a:xfrm>
            <a:off x="6883400" y="52578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HYTERA</a:t>
            </a:r>
          </a:p>
        </p:txBody>
      </p:sp>
      <p:sp>
        <p:nvSpPr>
          <p:cNvPr id="73" name="TextBox 72"/>
          <p:cNvSpPr txBox="1"/>
          <p:nvPr/>
        </p:nvSpPr>
        <p:spPr>
          <a:xfrm>
            <a:off x="6451600" y="5664200"/>
            <a:ext cx="4927600" cy="508000"/>
          </a:xfrm>
          <a:prstGeom prst="rect">
            <a:avLst/>
          </a:prstGeom>
          <a:noFill/>
        </p:spPr>
        <p:txBody>
          <a:bodyPr wrap="square" lIns="0" rIns="0" tIns="0" bIns="0" anchor="t">
            <a:spAutoFit/>
          </a:bodyPr>
          <a:lstStyle/>
          <a:p>
            <a:pPr algn="l">
              <a:lnSpc>
                <a:spcPct val="120000"/>
              </a:lnSpc>
              <a:spcAft>
                <a:spcPts val="0"/>
              </a:spcAft>
            </a:pPr>
            <a:r>
              <a:rPr sz="1250" b="0">
                <a:solidFill>
                  <a:srgbClr val="16213E"/>
                </a:solidFill>
                <a:latin typeface="Segoe UI"/>
              </a:rPr>
              <a:t>Alliance-listed device and eNB supplier; 450connect whitelisted</a:t>
            </a:r>
          </a:p>
        </p:txBody>
      </p:sp>
      <p:sp>
        <p:nvSpPr>
          <p:cNvPr id="74" name="TextBox 73"/>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450M Roadmap; HyTalk MC V6.1; 450 MHz Alliance, Equipment Report (May 2025) p5; 450connect whitelist certificate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D   REFERENCES</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14</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Three 450 MHz networks in service, three national MCS deployments</a:t>
            </a:r>
          </a:p>
        </p:txBody>
      </p:sp>
      <p:pic>
        <p:nvPicPr>
          <p:cNvPr id="10" name="Picture 9" descr="radio-tower_green.png"/>
          <p:cNvPicPr>
            <a:picLocks noChangeAspect="1"/>
          </p:cNvPicPr>
          <p:nvPr/>
        </p:nvPicPr>
        <p:blipFill>
          <a:blip r:embed="rId2"/>
          <a:stretch>
            <a:fillRect/>
          </a:stretch>
        </p:blipFill>
        <p:spPr>
          <a:xfrm>
            <a:off x="609600" y="1549400"/>
            <a:ext cx="228600" cy="228600"/>
          </a:xfrm>
          <a:prstGeom prst="rect">
            <a:avLst/>
          </a:prstGeom>
        </p:spPr>
      </p:pic>
      <p:sp>
        <p:nvSpPr>
          <p:cNvPr id="11" name="TextBox 10"/>
          <p:cNvSpPr txBox="1"/>
          <p:nvPr/>
        </p:nvSpPr>
        <p:spPr>
          <a:xfrm>
            <a:off x="965200" y="1549400"/>
            <a:ext cx="7620000" cy="2286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450 MHZ NETWORKS IN SERVICE  ·  OPERATOR NETWORKS</a:t>
            </a:r>
          </a:p>
        </p:txBody>
      </p:sp>
      <p:sp>
        <p:nvSpPr>
          <p:cNvPr id="12" name="Rectangle 11"/>
          <p:cNvSpPr/>
          <p:nvPr/>
        </p:nvSpPr>
        <p:spPr>
          <a:xfrm>
            <a:off x="609600" y="1854200"/>
            <a:ext cx="3454400" cy="1905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09600" y="1854200"/>
            <a:ext cx="13208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4" name="Picture 13" descr="loc_germany.png"/>
          <p:cNvPicPr>
            <a:picLocks noChangeAspect="1"/>
          </p:cNvPicPr>
          <p:nvPr/>
        </p:nvPicPr>
        <p:blipFill>
          <a:blip r:embed="rId3"/>
          <a:stretch>
            <a:fillRect/>
          </a:stretch>
        </p:blipFill>
        <p:spPr>
          <a:xfrm>
            <a:off x="609600" y="1854200"/>
            <a:ext cx="1320800" cy="1905000"/>
          </a:xfrm>
          <a:prstGeom prst="rect">
            <a:avLst/>
          </a:prstGeom>
        </p:spPr>
      </p:pic>
      <p:sp>
        <p:nvSpPr>
          <p:cNvPr id="15" name="TextBox 14"/>
          <p:cNvSpPr txBox="1"/>
          <p:nvPr/>
        </p:nvSpPr>
        <p:spPr>
          <a:xfrm>
            <a:off x="2108200" y="20066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GERMANY</a:t>
            </a:r>
          </a:p>
        </p:txBody>
      </p:sp>
      <p:sp>
        <p:nvSpPr>
          <p:cNvPr id="16" name="TextBox 15"/>
          <p:cNvSpPr txBox="1"/>
          <p:nvPr/>
        </p:nvSpPr>
        <p:spPr>
          <a:xfrm>
            <a:off x="2108200" y="22098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450connect</a:t>
            </a:r>
          </a:p>
        </p:txBody>
      </p:sp>
      <p:sp>
        <p:nvSpPr>
          <p:cNvPr id="17" name="TextBox 16"/>
          <p:cNvSpPr txBox="1"/>
          <p:nvPr/>
        </p:nvSpPr>
        <p:spPr>
          <a:xfrm>
            <a:off x="2108200" y="24892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7F9B00"/>
                </a:solidFill>
                <a:latin typeface="Segoe UI Light"/>
              </a:rPr>
              <a:t>B72</a:t>
            </a:r>
          </a:p>
        </p:txBody>
      </p:sp>
      <p:sp>
        <p:nvSpPr>
          <p:cNvPr id="18" name="TextBox 17"/>
          <p:cNvSpPr txBox="1"/>
          <p:nvPr/>
        </p:nvSpPr>
        <p:spPr>
          <a:xfrm>
            <a:off x="2108200" y="29210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national utility network</a:t>
            </a:r>
          </a:p>
        </p:txBody>
      </p:sp>
      <p:pic>
        <p:nvPicPr>
          <p:cNvPr id="19" name="Picture 18" descr="check_green.png"/>
          <p:cNvPicPr>
            <a:picLocks noChangeAspect="1"/>
          </p:cNvPicPr>
          <p:nvPr/>
        </p:nvPicPr>
        <p:blipFill>
          <a:blip r:embed="rId4"/>
          <a:stretch>
            <a:fillRect/>
          </a:stretch>
        </p:blipFill>
        <p:spPr>
          <a:xfrm>
            <a:off x="2108200" y="3251200"/>
            <a:ext cx="152400" cy="152400"/>
          </a:xfrm>
          <a:prstGeom prst="rect">
            <a:avLst/>
          </a:prstGeom>
        </p:spPr>
      </p:pic>
      <p:sp>
        <p:nvSpPr>
          <p:cNvPr id="20" name="TextBox 19"/>
          <p:cNvSpPr txBox="1"/>
          <p:nvPr/>
        </p:nvSpPr>
        <p:spPr>
          <a:xfrm>
            <a:off x="2336800" y="3200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&gt;95% coverage</a:t>
            </a:r>
          </a:p>
        </p:txBody>
      </p:sp>
      <p:pic>
        <p:nvPicPr>
          <p:cNvPr id="21" name="Picture 20" descr="check_green.png"/>
          <p:cNvPicPr>
            <a:picLocks noChangeAspect="1"/>
          </p:cNvPicPr>
          <p:nvPr/>
        </p:nvPicPr>
        <p:blipFill>
          <a:blip r:embed="rId4"/>
          <a:stretch>
            <a:fillRect/>
          </a:stretch>
        </p:blipFill>
        <p:spPr>
          <a:xfrm>
            <a:off x="2108200" y="3505200"/>
            <a:ext cx="152400" cy="152400"/>
          </a:xfrm>
          <a:prstGeom prst="rect">
            <a:avLst/>
          </a:prstGeom>
        </p:spPr>
      </p:pic>
      <p:sp>
        <p:nvSpPr>
          <p:cNvPr id="22" name="TextBox 21"/>
          <p:cNvSpPr txBox="1"/>
          <p:nvPr/>
        </p:nvSpPr>
        <p:spPr>
          <a:xfrm>
            <a:off x="2336800" y="3454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PNC660 whitelisted</a:t>
            </a:r>
          </a:p>
        </p:txBody>
      </p:sp>
      <p:sp>
        <p:nvSpPr>
          <p:cNvPr id="23" name="Rectangle 22"/>
          <p:cNvSpPr/>
          <p:nvPr/>
        </p:nvSpPr>
        <p:spPr>
          <a:xfrm>
            <a:off x="4368800" y="1854200"/>
            <a:ext cx="3454400" cy="1905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368800" y="1854200"/>
            <a:ext cx="13208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loc_malaysia.png"/>
          <p:cNvPicPr>
            <a:picLocks noChangeAspect="1"/>
          </p:cNvPicPr>
          <p:nvPr/>
        </p:nvPicPr>
        <p:blipFill>
          <a:blip r:embed="rId5"/>
          <a:stretch>
            <a:fillRect/>
          </a:stretch>
        </p:blipFill>
        <p:spPr>
          <a:xfrm>
            <a:off x="4368800" y="1854200"/>
            <a:ext cx="1320800" cy="1905000"/>
          </a:xfrm>
          <a:prstGeom prst="rect">
            <a:avLst/>
          </a:prstGeom>
        </p:spPr>
      </p:pic>
      <p:sp>
        <p:nvSpPr>
          <p:cNvPr id="26" name="TextBox 25"/>
          <p:cNvSpPr txBox="1"/>
          <p:nvPr/>
        </p:nvSpPr>
        <p:spPr>
          <a:xfrm>
            <a:off x="5867400" y="20066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MALAYSIA</a:t>
            </a:r>
          </a:p>
        </p:txBody>
      </p:sp>
      <p:sp>
        <p:nvSpPr>
          <p:cNvPr id="27" name="TextBox 26"/>
          <p:cNvSpPr txBox="1"/>
          <p:nvPr/>
        </p:nvSpPr>
        <p:spPr>
          <a:xfrm>
            <a:off x="5867400" y="22098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TNB</a:t>
            </a:r>
          </a:p>
        </p:txBody>
      </p:sp>
      <p:sp>
        <p:nvSpPr>
          <p:cNvPr id="28" name="TextBox 27"/>
          <p:cNvSpPr txBox="1"/>
          <p:nvPr/>
        </p:nvSpPr>
        <p:spPr>
          <a:xfrm>
            <a:off x="5867400" y="24892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7F9B00"/>
                </a:solidFill>
                <a:latin typeface="Segoe UI Light"/>
              </a:rPr>
              <a:t>B31</a:t>
            </a:r>
          </a:p>
        </p:txBody>
      </p:sp>
      <p:sp>
        <p:nvSpPr>
          <p:cNvPr id="29" name="TextBox 28"/>
          <p:cNvSpPr txBox="1"/>
          <p:nvPr/>
        </p:nvSpPr>
        <p:spPr>
          <a:xfrm>
            <a:off x="5867400" y="29210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utility network</a:t>
            </a:r>
          </a:p>
        </p:txBody>
      </p:sp>
      <p:pic>
        <p:nvPicPr>
          <p:cNvPr id="30" name="Picture 29" descr="check_green.png"/>
          <p:cNvPicPr>
            <a:picLocks noChangeAspect="1"/>
          </p:cNvPicPr>
          <p:nvPr/>
        </p:nvPicPr>
        <p:blipFill>
          <a:blip r:embed="rId4"/>
          <a:stretch>
            <a:fillRect/>
          </a:stretch>
        </p:blipFill>
        <p:spPr>
          <a:xfrm>
            <a:off x="5867400" y="3251200"/>
            <a:ext cx="152400" cy="152400"/>
          </a:xfrm>
          <a:prstGeom prst="rect">
            <a:avLst/>
          </a:prstGeom>
        </p:spPr>
      </p:pic>
      <p:sp>
        <p:nvSpPr>
          <p:cNvPr id="31" name="TextBox 30"/>
          <p:cNvSpPr txBox="1"/>
          <p:nvPr/>
        </p:nvSpPr>
        <p:spPr>
          <a:xfrm>
            <a:off x="6096000" y="3200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Phase 1: 4 areas</a:t>
            </a:r>
          </a:p>
        </p:txBody>
      </p:sp>
      <p:pic>
        <p:nvPicPr>
          <p:cNvPr id="32" name="Picture 31" descr="check_green.png"/>
          <p:cNvPicPr>
            <a:picLocks noChangeAspect="1"/>
          </p:cNvPicPr>
          <p:nvPr/>
        </p:nvPicPr>
        <p:blipFill>
          <a:blip r:embed="rId4"/>
          <a:stretch>
            <a:fillRect/>
          </a:stretch>
        </p:blipFill>
        <p:spPr>
          <a:xfrm>
            <a:off x="5867400" y="3505200"/>
            <a:ext cx="152400" cy="152400"/>
          </a:xfrm>
          <a:prstGeom prst="rect">
            <a:avLst/>
          </a:prstGeom>
        </p:spPr>
      </p:pic>
      <p:sp>
        <p:nvSpPr>
          <p:cNvPr id="33" name="TextBox 32"/>
          <p:cNvSpPr txBox="1"/>
          <p:nvPr/>
        </p:nvSpPr>
        <p:spPr>
          <a:xfrm>
            <a:off x="6096000" y="3454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Phase 2 tendering</a:t>
            </a:r>
          </a:p>
        </p:txBody>
      </p:sp>
      <p:sp>
        <p:nvSpPr>
          <p:cNvPr id="34" name="Rectangle 33"/>
          <p:cNvSpPr/>
          <p:nvPr/>
        </p:nvSpPr>
        <p:spPr>
          <a:xfrm>
            <a:off x="8128000" y="1854200"/>
            <a:ext cx="3454400" cy="1905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8128000" y="1854200"/>
            <a:ext cx="13208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6" name="Picture 35" descr="loc_singapore.png"/>
          <p:cNvPicPr>
            <a:picLocks noChangeAspect="1"/>
          </p:cNvPicPr>
          <p:nvPr/>
        </p:nvPicPr>
        <p:blipFill>
          <a:blip r:embed="rId6"/>
          <a:stretch>
            <a:fillRect/>
          </a:stretch>
        </p:blipFill>
        <p:spPr>
          <a:xfrm>
            <a:off x="8128000" y="1854200"/>
            <a:ext cx="1320800" cy="1905000"/>
          </a:xfrm>
          <a:prstGeom prst="rect">
            <a:avLst/>
          </a:prstGeom>
        </p:spPr>
      </p:pic>
      <p:sp>
        <p:nvSpPr>
          <p:cNvPr id="37" name="TextBox 36"/>
          <p:cNvSpPr txBox="1"/>
          <p:nvPr/>
        </p:nvSpPr>
        <p:spPr>
          <a:xfrm>
            <a:off x="9626600" y="20066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SINGAPORE</a:t>
            </a:r>
          </a:p>
        </p:txBody>
      </p:sp>
      <p:sp>
        <p:nvSpPr>
          <p:cNvPr id="38" name="TextBox 37"/>
          <p:cNvSpPr txBox="1"/>
          <p:nvPr/>
        </p:nvSpPr>
        <p:spPr>
          <a:xfrm>
            <a:off x="9626600" y="22098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Public safety</a:t>
            </a:r>
          </a:p>
        </p:txBody>
      </p:sp>
      <p:sp>
        <p:nvSpPr>
          <p:cNvPr id="39" name="TextBox 38"/>
          <p:cNvSpPr txBox="1"/>
          <p:nvPr/>
        </p:nvSpPr>
        <p:spPr>
          <a:xfrm>
            <a:off x="9626600" y="24892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7F9B00"/>
                </a:solidFill>
                <a:latin typeface="Segoe UI Light"/>
              </a:rPr>
              <a:t>B31</a:t>
            </a:r>
          </a:p>
        </p:txBody>
      </p:sp>
      <p:sp>
        <p:nvSpPr>
          <p:cNvPr id="40" name="TextBox 39"/>
          <p:cNvSpPr txBox="1"/>
          <p:nvPr/>
        </p:nvSpPr>
        <p:spPr>
          <a:xfrm>
            <a:off x="9626600" y="29210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public safety network</a:t>
            </a:r>
          </a:p>
        </p:txBody>
      </p:sp>
      <p:pic>
        <p:nvPicPr>
          <p:cNvPr id="41" name="Picture 40" descr="check_green.png"/>
          <p:cNvPicPr>
            <a:picLocks noChangeAspect="1"/>
          </p:cNvPicPr>
          <p:nvPr/>
        </p:nvPicPr>
        <p:blipFill>
          <a:blip r:embed="rId4"/>
          <a:stretch>
            <a:fillRect/>
          </a:stretch>
        </p:blipFill>
        <p:spPr>
          <a:xfrm>
            <a:off x="9626600" y="3251200"/>
            <a:ext cx="152400" cy="152400"/>
          </a:xfrm>
          <a:prstGeom prst="rect">
            <a:avLst/>
          </a:prstGeom>
        </p:spPr>
      </p:pic>
      <p:sp>
        <p:nvSpPr>
          <p:cNvPr id="42" name="TextBox 41"/>
          <p:cNvSpPr txBox="1"/>
          <p:nvPr/>
        </p:nvSpPr>
        <p:spPr>
          <a:xfrm>
            <a:off x="9855200" y="3200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In service</a:t>
            </a:r>
          </a:p>
        </p:txBody>
      </p:sp>
      <p:pic>
        <p:nvPicPr>
          <p:cNvPr id="43" name="Picture 42" descr="check_green.png"/>
          <p:cNvPicPr>
            <a:picLocks noChangeAspect="1"/>
          </p:cNvPicPr>
          <p:nvPr/>
        </p:nvPicPr>
        <p:blipFill>
          <a:blip r:embed="rId4"/>
          <a:stretch>
            <a:fillRect/>
          </a:stretch>
        </p:blipFill>
        <p:spPr>
          <a:xfrm>
            <a:off x="9626600" y="3505200"/>
            <a:ext cx="152400" cy="152400"/>
          </a:xfrm>
          <a:prstGeom prst="rect">
            <a:avLst/>
          </a:prstGeom>
        </p:spPr>
      </p:pic>
      <p:sp>
        <p:nvSpPr>
          <p:cNvPr id="44" name="TextBox 43"/>
          <p:cNvSpPr txBox="1"/>
          <p:nvPr/>
        </p:nvSpPr>
        <p:spPr>
          <a:xfrm>
            <a:off x="9855200" y="3454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Same band as PH</a:t>
            </a:r>
          </a:p>
        </p:txBody>
      </p:sp>
      <p:pic>
        <p:nvPicPr>
          <p:cNvPr id="45" name="Picture 44" descr="layers_navy.png"/>
          <p:cNvPicPr>
            <a:picLocks noChangeAspect="1"/>
          </p:cNvPicPr>
          <p:nvPr/>
        </p:nvPicPr>
        <p:blipFill>
          <a:blip r:embed="rId7"/>
          <a:stretch>
            <a:fillRect/>
          </a:stretch>
        </p:blipFill>
        <p:spPr>
          <a:xfrm>
            <a:off x="609600" y="3911600"/>
            <a:ext cx="228600" cy="228600"/>
          </a:xfrm>
          <a:prstGeom prst="rect">
            <a:avLst/>
          </a:prstGeom>
        </p:spPr>
      </p:pic>
      <p:sp>
        <p:nvSpPr>
          <p:cNvPr id="46" name="TextBox 45"/>
          <p:cNvSpPr txBox="1"/>
          <p:nvPr/>
        </p:nvSpPr>
        <p:spPr>
          <a:xfrm>
            <a:off x="965200" y="3911600"/>
            <a:ext cx="7620000" cy="2286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HYTERA MCS AT NATIONAL SCALE  ·  ON LTE AND 5G</a:t>
            </a:r>
          </a:p>
        </p:txBody>
      </p:sp>
      <p:sp>
        <p:nvSpPr>
          <p:cNvPr id="47" name="Rectangle 46"/>
          <p:cNvSpPr/>
          <p:nvPr/>
        </p:nvSpPr>
        <p:spPr>
          <a:xfrm>
            <a:off x="609600" y="4216400"/>
            <a:ext cx="34544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8" name="Picture 47" descr="v6_4c49d82c37.jpg"/>
          <p:cNvPicPr>
            <a:picLocks noChangeAspect="1"/>
          </p:cNvPicPr>
          <p:nvPr/>
        </p:nvPicPr>
        <p:blipFill>
          <a:blip r:embed="rId8"/>
          <a:srcRect l="30500" r="30500"/>
          <a:stretch>
            <a:fillRect/>
          </a:stretch>
        </p:blipFill>
        <p:spPr>
          <a:xfrm>
            <a:off x="609600" y="4216400"/>
            <a:ext cx="1320800" cy="1905000"/>
          </a:xfrm>
          <a:prstGeom prst="rect">
            <a:avLst/>
          </a:prstGeom>
        </p:spPr>
      </p:pic>
      <p:sp>
        <p:nvSpPr>
          <p:cNvPr id="49" name="TextBox 48"/>
          <p:cNvSpPr txBox="1"/>
          <p:nvPr/>
        </p:nvSpPr>
        <p:spPr>
          <a:xfrm>
            <a:off x="2108200" y="43688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0B308E"/>
                </a:solidFill>
                <a:latin typeface="Segoe UI Semibold"/>
              </a:rPr>
              <a:t>SRI LANKA</a:t>
            </a:r>
          </a:p>
        </p:txBody>
      </p:sp>
      <p:sp>
        <p:nvSpPr>
          <p:cNvPr id="50" name="TextBox 49"/>
          <p:cNvSpPr txBox="1"/>
          <p:nvPr/>
        </p:nvSpPr>
        <p:spPr>
          <a:xfrm>
            <a:off x="2108200" y="45720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Railways</a:t>
            </a:r>
          </a:p>
        </p:txBody>
      </p:sp>
      <p:sp>
        <p:nvSpPr>
          <p:cNvPr id="51" name="TextBox 50"/>
          <p:cNvSpPr txBox="1"/>
          <p:nvPr/>
        </p:nvSpPr>
        <p:spPr>
          <a:xfrm>
            <a:off x="2108200" y="48514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0B308E"/>
                </a:solidFill>
                <a:latin typeface="Segoe UI Light"/>
              </a:rPr>
              <a:t>1,950+</a:t>
            </a:r>
          </a:p>
        </p:txBody>
      </p:sp>
      <p:sp>
        <p:nvSpPr>
          <p:cNvPr id="52" name="TextBox 51"/>
          <p:cNvSpPr txBox="1"/>
          <p:nvPr/>
        </p:nvSpPr>
        <p:spPr>
          <a:xfrm>
            <a:off x="2108200" y="52832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MCS terminals</a:t>
            </a:r>
          </a:p>
        </p:txBody>
      </p:sp>
      <p:pic>
        <p:nvPicPr>
          <p:cNvPr id="53" name="Picture 52" descr="check_green.png"/>
          <p:cNvPicPr>
            <a:picLocks noChangeAspect="1"/>
          </p:cNvPicPr>
          <p:nvPr/>
        </p:nvPicPr>
        <p:blipFill>
          <a:blip r:embed="rId4"/>
          <a:stretch>
            <a:fillRect/>
          </a:stretch>
        </p:blipFill>
        <p:spPr>
          <a:xfrm>
            <a:off x="2108200" y="5613400"/>
            <a:ext cx="152400" cy="152400"/>
          </a:xfrm>
          <a:prstGeom prst="rect">
            <a:avLst/>
          </a:prstGeom>
        </p:spPr>
      </p:pic>
      <p:sp>
        <p:nvSpPr>
          <p:cNvPr id="54" name="TextBox 53"/>
          <p:cNvSpPr txBox="1"/>
          <p:nvPr/>
        </p:nvSpPr>
        <p:spPr>
          <a:xfrm>
            <a:off x="2336800" y="5562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9 lines, 403 stations</a:t>
            </a:r>
          </a:p>
        </p:txBody>
      </p:sp>
      <p:pic>
        <p:nvPicPr>
          <p:cNvPr id="55" name="Picture 54" descr="check_green.png"/>
          <p:cNvPicPr>
            <a:picLocks noChangeAspect="1"/>
          </p:cNvPicPr>
          <p:nvPr/>
        </p:nvPicPr>
        <p:blipFill>
          <a:blip r:embed="rId4"/>
          <a:stretch>
            <a:fillRect/>
          </a:stretch>
        </p:blipFill>
        <p:spPr>
          <a:xfrm>
            <a:off x="2108200" y="5867400"/>
            <a:ext cx="152400" cy="152400"/>
          </a:xfrm>
          <a:prstGeom prst="rect">
            <a:avLst/>
          </a:prstGeom>
        </p:spPr>
      </p:pic>
      <p:sp>
        <p:nvSpPr>
          <p:cNvPr id="56" name="TextBox 55"/>
          <p:cNvSpPr txBox="1"/>
          <p:nvPr/>
        </p:nvSpPr>
        <p:spPr>
          <a:xfrm>
            <a:off x="2336800" y="5816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Dialog: 450 licence</a:t>
            </a:r>
          </a:p>
        </p:txBody>
      </p:sp>
      <p:sp>
        <p:nvSpPr>
          <p:cNvPr id="57" name="Rectangle 56"/>
          <p:cNvSpPr/>
          <p:nvPr/>
        </p:nvSpPr>
        <p:spPr>
          <a:xfrm>
            <a:off x="4368800" y="4216400"/>
            <a:ext cx="34544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8" name="Picture 57" descr="v6_5561c6b94c.jpg"/>
          <p:cNvPicPr>
            <a:picLocks noChangeAspect="1"/>
          </p:cNvPicPr>
          <p:nvPr/>
        </p:nvPicPr>
        <p:blipFill>
          <a:blip r:embed="rId9"/>
          <a:srcRect t="1843" b="1843"/>
          <a:stretch>
            <a:fillRect/>
          </a:stretch>
        </p:blipFill>
        <p:spPr>
          <a:xfrm>
            <a:off x="4368800" y="4216400"/>
            <a:ext cx="1320800" cy="1905000"/>
          </a:xfrm>
          <a:prstGeom prst="rect">
            <a:avLst/>
          </a:prstGeom>
        </p:spPr>
      </p:pic>
      <p:sp>
        <p:nvSpPr>
          <p:cNvPr id="59" name="TextBox 58"/>
          <p:cNvSpPr txBox="1"/>
          <p:nvPr/>
        </p:nvSpPr>
        <p:spPr>
          <a:xfrm>
            <a:off x="5867400" y="43688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0B308E"/>
                </a:solidFill>
                <a:latin typeface="Segoe UI Semibold"/>
              </a:rPr>
              <a:t>HONG KONG</a:t>
            </a:r>
          </a:p>
        </p:txBody>
      </p:sp>
      <p:sp>
        <p:nvSpPr>
          <p:cNvPr id="60" name="TextBox 59"/>
          <p:cNvSpPr txBox="1"/>
          <p:nvPr/>
        </p:nvSpPr>
        <p:spPr>
          <a:xfrm>
            <a:off x="5867400" y="45720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Light Rail</a:t>
            </a:r>
          </a:p>
        </p:txBody>
      </p:sp>
      <p:sp>
        <p:nvSpPr>
          <p:cNvPr id="61" name="TextBox 60"/>
          <p:cNvSpPr txBox="1"/>
          <p:nvPr/>
        </p:nvSpPr>
        <p:spPr>
          <a:xfrm>
            <a:off x="5867400" y="48514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0B308E"/>
                </a:solidFill>
                <a:latin typeface="Segoe UI Light"/>
              </a:rPr>
              <a:t>810</a:t>
            </a:r>
          </a:p>
        </p:txBody>
      </p:sp>
      <p:sp>
        <p:nvSpPr>
          <p:cNvPr id="62" name="TextBox 61"/>
          <p:cNvSpPr txBox="1"/>
          <p:nvPr/>
        </p:nvSpPr>
        <p:spPr>
          <a:xfrm>
            <a:off x="5867400" y="52832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MCS terminals</a:t>
            </a:r>
          </a:p>
        </p:txBody>
      </p:sp>
      <p:pic>
        <p:nvPicPr>
          <p:cNvPr id="63" name="Picture 62" descr="check_green.png"/>
          <p:cNvPicPr>
            <a:picLocks noChangeAspect="1"/>
          </p:cNvPicPr>
          <p:nvPr/>
        </p:nvPicPr>
        <p:blipFill>
          <a:blip r:embed="rId4"/>
          <a:stretch>
            <a:fillRect/>
          </a:stretch>
        </p:blipFill>
        <p:spPr>
          <a:xfrm>
            <a:off x="5867400" y="5613400"/>
            <a:ext cx="152400" cy="152400"/>
          </a:xfrm>
          <a:prstGeom prst="rect">
            <a:avLst/>
          </a:prstGeom>
        </p:spPr>
      </p:pic>
      <p:sp>
        <p:nvSpPr>
          <p:cNvPr id="64" name="TextBox 63"/>
          <p:cNvSpPr txBox="1"/>
          <p:nvPr/>
        </p:nvSpPr>
        <p:spPr>
          <a:xfrm>
            <a:off x="6096000" y="5562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First MCS on 5G</a:t>
            </a:r>
          </a:p>
        </p:txBody>
      </p:sp>
      <p:pic>
        <p:nvPicPr>
          <p:cNvPr id="65" name="Picture 64" descr="check_green.png"/>
          <p:cNvPicPr>
            <a:picLocks noChangeAspect="1"/>
          </p:cNvPicPr>
          <p:nvPr/>
        </p:nvPicPr>
        <p:blipFill>
          <a:blip r:embed="rId4"/>
          <a:stretch>
            <a:fillRect/>
          </a:stretch>
        </p:blipFill>
        <p:spPr>
          <a:xfrm>
            <a:off x="5867400" y="5867400"/>
            <a:ext cx="152400" cy="152400"/>
          </a:xfrm>
          <a:prstGeom prst="rect">
            <a:avLst/>
          </a:prstGeom>
        </p:spPr>
      </p:pic>
      <p:sp>
        <p:nvSpPr>
          <p:cNvPr id="66" name="TextBox 65"/>
          <p:cNvSpPr txBox="1"/>
          <p:nvPr/>
        </p:nvSpPr>
        <p:spPr>
          <a:xfrm>
            <a:off x="6096000" y="5816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Replaced TETRA</a:t>
            </a:r>
          </a:p>
        </p:txBody>
      </p:sp>
      <p:sp>
        <p:nvSpPr>
          <p:cNvPr id="67" name="Rectangle 66"/>
          <p:cNvSpPr/>
          <p:nvPr/>
        </p:nvSpPr>
        <p:spPr>
          <a:xfrm>
            <a:off x="8128000" y="4216400"/>
            <a:ext cx="34544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8" name="Picture 67" descr="v6_0316e38593.jpg"/>
          <p:cNvPicPr>
            <a:picLocks noChangeAspect="1"/>
          </p:cNvPicPr>
          <p:nvPr/>
        </p:nvPicPr>
        <p:blipFill>
          <a:blip r:embed="rId10"/>
          <a:srcRect l="24000" r="24000"/>
          <a:stretch>
            <a:fillRect/>
          </a:stretch>
        </p:blipFill>
        <p:spPr>
          <a:xfrm>
            <a:off x="8128000" y="4216400"/>
            <a:ext cx="1320800" cy="1905000"/>
          </a:xfrm>
          <a:prstGeom prst="rect">
            <a:avLst/>
          </a:prstGeom>
        </p:spPr>
      </p:pic>
      <p:sp>
        <p:nvSpPr>
          <p:cNvPr id="69" name="TextBox 68"/>
          <p:cNvSpPr txBox="1"/>
          <p:nvPr/>
        </p:nvSpPr>
        <p:spPr>
          <a:xfrm>
            <a:off x="9626600" y="43688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0B308E"/>
                </a:solidFill>
                <a:latin typeface="Segoe UI Semibold"/>
              </a:rPr>
              <a:t>PAPUA NEW GUINEA</a:t>
            </a:r>
          </a:p>
        </p:txBody>
      </p:sp>
      <p:sp>
        <p:nvSpPr>
          <p:cNvPr id="70" name="TextBox 69"/>
          <p:cNvSpPr txBox="1"/>
          <p:nvPr/>
        </p:nvSpPr>
        <p:spPr>
          <a:xfrm>
            <a:off x="9626600" y="45720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Police HQ</a:t>
            </a:r>
          </a:p>
        </p:txBody>
      </p:sp>
      <p:sp>
        <p:nvSpPr>
          <p:cNvPr id="71" name="TextBox 70"/>
          <p:cNvSpPr txBox="1"/>
          <p:nvPr/>
        </p:nvSpPr>
        <p:spPr>
          <a:xfrm>
            <a:off x="9626600" y="48514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0B308E"/>
                </a:solidFill>
                <a:latin typeface="Segoe UI Light"/>
              </a:rPr>
              <a:t>3,000</a:t>
            </a:r>
          </a:p>
        </p:txBody>
      </p:sp>
      <p:sp>
        <p:nvSpPr>
          <p:cNvPr id="72" name="TextBox 71"/>
          <p:cNvSpPr txBox="1"/>
          <p:nvPr/>
        </p:nvSpPr>
        <p:spPr>
          <a:xfrm>
            <a:off x="9626600" y="52832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officers served</a:t>
            </a:r>
          </a:p>
        </p:txBody>
      </p:sp>
      <p:pic>
        <p:nvPicPr>
          <p:cNvPr id="73" name="Picture 72" descr="check_green.png"/>
          <p:cNvPicPr>
            <a:picLocks noChangeAspect="1"/>
          </p:cNvPicPr>
          <p:nvPr/>
        </p:nvPicPr>
        <p:blipFill>
          <a:blip r:embed="rId4"/>
          <a:stretch>
            <a:fillRect/>
          </a:stretch>
        </p:blipFill>
        <p:spPr>
          <a:xfrm>
            <a:off x="9626600" y="5613400"/>
            <a:ext cx="152400" cy="152400"/>
          </a:xfrm>
          <a:prstGeom prst="rect">
            <a:avLst/>
          </a:prstGeom>
        </p:spPr>
      </p:pic>
      <p:sp>
        <p:nvSpPr>
          <p:cNvPr id="74" name="TextBox 73"/>
          <p:cNvSpPr txBox="1"/>
          <p:nvPr/>
        </p:nvSpPr>
        <p:spPr>
          <a:xfrm>
            <a:off x="9855200" y="5562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APEC security</a:t>
            </a:r>
          </a:p>
        </p:txBody>
      </p:sp>
      <p:pic>
        <p:nvPicPr>
          <p:cNvPr id="75" name="Picture 74" descr="check_green.png"/>
          <p:cNvPicPr>
            <a:picLocks noChangeAspect="1"/>
          </p:cNvPicPr>
          <p:nvPr/>
        </p:nvPicPr>
        <p:blipFill>
          <a:blip r:embed="rId4"/>
          <a:stretch>
            <a:fillRect/>
          </a:stretch>
        </p:blipFill>
        <p:spPr>
          <a:xfrm>
            <a:off x="9626600" y="5867400"/>
            <a:ext cx="152400" cy="152400"/>
          </a:xfrm>
          <a:prstGeom prst="rect">
            <a:avLst/>
          </a:prstGeom>
        </p:spPr>
      </p:pic>
      <p:sp>
        <p:nvSpPr>
          <p:cNvPr id="76" name="TextBox 75"/>
          <p:cNvSpPr txBox="1"/>
          <p:nvPr/>
        </p:nvSpPr>
        <p:spPr>
          <a:xfrm>
            <a:off x="9855200" y="5816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60 s dispatch</a:t>
            </a:r>
          </a:p>
        </p:txBody>
      </p:sp>
      <p:sp>
        <p:nvSpPr>
          <p:cNvPr id="77" name="TextBox 76"/>
          <p:cNvSpPr txBox="1"/>
          <p:nvPr/>
        </p:nvSpPr>
        <p:spPr>
          <a:xfrm>
            <a:off x="609600" y="6172200"/>
            <a:ext cx="10972800" cy="1778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Top row: operator networks; Hytera’s link is the 450connect whitelist. Hong Kong and PNG photos are illustrative.</a:t>
            </a:r>
          </a:p>
        </p:txBody>
      </p:sp>
      <p:sp>
        <p:nvSpPr>
          <p:cNvPr id="78" name="TextBox 77"/>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p7-p9; RFI for devices (2025) p5; 450connect whitelist; Hytera showroom briefing L170, L211; PNG case records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D   BUSINESS MODEL</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15</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The utility contract funds the coverage; five more lines use it</a:t>
            </a:r>
          </a:p>
        </p:txBody>
      </p:sp>
      <p:sp>
        <p:nvSpPr>
          <p:cNvPr id="10" name="Rectangle 9"/>
          <p:cNvSpPr/>
          <p:nvPr/>
        </p:nvSpPr>
        <p:spPr>
          <a:xfrm>
            <a:off x="609600" y="1549400"/>
            <a:ext cx="3352800" cy="965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package_white.png"/>
          <p:cNvPicPr>
            <a:picLocks noChangeAspect="1"/>
          </p:cNvPicPr>
          <p:nvPr/>
        </p:nvPicPr>
        <p:blipFill>
          <a:blip r:embed="rId2"/>
          <a:stretch>
            <a:fillRect/>
          </a:stretch>
        </p:blipFill>
        <p:spPr>
          <a:xfrm>
            <a:off x="812800" y="1778000"/>
            <a:ext cx="508000" cy="508000"/>
          </a:xfrm>
          <a:prstGeom prst="rect">
            <a:avLst/>
          </a:prstGeom>
        </p:spPr>
      </p:pic>
      <p:sp>
        <p:nvSpPr>
          <p:cNvPr id="12" name="TextBox 11"/>
          <p:cNvSpPr txBox="1"/>
          <p:nvPr/>
        </p:nvSpPr>
        <p:spPr>
          <a:xfrm>
            <a:off x="1473200" y="1651000"/>
            <a:ext cx="2362200" cy="381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Hytera</a:t>
            </a:r>
          </a:p>
        </p:txBody>
      </p:sp>
      <p:sp>
        <p:nvSpPr>
          <p:cNvPr id="13" name="TextBox 12"/>
          <p:cNvSpPr txBox="1"/>
          <p:nvPr/>
        </p:nvSpPr>
        <p:spPr>
          <a:xfrm>
            <a:off x="1473200" y="2006600"/>
            <a:ext cx="2362200" cy="355600"/>
          </a:xfrm>
          <a:prstGeom prst="rect">
            <a:avLst/>
          </a:prstGeom>
          <a:noFill/>
        </p:spPr>
        <p:txBody>
          <a:bodyPr wrap="square" lIns="0" rIns="0" tIns="0" bIns="0" anchor="ctr">
            <a:spAutoFit/>
          </a:bodyPr>
          <a:lstStyle/>
          <a:p>
            <a:pPr algn="l">
              <a:lnSpc>
                <a:spcPct val="120000"/>
              </a:lnSpc>
              <a:spcAft>
                <a:spcPts val="0"/>
              </a:spcAft>
            </a:pPr>
            <a:r>
              <a:rPr sz="1200" b="0">
                <a:solidFill>
                  <a:srgbClr val="DCE5F3"/>
                </a:solidFill>
                <a:latin typeface="Segoe UI"/>
              </a:rPr>
              <a:t>Radio, terminals, platform</a:t>
            </a:r>
          </a:p>
        </p:txBody>
      </p:sp>
      <p:pic>
        <p:nvPicPr>
          <p:cNvPr id="14" name="Picture 13" descr="arrow-right_steel.png"/>
          <p:cNvPicPr>
            <a:picLocks noChangeAspect="1"/>
          </p:cNvPicPr>
          <p:nvPr/>
        </p:nvPicPr>
        <p:blipFill>
          <a:blip r:embed="rId3"/>
          <a:stretch>
            <a:fillRect/>
          </a:stretch>
        </p:blipFill>
        <p:spPr>
          <a:xfrm>
            <a:off x="4038600" y="1905000"/>
            <a:ext cx="304800" cy="304800"/>
          </a:xfrm>
          <a:prstGeom prst="rect">
            <a:avLst/>
          </a:prstGeom>
        </p:spPr>
      </p:pic>
      <p:sp>
        <p:nvSpPr>
          <p:cNvPr id="15" name="Rectangle 14"/>
          <p:cNvSpPr/>
          <p:nvPr/>
        </p:nvSpPr>
        <p:spPr>
          <a:xfrm>
            <a:off x="4419600" y="1549400"/>
            <a:ext cx="3352800" cy="9652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radio-tower_white.png"/>
          <p:cNvPicPr>
            <a:picLocks noChangeAspect="1"/>
          </p:cNvPicPr>
          <p:nvPr/>
        </p:nvPicPr>
        <p:blipFill>
          <a:blip r:embed="rId4"/>
          <a:stretch>
            <a:fillRect/>
          </a:stretch>
        </p:blipFill>
        <p:spPr>
          <a:xfrm>
            <a:off x="4622800" y="1778000"/>
            <a:ext cx="508000" cy="508000"/>
          </a:xfrm>
          <a:prstGeom prst="rect">
            <a:avLst/>
          </a:prstGeom>
        </p:spPr>
      </p:pic>
      <p:sp>
        <p:nvSpPr>
          <p:cNvPr id="17" name="TextBox 16"/>
          <p:cNvSpPr txBox="1"/>
          <p:nvPr/>
        </p:nvSpPr>
        <p:spPr>
          <a:xfrm>
            <a:off x="5283200" y="1651000"/>
            <a:ext cx="2362200" cy="381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Globe Telecom</a:t>
            </a:r>
          </a:p>
        </p:txBody>
      </p:sp>
      <p:sp>
        <p:nvSpPr>
          <p:cNvPr id="18" name="TextBox 17"/>
          <p:cNvSpPr txBox="1"/>
          <p:nvPr/>
        </p:nvSpPr>
        <p:spPr>
          <a:xfrm>
            <a:off x="5283200" y="2006600"/>
            <a:ext cx="2362200" cy="355600"/>
          </a:xfrm>
          <a:prstGeom prst="rect">
            <a:avLst/>
          </a:prstGeom>
          <a:noFill/>
        </p:spPr>
        <p:txBody>
          <a:bodyPr wrap="square" lIns="0" rIns="0" tIns="0" bIns="0" anchor="ctr">
            <a:spAutoFit/>
          </a:bodyPr>
          <a:lstStyle/>
          <a:p>
            <a:pPr algn="l">
              <a:lnSpc>
                <a:spcPct val="120000"/>
              </a:lnSpc>
              <a:spcAft>
                <a:spcPts val="0"/>
              </a:spcAft>
            </a:pPr>
            <a:r>
              <a:rPr sz="1200" b="0">
                <a:solidFill>
                  <a:srgbClr val="FFFFFF"/>
                </a:solidFill>
                <a:latin typeface="Segoe UI"/>
              </a:rPr>
              <a:t>Spectrum, network, customers</a:t>
            </a:r>
          </a:p>
        </p:txBody>
      </p:sp>
      <p:pic>
        <p:nvPicPr>
          <p:cNvPr id="19" name="Picture 18" descr="arrow-right_steel.png"/>
          <p:cNvPicPr>
            <a:picLocks noChangeAspect="1"/>
          </p:cNvPicPr>
          <p:nvPr/>
        </p:nvPicPr>
        <p:blipFill>
          <a:blip r:embed="rId3"/>
          <a:stretch>
            <a:fillRect/>
          </a:stretch>
        </p:blipFill>
        <p:spPr>
          <a:xfrm>
            <a:off x="7848600" y="1905000"/>
            <a:ext cx="304800" cy="304800"/>
          </a:xfrm>
          <a:prstGeom prst="rect">
            <a:avLst/>
          </a:prstGeom>
        </p:spPr>
      </p:pic>
      <p:sp>
        <p:nvSpPr>
          <p:cNvPr id="20" name="Rectangle 19"/>
          <p:cNvSpPr/>
          <p:nvPr/>
        </p:nvSpPr>
        <p:spPr>
          <a:xfrm>
            <a:off x="8229600" y="1549400"/>
            <a:ext cx="3352800" cy="965200"/>
          </a:xfrm>
          <a:prstGeom prst="rect">
            <a:avLst/>
          </a:prstGeom>
          <a:solidFill>
            <a:srgbClr val="3A5B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building-2_white.png"/>
          <p:cNvPicPr>
            <a:picLocks noChangeAspect="1"/>
          </p:cNvPicPr>
          <p:nvPr/>
        </p:nvPicPr>
        <p:blipFill>
          <a:blip r:embed="rId5"/>
          <a:stretch>
            <a:fillRect/>
          </a:stretch>
        </p:blipFill>
        <p:spPr>
          <a:xfrm>
            <a:off x="8432800" y="1778000"/>
            <a:ext cx="508000" cy="508000"/>
          </a:xfrm>
          <a:prstGeom prst="rect">
            <a:avLst/>
          </a:prstGeom>
        </p:spPr>
      </p:pic>
      <p:sp>
        <p:nvSpPr>
          <p:cNvPr id="22" name="TextBox 21"/>
          <p:cNvSpPr txBox="1"/>
          <p:nvPr/>
        </p:nvSpPr>
        <p:spPr>
          <a:xfrm>
            <a:off x="9093200" y="1651000"/>
            <a:ext cx="2362200" cy="381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Anchor customers</a:t>
            </a:r>
          </a:p>
        </p:txBody>
      </p:sp>
      <p:sp>
        <p:nvSpPr>
          <p:cNvPr id="23" name="TextBox 22"/>
          <p:cNvSpPr txBox="1"/>
          <p:nvPr/>
        </p:nvSpPr>
        <p:spPr>
          <a:xfrm>
            <a:off x="9093200" y="2006600"/>
            <a:ext cx="2362200" cy="355600"/>
          </a:xfrm>
          <a:prstGeom prst="rect">
            <a:avLst/>
          </a:prstGeom>
          <a:noFill/>
        </p:spPr>
        <p:txBody>
          <a:bodyPr wrap="square" lIns="0" rIns="0" tIns="0" bIns="0" anchor="ctr">
            <a:spAutoFit/>
          </a:bodyPr>
          <a:lstStyle/>
          <a:p>
            <a:pPr algn="l">
              <a:lnSpc>
                <a:spcPct val="120000"/>
              </a:lnSpc>
              <a:spcAft>
                <a:spcPts val="0"/>
              </a:spcAft>
            </a:pPr>
            <a:r>
              <a:rPr sz="1200" b="0">
                <a:solidFill>
                  <a:srgbClr val="DCE5F3"/>
                </a:solidFill>
                <a:latin typeface="Segoe UI"/>
              </a:rPr>
              <a:t>Contract capacity first</a:t>
            </a:r>
          </a:p>
        </p:txBody>
      </p:sp>
      <p:sp>
        <p:nvSpPr>
          <p:cNvPr id="24" name="TextBox 23"/>
          <p:cNvSpPr txBox="1"/>
          <p:nvPr/>
        </p:nvSpPr>
        <p:spPr>
          <a:xfrm>
            <a:off x="609600" y="2743200"/>
            <a:ext cx="508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SIX REVENUE LINES  ·  AND WHO BUYS THEM</a:t>
            </a:r>
          </a:p>
        </p:txBody>
      </p:sp>
      <p:sp>
        <p:nvSpPr>
          <p:cNvPr id="25" name="Rectangle 24"/>
          <p:cNvSpPr/>
          <p:nvPr/>
        </p:nvSpPr>
        <p:spPr>
          <a:xfrm>
            <a:off x="609600" y="30226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812800" y="3340100"/>
            <a:ext cx="533400" cy="5334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gauge_white.png"/>
          <p:cNvPicPr>
            <a:picLocks noChangeAspect="1"/>
          </p:cNvPicPr>
          <p:nvPr/>
        </p:nvPicPr>
        <p:blipFill>
          <a:blip r:embed="rId6"/>
          <a:stretch>
            <a:fillRect/>
          </a:stretch>
        </p:blipFill>
        <p:spPr>
          <a:xfrm>
            <a:off x="940816" y="3468116"/>
            <a:ext cx="277368" cy="277368"/>
          </a:xfrm>
          <a:prstGeom prst="rect">
            <a:avLst/>
          </a:prstGeom>
        </p:spPr>
      </p:pic>
      <p:sp>
        <p:nvSpPr>
          <p:cNvPr id="28" name="TextBox 27"/>
          <p:cNvSpPr txBox="1"/>
          <p:nvPr/>
        </p:nvSpPr>
        <p:spPr>
          <a:xfrm>
            <a:off x="1524000" y="32512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IoT connectivity</a:t>
            </a:r>
          </a:p>
        </p:txBody>
      </p:sp>
      <p:sp>
        <p:nvSpPr>
          <p:cNvPr id="29" name="TextBox 28"/>
          <p:cNvSpPr txBox="1"/>
          <p:nvPr/>
        </p:nvSpPr>
        <p:spPr>
          <a:xfrm>
            <a:off x="1524000" y="36068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Power  ·  Water</a:t>
            </a:r>
          </a:p>
        </p:txBody>
      </p:sp>
      <p:sp>
        <p:nvSpPr>
          <p:cNvPr id="30" name="Rectangle 29"/>
          <p:cNvSpPr/>
          <p:nvPr/>
        </p:nvSpPr>
        <p:spPr>
          <a:xfrm>
            <a:off x="4368800" y="30226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4572000" y="33401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radio_white.png"/>
          <p:cNvPicPr>
            <a:picLocks noChangeAspect="1"/>
          </p:cNvPicPr>
          <p:nvPr/>
        </p:nvPicPr>
        <p:blipFill>
          <a:blip r:embed="rId7"/>
          <a:stretch>
            <a:fillRect/>
          </a:stretch>
        </p:blipFill>
        <p:spPr>
          <a:xfrm>
            <a:off x="4700016" y="3468116"/>
            <a:ext cx="277368" cy="277368"/>
          </a:xfrm>
          <a:prstGeom prst="rect">
            <a:avLst/>
          </a:prstGeom>
        </p:spPr>
      </p:pic>
      <p:sp>
        <p:nvSpPr>
          <p:cNvPr id="33" name="TextBox 32"/>
          <p:cNvSpPr txBox="1"/>
          <p:nvPr/>
        </p:nvSpPr>
        <p:spPr>
          <a:xfrm>
            <a:off x="5283200" y="32512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MCX as a service</a:t>
            </a:r>
          </a:p>
        </p:txBody>
      </p:sp>
      <p:sp>
        <p:nvSpPr>
          <p:cNvPr id="34" name="TextBox 33"/>
          <p:cNvSpPr txBox="1"/>
          <p:nvPr/>
        </p:nvSpPr>
        <p:spPr>
          <a:xfrm>
            <a:off x="5283200" y="36068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Police  ·  Rail  ·  Port</a:t>
            </a:r>
          </a:p>
        </p:txBody>
      </p:sp>
      <p:sp>
        <p:nvSpPr>
          <p:cNvPr id="35" name="Rectangle 34"/>
          <p:cNvSpPr/>
          <p:nvPr/>
        </p:nvSpPr>
        <p:spPr>
          <a:xfrm>
            <a:off x="8128000" y="30226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Oval 35"/>
          <p:cNvSpPr/>
          <p:nvPr/>
        </p:nvSpPr>
        <p:spPr>
          <a:xfrm>
            <a:off x="8331200" y="33401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layers_white.png"/>
          <p:cNvPicPr>
            <a:picLocks noChangeAspect="1"/>
          </p:cNvPicPr>
          <p:nvPr/>
        </p:nvPicPr>
        <p:blipFill>
          <a:blip r:embed="rId8"/>
          <a:stretch>
            <a:fillRect/>
          </a:stretch>
        </p:blipFill>
        <p:spPr>
          <a:xfrm>
            <a:off x="8459216" y="3468116"/>
            <a:ext cx="277368" cy="277368"/>
          </a:xfrm>
          <a:prstGeom prst="rect">
            <a:avLst/>
          </a:prstGeom>
        </p:spPr>
      </p:pic>
      <p:sp>
        <p:nvSpPr>
          <p:cNvPr id="38" name="TextBox 37"/>
          <p:cNvSpPr txBox="1"/>
          <p:nvPr/>
        </p:nvSpPr>
        <p:spPr>
          <a:xfrm>
            <a:off x="9042400" y="32512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Capacity packages</a:t>
            </a:r>
          </a:p>
        </p:txBody>
      </p:sp>
      <p:sp>
        <p:nvSpPr>
          <p:cNvPr id="39" name="TextBox 38"/>
          <p:cNvSpPr txBox="1"/>
          <p:nvPr/>
        </p:nvSpPr>
        <p:spPr>
          <a:xfrm>
            <a:off x="9042400" y="36068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Power  ·  Port</a:t>
            </a:r>
          </a:p>
        </p:txBody>
      </p:sp>
      <p:sp>
        <p:nvSpPr>
          <p:cNvPr id="40" name="Rectangle 39"/>
          <p:cNvSpPr/>
          <p:nvPr/>
        </p:nvSpPr>
        <p:spPr>
          <a:xfrm>
            <a:off x="609600" y="43434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Oval 40"/>
          <p:cNvSpPr/>
          <p:nvPr/>
        </p:nvSpPr>
        <p:spPr>
          <a:xfrm>
            <a:off x="812800" y="46609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2" name="Picture 41" descr="smartphone_white.png"/>
          <p:cNvPicPr>
            <a:picLocks noChangeAspect="1"/>
          </p:cNvPicPr>
          <p:nvPr/>
        </p:nvPicPr>
        <p:blipFill>
          <a:blip r:embed="rId9"/>
          <a:stretch>
            <a:fillRect/>
          </a:stretch>
        </p:blipFill>
        <p:spPr>
          <a:xfrm>
            <a:off x="940816" y="4788916"/>
            <a:ext cx="277368" cy="277368"/>
          </a:xfrm>
          <a:prstGeom prst="rect">
            <a:avLst/>
          </a:prstGeom>
        </p:spPr>
      </p:pic>
      <p:sp>
        <p:nvSpPr>
          <p:cNvPr id="43" name="TextBox 42"/>
          <p:cNvSpPr txBox="1"/>
          <p:nvPr/>
        </p:nvSpPr>
        <p:spPr>
          <a:xfrm>
            <a:off x="1524000" y="45720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Devices as a service</a:t>
            </a:r>
          </a:p>
        </p:txBody>
      </p:sp>
      <p:sp>
        <p:nvSpPr>
          <p:cNvPr id="44" name="TextBox 43"/>
          <p:cNvSpPr txBox="1"/>
          <p:nvPr/>
        </p:nvSpPr>
        <p:spPr>
          <a:xfrm>
            <a:off x="1524000" y="49276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Police  ·  Rail</a:t>
            </a:r>
          </a:p>
        </p:txBody>
      </p:sp>
      <p:sp>
        <p:nvSpPr>
          <p:cNvPr id="45" name="Rectangle 44"/>
          <p:cNvSpPr/>
          <p:nvPr/>
        </p:nvSpPr>
        <p:spPr>
          <a:xfrm>
            <a:off x="4368800" y="43434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Oval 45"/>
          <p:cNvSpPr/>
          <p:nvPr/>
        </p:nvSpPr>
        <p:spPr>
          <a:xfrm>
            <a:off x="4572000" y="46609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7" name="Picture 46" descr="cpu_white.png"/>
          <p:cNvPicPr>
            <a:picLocks noChangeAspect="1"/>
          </p:cNvPicPr>
          <p:nvPr/>
        </p:nvPicPr>
        <p:blipFill>
          <a:blip r:embed="rId10"/>
          <a:stretch>
            <a:fillRect/>
          </a:stretch>
        </p:blipFill>
        <p:spPr>
          <a:xfrm>
            <a:off x="4700016" y="4788916"/>
            <a:ext cx="277368" cy="277368"/>
          </a:xfrm>
          <a:prstGeom prst="rect">
            <a:avLst/>
          </a:prstGeom>
        </p:spPr>
      </p:pic>
      <p:sp>
        <p:nvSpPr>
          <p:cNvPr id="48" name="TextBox 47"/>
          <p:cNvSpPr txBox="1"/>
          <p:nvPr/>
        </p:nvSpPr>
        <p:spPr>
          <a:xfrm>
            <a:off x="5283200" y="45720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Integration &amp; O&amp;M</a:t>
            </a:r>
          </a:p>
        </p:txBody>
      </p:sp>
      <p:sp>
        <p:nvSpPr>
          <p:cNvPr id="49" name="TextBox 48"/>
          <p:cNvSpPr txBox="1"/>
          <p:nvPr/>
        </p:nvSpPr>
        <p:spPr>
          <a:xfrm>
            <a:off x="5283200" y="49276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Power  ·  Water</a:t>
            </a:r>
          </a:p>
        </p:txBody>
      </p:sp>
      <p:sp>
        <p:nvSpPr>
          <p:cNvPr id="50" name="Rectangle 49"/>
          <p:cNvSpPr/>
          <p:nvPr/>
        </p:nvSpPr>
        <p:spPr>
          <a:xfrm>
            <a:off x="8128000" y="43434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Oval 50"/>
          <p:cNvSpPr/>
          <p:nvPr/>
        </p:nvSpPr>
        <p:spPr>
          <a:xfrm>
            <a:off x="8331200" y="46609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2" name="Picture 51" descr="siren_white.png"/>
          <p:cNvPicPr>
            <a:picLocks noChangeAspect="1"/>
          </p:cNvPicPr>
          <p:nvPr/>
        </p:nvPicPr>
        <p:blipFill>
          <a:blip r:embed="rId11"/>
          <a:stretch>
            <a:fillRect/>
          </a:stretch>
        </p:blipFill>
        <p:spPr>
          <a:xfrm>
            <a:off x="8459216" y="4788916"/>
            <a:ext cx="277368" cy="277368"/>
          </a:xfrm>
          <a:prstGeom prst="rect">
            <a:avLst/>
          </a:prstGeom>
        </p:spPr>
      </p:pic>
      <p:sp>
        <p:nvSpPr>
          <p:cNvPr id="53" name="TextBox 52"/>
          <p:cNvSpPr txBox="1"/>
          <p:nvPr/>
        </p:nvSpPr>
        <p:spPr>
          <a:xfrm>
            <a:off x="9042400" y="45720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Emergency readiness</a:t>
            </a:r>
          </a:p>
        </p:txBody>
      </p:sp>
      <p:sp>
        <p:nvSpPr>
          <p:cNvPr id="54" name="TextBox 53"/>
          <p:cNvSpPr txBox="1"/>
          <p:nvPr/>
        </p:nvSpPr>
        <p:spPr>
          <a:xfrm>
            <a:off x="9042400" y="49276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Emergency</a:t>
            </a:r>
          </a:p>
        </p:txBody>
      </p:sp>
      <p:sp>
        <p:nvSpPr>
          <p:cNvPr id="55" name="Rectangle 54"/>
          <p:cNvSpPr/>
          <p:nvPr/>
        </p:nvSpPr>
        <p:spPr>
          <a:xfrm>
            <a:off x="609600" y="58166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6" name="Picture 55" descr="info_navy.png"/>
          <p:cNvPicPr>
            <a:picLocks noChangeAspect="1"/>
          </p:cNvPicPr>
          <p:nvPr/>
        </p:nvPicPr>
        <p:blipFill>
          <a:blip r:embed="rId12"/>
          <a:stretch>
            <a:fillRect/>
          </a:stretch>
        </p:blipFill>
        <p:spPr>
          <a:xfrm>
            <a:off x="812800" y="5943600"/>
            <a:ext cx="254000" cy="254000"/>
          </a:xfrm>
          <a:prstGeom prst="rect">
            <a:avLst/>
          </a:prstGeom>
        </p:spPr>
      </p:pic>
      <p:sp>
        <p:nvSpPr>
          <p:cNvPr id="57" name="TextBox 56"/>
          <p:cNvSpPr txBox="1"/>
          <p:nvPr/>
        </p:nvSpPr>
        <p:spPr>
          <a:xfrm>
            <a:off x="1219200" y="58166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Sign demand before the build:   </a:t>
            </a:r>
            <a:r>
              <a:rPr sz="1250" b="0">
                <a:solidFill>
                  <a:srgbClr val="16213E"/>
                </a:solidFill>
                <a:latin typeface="Segoe UI"/>
              </a:rPr>
              <a:t>Portugal’s 450 MHz trial stalled on commercial terms, not technology</a:t>
            </a:r>
          </a:p>
        </p:txBody>
      </p:sp>
      <p:sp>
        <p:nvSpPr>
          <p:cNvPr id="58" name="TextBox 57"/>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Hytera proposal; 450 MHz Alliance, Annual Global Update (Dec 2025) p9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D   NEXT STEPS</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16</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Pilot first: test the case in Globe’s own terrain</a:t>
            </a:r>
          </a:p>
        </p:txBody>
      </p:sp>
      <p:sp>
        <p:nvSpPr>
          <p:cNvPr id="10" name="Rectangle 9"/>
          <p:cNvSpPr/>
          <p:nvPr/>
        </p:nvSpPr>
        <p:spPr>
          <a:xfrm>
            <a:off x="609600" y="1549400"/>
            <a:ext cx="2032000" cy="1905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12800" y="1752600"/>
            <a:ext cx="508000" cy="5080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adio-tower_navy.png"/>
          <p:cNvPicPr>
            <a:picLocks noChangeAspect="1"/>
          </p:cNvPicPr>
          <p:nvPr/>
        </p:nvPicPr>
        <p:blipFill>
          <a:blip r:embed="rId2"/>
          <a:stretch>
            <a:fillRect/>
          </a:stretch>
        </p:blipFill>
        <p:spPr>
          <a:xfrm>
            <a:off x="934719" y="1874520"/>
            <a:ext cx="264160" cy="264160"/>
          </a:xfrm>
          <a:prstGeom prst="rect">
            <a:avLst/>
          </a:prstGeom>
        </p:spPr>
      </p:pic>
      <p:sp>
        <p:nvSpPr>
          <p:cNvPr id="13" name="TextBox 12"/>
          <p:cNvSpPr txBox="1"/>
          <p:nvPr/>
        </p:nvSpPr>
        <p:spPr>
          <a:xfrm>
            <a:off x="1422400" y="1752600"/>
            <a:ext cx="1143000" cy="508000"/>
          </a:xfrm>
          <a:prstGeom prst="rect">
            <a:avLst/>
          </a:prstGeom>
          <a:noFill/>
        </p:spPr>
        <p:txBody>
          <a:bodyPr wrap="square" lIns="0" rIns="0" tIns="0" bIns="0" anchor="ctr">
            <a:spAutoFit/>
          </a:bodyPr>
          <a:lstStyle/>
          <a:p>
            <a:pPr algn="l">
              <a:lnSpc>
                <a:spcPct val="120000"/>
              </a:lnSpc>
              <a:spcAft>
                <a:spcPts val="0"/>
              </a:spcAft>
            </a:pPr>
            <a:r>
              <a:rPr sz="900" b="0" spc="120">
                <a:solidFill>
                  <a:srgbClr val="8CC63F"/>
                </a:solidFill>
                <a:latin typeface="Segoe UI Semibold"/>
              </a:rPr>
              <a:t>STEP 1</a:t>
            </a:r>
          </a:p>
        </p:txBody>
      </p:sp>
      <p:sp>
        <p:nvSpPr>
          <p:cNvPr id="14" name="TextBox 13"/>
          <p:cNvSpPr txBox="1"/>
          <p:nvPr/>
        </p:nvSpPr>
        <p:spPr>
          <a:xfrm>
            <a:off x="812800" y="2413000"/>
            <a:ext cx="1676400" cy="558800"/>
          </a:xfrm>
          <a:prstGeom prst="rect">
            <a:avLst/>
          </a:prstGeom>
          <a:noFill/>
        </p:spPr>
        <p:txBody>
          <a:bodyPr wrap="square" lIns="0" rIns="0" tIns="0" bIns="0" anchor="t">
            <a:spAutoFit/>
          </a:bodyPr>
          <a:lstStyle/>
          <a:p>
            <a:pPr algn="l">
              <a:lnSpc>
                <a:spcPct val="110000"/>
              </a:lnSpc>
              <a:spcAft>
                <a:spcPts val="0"/>
              </a:spcAft>
            </a:pPr>
            <a:r>
              <a:rPr sz="1400" b="0">
                <a:solidFill>
                  <a:srgbClr val="FFFFFF"/>
                </a:solidFill>
                <a:latin typeface="Segoe UI Semibold"/>
              </a:rPr>
              <a:t>Confirm the spectrum</a:t>
            </a:r>
          </a:p>
        </p:txBody>
      </p:sp>
      <p:sp>
        <p:nvSpPr>
          <p:cNvPr id="15" name="TextBox 14"/>
          <p:cNvSpPr txBox="1"/>
          <p:nvPr/>
        </p:nvSpPr>
        <p:spPr>
          <a:xfrm>
            <a:off x="812800" y="3022600"/>
            <a:ext cx="1676400" cy="279400"/>
          </a:xfrm>
          <a:prstGeom prst="rect">
            <a:avLst/>
          </a:prstGeom>
          <a:noFill/>
        </p:spPr>
        <p:txBody>
          <a:bodyPr wrap="square" lIns="0" rIns="0" tIns="0" bIns="0" anchor="ctr">
            <a:spAutoFit/>
          </a:bodyPr>
          <a:lstStyle/>
          <a:p>
            <a:pPr algn="l">
              <a:lnSpc>
                <a:spcPct val="120000"/>
              </a:lnSpc>
              <a:spcAft>
                <a:spcPts val="0"/>
              </a:spcAft>
            </a:pPr>
            <a:r>
              <a:rPr sz="1150" b="0">
                <a:solidFill>
                  <a:srgbClr val="DCE5F3"/>
                </a:solidFill>
                <a:latin typeface="Segoe UI"/>
              </a:rPr>
              <a:t>band, bandwidth</a:t>
            </a:r>
          </a:p>
        </p:txBody>
      </p:sp>
      <p:pic>
        <p:nvPicPr>
          <p:cNvPr id="16" name="Picture 15" descr="arrow-right_steel.png"/>
          <p:cNvPicPr>
            <a:picLocks noChangeAspect="1"/>
          </p:cNvPicPr>
          <p:nvPr/>
        </p:nvPicPr>
        <p:blipFill>
          <a:blip r:embed="rId3"/>
          <a:stretch>
            <a:fillRect/>
          </a:stretch>
        </p:blipFill>
        <p:spPr>
          <a:xfrm>
            <a:off x="2641600" y="2400300"/>
            <a:ext cx="203200" cy="203200"/>
          </a:xfrm>
          <a:prstGeom prst="rect">
            <a:avLst/>
          </a:prstGeom>
        </p:spPr>
      </p:pic>
      <p:sp>
        <p:nvSpPr>
          <p:cNvPr id="17" name="Rectangle 16"/>
          <p:cNvSpPr/>
          <p:nvPr/>
        </p:nvSpPr>
        <p:spPr>
          <a:xfrm>
            <a:off x="2844800" y="1549400"/>
            <a:ext cx="20320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3048000" y="1752600"/>
            <a:ext cx="508000" cy="508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ap-pin_white.png"/>
          <p:cNvPicPr>
            <a:picLocks noChangeAspect="1"/>
          </p:cNvPicPr>
          <p:nvPr/>
        </p:nvPicPr>
        <p:blipFill>
          <a:blip r:embed="rId4"/>
          <a:stretch>
            <a:fillRect/>
          </a:stretch>
        </p:blipFill>
        <p:spPr>
          <a:xfrm>
            <a:off x="3169920" y="1874520"/>
            <a:ext cx="264160" cy="264160"/>
          </a:xfrm>
          <a:prstGeom prst="rect">
            <a:avLst/>
          </a:prstGeom>
        </p:spPr>
      </p:pic>
      <p:sp>
        <p:nvSpPr>
          <p:cNvPr id="20" name="TextBox 19"/>
          <p:cNvSpPr txBox="1"/>
          <p:nvPr/>
        </p:nvSpPr>
        <p:spPr>
          <a:xfrm>
            <a:off x="3657600" y="1752600"/>
            <a:ext cx="1143000" cy="5080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STEP 2</a:t>
            </a:r>
          </a:p>
        </p:txBody>
      </p:sp>
      <p:sp>
        <p:nvSpPr>
          <p:cNvPr id="21" name="TextBox 20"/>
          <p:cNvSpPr txBox="1"/>
          <p:nvPr/>
        </p:nvSpPr>
        <p:spPr>
          <a:xfrm>
            <a:off x="3048000" y="2413000"/>
            <a:ext cx="1676400" cy="558800"/>
          </a:xfrm>
          <a:prstGeom prst="rect">
            <a:avLst/>
          </a:prstGeom>
          <a:noFill/>
        </p:spPr>
        <p:txBody>
          <a:bodyPr wrap="square" lIns="0" rIns="0" tIns="0" bIns="0" anchor="t">
            <a:spAutoFit/>
          </a:bodyPr>
          <a:lstStyle/>
          <a:p>
            <a:pPr algn="l">
              <a:lnSpc>
                <a:spcPct val="110000"/>
              </a:lnSpc>
              <a:spcAft>
                <a:spcPts val="0"/>
              </a:spcAft>
            </a:pPr>
            <a:r>
              <a:rPr sz="1400" b="0">
                <a:solidFill>
                  <a:srgbClr val="0B308E"/>
                </a:solidFill>
                <a:latin typeface="Segoe UI Semibold"/>
              </a:rPr>
              <a:t>Pick a province</a:t>
            </a:r>
          </a:p>
        </p:txBody>
      </p:sp>
      <p:sp>
        <p:nvSpPr>
          <p:cNvPr id="22" name="TextBox 21"/>
          <p:cNvSpPr txBox="1"/>
          <p:nvPr/>
        </p:nvSpPr>
        <p:spPr>
          <a:xfrm>
            <a:off x="3048000" y="3022600"/>
            <a:ext cx="1676400" cy="279400"/>
          </a:xfrm>
          <a:prstGeom prst="rect">
            <a:avLst/>
          </a:prstGeom>
          <a:noFill/>
        </p:spPr>
        <p:txBody>
          <a:bodyPr wrap="square" lIns="0" rIns="0" tIns="0" bIns="0" anchor="ctr">
            <a:spAutoFit/>
          </a:bodyPr>
          <a:lstStyle/>
          <a:p>
            <a:pPr algn="l">
              <a:lnSpc>
                <a:spcPct val="120000"/>
              </a:lnSpc>
              <a:spcAft>
                <a:spcPts val="0"/>
              </a:spcAft>
            </a:pPr>
            <a:r>
              <a:rPr sz="1150" b="0">
                <a:solidFill>
                  <a:srgbClr val="55607A"/>
                </a:solidFill>
                <a:latin typeface="Segoe UI"/>
              </a:rPr>
              <a:t>typhoon belt</a:t>
            </a:r>
          </a:p>
        </p:txBody>
      </p:sp>
      <p:pic>
        <p:nvPicPr>
          <p:cNvPr id="23" name="Picture 22" descr="arrow-right_steel.png"/>
          <p:cNvPicPr>
            <a:picLocks noChangeAspect="1"/>
          </p:cNvPicPr>
          <p:nvPr/>
        </p:nvPicPr>
        <p:blipFill>
          <a:blip r:embed="rId3"/>
          <a:stretch>
            <a:fillRect/>
          </a:stretch>
        </p:blipFill>
        <p:spPr>
          <a:xfrm>
            <a:off x="4876800" y="2400300"/>
            <a:ext cx="203200" cy="203200"/>
          </a:xfrm>
          <a:prstGeom prst="rect">
            <a:avLst/>
          </a:prstGeom>
        </p:spPr>
      </p:pic>
      <p:sp>
        <p:nvSpPr>
          <p:cNvPr id="24" name="Rectangle 23"/>
          <p:cNvSpPr/>
          <p:nvPr/>
        </p:nvSpPr>
        <p:spPr>
          <a:xfrm>
            <a:off x="5080000" y="1549400"/>
            <a:ext cx="20320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5283200" y="1752600"/>
            <a:ext cx="508000" cy="508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6" name="Picture 25" descr="package_white.png"/>
          <p:cNvPicPr>
            <a:picLocks noChangeAspect="1"/>
          </p:cNvPicPr>
          <p:nvPr/>
        </p:nvPicPr>
        <p:blipFill>
          <a:blip r:embed="rId5"/>
          <a:stretch>
            <a:fillRect/>
          </a:stretch>
        </p:blipFill>
        <p:spPr>
          <a:xfrm>
            <a:off x="5405120" y="1874520"/>
            <a:ext cx="264160" cy="264160"/>
          </a:xfrm>
          <a:prstGeom prst="rect">
            <a:avLst/>
          </a:prstGeom>
        </p:spPr>
      </p:pic>
      <p:sp>
        <p:nvSpPr>
          <p:cNvPr id="27" name="TextBox 26"/>
          <p:cNvSpPr txBox="1"/>
          <p:nvPr/>
        </p:nvSpPr>
        <p:spPr>
          <a:xfrm>
            <a:off x="5892800" y="1752600"/>
            <a:ext cx="1143000" cy="5080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STEP 3</a:t>
            </a:r>
          </a:p>
        </p:txBody>
      </p:sp>
      <p:sp>
        <p:nvSpPr>
          <p:cNvPr id="28" name="TextBox 27"/>
          <p:cNvSpPr txBox="1"/>
          <p:nvPr/>
        </p:nvSpPr>
        <p:spPr>
          <a:xfrm>
            <a:off x="5283200" y="2413000"/>
            <a:ext cx="1676400" cy="558800"/>
          </a:xfrm>
          <a:prstGeom prst="rect">
            <a:avLst/>
          </a:prstGeom>
          <a:noFill/>
        </p:spPr>
        <p:txBody>
          <a:bodyPr wrap="square" lIns="0" rIns="0" tIns="0" bIns="0" anchor="t">
            <a:spAutoFit/>
          </a:bodyPr>
          <a:lstStyle/>
          <a:p>
            <a:pPr algn="l">
              <a:lnSpc>
                <a:spcPct val="110000"/>
              </a:lnSpc>
              <a:spcAft>
                <a:spcPts val="0"/>
              </a:spcAft>
            </a:pPr>
            <a:r>
              <a:rPr sz="1400" b="0">
                <a:solidFill>
                  <a:srgbClr val="0B308E"/>
                </a:solidFill>
                <a:latin typeface="Segoe UI Semibold"/>
              </a:rPr>
              <a:t>Build the pilot</a:t>
            </a:r>
          </a:p>
        </p:txBody>
      </p:sp>
      <p:sp>
        <p:nvSpPr>
          <p:cNvPr id="29" name="TextBox 28"/>
          <p:cNvSpPr txBox="1"/>
          <p:nvPr/>
        </p:nvSpPr>
        <p:spPr>
          <a:xfrm>
            <a:off x="5283200" y="3022600"/>
            <a:ext cx="1676400" cy="279400"/>
          </a:xfrm>
          <a:prstGeom prst="rect">
            <a:avLst/>
          </a:prstGeom>
          <a:noFill/>
        </p:spPr>
        <p:txBody>
          <a:bodyPr wrap="square" lIns="0" rIns="0" tIns="0" bIns="0" anchor="ctr">
            <a:spAutoFit/>
          </a:bodyPr>
          <a:lstStyle/>
          <a:p>
            <a:pPr algn="l">
              <a:lnSpc>
                <a:spcPct val="120000"/>
              </a:lnSpc>
              <a:spcAft>
                <a:spcPts val="0"/>
              </a:spcAft>
            </a:pPr>
            <a:r>
              <a:rPr sz="1150" b="0">
                <a:solidFill>
                  <a:srgbClr val="55607A"/>
                </a:solidFill>
                <a:latin typeface="Segoe UI"/>
              </a:rPr>
              <a:t>sites, terminals, meters</a:t>
            </a:r>
          </a:p>
        </p:txBody>
      </p:sp>
      <p:pic>
        <p:nvPicPr>
          <p:cNvPr id="30" name="Picture 29" descr="arrow-right_steel.png"/>
          <p:cNvPicPr>
            <a:picLocks noChangeAspect="1"/>
          </p:cNvPicPr>
          <p:nvPr/>
        </p:nvPicPr>
        <p:blipFill>
          <a:blip r:embed="rId3"/>
          <a:stretch>
            <a:fillRect/>
          </a:stretch>
        </p:blipFill>
        <p:spPr>
          <a:xfrm>
            <a:off x="7112000" y="2400300"/>
            <a:ext cx="203200" cy="203200"/>
          </a:xfrm>
          <a:prstGeom prst="rect">
            <a:avLst/>
          </a:prstGeom>
        </p:spPr>
      </p:pic>
      <p:sp>
        <p:nvSpPr>
          <p:cNvPr id="31" name="Rectangle 30"/>
          <p:cNvSpPr/>
          <p:nvPr/>
        </p:nvSpPr>
        <p:spPr>
          <a:xfrm>
            <a:off x="7315200" y="1549400"/>
            <a:ext cx="20320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Oval 31"/>
          <p:cNvSpPr/>
          <p:nvPr/>
        </p:nvSpPr>
        <p:spPr>
          <a:xfrm>
            <a:off x="7518400" y="1752600"/>
            <a:ext cx="508000" cy="508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3" name="Picture 32" descr="activity_white.png"/>
          <p:cNvPicPr>
            <a:picLocks noChangeAspect="1"/>
          </p:cNvPicPr>
          <p:nvPr/>
        </p:nvPicPr>
        <p:blipFill>
          <a:blip r:embed="rId6"/>
          <a:stretch>
            <a:fillRect/>
          </a:stretch>
        </p:blipFill>
        <p:spPr>
          <a:xfrm>
            <a:off x="7640320" y="1874520"/>
            <a:ext cx="264160" cy="264160"/>
          </a:xfrm>
          <a:prstGeom prst="rect">
            <a:avLst/>
          </a:prstGeom>
        </p:spPr>
      </p:pic>
      <p:sp>
        <p:nvSpPr>
          <p:cNvPr id="34" name="TextBox 33"/>
          <p:cNvSpPr txBox="1"/>
          <p:nvPr/>
        </p:nvSpPr>
        <p:spPr>
          <a:xfrm>
            <a:off x="8128000" y="1752600"/>
            <a:ext cx="1143000" cy="5080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STEP 4</a:t>
            </a:r>
          </a:p>
        </p:txBody>
      </p:sp>
      <p:sp>
        <p:nvSpPr>
          <p:cNvPr id="35" name="TextBox 34"/>
          <p:cNvSpPr txBox="1"/>
          <p:nvPr/>
        </p:nvSpPr>
        <p:spPr>
          <a:xfrm>
            <a:off x="7518400" y="2413000"/>
            <a:ext cx="1676400" cy="558800"/>
          </a:xfrm>
          <a:prstGeom prst="rect">
            <a:avLst/>
          </a:prstGeom>
          <a:noFill/>
        </p:spPr>
        <p:txBody>
          <a:bodyPr wrap="square" lIns="0" rIns="0" tIns="0" bIns="0" anchor="t">
            <a:spAutoFit/>
          </a:bodyPr>
          <a:lstStyle/>
          <a:p>
            <a:pPr algn="l">
              <a:lnSpc>
                <a:spcPct val="110000"/>
              </a:lnSpc>
              <a:spcAft>
                <a:spcPts val="0"/>
              </a:spcAft>
            </a:pPr>
            <a:r>
              <a:rPr sz="1400" b="0">
                <a:solidFill>
                  <a:srgbClr val="0B308E"/>
                </a:solidFill>
                <a:latin typeface="Segoe UI Semibold"/>
              </a:rPr>
              <a:t>Measure</a:t>
            </a:r>
          </a:p>
        </p:txBody>
      </p:sp>
      <p:sp>
        <p:nvSpPr>
          <p:cNvPr id="36" name="TextBox 35"/>
          <p:cNvSpPr txBox="1"/>
          <p:nvPr/>
        </p:nvSpPr>
        <p:spPr>
          <a:xfrm>
            <a:off x="7518400" y="3022600"/>
            <a:ext cx="1676400" cy="279400"/>
          </a:xfrm>
          <a:prstGeom prst="rect">
            <a:avLst/>
          </a:prstGeom>
          <a:noFill/>
        </p:spPr>
        <p:txBody>
          <a:bodyPr wrap="square" lIns="0" rIns="0" tIns="0" bIns="0" anchor="ctr">
            <a:spAutoFit/>
          </a:bodyPr>
          <a:lstStyle/>
          <a:p>
            <a:pPr algn="l">
              <a:lnSpc>
                <a:spcPct val="120000"/>
              </a:lnSpc>
              <a:spcAft>
                <a:spcPts val="0"/>
              </a:spcAft>
            </a:pPr>
            <a:r>
              <a:rPr sz="1150" b="0">
                <a:solidFill>
                  <a:srgbClr val="55607A"/>
                </a:solidFill>
                <a:latin typeface="Segoe UI"/>
              </a:rPr>
              <a:t>coverage, uptime, cost</a:t>
            </a:r>
          </a:p>
        </p:txBody>
      </p:sp>
      <p:pic>
        <p:nvPicPr>
          <p:cNvPr id="37" name="Picture 36" descr="arrow-right_steel.png"/>
          <p:cNvPicPr>
            <a:picLocks noChangeAspect="1"/>
          </p:cNvPicPr>
          <p:nvPr/>
        </p:nvPicPr>
        <p:blipFill>
          <a:blip r:embed="rId3"/>
          <a:stretch>
            <a:fillRect/>
          </a:stretch>
        </p:blipFill>
        <p:spPr>
          <a:xfrm>
            <a:off x="9347200" y="2400300"/>
            <a:ext cx="203200" cy="203200"/>
          </a:xfrm>
          <a:prstGeom prst="rect">
            <a:avLst/>
          </a:prstGeom>
        </p:spPr>
      </p:pic>
      <p:sp>
        <p:nvSpPr>
          <p:cNvPr id="38" name="Rectangle 37"/>
          <p:cNvSpPr/>
          <p:nvPr/>
        </p:nvSpPr>
        <p:spPr>
          <a:xfrm>
            <a:off x="9550400" y="1549400"/>
            <a:ext cx="20320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Oval 38"/>
          <p:cNvSpPr/>
          <p:nvPr/>
        </p:nvSpPr>
        <p:spPr>
          <a:xfrm>
            <a:off x="9753600" y="1752600"/>
            <a:ext cx="508000" cy="508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0" name="Picture 39" descr="trending-up_white.png"/>
          <p:cNvPicPr>
            <a:picLocks noChangeAspect="1"/>
          </p:cNvPicPr>
          <p:nvPr/>
        </p:nvPicPr>
        <p:blipFill>
          <a:blip r:embed="rId7"/>
          <a:stretch>
            <a:fillRect/>
          </a:stretch>
        </p:blipFill>
        <p:spPr>
          <a:xfrm>
            <a:off x="9875520" y="1874520"/>
            <a:ext cx="264160" cy="264160"/>
          </a:xfrm>
          <a:prstGeom prst="rect">
            <a:avLst/>
          </a:prstGeom>
        </p:spPr>
      </p:pic>
      <p:sp>
        <p:nvSpPr>
          <p:cNvPr id="41" name="TextBox 40"/>
          <p:cNvSpPr txBox="1"/>
          <p:nvPr/>
        </p:nvSpPr>
        <p:spPr>
          <a:xfrm>
            <a:off x="10363200" y="1752600"/>
            <a:ext cx="1143000" cy="5080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STEP 5</a:t>
            </a:r>
          </a:p>
        </p:txBody>
      </p:sp>
      <p:sp>
        <p:nvSpPr>
          <p:cNvPr id="42" name="TextBox 41"/>
          <p:cNvSpPr txBox="1"/>
          <p:nvPr/>
        </p:nvSpPr>
        <p:spPr>
          <a:xfrm>
            <a:off x="9753600" y="2413000"/>
            <a:ext cx="1676400" cy="558800"/>
          </a:xfrm>
          <a:prstGeom prst="rect">
            <a:avLst/>
          </a:prstGeom>
          <a:noFill/>
        </p:spPr>
        <p:txBody>
          <a:bodyPr wrap="square" lIns="0" rIns="0" tIns="0" bIns="0" anchor="t">
            <a:spAutoFit/>
          </a:bodyPr>
          <a:lstStyle/>
          <a:p>
            <a:pPr algn="l">
              <a:lnSpc>
                <a:spcPct val="110000"/>
              </a:lnSpc>
              <a:spcAft>
                <a:spcPts val="0"/>
              </a:spcAft>
            </a:pPr>
            <a:r>
              <a:rPr sz="1400" b="0">
                <a:solidFill>
                  <a:srgbClr val="0B308E"/>
                </a:solidFill>
                <a:latin typeface="Segoe UI Semibold"/>
              </a:rPr>
              <a:t>Decide on scale</a:t>
            </a:r>
          </a:p>
        </p:txBody>
      </p:sp>
      <p:sp>
        <p:nvSpPr>
          <p:cNvPr id="43" name="TextBox 42"/>
          <p:cNvSpPr txBox="1"/>
          <p:nvPr/>
        </p:nvSpPr>
        <p:spPr>
          <a:xfrm>
            <a:off x="9753600" y="3022600"/>
            <a:ext cx="1676400" cy="279400"/>
          </a:xfrm>
          <a:prstGeom prst="rect">
            <a:avLst/>
          </a:prstGeom>
          <a:noFill/>
        </p:spPr>
        <p:txBody>
          <a:bodyPr wrap="square" lIns="0" rIns="0" tIns="0" bIns="0" anchor="ctr">
            <a:spAutoFit/>
          </a:bodyPr>
          <a:lstStyle/>
          <a:p>
            <a:pPr algn="l">
              <a:lnSpc>
                <a:spcPct val="120000"/>
              </a:lnSpc>
              <a:spcAft>
                <a:spcPts val="0"/>
              </a:spcAft>
            </a:pPr>
            <a:r>
              <a:rPr sz="1150" b="0">
                <a:solidFill>
                  <a:srgbClr val="55607A"/>
                </a:solidFill>
                <a:latin typeface="Segoe UI"/>
              </a:rPr>
              <a:t>national roll-out</a:t>
            </a:r>
          </a:p>
        </p:txBody>
      </p:sp>
      <p:sp>
        <p:nvSpPr>
          <p:cNvPr id="44" name="TextBox 43"/>
          <p:cNvSpPr txBox="1"/>
          <p:nvPr/>
        </p:nvSpPr>
        <p:spPr>
          <a:xfrm>
            <a:off x="609600" y="3708400"/>
            <a:ext cx="508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WE NEED FROM GLOBE</a:t>
            </a:r>
          </a:p>
        </p:txBody>
      </p:sp>
      <p:sp>
        <p:nvSpPr>
          <p:cNvPr id="45" name="Rectangle 44"/>
          <p:cNvSpPr/>
          <p:nvPr/>
        </p:nvSpPr>
        <p:spPr>
          <a:xfrm>
            <a:off x="609600" y="3987800"/>
            <a:ext cx="3454400" cy="12192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Oval 45"/>
          <p:cNvSpPr/>
          <p:nvPr/>
        </p:nvSpPr>
        <p:spPr>
          <a:xfrm>
            <a:off x="812800" y="4318000"/>
            <a:ext cx="558800" cy="5588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7" name="Picture 46" descr="radio-tower_white.png"/>
          <p:cNvPicPr>
            <a:picLocks noChangeAspect="1"/>
          </p:cNvPicPr>
          <p:nvPr/>
        </p:nvPicPr>
        <p:blipFill>
          <a:blip r:embed="rId8"/>
          <a:stretch>
            <a:fillRect/>
          </a:stretch>
        </p:blipFill>
        <p:spPr>
          <a:xfrm>
            <a:off x="946912" y="4452112"/>
            <a:ext cx="290576" cy="290576"/>
          </a:xfrm>
          <a:prstGeom prst="rect">
            <a:avLst/>
          </a:prstGeom>
        </p:spPr>
      </p:pic>
      <p:sp>
        <p:nvSpPr>
          <p:cNvPr id="48" name="TextBox 47"/>
          <p:cNvSpPr txBox="1"/>
          <p:nvPr/>
        </p:nvSpPr>
        <p:spPr>
          <a:xfrm>
            <a:off x="1549400" y="4191000"/>
            <a:ext cx="2362200" cy="3810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Spectrum parameters</a:t>
            </a:r>
          </a:p>
        </p:txBody>
      </p:sp>
      <p:sp>
        <p:nvSpPr>
          <p:cNvPr id="49" name="TextBox 48"/>
          <p:cNvSpPr txBox="1"/>
          <p:nvPr/>
        </p:nvSpPr>
        <p:spPr>
          <a:xfrm>
            <a:off x="1549400" y="4546600"/>
            <a:ext cx="2362200" cy="3302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or B72  ·  3 or 5 MHz</a:t>
            </a:r>
          </a:p>
        </p:txBody>
      </p:sp>
      <p:sp>
        <p:nvSpPr>
          <p:cNvPr id="50" name="Rectangle 49"/>
          <p:cNvSpPr/>
          <p:nvPr/>
        </p:nvSpPr>
        <p:spPr>
          <a:xfrm>
            <a:off x="4368800" y="3987800"/>
            <a:ext cx="3454400" cy="12192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Oval 50"/>
          <p:cNvSpPr/>
          <p:nvPr/>
        </p:nvSpPr>
        <p:spPr>
          <a:xfrm>
            <a:off x="4572000" y="4318000"/>
            <a:ext cx="558800" cy="5588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2" name="Picture 51" descr="map-pin_white.png"/>
          <p:cNvPicPr>
            <a:picLocks noChangeAspect="1"/>
          </p:cNvPicPr>
          <p:nvPr/>
        </p:nvPicPr>
        <p:blipFill>
          <a:blip r:embed="rId4"/>
          <a:stretch>
            <a:fillRect/>
          </a:stretch>
        </p:blipFill>
        <p:spPr>
          <a:xfrm>
            <a:off x="4706112" y="4452112"/>
            <a:ext cx="290576" cy="290576"/>
          </a:xfrm>
          <a:prstGeom prst="rect">
            <a:avLst/>
          </a:prstGeom>
        </p:spPr>
      </p:pic>
      <p:sp>
        <p:nvSpPr>
          <p:cNvPr id="53" name="TextBox 52"/>
          <p:cNvSpPr txBox="1"/>
          <p:nvPr/>
        </p:nvSpPr>
        <p:spPr>
          <a:xfrm>
            <a:off x="5308600" y="4191000"/>
            <a:ext cx="2362200" cy="3810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One candidate province</a:t>
            </a:r>
          </a:p>
        </p:txBody>
      </p:sp>
      <p:sp>
        <p:nvSpPr>
          <p:cNvPr id="54" name="TextBox 53"/>
          <p:cNvSpPr txBox="1"/>
          <p:nvPr/>
        </p:nvSpPr>
        <p:spPr>
          <a:xfrm>
            <a:off x="5308600" y="4546600"/>
            <a:ext cx="2362200" cy="3302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ideally in the typhoon belt</a:t>
            </a:r>
          </a:p>
        </p:txBody>
      </p:sp>
      <p:sp>
        <p:nvSpPr>
          <p:cNvPr id="55" name="Rectangle 54"/>
          <p:cNvSpPr/>
          <p:nvPr/>
        </p:nvSpPr>
        <p:spPr>
          <a:xfrm>
            <a:off x="8128000" y="3987800"/>
            <a:ext cx="3454400" cy="12192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Oval 55"/>
          <p:cNvSpPr/>
          <p:nvPr/>
        </p:nvSpPr>
        <p:spPr>
          <a:xfrm>
            <a:off x="8331200" y="4318000"/>
            <a:ext cx="558800" cy="5588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7" name="Picture 56" descr="handshake_white.png"/>
          <p:cNvPicPr>
            <a:picLocks noChangeAspect="1"/>
          </p:cNvPicPr>
          <p:nvPr/>
        </p:nvPicPr>
        <p:blipFill>
          <a:blip r:embed="rId9"/>
          <a:stretch>
            <a:fillRect/>
          </a:stretch>
        </p:blipFill>
        <p:spPr>
          <a:xfrm>
            <a:off x="8465312" y="4452112"/>
            <a:ext cx="290576" cy="290576"/>
          </a:xfrm>
          <a:prstGeom prst="rect">
            <a:avLst/>
          </a:prstGeom>
        </p:spPr>
      </p:pic>
      <p:sp>
        <p:nvSpPr>
          <p:cNvPr id="58" name="TextBox 57"/>
          <p:cNvSpPr txBox="1"/>
          <p:nvPr/>
        </p:nvSpPr>
        <p:spPr>
          <a:xfrm>
            <a:off x="9067800" y="4191000"/>
            <a:ext cx="2362200" cy="3810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Two introductions</a:t>
            </a:r>
          </a:p>
        </p:txBody>
      </p:sp>
      <p:sp>
        <p:nvSpPr>
          <p:cNvPr id="59" name="TextBox 58"/>
          <p:cNvSpPr txBox="1"/>
          <p:nvPr/>
        </p:nvSpPr>
        <p:spPr>
          <a:xfrm>
            <a:off x="9067800" y="4546600"/>
            <a:ext cx="2362200" cy="3302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a cooperative, a water district</a:t>
            </a:r>
          </a:p>
        </p:txBody>
      </p:sp>
      <p:sp>
        <p:nvSpPr>
          <p:cNvPr id="60" name="Rectangle 59"/>
          <p:cNvSpPr/>
          <p:nvPr/>
        </p:nvSpPr>
        <p:spPr>
          <a:xfrm>
            <a:off x="609600" y="5435600"/>
            <a:ext cx="10972800" cy="558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1" name="Picture 60" descr="handshake_white.png"/>
          <p:cNvPicPr>
            <a:picLocks noChangeAspect="1"/>
          </p:cNvPicPr>
          <p:nvPr/>
        </p:nvPicPr>
        <p:blipFill>
          <a:blip r:embed="rId9"/>
          <a:stretch>
            <a:fillRect/>
          </a:stretch>
        </p:blipFill>
        <p:spPr>
          <a:xfrm>
            <a:off x="812800" y="5588000"/>
            <a:ext cx="254000" cy="254000"/>
          </a:xfrm>
          <a:prstGeom prst="rect">
            <a:avLst/>
          </a:prstGeom>
        </p:spPr>
      </p:pic>
      <p:sp>
        <p:nvSpPr>
          <p:cNvPr id="62" name="TextBox 61"/>
          <p:cNvSpPr txBox="1"/>
          <p:nvPr/>
        </p:nvSpPr>
        <p:spPr>
          <a:xfrm>
            <a:off x="1219200" y="5435600"/>
            <a:ext cx="10160000" cy="558800"/>
          </a:xfrm>
          <a:prstGeom prst="rect">
            <a:avLst/>
          </a:prstGeom>
          <a:noFill/>
        </p:spPr>
        <p:txBody>
          <a:bodyPr wrap="square" lIns="0" rIns="0" tIns="0" bIns="0" anchor="ctr">
            <a:spAutoFit/>
          </a:bodyPr>
          <a:lstStyle/>
          <a:p>
            <a:pPr algn="l">
              <a:lnSpc>
                <a:spcPct val="130000"/>
              </a:lnSpc>
            </a:pPr>
            <a:r>
              <a:rPr sz="1250" b="0">
                <a:solidFill>
                  <a:srgbClr val="8CC63F"/>
                </a:solidFill>
                <a:latin typeface="Segoe UI Semibold"/>
              </a:rPr>
              <a:t>Not a build.   </a:t>
            </a:r>
            <a:r>
              <a:rPr sz="1250" b="0">
                <a:solidFill>
                  <a:srgbClr val="FFFFFF"/>
                </a:solidFill>
                <a:latin typeface="Segoe UI"/>
              </a:rPr>
              <a:t>The next step is a joint pilot design, in Globe’s own terrain.</a:t>
            </a:r>
          </a:p>
        </p:txBody>
      </p:sp>
      <p:sp>
        <p:nvSpPr>
          <p:cNvPr id="63" name="TextBox 62"/>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Hytera proposal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0" y="76200"/>
            <a:ext cx="76200" cy="6781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a_2b6cd945d1.png"/>
          <p:cNvPicPr>
            <a:picLocks noChangeAspect="1"/>
          </p:cNvPicPr>
          <p:nvPr/>
        </p:nvPicPr>
        <p:blipFill>
          <a:blip r:embed="rId2"/>
          <a:stretch>
            <a:fillRect/>
          </a:stretch>
        </p:blipFill>
        <p:spPr>
          <a:xfrm>
            <a:off x="10013244" y="431800"/>
            <a:ext cx="1284111" cy="508000"/>
          </a:xfrm>
          <a:prstGeom prst="rect">
            <a:avLst/>
          </a:prstGeom>
        </p:spPr>
      </p:pic>
      <p:sp>
        <p:nvSpPr>
          <p:cNvPr id="7" name="Oval 6"/>
          <p:cNvSpPr/>
          <p:nvPr/>
        </p:nvSpPr>
        <p:spPr>
          <a:xfrm>
            <a:off x="6959600" y="1626615"/>
            <a:ext cx="4470400" cy="4112768"/>
          </a:xfrm>
          <a:prstGeom prst="ellipse">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Oval 7"/>
          <p:cNvSpPr/>
          <p:nvPr/>
        </p:nvSpPr>
        <p:spPr>
          <a:xfrm>
            <a:off x="7518400" y="2140712"/>
            <a:ext cx="3352800" cy="3084576"/>
          </a:xfrm>
          <a:prstGeom prst="ellipse">
            <a:avLst/>
          </a:prstGeom>
          <a:solidFill>
            <a:srgbClr val="EAF0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8077200" y="2654808"/>
            <a:ext cx="2235200" cy="2056384"/>
          </a:xfrm>
          <a:prstGeom prst="ellipse">
            <a:avLst/>
          </a:prstGeom>
          <a:solidFill>
            <a:srgbClr val="DFE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 name="Picture 9" descr="a_64ddced7b1.png"/>
          <p:cNvPicPr>
            <a:picLocks noChangeAspect="1"/>
          </p:cNvPicPr>
          <p:nvPr/>
        </p:nvPicPr>
        <p:blipFill>
          <a:blip r:embed="rId3"/>
          <a:stretch>
            <a:fillRect/>
          </a:stretch>
        </p:blipFill>
        <p:spPr>
          <a:xfrm>
            <a:off x="8255000" y="2022122"/>
            <a:ext cx="2159000" cy="3118555"/>
          </a:xfrm>
          <a:prstGeom prst="rect">
            <a:avLst/>
          </a:prstGeom>
        </p:spPr>
      </p:pic>
      <p:pic>
        <p:nvPicPr>
          <p:cNvPr id="11" name="Picture 10" descr="a_b7de459c1a.png"/>
          <p:cNvPicPr>
            <a:picLocks noChangeAspect="1"/>
          </p:cNvPicPr>
          <p:nvPr/>
        </p:nvPicPr>
        <p:blipFill>
          <a:blip r:embed="rId4"/>
          <a:stretch>
            <a:fillRect/>
          </a:stretch>
        </p:blipFill>
        <p:spPr>
          <a:xfrm>
            <a:off x="7041849" y="2413000"/>
            <a:ext cx="1029301" cy="3175000"/>
          </a:xfrm>
          <a:prstGeom prst="rect">
            <a:avLst/>
          </a:prstGeom>
        </p:spPr>
      </p:pic>
      <p:cxnSp>
        <p:nvCxnSpPr>
          <p:cNvPr id="12" name="Connector 11"/>
          <p:cNvCxnSpPr/>
          <p:nvPr/>
        </p:nvCxnSpPr>
        <p:spPr>
          <a:xfrm>
            <a:off x="609600" y="5969000"/>
            <a:ext cx="109728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63600" y="1600200"/>
            <a:ext cx="5588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HYTERA  ×  GLOBE TELECOM</a:t>
            </a:r>
          </a:p>
        </p:txBody>
      </p:sp>
      <p:sp>
        <p:nvSpPr>
          <p:cNvPr id="14" name="TextBox 13"/>
          <p:cNvSpPr txBox="1"/>
          <p:nvPr/>
        </p:nvSpPr>
        <p:spPr>
          <a:xfrm>
            <a:off x="863600" y="1905000"/>
            <a:ext cx="5588000" cy="762000"/>
          </a:xfrm>
          <a:prstGeom prst="rect">
            <a:avLst/>
          </a:prstGeom>
          <a:noFill/>
        </p:spPr>
        <p:txBody>
          <a:bodyPr wrap="square" lIns="0" rIns="0" tIns="0" bIns="0" anchor="t">
            <a:spAutoFit/>
          </a:bodyPr>
          <a:lstStyle/>
          <a:p>
            <a:pPr algn="l">
              <a:lnSpc>
                <a:spcPct val="120000"/>
              </a:lnSpc>
              <a:spcAft>
                <a:spcPts val="0"/>
              </a:spcAft>
            </a:pPr>
            <a:r>
              <a:rPr sz="4000" b="0">
                <a:solidFill>
                  <a:srgbClr val="0B308E"/>
                </a:solidFill>
                <a:latin typeface="Segoe UI Semibold"/>
              </a:rPr>
              <a:t>Thank you</a:t>
            </a:r>
          </a:p>
        </p:txBody>
      </p:sp>
      <p:sp>
        <p:nvSpPr>
          <p:cNvPr id="15" name="Rectangle 14"/>
          <p:cNvSpPr/>
          <p:nvPr/>
        </p:nvSpPr>
        <p:spPr>
          <a:xfrm>
            <a:off x="863600" y="2870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63600" y="3225800"/>
            <a:ext cx="5588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NEXT STEP</a:t>
            </a:r>
          </a:p>
        </p:txBody>
      </p:sp>
      <p:sp>
        <p:nvSpPr>
          <p:cNvPr id="17" name="Oval 16"/>
          <p:cNvSpPr/>
          <p:nvPr/>
        </p:nvSpPr>
        <p:spPr>
          <a:xfrm>
            <a:off x="863600" y="3530600"/>
            <a:ext cx="406400" cy="406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radio-tower_white.png"/>
          <p:cNvPicPr>
            <a:picLocks noChangeAspect="1"/>
          </p:cNvPicPr>
          <p:nvPr/>
        </p:nvPicPr>
        <p:blipFill>
          <a:blip r:embed="rId5"/>
          <a:stretch>
            <a:fillRect/>
          </a:stretch>
        </p:blipFill>
        <p:spPr>
          <a:xfrm>
            <a:off x="961136" y="3628136"/>
            <a:ext cx="211328" cy="211328"/>
          </a:xfrm>
          <a:prstGeom prst="rect">
            <a:avLst/>
          </a:prstGeom>
        </p:spPr>
      </p:pic>
      <p:sp>
        <p:nvSpPr>
          <p:cNvPr id="19" name="TextBox 18"/>
          <p:cNvSpPr txBox="1"/>
          <p:nvPr/>
        </p:nvSpPr>
        <p:spPr>
          <a:xfrm>
            <a:off x="1422400" y="3530600"/>
            <a:ext cx="4826000" cy="4064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Confirm the spectrum</a:t>
            </a:r>
          </a:p>
        </p:txBody>
      </p:sp>
      <p:sp>
        <p:nvSpPr>
          <p:cNvPr id="20" name="Oval 19"/>
          <p:cNvSpPr/>
          <p:nvPr/>
        </p:nvSpPr>
        <p:spPr>
          <a:xfrm>
            <a:off x="863600" y="4089400"/>
            <a:ext cx="406400" cy="406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map-pin_white.png"/>
          <p:cNvPicPr>
            <a:picLocks noChangeAspect="1"/>
          </p:cNvPicPr>
          <p:nvPr/>
        </p:nvPicPr>
        <p:blipFill>
          <a:blip r:embed="rId6"/>
          <a:stretch>
            <a:fillRect/>
          </a:stretch>
        </p:blipFill>
        <p:spPr>
          <a:xfrm>
            <a:off x="961136" y="4186936"/>
            <a:ext cx="211328" cy="211328"/>
          </a:xfrm>
          <a:prstGeom prst="rect">
            <a:avLst/>
          </a:prstGeom>
        </p:spPr>
      </p:pic>
      <p:sp>
        <p:nvSpPr>
          <p:cNvPr id="22" name="TextBox 21"/>
          <p:cNvSpPr txBox="1"/>
          <p:nvPr/>
        </p:nvSpPr>
        <p:spPr>
          <a:xfrm>
            <a:off x="1422400" y="4089400"/>
            <a:ext cx="4826000" cy="4064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Nominate a pilot province</a:t>
            </a:r>
          </a:p>
        </p:txBody>
      </p:sp>
      <p:sp>
        <p:nvSpPr>
          <p:cNvPr id="23" name="Oval 22"/>
          <p:cNvSpPr/>
          <p:nvPr/>
        </p:nvSpPr>
        <p:spPr>
          <a:xfrm>
            <a:off x="863600" y="4648200"/>
            <a:ext cx="406400" cy="406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handshake_white.png"/>
          <p:cNvPicPr>
            <a:picLocks noChangeAspect="1"/>
          </p:cNvPicPr>
          <p:nvPr/>
        </p:nvPicPr>
        <p:blipFill>
          <a:blip r:embed="rId7"/>
          <a:stretch>
            <a:fillRect/>
          </a:stretch>
        </p:blipFill>
        <p:spPr>
          <a:xfrm>
            <a:off x="961136" y="4745736"/>
            <a:ext cx="211328" cy="211328"/>
          </a:xfrm>
          <a:prstGeom prst="rect">
            <a:avLst/>
          </a:prstGeom>
        </p:spPr>
      </p:pic>
      <p:sp>
        <p:nvSpPr>
          <p:cNvPr id="25" name="TextBox 24"/>
          <p:cNvSpPr txBox="1"/>
          <p:nvPr/>
        </p:nvSpPr>
        <p:spPr>
          <a:xfrm>
            <a:off x="1422400" y="4648200"/>
            <a:ext cx="4826000" cy="4064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Design the pilot together</a:t>
            </a:r>
          </a:p>
        </p:txBody>
      </p:sp>
      <p:sp>
        <p:nvSpPr>
          <p:cNvPr id="26" name="TextBox 25"/>
          <p:cNvSpPr txBox="1"/>
          <p:nvPr/>
        </p:nvSpPr>
        <p:spPr>
          <a:xfrm>
            <a:off x="609600" y="6070600"/>
            <a:ext cx="5334000" cy="3048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Mission First  ·  Safety Always</a:t>
            </a:r>
          </a:p>
        </p:txBody>
      </p:sp>
      <p:sp>
        <p:nvSpPr>
          <p:cNvPr id="27" name="TextBox 26"/>
          <p:cNvSpPr txBox="1"/>
          <p:nvPr/>
        </p:nvSpPr>
        <p:spPr>
          <a:xfrm>
            <a:off x="6502400" y="6070600"/>
            <a:ext cx="5080000" cy="304800"/>
          </a:xfrm>
          <a:prstGeom prst="rect">
            <a:avLst/>
          </a:prstGeom>
          <a:noFill/>
        </p:spPr>
        <p:txBody>
          <a:bodyPr wrap="square" lIns="0" rIns="0" tIns="0" bIns="0" anchor="ctr">
            <a:spAutoFit/>
          </a:bodyPr>
          <a:lstStyle/>
          <a:p>
            <a:pPr algn="r">
              <a:lnSpc>
                <a:spcPct val="120000"/>
              </a:lnSpc>
              <a:spcAft>
                <a:spcPts val="0"/>
              </a:spcAft>
            </a:pPr>
            <a:r>
              <a:rPr sz="950" b="0">
                <a:solidFill>
                  <a:srgbClr val="93A0B4"/>
                </a:solidFill>
                <a:latin typeface="Segoe UI"/>
              </a:rPr>
              <a:t>Hytera Communications Corporation Limited</a:t>
            </a:r>
          </a:p>
        </p:txBody>
      </p:sp>
    </p:spTree>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3459</Words>
  <Application>Microsoft Macintosh PowerPoint</Application>
  <PresentationFormat>宽屏</PresentationFormat>
  <Paragraphs>390</Paragraphs>
  <Slides>17</Slides>
  <Notes>17</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17</vt:i4>
      </vt:variant>
    </vt:vector>
  </HeadingPairs>
  <TitlesOfParts>
    <vt:vector size="21" baseType="lpstr">
      <vt:lpstr>等线</vt:lpstr>
      <vt:lpstr>等线 Light</vt:lpstr>
      <vt:lpstr>Arial</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stefan yu</dc:creator>
  <cp:lastModifiedBy>stefan yu</cp:lastModifiedBy>
  <cp:revision>1</cp:revision>
  <dcterms:created xsi:type="dcterms:W3CDTF">2026-10-10T01:12:47Z</dcterms:created>
  <dcterms:modified xsi:type="dcterms:W3CDTF">2026-10-10T01:38:43Z</dcterms:modified>
</cp:coreProperties>
</file>