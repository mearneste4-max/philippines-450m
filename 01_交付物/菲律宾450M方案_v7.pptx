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6"/>
    <p:sldId id="269" r:id="rId5"/>
    <p:sldId id="270" r:id="rId4"/>
    <p:sldId id="271" r:id="rId3"/>
    <p:sldId id="272" r:id="rId2"/>
    <p:sldId id="273" r:id="rId24"/>
    <p:sldId id="274" r:id="rId25"/>
    <p:sldId id="275" r:id="rId26"/>
    <p:sldId id="276" r:id="rId27"/>
    <p:sldId id="277"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4"/>
    <p:restoredTop sz="87603"/>
  </p:normalViewPr>
  <p:slideViewPr>
    <p:cSldViewPr snapToGrid="0">
      <p:cViewPr varScale="1">
        <p:scale>
          <a:sx n="110" d="100"/>
          <a:sy n="110" d="100"/>
        </p:scale>
        <p:origin x="88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7.xml"/><Relationship Id="rId3" Type="http://schemas.openxmlformats.org/officeDocument/2006/relationships/slide" Target="slides/slide16.xml"/><Relationship Id="rId4" Type="http://schemas.openxmlformats.org/officeDocument/2006/relationships/slide" Target="slides/slide15.xml"/><Relationship Id="rId5" Type="http://schemas.openxmlformats.org/officeDocument/2006/relationships/slide" Target="slides/slide14.xml"/><Relationship Id="rId6" Type="http://schemas.openxmlformats.org/officeDocument/2006/relationships/slide" Target="slides/slide1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9" name="Notes Placeholder"/>
          <p:cNvSpPr>
            <a:spLocks noGrp="1"/>
          </p:cNvSpPr>
          <p:nvPr>
            <p:ph type="body" sz="quarter" idx="1"/>
          </p:nvPr>
        </p:nvSpPr>
        <p:spPr>
          <a:xfrm>
            <a:off x="685800" y="4343400"/>
            <a:ext cx="5486400" cy="4114800"/>
          </a:xfrm>
        </p:spPr>
        <p:txBody>
          <a:bodyPr/>
          <a:lstStyle/>
          <a:p/>
        </p:txBody>
      </p:sp>
    </p:spTree>
    <p:extLst>
      <p:ext uri="{BB962C8B-B14F-4D97-AF65-F5344CB8AC3E}">
        <p14:creationId xmlns:p14="http://schemas.microsoft.com/office/powerpoint/2010/main" val="3846601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pPr>
              <a:spcBef>
                <a:spcPts val="0"/>
              </a:spcBef>
              <a:spcAft>
                <a:spcPts val="400"/>
              </a:spcAft>
            </a:pPr>
            <a:r>
              <a:rPr sz="1400"/>
              <a:t>Thank you for the time today. Globe has already answered the commercial question - you hold 450 MHz spectrum. What we want to discuss is what to do with it. This is a working session, not a proposal. I will take about fifteen minutes across five sections: the case for the band, the six industries it serves, the end-to-end architecture, the reference cases, and the business model. Please interrupt at any point.</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pPr>
              <a:spcBef>
                <a:spcPts val="0"/>
              </a:spcBef>
              <a:spcAft>
                <a:spcPts val="400"/>
              </a:spcAft>
            </a:pPr>
            <a:r>
              <a:rPr sz="1400"/>
              <a:t>Start with the geography, because it shapes everything. Seven thousand six hundred and forty-one islands, much of it mountainous. First in the World Risk Index, and around twenty tropical cyclones entering the area of responsibility every year. That has a specific consequence for network planning: the public network tends to fail at exactly the moment it is needed most. What is missing is not speed. It is coverage that is still standing after the storm.</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pPr>
              <a:spcBef>
                <a:spcPts val="0"/>
              </a:spcBef>
              <a:spcAft>
                <a:spcPts val="400"/>
              </a:spcAft>
            </a:pPr>
            <a:r>
              <a:rPr sz="1400"/>
              <a:t>Five sections. The first two are the argument - why this band, and what six industries do with it. The last three are the delivery - the architecture, the cases, and the business model. I will keep the industry section to one page each, so we can spend the time on the model at the end.</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pPr>
              <a:spcBef>
                <a:spcPts val="0"/>
              </a:spcBef>
              <a:spcAft>
                <a:spcPts val="400"/>
              </a:spcAft>
            </a:pPr>
            <a:r>
              <a:rPr sz="1400"/>
              <a:t>The world has settled on what this band is for. Eighty-six percent of the world's population lives where the 400 MHz bands are allocated or under consultation. Thirty-nine countries have already deployed networks, out of seventy-seven with allocations. The forecast is one point eight million broadband and fourteen million sensor connections by 2030. On our side: the Alliance lists Hytera in both its device and macro eNB supplier lists, and our handheld is through 450connect acceptance.</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pPr>
              <a:spcBef>
                <a:spcPts val="0"/>
              </a:spcBef>
              <a:spcAft>
                <a:spcPts val="400"/>
              </a:spcAft>
            </a:pPr>
            <a:r>
              <a:rPr sz="1400"/>
              <a:t>Low-band physics is the whole argument. Reuse one grid at a higher frequency and part of the area is left uncovered: ninety-one percent at 740 megahertz, fifty-nine percent at 2.35 gigahertz. Closing that gap costs two and a half to three times the sites. What it buys is diffraction around terrain, deep penetration, and a site count small enough to afford backup power. What it does not buy is capacity: at three to five megahertz, this is a voice, telemetry and low-rate video layer.</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pPr>
              <a:spcBef>
                <a:spcPts val="0"/>
              </a:spcBef>
              <a:spcAft>
                <a:spcPts val="400"/>
              </a:spcAft>
            </a:pPr>
            <a:r>
              <a:rPr sz="1400"/>
              <a:t>Before the industries, one definition, because every case later runs on it. MCS is mission-critical services: MCPTT for push-to-talk voice with priority and pre-emption, MCVideo for live video from the scene, and MCData for messaging and location. It is defined by 3GPP, not by a single vendor, so the network stays multi-vendor and the terminals are not locked in. The division of labour is simple: 450 MHz gives the coverage, MCS gives the service.</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pPr>
              <a:spcBef>
                <a:spcPts val="0"/>
              </a:spcBef>
              <a:spcAft>
                <a:spcPts val="400"/>
              </a:spcAft>
            </a:pPr>
            <a:r>
              <a:rPr sz="1400"/>
              <a:t>The same network serves six industries, on the same sites. Power and water come first because they pay for reliability over a ten to fifteen year horizon. Police and emergency add national value, and they need interoperability more than they need another network. Rail and port are the two shapes mid-band handles worst: a narrow corridor, and a run out to sea. Each of the next six pages takes one of them.</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pPr>
              <a:spcBef>
                <a:spcPts val="0"/>
              </a:spcBef>
              <a:spcAft>
                <a:spcPts val="400"/>
              </a:spcAft>
            </a:pPr>
            <a:r>
              <a:rPr sz="1400"/>
              <a:t>Power is where nearly every 450 MHz network starts, and it starts here for commercial reasons. One hundred and twenty-one electric cooperatives under NEA have assets spread across mountains and islands, they buy connectivity for ten to fifteen years, and they pay for reliability rather than speed. Three things run on the network: voice and lone-worker protection along the lines, a private data channel for SCADA and feeder automation, and smart meters on the same sites.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pPr>
              <a:spcBef>
                <a:spcPts val="0"/>
              </a:spcBef>
              <a:spcAft>
                <a:spcPts val="400"/>
              </a:spcAft>
            </a:pPr>
            <a:r>
              <a:rPr sz="1400"/>
              <a:t>Water is the same commercial logic with a different payoff. Most water districts know their losses as a percentage, not as an address, because the meters and pressure sensors cannot report. On this network they can: metering and pressure sensing that locate losses instead of estimating them, pump and reservoir telemetry from remote and underground sites, and backup-powered sites that keep alarms flowing when the public network is down. One hundred and forty-nine water districts under LWUA.</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pPr>
              <a:spcBef>
                <a:spcPts val="0"/>
              </a:spcBef>
              <a:spcAft>
                <a:spcPts val="400"/>
              </a:spcAft>
            </a:pPr>
            <a:r>
              <a:rPr sz="1400"/>
              <a:t>For police, the requirement is not another private network - it is interoperability between the agencies that already have one. One group call across police, fire and civil defence. Live video from the scene, with priority and pre-emption when the network congests. And interworking with the DMR and TETRA networks already in service. Singapore has assigned 450 MHz band 31 to public safety, and it is in service today.</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pPr>
              <a:spcBef>
                <a:spcPts val="0"/>
              </a:spcBef>
              <a:spcAft>
                <a:spcPts val="400"/>
              </a:spcAft>
            </a:pPr>
            <a:r>
              <a:rPr sz="1400"/>
              <a:t>Emergency is where this band earns its name in the Philippines. After a typhoon the public network fails exactly where the response is needed, and rapid response needs communications within hours, not days. That means portable base stations and satellite backhaul deployed quickly, a field command post that reaches the provincial EOC and the national agency, and sites that keep running on backup power when the grid does not.</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pPr>
              <a:spcBef>
                <a:spcPts val="0"/>
              </a:spcBef>
              <a:spcAft>
                <a:spcPts val="400"/>
              </a:spcAft>
            </a:pPr>
            <a:r>
              <a:rPr sz="1400"/>
              <a:t>Rail is a narrow strip, often in cuttings and tunnels, and coverage has to follow the track rather than the population. That is one of the two shapes mid-band handles worst. What it needs is continuous coverage along the corridor, train-to-ground voice, data and video for operations and security, and it should run on the operator's network rather than a separate private system. South Africa has assigned the band to Transnet for exactly this.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pPr>
              <a:spcBef>
                <a:spcPts val="0"/>
              </a:spcBef>
              <a:spcAft>
                <a:spcPts val="400"/>
              </a:spcAft>
            </a:pPr>
            <a:r>
              <a:rPr sz="1400"/>
              <a:t>Port is the most literal fit for an archipelago. Quay operations, ship-to-shore traffic and patrol boats all need the same group call, across water and steel. Port and terminal dispatch on one group call, ship-to-shore voice and data from coastal sites, and coast guard patrols covered far out to sea on the same network as the port. The same coastal sites also serve island and rural communities.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pPr>
              <a:spcBef>
                <a:spcPts val="0"/>
              </a:spcBef>
              <a:spcAft>
                <a:spcPts val="400"/>
              </a:spcAft>
            </a:pPr>
            <a:r>
              <a:rPr sz="1400"/>
              <a:t>One architecture, in three layers. At the terminal layer: the PNC660 450M handheld on bands 31 and 72, the MNC650 vehicle radio, a radio-style 5G model in the fourth quarter, and an ATEX variant next year. At the network layer: the 450 MHz macro eNB, a private or operator core, backhaul over fibre, microwave or satellite, and a rapid deployment kit. At the application layer: MCS services, dispatch, recording and device management.</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pPr>
              <a:spcBef>
                <a:spcPts val="0"/>
              </a:spcBef>
              <a:spcAft>
                <a:spcPts val="400"/>
              </a:spcAft>
            </a:pPr>
            <a:r>
              <a:rPr sz="1400"/>
              <a:t>This is the model working, market by market. Germany: 450connect holds band 72 and covers more than ninety-five percent of the country. Austria: ArgoNET, band 72. Poland: PGE and Polkomtel. Malaysia: TNB is procuring for four regions. Indonesia: SeaTelSat for rural connectivity. South Africa: band 31 allocated to Transnet for rail. And Singapore: band 31 for public safety, in service. In every one of them, a licensed operator carries the traffic and utilities anchor the demand.</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pPr>
              <a:spcBef>
                <a:spcPts val="0"/>
              </a:spcBef>
              <a:spcAft>
                <a:spcPts val="400"/>
              </a:spcAft>
            </a:pPr>
            <a:r>
              <a:rPr sz="1400"/>
              <a:t>This is the closest match to your model. Sri Lanka Railways runs mission-critical services across nine lines and four hundred and three stations, with more than one thousand nine hundred and fifty terminals - on a public LTE network rather than a separate private system. The measured outcomes are worth noting: train delays down ten percent, management cost down sixty, track repair time down forty, and a landslide alert handled in thirty minutes.</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pPr>
              <a:spcBef>
                <a:spcPts val="0"/>
              </a:spcBef>
              <a:spcAft>
                <a:spcPts val="400"/>
              </a:spcAft>
            </a:pPr>
            <a:r>
              <a:rPr sz="1400"/>
              <a:t>And the technical frontier. Hong Kong's Light Rail is the world's first railway MCS over 5G - eight hundred and ten terminals across handheld, bus-mounted and vehicle, with full redundancy including the wireless links. It replaced TETRA rather than overlaying it, and it shares the operator's own core network and radio access. That is where 450 megahertz and 5G complement each other, and it is the direction this market is moving.</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pPr>
              <a:spcBef>
                <a:spcPts val="0"/>
              </a:spcBef>
              <a:spcAft>
                <a:spcPts val="400"/>
              </a:spcAft>
            </a:pPr>
            <a:r>
              <a:rPr sz="1400"/>
              <a:t>A public safety case, on the same platform. Papua New Guinea's police headquarters runs its national command centre on Hytera ICC - three thousand officers and six hundred vehicles, city-wide video, and dispatch within sixty seconds of an alarm. It was also the security platform for the APEC summit: fifteen thousand foreign visitors and more than two hundred meetings, with automatic VIP route monitoring. One command centre, serving routine operations and a summit-level event.</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pPr>
              <a:spcBef>
                <a:spcPts val="0"/>
              </a:spcBef>
              <a:spcAft>
                <a:spcPts val="400"/>
              </a:spcAft>
            </a:pPr>
            <a:r>
              <a:rPr sz="1400"/>
              <a:t>On the business model, three parties in one chain. Hytera supplies the radio, terminals, platform and integration. Globe holds the spectrum, builds and operates the network, and owns the customer relationship. The anchor customers - utilities, public safety, transport and ports - contract capacity before build-out. Three ways to cut the cost: reuse the towers, fibre, rooms and power Globe already has; take the site-count advantage of the low band; and contract the demand before the sites go up.</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pPr>
              <a:spcBef>
                <a:spcPts val="0"/>
              </a:spcBef>
              <a:spcAft>
                <a:spcPts val="400"/>
              </a:spcAft>
            </a:pPr>
            <a:r>
              <a:rPr sz="1400"/>
              <a:t>Six revenue streams on one build. IoT connectivity charged per meter or sensor. MCX as a service, per user. Capacity packages reserved for anchor customers. Device as a service, billed monthly. Integration and operations for SCADA and smart-city projects. And emergency readiness, with a rapid deployment kit on standby. None of them depends on consumer take-up - and the utility contract funds the coverage that the other five then use.</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pPr>
              <a:spcBef>
                <a:spcPts val="0"/>
              </a:spcBef>
              <a:spcAft>
                <a:spcPts val="400"/>
              </a:spcAft>
            </a:pPr>
            <a:r>
              <a:rPr sz="1400"/>
              <a:t>What we would need to go further is small. The band and bandwidth, so the coverage and capacity modelling is exact. One candidate province, ideally in the typhoon belt. And introductions to one electric cooperative and one water district willing to trial. The output would be coverage, availability and cost data measured against the public network. We are not proposing a build at this stage.</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pPr>
              <a:spcBef>
                <a:spcPts val="0"/>
              </a:spcBef>
              <a:spcAft>
                <a:spcPts val="400"/>
              </a:spcAft>
            </a:pPr>
            <a:r>
              <a:rPr sz="1400"/>
              <a:t>Thank you. To summarise: 450 megahertz is a coverage and resilience layer, not a capacity play. Utilities anchor it commercially, and public safety, emergency, rail and port add national value on the same sites. MCS is the service layer on top, and we are already through operator acceptance in Germany. The next step is confirming the spectrum parameters and nominating a pilot region.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947FDD-D38F-E8F5-8586-E9662854F614}"/>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B3190AE4-F9E4-5FD9-42AF-9099DFB806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9444CE86-5C68-32E7-D4E0-B2761B6CF044}"/>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5" name="页脚占位符 4">
            <a:extLst>
              <a:ext uri="{FF2B5EF4-FFF2-40B4-BE49-F238E27FC236}">
                <a16:creationId xmlns:a16="http://schemas.microsoft.com/office/drawing/2014/main" id="{BDB1EA70-862F-65FC-F764-9F45D4A993E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5FC33ED-5EBC-FA7B-0C38-EA39C46DC309}"/>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3792845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537B1B-511C-D4F8-7DF7-64EC8B6C7056}"/>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83EBE62D-2664-56CB-82C4-04C33D46D385}"/>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BD5467FE-6C09-037E-14DD-381C54D5CBA6}"/>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5" name="页脚占位符 4">
            <a:extLst>
              <a:ext uri="{FF2B5EF4-FFF2-40B4-BE49-F238E27FC236}">
                <a16:creationId xmlns:a16="http://schemas.microsoft.com/office/drawing/2014/main" id="{D1396919-FD4A-9072-7E35-742516F97F3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27BDBD7-22AF-728F-B452-8AA3C2EF1340}"/>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1459003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3A9FEF-46D9-58A0-4123-77A3F86E55F3}"/>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53B04C57-B239-E772-614E-004D45A9231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55D51A5B-944A-D7C3-E6C5-B7BA6FC4AF29}"/>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5" name="页脚占位符 4">
            <a:extLst>
              <a:ext uri="{FF2B5EF4-FFF2-40B4-BE49-F238E27FC236}">
                <a16:creationId xmlns:a16="http://schemas.microsoft.com/office/drawing/2014/main" id="{01F9A231-E1D6-02E5-049E-13B6C93B374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F785DA2-F919-AB2D-F4AB-9744308204FA}"/>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1964538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19ECDE-D311-74B1-0F20-F87A6A7A78D6}"/>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9E3C9B88-FA6C-8ECF-D8A5-00CA3EDE00D5}"/>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DAC993D3-8E45-B3B9-AB74-754EF2E7E086}"/>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22EEAE69-5CB6-4FFB-A05B-FAFE465FA368}"/>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6" name="页脚占位符 5">
            <a:extLst>
              <a:ext uri="{FF2B5EF4-FFF2-40B4-BE49-F238E27FC236}">
                <a16:creationId xmlns:a16="http://schemas.microsoft.com/office/drawing/2014/main" id="{8B47215C-0B7F-E4B7-5E41-E225FE479C11}"/>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ECF1607B-F95D-FA9A-48D0-AB90D6EDA81F}"/>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1859590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69B30D-EF98-9776-0E67-87371B217684}"/>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37E8FDD7-C50E-7D11-4708-BD3BD0488D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93F05520-BEDD-DC89-EDB8-29A55A688142}"/>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88A41E8D-4EDE-E951-9249-16343C408D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C3A15438-E2BC-3C49-A770-61F2058F0C5B}"/>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A469E29F-2CA3-451B-1588-22B05F1C1FF4}"/>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8" name="页脚占位符 7">
            <a:extLst>
              <a:ext uri="{FF2B5EF4-FFF2-40B4-BE49-F238E27FC236}">
                <a16:creationId xmlns:a16="http://schemas.microsoft.com/office/drawing/2014/main" id="{7D3E0C48-D0FC-01D7-EFB2-E342FFD1CAB9}"/>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EB2CF963-EAD2-D222-FE32-733BFF9279B7}"/>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1845172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9A2317-4DD0-7705-8F0E-9C1AE468940F}"/>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D80B3C6B-F1F3-8087-82E4-22E777BFA3C3}"/>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4" name="页脚占位符 3">
            <a:extLst>
              <a:ext uri="{FF2B5EF4-FFF2-40B4-BE49-F238E27FC236}">
                <a16:creationId xmlns:a16="http://schemas.microsoft.com/office/drawing/2014/main" id="{7BE57A2B-3769-94B4-A8DA-143705DFDD31}"/>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E6269BBB-3D3E-D5C1-373C-4AEBE84F81FA}"/>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1173488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053ED18-81E5-087C-CE7B-D43178BA1583}"/>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3" name="页脚占位符 2">
            <a:extLst>
              <a:ext uri="{FF2B5EF4-FFF2-40B4-BE49-F238E27FC236}">
                <a16:creationId xmlns:a16="http://schemas.microsoft.com/office/drawing/2014/main" id="{A2BD668C-C643-0734-3F58-28ECB6961713}"/>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F2FAAAAD-C5EF-CB82-DA12-5DCCE44FC6BF}"/>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544561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75AE71-64EC-7CAF-DCC1-AC7B7F2512A4}"/>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371341FA-757E-CC97-7EBF-8640D3A585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6AD92CD0-2012-EC24-D6A6-D8F0D6235C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A8589081-6ADA-73DD-0406-D90801775B10}"/>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6" name="页脚占位符 5">
            <a:extLst>
              <a:ext uri="{FF2B5EF4-FFF2-40B4-BE49-F238E27FC236}">
                <a16:creationId xmlns:a16="http://schemas.microsoft.com/office/drawing/2014/main" id="{2E305348-185C-AEBE-DDBC-FA8F58358714}"/>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C434C1BA-03A9-E84F-1095-593ADDB3722D}"/>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3463744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5198B2-5754-13F5-8B12-C9C8CBC44565}"/>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5E5E2333-142C-3E91-91F4-A347E32A47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1AE17102-E033-CDC0-B618-299CC91D40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3F05AFF9-9891-A28B-4FBF-DFF532046A32}"/>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6" name="页脚占位符 5">
            <a:extLst>
              <a:ext uri="{FF2B5EF4-FFF2-40B4-BE49-F238E27FC236}">
                <a16:creationId xmlns:a16="http://schemas.microsoft.com/office/drawing/2014/main" id="{D942270D-2426-270F-0336-B3337C39505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7EA358EA-4E08-6B21-F095-EE06B95312D0}"/>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459614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CA809F-C91F-7B47-8C12-D25BA362AFC6}"/>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904A7382-0CA7-7D8B-83FF-08EF76126FD7}"/>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B9417F5-F88C-8CA1-E9BC-7CAC37C486D7}"/>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5" name="页脚占位符 4">
            <a:extLst>
              <a:ext uri="{FF2B5EF4-FFF2-40B4-BE49-F238E27FC236}">
                <a16:creationId xmlns:a16="http://schemas.microsoft.com/office/drawing/2014/main" id="{2724339F-FA6A-38A9-D527-0FDC93D8D7AD}"/>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47AB572A-7476-7FB5-9791-802D508D7519}"/>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3647280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FF63993-AF72-23D1-D01C-F973643BA679}"/>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E1A46C64-EFAA-9A05-E2F3-ABC719457BB3}"/>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452B8B04-FC76-CEC2-9550-07C425ADE2DE}"/>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5" name="页脚占位符 4">
            <a:extLst>
              <a:ext uri="{FF2B5EF4-FFF2-40B4-BE49-F238E27FC236}">
                <a16:creationId xmlns:a16="http://schemas.microsoft.com/office/drawing/2014/main" id="{00466A49-4F49-DA65-9C97-50D34FC9A11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69331544-F576-56EF-205E-90A98A61DCBD}"/>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32940279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F96E172E-41BA-F174-FF99-50C83FEBC34E}"/>
              </a:ext>
            </a:extLst>
          </p:cNvPr>
          <p:cNvPicPr>
            <a:picLocks noChangeAspect="1"/>
          </p:cNvPicPr>
          <p:nvPr userDrawn="1"/>
        </p:nvPicPr>
        <p:blipFill>
          <a:blip r:embed="rId2">
            <a:alphaModFix amt="15000"/>
          </a:blip>
          <a:stretch>
            <a:fillRect/>
          </a:stretch>
        </p:blipFill>
        <p:spPr>
          <a:xfrm>
            <a:off x="-600" y="6136968"/>
            <a:ext cx="12193200" cy="721032"/>
          </a:xfrm>
          <a:prstGeom prst="rect">
            <a:avLst/>
          </a:prstGeom>
        </p:spPr>
      </p:pic>
      <p:grpSp>
        <p:nvGrpSpPr>
          <p:cNvPr id="7" name="图形 12">
            <a:extLst>
              <a:ext uri="{FF2B5EF4-FFF2-40B4-BE49-F238E27FC236}">
                <a16:creationId xmlns:a16="http://schemas.microsoft.com/office/drawing/2014/main" id="{1E6E911F-38F1-42B3-AAB8-57311022C81E}"/>
              </a:ext>
            </a:extLst>
          </p:cNvPr>
          <p:cNvGrpSpPr/>
          <p:nvPr userDrawn="1"/>
        </p:nvGrpSpPr>
        <p:grpSpPr>
          <a:xfrm>
            <a:off x="10477059" y="327570"/>
            <a:ext cx="1306953" cy="520464"/>
            <a:chOff x="1739537" y="98099"/>
            <a:chExt cx="4612704" cy="1836902"/>
          </a:xfrm>
        </p:grpSpPr>
        <p:sp>
          <p:nvSpPr>
            <p:cNvPr id="8" name="任意形状 7">
              <a:extLst>
                <a:ext uri="{FF2B5EF4-FFF2-40B4-BE49-F238E27FC236}">
                  <a16:creationId xmlns:a16="http://schemas.microsoft.com/office/drawing/2014/main" id="{1FF87494-65BD-1CE3-B49E-C51C092D8D37}"/>
                </a:ext>
              </a:extLst>
            </p:cNvPr>
            <p:cNvSpPr/>
            <p:nvPr/>
          </p:nvSpPr>
          <p:spPr>
            <a:xfrm>
              <a:off x="1739537" y="771564"/>
              <a:ext cx="650741" cy="894889"/>
            </a:xfrm>
            <a:custGeom>
              <a:avLst/>
              <a:gdLst>
                <a:gd name="connsiteX0" fmla="*/ 495249 w 650741"/>
                <a:gd name="connsiteY0" fmla="*/ 368834 h 894889"/>
                <a:gd name="connsiteX1" fmla="*/ 155316 w 650741"/>
                <a:gd name="connsiteY1" fmla="*/ 368834 h 894889"/>
                <a:gd name="connsiteX2" fmla="*/ 155316 w 650741"/>
                <a:gd name="connsiteY2" fmla="*/ 0 h 894889"/>
                <a:gd name="connsiteX3" fmla="*/ 0 w 650741"/>
                <a:gd name="connsiteY3" fmla="*/ 0 h 894889"/>
                <a:gd name="connsiteX4" fmla="*/ 0 w 650741"/>
                <a:gd name="connsiteY4" fmla="*/ 894890 h 894889"/>
                <a:gd name="connsiteX5" fmla="*/ 155316 w 650741"/>
                <a:gd name="connsiteY5" fmla="*/ 894890 h 894889"/>
                <a:gd name="connsiteX6" fmla="*/ 155316 w 650741"/>
                <a:gd name="connsiteY6" fmla="*/ 488856 h 894889"/>
                <a:gd name="connsiteX7" fmla="*/ 495249 w 650741"/>
                <a:gd name="connsiteY7" fmla="*/ 488856 h 894889"/>
                <a:gd name="connsiteX8" fmla="*/ 495249 w 650741"/>
                <a:gd name="connsiteY8" fmla="*/ 894890 h 894889"/>
                <a:gd name="connsiteX9" fmla="*/ 510839 w 650741"/>
                <a:gd name="connsiteY9" fmla="*/ 894890 h 894889"/>
                <a:gd name="connsiteX10" fmla="*/ 650742 w 650741"/>
                <a:gd name="connsiteY10" fmla="*/ 894890 h 894889"/>
                <a:gd name="connsiteX11" fmla="*/ 650742 w 650741"/>
                <a:gd name="connsiteY11" fmla="*/ 0 h 894889"/>
                <a:gd name="connsiteX12" fmla="*/ 495249 w 650741"/>
                <a:gd name="connsiteY12" fmla="*/ 0 h 894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50741" h="894889">
                  <a:moveTo>
                    <a:pt x="495249" y="368834"/>
                  </a:moveTo>
                  <a:lnTo>
                    <a:pt x="155316" y="368834"/>
                  </a:lnTo>
                  <a:lnTo>
                    <a:pt x="155316" y="0"/>
                  </a:lnTo>
                  <a:lnTo>
                    <a:pt x="0" y="0"/>
                  </a:lnTo>
                  <a:lnTo>
                    <a:pt x="0" y="894890"/>
                  </a:lnTo>
                  <a:lnTo>
                    <a:pt x="155316" y="894890"/>
                  </a:lnTo>
                  <a:lnTo>
                    <a:pt x="155316" y="488856"/>
                  </a:lnTo>
                  <a:lnTo>
                    <a:pt x="495249" y="488856"/>
                  </a:lnTo>
                  <a:lnTo>
                    <a:pt x="495249" y="894890"/>
                  </a:lnTo>
                  <a:lnTo>
                    <a:pt x="510839" y="894890"/>
                  </a:lnTo>
                  <a:lnTo>
                    <a:pt x="650742" y="894890"/>
                  </a:lnTo>
                  <a:lnTo>
                    <a:pt x="650742" y="0"/>
                  </a:lnTo>
                  <a:lnTo>
                    <a:pt x="495249" y="0"/>
                  </a:lnTo>
                  <a:close/>
                </a:path>
              </a:pathLst>
            </a:custGeom>
            <a:solidFill>
              <a:srgbClr val="656464"/>
            </a:solidFill>
            <a:ln w="109" cap="flat">
              <a:noFill/>
              <a:prstDash val="solid"/>
              <a:miter/>
            </a:ln>
          </p:spPr>
          <p:txBody>
            <a:bodyPr rtlCol="0" anchor="ctr"/>
            <a:lstStyle/>
            <a:p>
              <a:endParaRPr lang="zh-CN" altLang="en-US"/>
            </a:p>
          </p:txBody>
        </p:sp>
        <p:sp>
          <p:nvSpPr>
            <p:cNvPr id="9" name="任意形状 8">
              <a:extLst>
                <a:ext uri="{FF2B5EF4-FFF2-40B4-BE49-F238E27FC236}">
                  <a16:creationId xmlns:a16="http://schemas.microsoft.com/office/drawing/2014/main" id="{4F5D7A08-87FA-A7AA-66DC-CC3FFCCD16AF}"/>
                </a:ext>
              </a:extLst>
            </p:cNvPr>
            <p:cNvSpPr/>
            <p:nvPr/>
          </p:nvSpPr>
          <p:spPr>
            <a:xfrm>
              <a:off x="2459620" y="1005434"/>
              <a:ext cx="592694" cy="929567"/>
            </a:xfrm>
            <a:custGeom>
              <a:avLst/>
              <a:gdLst>
                <a:gd name="connsiteX0" fmla="*/ 436748 w 592694"/>
                <a:gd name="connsiteY0" fmla="*/ 12476 h 929567"/>
                <a:gd name="connsiteX1" fmla="*/ 310454 w 592694"/>
                <a:gd name="connsiteY1" fmla="*/ 485449 h 929567"/>
                <a:gd name="connsiteX2" fmla="*/ 161943 w 592694"/>
                <a:gd name="connsiteY2" fmla="*/ 11764 h 929567"/>
                <a:gd name="connsiteX3" fmla="*/ 158997 w 592694"/>
                <a:gd name="connsiteY3" fmla="*/ 0 h 929567"/>
                <a:gd name="connsiteX4" fmla="*/ 0 w 592694"/>
                <a:gd name="connsiteY4" fmla="*/ 0 h 929567"/>
                <a:gd name="connsiteX5" fmla="*/ 5002 w 592694"/>
                <a:gd name="connsiteY5" fmla="*/ 19361 h 929567"/>
                <a:gd name="connsiteX6" fmla="*/ 223669 w 592694"/>
                <a:gd name="connsiteY6" fmla="*/ 647854 h 929567"/>
                <a:gd name="connsiteX7" fmla="*/ 147979 w 592694"/>
                <a:gd name="connsiteY7" fmla="*/ 785362 h 929567"/>
                <a:gd name="connsiteX8" fmla="*/ 93871 w 592694"/>
                <a:gd name="connsiteY8" fmla="*/ 815643 h 929567"/>
                <a:gd name="connsiteX9" fmla="*/ 12975 w 592694"/>
                <a:gd name="connsiteY9" fmla="*/ 815643 h 929567"/>
                <a:gd name="connsiteX10" fmla="*/ 6806 w 592694"/>
                <a:gd name="connsiteY10" fmla="*/ 916128 h 929567"/>
                <a:gd name="connsiteX11" fmla="*/ 19348 w 592694"/>
                <a:gd name="connsiteY11" fmla="*/ 919258 h 929567"/>
                <a:gd name="connsiteX12" fmla="*/ 103087 w 592694"/>
                <a:gd name="connsiteY12" fmla="*/ 929567 h 929567"/>
                <a:gd name="connsiteX13" fmla="*/ 104889 w 592694"/>
                <a:gd name="connsiteY13" fmla="*/ 929567 h 929567"/>
                <a:gd name="connsiteX14" fmla="*/ 243016 w 592694"/>
                <a:gd name="connsiteY14" fmla="*/ 871489 h 929567"/>
                <a:gd name="connsiteX15" fmla="*/ 378346 w 592694"/>
                <a:gd name="connsiteY15" fmla="*/ 652078 h 929567"/>
                <a:gd name="connsiteX16" fmla="*/ 587872 w 592694"/>
                <a:gd name="connsiteY16" fmla="*/ 19287 h 929567"/>
                <a:gd name="connsiteX17" fmla="*/ 592695 w 592694"/>
                <a:gd name="connsiteY17" fmla="*/ 2 h 929567"/>
                <a:gd name="connsiteX18" fmla="*/ 439078 w 592694"/>
                <a:gd name="connsiteY18" fmla="*/ 2 h 929567"/>
                <a:gd name="connsiteX19" fmla="*/ 436748 w 592694"/>
                <a:gd name="connsiteY19" fmla="*/ 12478 h 929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92694" h="929567">
                  <a:moveTo>
                    <a:pt x="436748" y="12476"/>
                  </a:moveTo>
                  <a:cubicBezTo>
                    <a:pt x="404955" y="174421"/>
                    <a:pt x="360448" y="339438"/>
                    <a:pt x="310454" y="485449"/>
                  </a:cubicBezTo>
                  <a:cubicBezTo>
                    <a:pt x="255533" y="333879"/>
                    <a:pt x="204855" y="182322"/>
                    <a:pt x="161943" y="11764"/>
                  </a:cubicBezTo>
                  <a:lnTo>
                    <a:pt x="158997" y="0"/>
                  </a:lnTo>
                  <a:lnTo>
                    <a:pt x="0" y="0"/>
                  </a:lnTo>
                  <a:lnTo>
                    <a:pt x="5002" y="19361"/>
                  </a:lnTo>
                  <a:cubicBezTo>
                    <a:pt x="62158" y="239336"/>
                    <a:pt x="146988" y="470850"/>
                    <a:pt x="223669" y="647854"/>
                  </a:cubicBezTo>
                  <a:cubicBezTo>
                    <a:pt x="192133" y="717948"/>
                    <a:pt x="168114" y="761067"/>
                    <a:pt x="147979" y="785362"/>
                  </a:cubicBezTo>
                  <a:cubicBezTo>
                    <a:pt x="126752" y="810281"/>
                    <a:pt x="113296" y="815216"/>
                    <a:pt x="93871" y="815643"/>
                  </a:cubicBezTo>
                  <a:lnTo>
                    <a:pt x="12975" y="815643"/>
                  </a:lnTo>
                  <a:lnTo>
                    <a:pt x="6806" y="916128"/>
                  </a:lnTo>
                  <a:lnTo>
                    <a:pt x="19348" y="919258"/>
                  </a:lnTo>
                  <a:cubicBezTo>
                    <a:pt x="40043" y="924358"/>
                    <a:pt x="69597" y="929567"/>
                    <a:pt x="103087" y="929567"/>
                  </a:cubicBezTo>
                  <a:lnTo>
                    <a:pt x="104889" y="929567"/>
                  </a:lnTo>
                  <a:cubicBezTo>
                    <a:pt x="155951" y="929567"/>
                    <a:pt x="201171" y="913896"/>
                    <a:pt x="243016" y="871489"/>
                  </a:cubicBezTo>
                  <a:cubicBezTo>
                    <a:pt x="285545" y="828732"/>
                    <a:pt x="326678" y="760432"/>
                    <a:pt x="378346" y="652078"/>
                  </a:cubicBezTo>
                  <a:cubicBezTo>
                    <a:pt x="447061" y="509460"/>
                    <a:pt x="516553" y="303411"/>
                    <a:pt x="587872" y="19287"/>
                  </a:cubicBezTo>
                  <a:lnTo>
                    <a:pt x="592695" y="2"/>
                  </a:lnTo>
                  <a:lnTo>
                    <a:pt x="439078" y="2"/>
                  </a:lnTo>
                  <a:lnTo>
                    <a:pt x="436748" y="12478"/>
                  </a:lnTo>
                  <a:close/>
                </a:path>
              </a:pathLst>
            </a:custGeom>
            <a:solidFill>
              <a:srgbClr val="656464"/>
            </a:solidFill>
            <a:ln w="109" cap="flat">
              <a:noFill/>
              <a:prstDash val="solid"/>
              <a:miter/>
            </a:ln>
          </p:spPr>
          <p:txBody>
            <a:bodyPr rtlCol="0" anchor="ctr"/>
            <a:lstStyle/>
            <a:p>
              <a:endParaRPr lang="zh-CN" altLang="en-US"/>
            </a:p>
          </p:txBody>
        </p:sp>
        <p:sp>
          <p:nvSpPr>
            <p:cNvPr id="10" name="任意形状 9">
              <a:extLst>
                <a:ext uri="{FF2B5EF4-FFF2-40B4-BE49-F238E27FC236}">
                  <a16:creationId xmlns:a16="http://schemas.microsoft.com/office/drawing/2014/main" id="{50E9FEE1-E93A-F1E5-E543-3E55DCA60665}"/>
                </a:ext>
              </a:extLst>
            </p:cNvPr>
            <p:cNvSpPr/>
            <p:nvPr/>
          </p:nvSpPr>
          <p:spPr>
            <a:xfrm>
              <a:off x="3117596" y="822326"/>
              <a:ext cx="394925" cy="853987"/>
            </a:xfrm>
            <a:custGeom>
              <a:avLst/>
              <a:gdLst>
                <a:gd name="connsiteX0" fmla="*/ 263816 w 394925"/>
                <a:gd name="connsiteY0" fmla="*/ 726822 h 853987"/>
                <a:gd name="connsiteX1" fmla="*/ 245453 w 394925"/>
                <a:gd name="connsiteY1" fmla="*/ 649176 h 853987"/>
                <a:gd name="connsiteX2" fmla="*/ 245453 w 394925"/>
                <a:gd name="connsiteY2" fmla="*/ 292104 h 853987"/>
                <a:gd name="connsiteX3" fmla="*/ 394859 w 394925"/>
                <a:gd name="connsiteY3" fmla="*/ 292104 h 853987"/>
                <a:gd name="connsiteX4" fmla="*/ 394859 w 394925"/>
                <a:gd name="connsiteY4" fmla="*/ 183108 h 853987"/>
                <a:gd name="connsiteX5" fmla="*/ 245453 w 394925"/>
                <a:gd name="connsiteY5" fmla="*/ 183108 h 853987"/>
                <a:gd name="connsiteX6" fmla="*/ 245453 w 394925"/>
                <a:gd name="connsiteY6" fmla="*/ 0 h 853987"/>
                <a:gd name="connsiteX7" fmla="*/ 122994 w 394925"/>
                <a:gd name="connsiteY7" fmla="*/ 0 h 853987"/>
                <a:gd name="connsiteX8" fmla="*/ 94329 w 394925"/>
                <a:gd name="connsiteY8" fmla="*/ 183108 h 853987"/>
                <a:gd name="connsiteX9" fmla="*/ 0 w 394925"/>
                <a:gd name="connsiteY9" fmla="*/ 183108 h 853987"/>
                <a:gd name="connsiteX10" fmla="*/ 0 w 394925"/>
                <a:gd name="connsiteY10" fmla="*/ 292104 h 853987"/>
                <a:gd name="connsiteX11" fmla="*/ 93695 w 394925"/>
                <a:gd name="connsiteY11" fmla="*/ 292104 h 853987"/>
                <a:gd name="connsiteX12" fmla="*/ 93695 w 394925"/>
                <a:gd name="connsiteY12" fmla="*/ 678954 h 853987"/>
                <a:gd name="connsiteX13" fmla="*/ 144573 w 394925"/>
                <a:gd name="connsiteY13" fmla="*/ 818311 h 853987"/>
                <a:gd name="connsiteX14" fmla="*/ 272215 w 394925"/>
                <a:gd name="connsiteY14" fmla="*/ 853988 h 853987"/>
                <a:gd name="connsiteX15" fmla="*/ 382840 w 394925"/>
                <a:gd name="connsiteY15" fmla="*/ 842420 h 853987"/>
                <a:gd name="connsiteX16" fmla="*/ 394925 w 394925"/>
                <a:gd name="connsiteY16" fmla="*/ 839750 h 853987"/>
                <a:gd name="connsiteX17" fmla="*/ 394925 w 394925"/>
                <a:gd name="connsiteY17" fmla="*/ 740162 h 853987"/>
                <a:gd name="connsiteX18" fmla="*/ 324985 w 394925"/>
                <a:gd name="connsiteY18" fmla="*/ 740162 h 853987"/>
                <a:gd name="connsiteX19" fmla="*/ 263816 w 394925"/>
                <a:gd name="connsiteY19" fmla="*/ 726822 h 853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4925" h="853987">
                  <a:moveTo>
                    <a:pt x="263816" y="726822"/>
                  </a:moveTo>
                  <a:cubicBezTo>
                    <a:pt x="253426" y="717574"/>
                    <a:pt x="245354" y="695621"/>
                    <a:pt x="245453" y="649176"/>
                  </a:cubicBezTo>
                  <a:lnTo>
                    <a:pt x="245453" y="292104"/>
                  </a:lnTo>
                  <a:lnTo>
                    <a:pt x="394859" y="292104"/>
                  </a:lnTo>
                  <a:lnTo>
                    <a:pt x="394859" y="183108"/>
                  </a:lnTo>
                  <a:lnTo>
                    <a:pt x="245453" y="183108"/>
                  </a:lnTo>
                  <a:lnTo>
                    <a:pt x="245453" y="0"/>
                  </a:lnTo>
                  <a:lnTo>
                    <a:pt x="122994" y="0"/>
                  </a:lnTo>
                  <a:lnTo>
                    <a:pt x="94329" y="183108"/>
                  </a:lnTo>
                  <a:lnTo>
                    <a:pt x="0" y="183108"/>
                  </a:lnTo>
                  <a:lnTo>
                    <a:pt x="0" y="292104"/>
                  </a:lnTo>
                  <a:lnTo>
                    <a:pt x="93695" y="292104"/>
                  </a:lnTo>
                  <a:lnTo>
                    <a:pt x="93695" y="678954"/>
                  </a:lnTo>
                  <a:cubicBezTo>
                    <a:pt x="93618" y="745010"/>
                    <a:pt x="111270" y="790722"/>
                    <a:pt x="144573" y="818311"/>
                  </a:cubicBezTo>
                  <a:cubicBezTo>
                    <a:pt x="177820" y="845922"/>
                    <a:pt x="222322" y="853911"/>
                    <a:pt x="272215" y="853988"/>
                  </a:cubicBezTo>
                  <a:cubicBezTo>
                    <a:pt x="312790" y="853911"/>
                    <a:pt x="354175" y="848975"/>
                    <a:pt x="382840" y="842420"/>
                  </a:cubicBezTo>
                  <a:lnTo>
                    <a:pt x="394925" y="839750"/>
                  </a:lnTo>
                  <a:lnTo>
                    <a:pt x="394925" y="740162"/>
                  </a:lnTo>
                  <a:lnTo>
                    <a:pt x="324985" y="740162"/>
                  </a:lnTo>
                  <a:cubicBezTo>
                    <a:pt x="293093" y="740337"/>
                    <a:pt x="273670" y="736572"/>
                    <a:pt x="263816" y="726822"/>
                  </a:cubicBezTo>
                  <a:close/>
                </a:path>
              </a:pathLst>
            </a:custGeom>
            <a:solidFill>
              <a:srgbClr val="656464"/>
            </a:solidFill>
            <a:ln w="109" cap="flat">
              <a:noFill/>
              <a:prstDash val="solid"/>
              <a:miter/>
            </a:ln>
          </p:spPr>
          <p:txBody>
            <a:bodyPr rtlCol="0" anchor="ctr"/>
            <a:lstStyle/>
            <a:p>
              <a:endParaRPr lang="zh-CN" altLang="en-US"/>
            </a:p>
          </p:txBody>
        </p:sp>
        <p:sp>
          <p:nvSpPr>
            <p:cNvPr id="11" name="任意形状 10">
              <a:extLst>
                <a:ext uri="{FF2B5EF4-FFF2-40B4-BE49-F238E27FC236}">
                  <a16:creationId xmlns:a16="http://schemas.microsoft.com/office/drawing/2014/main" id="{C63A48D9-4FC7-12B4-7763-ECF778419844}"/>
                </a:ext>
              </a:extLst>
            </p:cNvPr>
            <p:cNvSpPr/>
            <p:nvPr/>
          </p:nvSpPr>
          <p:spPr>
            <a:xfrm>
              <a:off x="3556629" y="991891"/>
              <a:ext cx="579088" cy="688176"/>
            </a:xfrm>
            <a:custGeom>
              <a:avLst/>
              <a:gdLst>
                <a:gd name="connsiteX0" fmla="*/ 302411 w 579088"/>
                <a:gd name="connsiteY0" fmla="*/ 106382 h 688176"/>
                <a:gd name="connsiteX1" fmla="*/ 392519 w 579088"/>
                <a:gd name="connsiteY1" fmla="*/ 147363 h 688176"/>
                <a:gd name="connsiteX2" fmla="*/ 424586 w 579088"/>
                <a:gd name="connsiteY2" fmla="*/ 266121 h 688176"/>
                <a:gd name="connsiteX3" fmla="*/ 157379 w 579088"/>
                <a:gd name="connsiteY3" fmla="*/ 266121 h 688176"/>
                <a:gd name="connsiteX4" fmla="*/ 192847 w 579088"/>
                <a:gd name="connsiteY4" fmla="*/ 160347 h 688176"/>
                <a:gd name="connsiteX5" fmla="*/ 302411 w 579088"/>
                <a:gd name="connsiteY5" fmla="*/ 106384 h 688176"/>
                <a:gd name="connsiteX6" fmla="*/ 309925 w 579088"/>
                <a:gd name="connsiteY6" fmla="*/ 2 h 688176"/>
                <a:gd name="connsiteX7" fmla="*/ 77924 w 579088"/>
                <a:gd name="connsiteY7" fmla="*/ 94567 h 688176"/>
                <a:gd name="connsiteX8" fmla="*/ 0 w 579088"/>
                <a:gd name="connsiteY8" fmla="*/ 345967 h 688176"/>
                <a:gd name="connsiteX9" fmla="*/ 76043 w 579088"/>
                <a:gd name="connsiteY9" fmla="*/ 600802 h 688176"/>
                <a:gd name="connsiteX10" fmla="*/ 310909 w 579088"/>
                <a:gd name="connsiteY10" fmla="*/ 688177 h 688176"/>
                <a:gd name="connsiteX11" fmla="*/ 311445 w 579088"/>
                <a:gd name="connsiteY11" fmla="*/ 688177 h 688176"/>
                <a:gd name="connsiteX12" fmla="*/ 549713 w 579088"/>
                <a:gd name="connsiteY12" fmla="*/ 654131 h 688176"/>
                <a:gd name="connsiteX13" fmla="*/ 563504 w 579088"/>
                <a:gd name="connsiteY13" fmla="*/ 650093 h 688176"/>
                <a:gd name="connsiteX14" fmla="*/ 540570 w 579088"/>
                <a:gd name="connsiteY14" fmla="*/ 540743 h 688176"/>
                <a:gd name="connsiteX15" fmla="*/ 524733 w 579088"/>
                <a:gd name="connsiteY15" fmla="*/ 545131 h 688176"/>
                <a:gd name="connsiteX16" fmla="*/ 329633 w 579088"/>
                <a:gd name="connsiteY16" fmla="*/ 574253 h 688176"/>
                <a:gd name="connsiteX17" fmla="*/ 193941 w 579088"/>
                <a:gd name="connsiteY17" fmla="*/ 518330 h 688176"/>
                <a:gd name="connsiteX18" fmla="*/ 156417 w 579088"/>
                <a:gd name="connsiteY18" fmla="*/ 370076 h 688176"/>
                <a:gd name="connsiteX19" fmla="*/ 577568 w 579088"/>
                <a:gd name="connsiteY19" fmla="*/ 370076 h 688176"/>
                <a:gd name="connsiteX20" fmla="*/ 577568 w 579088"/>
                <a:gd name="connsiteY20" fmla="*/ 354481 h 688176"/>
                <a:gd name="connsiteX21" fmla="*/ 579089 w 579088"/>
                <a:gd name="connsiteY21" fmla="*/ 295232 h 688176"/>
                <a:gd name="connsiteX22" fmla="*/ 517110 w 579088"/>
                <a:gd name="connsiteY22" fmla="*/ 82269 h 688176"/>
                <a:gd name="connsiteX23" fmla="*/ 309925 w 579088"/>
                <a:gd name="connsiteY23" fmla="*/ 1 h 688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79088" h="688176">
                  <a:moveTo>
                    <a:pt x="302411" y="106382"/>
                  </a:moveTo>
                  <a:cubicBezTo>
                    <a:pt x="343260" y="106763"/>
                    <a:pt x="371903" y="120991"/>
                    <a:pt x="392519" y="147363"/>
                  </a:cubicBezTo>
                  <a:cubicBezTo>
                    <a:pt x="412861" y="173787"/>
                    <a:pt x="424586" y="214128"/>
                    <a:pt x="424586" y="266121"/>
                  </a:cubicBezTo>
                  <a:lnTo>
                    <a:pt x="157379" y="266121"/>
                  </a:lnTo>
                  <a:cubicBezTo>
                    <a:pt x="161229" y="227118"/>
                    <a:pt x="172538" y="189033"/>
                    <a:pt x="192847" y="160347"/>
                  </a:cubicBezTo>
                  <a:cubicBezTo>
                    <a:pt x="216153" y="128004"/>
                    <a:pt x="249467" y="106764"/>
                    <a:pt x="302411" y="106384"/>
                  </a:cubicBezTo>
                  <a:close/>
                  <a:moveTo>
                    <a:pt x="309925" y="2"/>
                  </a:moveTo>
                  <a:cubicBezTo>
                    <a:pt x="209351" y="-175"/>
                    <a:pt x="130431" y="33437"/>
                    <a:pt x="77924" y="94567"/>
                  </a:cubicBezTo>
                  <a:cubicBezTo>
                    <a:pt x="25439" y="155519"/>
                    <a:pt x="0" y="242001"/>
                    <a:pt x="0" y="345967"/>
                  </a:cubicBezTo>
                  <a:cubicBezTo>
                    <a:pt x="0" y="456312"/>
                    <a:pt x="23744" y="542089"/>
                    <a:pt x="76043" y="600802"/>
                  </a:cubicBezTo>
                  <a:cubicBezTo>
                    <a:pt x="128178" y="659493"/>
                    <a:pt x="207546" y="688177"/>
                    <a:pt x="310909" y="688177"/>
                  </a:cubicBezTo>
                  <a:lnTo>
                    <a:pt x="311445" y="688177"/>
                  </a:lnTo>
                  <a:cubicBezTo>
                    <a:pt x="400667" y="688177"/>
                    <a:pt x="480647" y="674278"/>
                    <a:pt x="549713" y="654131"/>
                  </a:cubicBezTo>
                  <a:lnTo>
                    <a:pt x="563504" y="650093"/>
                  </a:lnTo>
                  <a:lnTo>
                    <a:pt x="540570" y="540743"/>
                  </a:lnTo>
                  <a:lnTo>
                    <a:pt x="524733" y="545131"/>
                  </a:lnTo>
                  <a:cubicBezTo>
                    <a:pt x="463280" y="562160"/>
                    <a:pt x="406409" y="574176"/>
                    <a:pt x="329633" y="574253"/>
                  </a:cubicBezTo>
                  <a:cubicBezTo>
                    <a:pt x="260666" y="573892"/>
                    <a:pt x="220091" y="553821"/>
                    <a:pt x="193941" y="518330"/>
                  </a:cubicBezTo>
                  <a:cubicBezTo>
                    <a:pt x="169661" y="484996"/>
                    <a:pt x="157937" y="434720"/>
                    <a:pt x="156417" y="370076"/>
                  </a:cubicBezTo>
                  <a:lnTo>
                    <a:pt x="577568" y="370076"/>
                  </a:lnTo>
                  <a:lnTo>
                    <a:pt x="577568" y="354481"/>
                  </a:lnTo>
                  <a:cubicBezTo>
                    <a:pt x="577568" y="336566"/>
                    <a:pt x="579089" y="308419"/>
                    <a:pt x="579089" y="295232"/>
                  </a:cubicBezTo>
                  <a:cubicBezTo>
                    <a:pt x="579012" y="209028"/>
                    <a:pt x="561010" y="135241"/>
                    <a:pt x="517110" y="82269"/>
                  </a:cubicBezTo>
                  <a:cubicBezTo>
                    <a:pt x="473309" y="29321"/>
                    <a:pt x="404254" y="-177"/>
                    <a:pt x="309925" y="1"/>
                  </a:cubicBezTo>
                  <a:close/>
                </a:path>
              </a:pathLst>
            </a:custGeom>
            <a:solidFill>
              <a:srgbClr val="656464"/>
            </a:solidFill>
            <a:ln w="109" cap="flat">
              <a:noFill/>
              <a:prstDash val="solid"/>
              <a:miter/>
            </a:ln>
          </p:spPr>
          <p:txBody>
            <a:bodyPr rtlCol="0" anchor="ctr"/>
            <a:lstStyle/>
            <a:p>
              <a:endParaRPr lang="zh-CN" altLang="en-US"/>
            </a:p>
          </p:txBody>
        </p:sp>
        <p:sp>
          <p:nvSpPr>
            <p:cNvPr id="12" name="任意形状 11">
              <a:extLst>
                <a:ext uri="{FF2B5EF4-FFF2-40B4-BE49-F238E27FC236}">
                  <a16:creationId xmlns:a16="http://schemas.microsoft.com/office/drawing/2014/main" id="{341E5E21-2A07-AD8F-3B28-E1CBFDE6C95C}"/>
                </a:ext>
              </a:extLst>
            </p:cNvPr>
            <p:cNvSpPr/>
            <p:nvPr/>
          </p:nvSpPr>
          <p:spPr>
            <a:xfrm>
              <a:off x="4227181" y="991914"/>
              <a:ext cx="380685" cy="674561"/>
            </a:xfrm>
            <a:custGeom>
              <a:avLst/>
              <a:gdLst>
                <a:gd name="connsiteX0" fmla="*/ 288773 w 380685"/>
                <a:gd name="connsiteY0" fmla="*/ 5 h 674561"/>
                <a:gd name="connsiteX1" fmla="*/ 198403 w 380685"/>
                <a:gd name="connsiteY1" fmla="*/ 32906 h 674561"/>
                <a:gd name="connsiteX2" fmla="*/ 133811 w 380685"/>
                <a:gd name="connsiteY2" fmla="*/ 102802 h 674561"/>
                <a:gd name="connsiteX3" fmla="*/ 124493 w 380685"/>
                <a:gd name="connsiteY3" fmla="*/ 13546 h 674561"/>
                <a:gd name="connsiteX4" fmla="*/ 0 w 380685"/>
                <a:gd name="connsiteY4" fmla="*/ 13546 h 674561"/>
                <a:gd name="connsiteX5" fmla="*/ 0 w 380685"/>
                <a:gd name="connsiteY5" fmla="*/ 674562 h 674561"/>
                <a:gd name="connsiteX6" fmla="*/ 151627 w 380685"/>
                <a:gd name="connsiteY6" fmla="*/ 674562 h 674561"/>
                <a:gd name="connsiteX7" fmla="*/ 151627 w 380685"/>
                <a:gd name="connsiteY7" fmla="*/ 244704 h 674561"/>
                <a:gd name="connsiteX8" fmla="*/ 233160 w 380685"/>
                <a:gd name="connsiteY8" fmla="*/ 148356 h 674561"/>
                <a:gd name="connsiteX9" fmla="*/ 284191 w 380685"/>
                <a:gd name="connsiteY9" fmla="*/ 122542 h 674561"/>
                <a:gd name="connsiteX10" fmla="*/ 340460 w 380685"/>
                <a:gd name="connsiteY10" fmla="*/ 131943 h 674561"/>
                <a:gd name="connsiteX11" fmla="*/ 356482 w 380685"/>
                <a:gd name="connsiteY11" fmla="*/ 136338 h 674561"/>
                <a:gd name="connsiteX12" fmla="*/ 359807 w 380685"/>
                <a:gd name="connsiteY12" fmla="*/ 120027 h 674561"/>
                <a:gd name="connsiteX13" fmla="*/ 380685 w 380685"/>
                <a:gd name="connsiteY13" fmla="*/ 15681 h 674561"/>
                <a:gd name="connsiteX14" fmla="*/ 366971 w 380685"/>
                <a:gd name="connsiteY14" fmla="*/ 11844 h 674561"/>
                <a:gd name="connsiteX15" fmla="*/ 288773 w 380685"/>
                <a:gd name="connsiteY15" fmla="*/ 5 h 674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0685" h="674561">
                  <a:moveTo>
                    <a:pt x="288773" y="5"/>
                  </a:moveTo>
                  <a:cubicBezTo>
                    <a:pt x="255525" y="-275"/>
                    <a:pt x="225898" y="10574"/>
                    <a:pt x="198403" y="32906"/>
                  </a:cubicBezTo>
                  <a:cubicBezTo>
                    <a:pt x="177426" y="49650"/>
                    <a:pt x="157095" y="72618"/>
                    <a:pt x="133811" y="102802"/>
                  </a:cubicBezTo>
                  <a:lnTo>
                    <a:pt x="124493" y="13546"/>
                  </a:lnTo>
                  <a:lnTo>
                    <a:pt x="0" y="13546"/>
                  </a:lnTo>
                  <a:lnTo>
                    <a:pt x="0" y="674562"/>
                  </a:lnTo>
                  <a:lnTo>
                    <a:pt x="151627" y="674562"/>
                  </a:lnTo>
                  <a:lnTo>
                    <a:pt x="151627" y="244704"/>
                  </a:lnTo>
                  <a:cubicBezTo>
                    <a:pt x="186919" y="198815"/>
                    <a:pt x="212643" y="167437"/>
                    <a:pt x="233160" y="148356"/>
                  </a:cubicBezTo>
                  <a:cubicBezTo>
                    <a:pt x="254815" y="128539"/>
                    <a:pt x="268814" y="122619"/>
                    <a:pt x="284191" y="122542"/>
                  </a:cubicBezTo>
                  <a:cubicBezTo>
                    <a:pt x="300246" y="122542"/>
                    <a:pt x="318598" y="125845"/>
                    <a:pt x="340460" y="131943"/>
                  </a:cubicBezTo>
                  <a:lnTo>
                    <a:pt x="356482" y="136338"/>
                  </a:lnTo>
                  <a:lnTo>
                    <a:pt x="359807" y="120027"/>
                  </a:lnTo>
                  <a:lnTo>
                    <a:pt x="380685" y="15681"/>
                  </a:lnTo>
                  <a:lnTo>
                    <a:pt x="366971" y="11844"/>
                  </a:lnTo>
                  <a:cubicBezTo>
                    <a:pt x="340285" y="3943"/>
                    <a:pt x="314485" y="5"/>
                    <a:pt x="288773" y="5"/>
                  </a:cubicBezTo>
                  <a:close/>
                </a:path>
              </a:pathLst>
            </a:custGeom>
            <a:solidFill>
              <a:srgbClr val="656464"/>
            </a:solidFill>
            <a:ln w="109" cap="flat">
              <a:noFill/>
              <a:prstDash val="solid"/>
              <a:miter/>
            </a:ln>
          </p:spPr>
          <p:txBody>
            <a:bodyPr rtlCol="0" anchor="ctr"/>
            <a:lstStyle/>
            <a:p>
              <a:endParaRPr lang="zh-CN" altLang="en-US"/>
            </a:p>
          </p:txBody>
        </p:sp>
        <p:sp>
          <p:nvSpPr>
            <p:cNvPr id="13" name="任意形状 12">
              <a:extLst>
                <a:ext uri="{FF2B5EF4-FFF2-40B4-BE49-F238E27FC236}">
                  <a16:creationId xmlns:a16="http://schemas.microsoft.com/office/drawing/2014/main" id="{797F1EB2-7BFE-7EFE-A850-707DBB310097}"/>
                </a:ext>
              </a:extLst>
            </p:cNvPr>
            <p:cNvSpPr/>
            <p:nvPr/>
          </p:nvSpPr>
          <p:spPr>
            <a:xfrm>
              <a:off x="4620026" y="991866"/>
              <a:ext cx="539861" cy="688201"/>
            </a:xfrm>
            <a:custGeom>
              <a:avLst/>
              <a:gdLst>
                <a:gd name="connsiteX0" fmla="*/ 187108 w 539861"/>
                <a:gd name="connsiteY0" fmla="*/ 410329 h 688201"/>
                <a:gd name="connsiteX1" fmla="*/ 296136 w 539861"/>
                <a:gd name="connsiteY1" fmla="*/ 381208 h 688201"/>
                <a:gd name="connsiteX2" fmla="*/ 296311 w 539861"/>
                <a:gd name="connsiteY2" fmla="*/ 381208 h 688201"/>
                <a:gd name="connsiteX3" fmla="*/ 389547 w 539861"/>
                <a:gd name="connsiteY3" fmla="*/ 381208 h 688201"/>
                <a:gd name="connsiteX4" fmla="*/ 389547 w 539861"/>
                <a:gd name="connsiteY4" fmla="*/ 501589 h 688201"/>
                <a:gd name="connsiteX5" fmla="*/ 248015 w 539861"/>
                <a:gd name="connsiteY5" fmla="*/ 579202 h 688201"/>
                <a:gd name="connsiteX6" fmla="*/ 176084 w 539861"/>
                <a:gd name="connsiteY6" fmla="*/ 554743 h 688201"/>
                <a:gd name="connsiteX7" fmla="*/ 153336 w 539861"/>
                <a:gd name="connsiteY7" fmla="*/ 488325 h 688201"/>
                <a:gd name="connsiteX8" fmla="*/ 187108 w 539861"/>
                <a:gd name="connsiteY8" fmla="*/ 410329 h 688201"/>
                <a:gd name="connsiteX9" fmla="*/ 481634 w 539861"/>
                <a:gd name="connsiteY9" fmla="*/ 63926 h 688201"/>
                <a:gd name="connsiteX10" fmla="*/ 282772 w 539861"/>
                <a:gd name="connsiteY10" fmla="*/ 0 h 688201"/>
                <a:gd name="connsiteX11" fmla="*/ 53932 w 539861"/>
                <a:gd name="connsiteY11" fmla="*/ 41872 h 688201"/>
                <a:gd name="connsiteX12" fmla="*/ 40042 w 539861"/>
                <a:gd name="connsiteY12" fmla="*/ 46877 h 688201"/>
                <a:gd name="connsiteX13" fmla="*/ 73880 w 539861"/>
                <a:gd name="connsiteY13" fmla="*/ 152291 h 688201"/>
                <a:gd name="connsiteX14" fmla="*/ 89225 w 539861"/>
                <a:gd name="connsiteY14" fmla="*/ 146194 h 688201"/>
                <a:gd name="connsiteX15" fmla="*/ 264595 w 539861"/>
                <a:gd name="connsiteY15" fmla="*/ 110242 h 688201"/>
                <a:gd name="connsiteX16" fmla="*/ 363113 w 539861"/>
                <a:gd name="connsiteY16" fmla="*/ 140198 h 688201"/>
                <a:gd name="connsiteX17" fmla="*/ 389547 w 539861"/>
                <a:gd name="connsiteY17" fmla="*/ 237003 h 688201"/>
                <a:gd name="connsiteX18" fmla="*/ 389547 w 539861"/>
                <a:gd name="connsiteY18" fmla="*/ 279727 h 688201"/>
                <a:gd name="connsiteX19" fmla="*/ 309993 w 539861"/>
                <a:gd name="connsiteY19" fmla="*/ 279727 h 688201"/>
                <a:gd name="connsiteX20" fmla="*/ 88765 w 539861"/>
                <a:gd name="connsiteY20" fmla="*/ 330571 h 688201"/>
                <a:gd name="connsiteX21" fmla="*/ 3 w 539861"/>
                <a:gd name="connsiteY21" fmla="*/ 493250 h 688201"/>
                <a:gd name="connsiteX22" fmla="*/ 61084 w 539861"/>
                <a:gd name="connsiteY22" fmla="*/ 636930 h 688201"/>
                <a:gd name="connsiteX23" fmla="*/ 220870 w 539861"/>
                <a:gd name="connsiteY23" fmla="*/ 688201 h 688201"/>
                <a:gd name="connsiteX24" fmla="*/ 221056 w 539861"/>
                <a:gd name="connsiteY24" fmla="*/ 688201 h 688201"/>
                <a:gd name="connsiteX25" fmla="*/ 407899 w 539861"/>
                <a:gd name="connsiteY25" fmla="*/ 618183 h 688201"/>
                <a:gd name="connsiteX26" fmla="*/ 413641 w 539861"/>
                <a:gd name="connsiteY26" fmla="*/ 674664 h 688201"/>
                <a:gd name="connsiteX27" fmla="*/ 427607 w 539861"/>
                <a:gd name="connsiteY27" fmla="*/ 674664 h 688201"/>
                <a:gd name="connsiteX28" fmla="*/ 539861 w 539861"/>
                <a:gd name="connsiteY28" fmla="*/ 674664 h 688201"/>
                <a:gd name="connsiteX29" fmla="*/ 539861 w 539861"/>
                <a:gd name="connsiteY29" fmla="*/ 217282 h 688201"/>
                <a:gd name="connsiteX30" fmla="*/ 481634 w 539861"/>
                <a:gd name="connsiteY30" fmla="*/ 63924 h 688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39861" h="688201">
                  <a:moveTo>
                    <a:pt x="187108" y="410329"/>
                  </a:moveTo>
                  <a:cubicBezTo>
                    <a:pt x="209594" y="392316"/>
                    <a:pt x="245423" y="381208"/>
                    <a:pt x="296136" y="381208"/>
                  </a:cubicBezTo>
                  <a:lnTo>
                    <a:pt x="296311" y="381208"/>
                  </a:lnTo>
                  <a:lnTo>
                    <a:pt x="389547" y="381208"/>
                  </a:lnTo>
                  <a:lnTo>
                    <a:pt x="389547" y="501589"/>
                  </a:lnTo>
                  <a:cubicBezTo>
                    <a:pt x="343339" y="547301"/>
                    <a:pt x="301134" y="579278"/>
                    <a:pt x="248015" y="579202"/>
                  </a:cubicBezTo>
                  <a:cubicBezTo>
                    <a:pt x="213816" y="579103"/>
                    <a:pt x="191067" y="569703"/>
                    <a:pt x="176084" y="554743"/>
                  </a:cubicBezTo>
                  <a:cubicBezTo>
                    <a:pt x="161407" y="539772"/>
                    <a:pt x="153336" y="517720"/>
                    <a:pt x="153336" y="488325"/>
                  </a:cubicBezTo>
                  <a:cubicBezTo>
                    <a:pt x="153434" y="453371"/>
                    <a:pt x="164710" y="428364"/>
                    <a:pt x="187108" y="410329"/>
                  </a:cubicBezTo>
                  <a:close/>
                  <a:moveTo>
                    <a:pt x="481634" y="63926"/>
                  </a:moveTo>
                  <a:cubicBezTo>
                    <a:pt x="439976" y="23578"/>
                    <a:pt x="375045" y="0"/>
                    <a:pt x="282772" y="0"/>
                  </a:cubicBezTo>
                  <a:cubicBezTo>
                    <a:pt x="208074" y="0"/>
                    <a:pt x="126650" y="15144"/>
                    <a:pt x="53932" y="41872"/>
                  </a:cubicBezTo>
                  <a:lnTo>
                    <a:pt x="40042" y="46877"/>
                  </a:lnTo>
                  <a:lnTo>
                    <a:pt x="73880" y="152291"/>
                  </a:lnTo>
                  <a:lnTo>
                    <a:pt x="89225" y="146194"/>
                  </a:lnTo>
                  <a:cubicBezTo>
                    <a:pt x="149322" y="122183"/>
                    <a:pt x="211027" y="110242"/>
                    <a:pt x="264595" y="110242"/>
                  </a:cubicBezTo>
                  <a:cubicBezTo>
                    <a:pt x="315484" y="110242"/>
                    <a:pt x="345472" y="121193"/>
                    <a:pt x="363113" y="140198"/>
                  </a:cubicBezTo>
                  <a:cubicBezTo>
                    <a:pt x="380940" y="159101"/>
                    <a:pt x="389645" y="190377"/>
                    <a:pt x="389547" y="237003"/>
                  </a:cubicBezTo>
                  <a:lnTo>
                    <a:pt x="389547" y="279727"/>
                  </a:lnTo>
                  <a:lnTo>
                    <a:pt x="309993" y="279727"/>
                  </a:lnTo>
                  <a:cubicBezTo>
                    <a:pt x="220443" y="279727"/>
                    <a:pt x="144302" y="295683"/>
                    <a:pt x="88765" y="330571"/>
                  </a:cubicBezTo>
                  <a:cubicBezTo>
                    <a:pt x="33239" y="365252"/>
                    <a:pt x="-358" y="421174"/>
                    <a:pt x="3" y="493250"/>
                  </a:cubicBezTo>
                  <a:cubicBezTo>
                    <a:pt x="-106" y="553210"/>
                    <a:pt x="21679" y="603136"/>
                    <a:pt x="61084" y="636930"/>
                  </a:cubicBezTo>
                  <a:cubicBezTo>
                    <a:pt x="100314" y="670724"/>
                    <a:pt x="155490" y="688201"/>
                    <a:pt x="220870" y="688201"/>
                  </a:cubicBezTo>
                  <a:lnTo>
                    <a:pt x="221056" y="688201"/>
                  </a:lnTo>
                  <a:cubicBezTo>
                    <a:pt x="301845" y="688201"/>
                    <a:pt x="362763" y="656005"/>
                    <a:pt x="407899" y="618183"/>
                  </a:cubicBezTo>
                  <a:lnTo>
                    <a:pt x="413641" y="674664"/>
                  </a:lnTo>
                  <a:lnTo>
                    <a:pt x="427607" y="674664"/>
                  </a:lnTo>
                  <a:lnTo>
                    <a:pt x="539861" y="674664"/>
                  </a:lnTo>
                  <a:lnTo>
                    <a:pt x="539861" y="217282"/>
                  </a:lnTo>
                  <a:cubicBezTo>
                    <a:pt x="539861" y="159454"/>
                    <a:pt x="523456" y="104244"/>
                    <a:pt x="481634" y="63924"/>
                  </a:cubicBezTo>
                  <a:close/>
                </a:path>
              </a:pathLst>
            </a:custGeom>
            <a:solidFill>
              <a:srgbClr val="656464"/>
            </a:solidFill>
            <a:ln w="109" cap="flat">
              <a:noFill/>
              <a:prstDash val="solid"/>
              <a:miter/>
            </a:ln>
          </p:spPr>
          <p:txBody>
            <a:bodyPr rtlCol="0" anchor="ctr"/>
            <a:lstStyle/>
            <a:p>
              <a:endParaRPr lang="zh-CN" altLang="en-US"/>
            </a:p>
          </p:txBody>
        </p:sp>
        <p:sp>
          <p:nvSpPr>
            <p:cNvPr id="14" name="任意形状 13">
              <a:extLst>
                <a:ext uri="{FF2B5EF4-FFF2-40B4-BE49-F238E27FC236}">
                  <a16:creationId xmlns:a16="http://schemas.microsoft.com/office/drawing/2014/main" id="{19BC152C-2577-764E-802F-9B05F4CFABCE}"/>
                </a:ext>
              </a:extLst>
            </p:cNvPr>
            <p:cNvSpPr/>
            <p:nvPr/>
          </p:nvSpPr>
          <p:spPr>
            <a:xfrm>
              <a:off x="5059160" y="682028"/>
              <a:ext cx="1293081" cy="539038"/>
            </a:xfrm>
            <a:custGeom>
              <a:avLst/>
              <a:gdLst>
                <a:gd name="connsiteX0" fmla="*/ 0 w 1293081"/>
                <a:gd name="connsiteY0" fmla="*/ 167611 h 539038"/>
                <a:gd name="connsiteX1" fmla="*/ 1128189 w 1293081"/>
                <a:gd name="connsiteY1" fmla="*/ 172185 h 539038"/>
                <a:gd name="connsiteX2" fmla="*/ 1128189 w 1293081"/>
                <a:gd name="connsiteY2" fmla="*/ 172185 h 539038"/>
                <a:gd name="connsiteX3" fmla="*/ 1128189 w 1293081"/>
                <a:gd name="connsiteY3" fmla="*/ 172082 h 539038"/>
                <a:gd name="connsiteX4" fmla="*/ 1293082 w 1293081"/>
                <a:gd name="connsiteY4" fmla="*/ 0 h 539038"/>
                <a:gd name="connsiteX5" fmla="*/ 0 w 1293081"/>
                <a:gd name="connsiteY5" fmla="*/ 167611 h 539038"/>
                <a:gd name="connsiteX6" fmla="*/ 952085 w 1293081"/>
                <a:gd name="connsiteY6" fmla="*/ 329836 h 539038"/>
                <a:gd name="connsiteX7" fmla="*/ 1066188 w 1293081"/>
                <a:gd name="connsiteY7" fmla="*/ 230546 h 539038"/>
                <a:gd name="connsiteX8" fmla="*/ 1066188 w 1293081"/>
                <a:gd name="connsiteY8" fmla="*/ 230546 h 539038"/>
                <a:gd name="connsiteX9" fmla="*/ 48723 w 1293081"/>
                <a:gd name="connsiteY9" fmla="*/ 206054 h 539038"/>
                <a:gd name="connsiteX10" fmla="*/ 48723 w 1293081"/>
                <a:gd name="connsiteY10" fmla="*/ 206054 h 539038"/>
                <a:gd name="connsiteX11" fmla="*/ 952085 w 1293081"/>
                <a:gd name="connsiteY11" fmla="*/ 329837 h 539038"/>
                <a:gd name="connsiteX12" fmla="*/ 800776 w 1293081"/>
                <a:gd name="connsiteY12" fmla="*/ 445820 h 539038"/>
                <a:gd name="connsiteX13" fmla="*/ 889287 w 1293081"/>
                <a:gd name="connsiteY13" fmla="*/ 380039 h 539038"/>
                <a:gd name="connsiteX14" fmla="*/ 889287 w 1293081"/>
                <a:gd name="connsiteY14" fmla="*/ 380039 h 539038"/>
                <a:gd name="connsiteX15" fmla="*/ 94045 w 1293081"/>
                <a:gd name="connsiteY15" fmla="*/ 251963 h 539038"/>
                <a:gd name="connsiteX16" fmla="*/ 94045 w 1293081"/>
                <a:gd name="connsiteY16" fmla="*/ 251963 h 539038"/>
                <a:gd name="connsiteX17" fmla="*/ 800776 w 1293081"/>
                <a:gd name="connsiteY17" fmla="*/ 445820 h 539038"/>
                <a:gd name="connsiteX18" fmla="*/ 657822 w 1293081"/>
                <a:gd name="connsiteY18" fmla="*/ 539038 h 539038"/>
                <a:gd name="connsiteX19" fmla="*/ 745349 w 1293081"/>
                <a:gd name="connsiteY19" fmla="*/ 484006 h 539038"/>
                <a:gd name="connsiteX20" fmla="*/ 745349 w 1293081"/>
                <a:gd name="connsiteY20" fmla="*/ 484006 h 539038"/>
                <a:gd name="connsiteX21" fmla="*/ 202625 w 1293081"/>
                <a:gd name="connsiteY21" fmla="*/ 337457 h 539038"/>
                <a:gd name="connsiteX22" fmla="*/ 202625 w 1293081"/>
                <a:gd name="connsiteY22" fmla="*/ 337457 h 539038"/>
                <a:gd name="connsiteX23" fmla="*/ 657822 w 1293081"/>
                <a:gd name="connsiteY23" fmla="*/ 539038 h 5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93081" h="539038">
                  <a:moveTo>
                    <a:pt x="0" y="167611"/>
                  </a:moveTo>
                  <a:cubicBezTo>
                    <a:pt x="536741" y="245762"/>
                    <a:pt x="1127915" y="172185"/>
                    <a:pt x="1128189" y="172185"/>
                  </a:cubicBezTo>
                  <a:lnTo>
                    <a:pt x="1128189" y="172185"/>
                  </a:lnTo>
                  <a:lnTo>
                    <a:pt x="1128189" y="172082"/>
                  </a:lnTo>
                  <a:lnTo>
                    <a:pt x="1293082" y="0"/>
                  </a:lnTo>
                  <a:cubicBezTo>
                    <a:pt x="504489" y="190197"/>
                    <a:pt x="0" y="167611"/>
                    <a:pt x="0" y="167611"/>
                  </a:cubicBezTo>
                  <a:close/>
                  <a:moveTo>
                    <a:pt x="952085" y="329836"/>
                  </a:moveTo>
                  <a:cubicBezTo>
                    <a:pt x="992836" y="296221"/>
                    <a:pt x="1031071" y="262812"/>
                    <a:pt x="1066188" y="230546"/>
                  </a:cubicBezTo>
                  <a:lnTo>
                    <a:pt x="1066188" y="230546"/>
                  </a:lnTo>
                  <a:cubicBezTo>
                    <a:pt x="551331" y="289058"/>
                    <a:pt x="48723" y="206054"/>
                    <a:pt x="48723" y="206054"/>
                  </a:cubicBezTo>
                  <a:lnTo>
                    <a:pt x="48723" y="206054"/>
                  </a:lnTo>
                  <a:cubicBezTo>
                    <a:pt x="381856" y="318201"/>
                    <a:pt x="859812" y="328946"/>
                    <a:pt x="952085" y="329837"/>
                  </a:cubicBezTo>
                  <a:close/>
                  <a:moveTo>
                    <a:pt x="800776" y="445820"/>
                  </a:moveTo>
                  <a:cubicBezTo>
                    <a:pt x="831147" y="424223"/>
                    <a:pt x="860796" y="402271"/>
                    <a:pt x="889287" y="380039"/>
                  </a:cubicBezTo>
                  <a:lnTo>
                    <a:pt x="889287" y="380039"/>
                  </a:lnTo>
                  <a:cubicBezTo>
                    <a:pt x="790135" y="376178"/>
                    <a:pt x="372712" y="358443"/>
                    <a:pt x="94045" y="251963"/>
                  </a:cubicBezTo>
                  <a:lnTo>
                    <a:pt x="94045" y="251963"/>
                  </a:lnTo>
                  <a:cubicBezTo>
                    <a:pt x="94045" y="251963"/>
                    <a:pt x="346300" y="401738"/>
                    <a:pt x="800776" y="445820"/>
                  </a:cubicBezTo>
                  <a:close/>
                  <a:moveTo>
                    <a:pt x="657822" y="539038"/>
                  </a:moveTo>
                  <a:cubicBezTo>
                    <a:pt x="687658" y="521299"/>
                    <a:pt x="716935" y="502832"/>
                    <a:pt x="745349" y="484006"/>
                  </a:cubicBezTo>
                  <a:lnTo>
                    <a:pt x="745349" y="484006"/>
                  </a:lnTo>
                  <a:cubicBezTo>
                    <a:pt x="682375" y="478263"/>
                    <a:pt x="476611" y="442870"/>
                    <a:pt x="202625" y="337457"/>
                  </a:cubicBezTo>
                  <a:lnTo>
                    <a:pt x="202625" y="337457"/>
                  </a:lnTo>
                  <a:cubicBezTo>
                    <a:pt x="202625" y="337457"/>
                    <a:pt x="440881" y="503824"/>
                    <a:pt x="657822" y="539038"/>
                  </a:cubicBezTo>
                  <a:close/>
                </a:path>
              </a:pathLst>
            </a:custGeom>
            <a:gradFill>
              <a:gsLst>
                <a:gs pos="0">
                  <a:srgbClr val="FFFFFF"/>
                </a:gs>
                <a:gs pos="50000">
                  <a:srgbClr val="4550A4"/>
                </a:gs>
                <a:gs pos="100000">
                  <a:srgbClr val="0B308E"/>
                </a:gs>
              </a:gsLst>
              <a:lin ang="380415" scaled="1"/>
            </a:gradFill>
            <a:ln w="109" cap="flat">
              <a:noFill/>
              <a:prstDash val="solid"/>
              <a:miter/>
            </a:ln>
          </p:spPr>
          <p:txBody>
            <a:bodyPr rtlCol="0" anchor="ctr"/>
            <a:lstStyle/>
            <a:p>
              <a:endParaRPr lang="zh-CN" altLang="en-US"/>
            </a:p>
          </p:txBody>
        </p:sp>
        <p:sp>
          <p:nvSpPr>
            <p:cNvPr id="15" name="任意形状 14">
              <a:extLst>
                <a:ext uri="{FF2B5EF4-FFF2-40B4-BE49-F238E27FC236}">
                  <a16:creationId xmlns:a16="http://schemas.microsoft.com/office/drawing/2014/main" id="{9581C1DF-FC14-054E-3982-7B96D62B6852}"/>
                </a:ext>
              </a:extLst>
            </p:cNvPr>
            <p:cNvSpPr/>
            <p:nvPr/>
          </p:nvSpPr>
          <p:spPr>
            <a:xfrm>
              <a:off x="4797706" y="98099"/>
              <a:ext cx="809109" cy="689987"/>
            </a:xfrm>
            <a:custGeom>
              <a:avLst/>
              <a:gdLst>
                <a:gd name="connsiteX0" fmla="*/ 0 w 809109"/>
                <a:gd name="connsiteY0" fmla="*/ 0 h 689987"/>
                <a:gd name="connsiteX1" fmla="*/ 0 w 809109"/>
                <a:gd name="connsiteY1" fmla="*/ 2540 h 689987"/>
                <a:gd name="connsiteX2" fmla="*/ 13507 w 809109"/>
                <a:gd name="connsiteY2" fmla="*/ 192331 h 689987"/>
                <a:gd name="connsiteX3" fmla="*/ 14043 w 809109"/>
                <a:gd name="connsiteY3" fmla="*/ 193043 h 689987"/>
                <a:gd name="connsiteX4" fmla="*/ 809110 w 809109"/>
                <a:gd name="connsiteY4" fmla="*/ 646128 h 689987"/>
                <a:gd name="connsiteX5" fmla="*/ 809110 w 809109"/>
                <a:gd name="connsiteY5" fmla="*/ 646128 h 689987"/>
                <a:gd name="connsiteX6" fmla="*/ 0 w 809109"/>
                <a:gd name="connsiteY6" fmla="*/ 1 h 689987"/>
                <a:gd name="connsiteX7" fmla="*/ 53196 w 809109"/>
                <a:gd name="connsiteY7" fmla="*/ 378134 h 689987"/>
                <a:gd name="connsiteX8" fmla="*/ 747383 w 809109"/>
                <a:gd name="connsiteY8" fmla="*/ 658857 h 689987"/>
                <a:gd name="connsiteX9" fmla="*/ 747383 w 809109"/>
                <a:gd name="connsiteY9" fmla="*/ 658857 h 689987"/>
                <a:gd name="connsiteX10" fmla="*/ 23645 w 809109"/>
                <a:gd name="connsiteY10" fmla="*/ 253995 h 689987"/>
                <a:gd name="connsiteX11" fmla="*/ 23645 w 809109"/>
                <a:gd name="connsiteY11" fmla="*/ 253995 h 689987"/>
                <a:gd name="connsiteX12" fmla="*/ 53196 w 809109"/>
                <a:gd name="connsiteY12" fmla="*/ 378134 h 689987"/>
                <a:gd name="connsiteX13" fmla="*/ 109083 w 809109"/>
                <a:gd name="connsiteY13" fmla="*/ 527553 h 689987"/>
                <a:gd name="connsiteX14" fmla="*/ 660775 w 809109"/>
                <a:gd name="connsiteY14" fmla="*/ 668002 h 689987"/>
                <a:gd name="connsiteX15" fmla="*/ 660775 w 809109"/>
                <a:gd name="connsiteY15" fmla="*/ 668002 h 689987"/>
                <a:gd name="connsiteX16" fmla="*/ 68158 w 809109"/>
                <a:gd name="connsiteY16" fmla="*/ 425009 h 689987"/>
                <a:gd name="connsiteX17" fmla="*/ 68158 w 809109"/>
                <a:gd name="connsiteY17" fmla="*/ 425009 h 689987"/>
                <a:gd name="connsiteX18" fmla="*/ 109083 w 809109"/>
                <a:gd name="connsiteY18" fmla="*/ 527553 h 689987"/>
                <a:gd name="connsiteX19" fmla="*/ 129425 w 809109"/>
                <a:gd name="connsiteY19" fmla="*/ 569424 h 689987"/>
                <a:gd name="connsiteX20" fmla="*/ 186930 w 809109"/>
                <a:gd name="connsiteY20" fmla="*/ 665588 h 689987"/>
                <a:gd name="connsiteX21" fmla="*/ 186930 w 809109"/>
                <a:gd name="connsiteY21" fmla="*/ 665588 h 689987"/>
                <a:gd name="connsiteX22" fmla="*/ 186930 w 809109"/>
                <a:gd name="connsiteY22" fmla="*/ 665665 h 689987"/>
                <a:gd name="connsiteX23" fmla="*/ 587138 w 809109"/>
                <a:gd name="connsiteY23" fmla="*/ 686550 h 689987"/>
                <a:gd name="connsiteX24" fmla="*/ 587138 w 809109"/>
                <a:gd name="connsiteY24" fmla="*/ 686550 h 689987"/>
                <a:gd name="connsiteX25" fmla="*/ 129775 w 809109"/>
                <a:gd name="connsiteY25" fmla="*/ 569424 h 689987"/>
                <a:gd name="connsiteX26" fmla="*/ 129775 w 809109"/>
                <a:gd name="connsiteY26" fmla="*/ 569424 h 689987"/>
                <a:gd name="connsiteX27" fmla="*/ 129425 w 809109"/>
                <a:gd name="connsiteY27" fmla="*/ 569424 h 689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09109" h="689987">
                  <a:moveTo>
                    <a:pt x="0" y="0"/>
                  </a:moveTo>
                  <a:lnTo>
                    <a:pt x="0" y="2540"/>
                  </a:lnTo>
                  <a:cubicBezTo>
                    <a:pt x="284" y="55818"/>
                    <a:pt x="3631" y="120886"/>
                    <a:pt x="13507" y="192331"/>
                  </a:cubicBezTo>
                  <a:lnTo>
                    <a:pt x="14043" y="193043"/>
                  </a:lnTo>
                  <a:cubicBezTo>
                    <a:pt x="393591" y="495286"/>
                    <a:pt x="809110" y="646128"/>
                    <a:pt x="809110" y="646128"/>
                  </a:cubicBezTo>
                  <a:lnTo>
                    <a:pt x="809110" y="646128"/>
                  </a:lnTo>
                  <a:cubicBezTo>
                    <a:pt x="275693" y="342819"/>
                    <a:pt x="0" y="1"/>
                    <a:pt x="0" y="1"/>
                  </a:cubicBezTo>
                  <a:close/>
                  <a:moveTo>
                    <a:pt x="53196" y="378134"/>
                  </a:moveTo>
                  <a:cubicBezTo>
                    <a:pt x="476436" y="613250"/>
                    <a:pt x="747383" y="658857"/>
                    <a:pt x="747383" y="658857"/>
                  </a:cubicBezTo>
                  <a:lnTo>
                    <a:pt x="747383" y="658857"/>
                  </a:lnTo>
                  <a:cubicBezTo>
                    <a:pt x="287964" y="461849"/>
                    <a:pt x="23897" y="254273"/>
                    <a:pt x="23645" y="253995"/>
                  </a:cubicBezTo>
                  <a:lnTo>
                    <a:pt x="23645" y="253995"/>
                  </a:lnTo>
                  <a:cubicBezTo>
                    <a:pt x="31082" y="294341"/>
                    <a:pt x="40761" y="335932"/>
                    <a:pt x="53196" y="378134"/>
                  </a:cubicBezTo>
                  <a:close/>
                  <a:moveTo>
                    <a:pt x="109083" y="527553"/>
                  </a:moveTo>
                  <a:cubicBezTo>
                    <a:pt x="428326" y="649811"/>
                    <a:pt x="660775" y="668002"/>
                    <a:pt x="660775" y="668002"/>
                  </a:cubicBezTo>
                  <a:lnTo>
                    <a:pt x="660775" y="668002"/>
                  </a:lnTo>
                  <a:cubicBezTo>
                    <a:pt x="286433" y="551485"/>
                    <a:pt x="68508" y="425287"/>
                    <a:pt x="68158" y="425009"/>
                  </a:cubicBezTo>
                  <a:lnTo>
                    <a:pt x="68158" y="425009"/>
                  </a:lnTo>
                  <a:cubicBezTo>
                    <a:pt x="79707" y="459156"/>
                    <a:pt x="93236" y="493581"/>
                    <a:pt x="109083" y="527553"/>
                  </a:cubicBezTo>
                  <a:close/>
                  <a:moveTo>
                    <a:pt x="129425" y="569424"/>
                  </a:moveTo>
                  <a:cubicBezTo>
                    <a:pt x="146355" y="601868"/>
                    <a:pt x="165429" y="634211"/>
                    <a:pt x="186930" y="665588"/>
                  </a:cubicBezTo>
                  <a:lnTo>
                    <a:pt x="186930" y="665588"/>
                  </a:lnTo>
                  <a:lnTo>
                    <a:pt x="186930" y="665665"/>
                  </a:lnTo>
                  <a:cubicBezTo>
                    <a:pt x="397878" y="702506"/>
                    <a:pt x="587138" y="686550"/>
                    <a:pt x="587138" y="686550"/>
                  </a:cubicBezTo>
                  <a:lnTo>
                    <a:pt x="587138" y="686550"/>
                  </a:lnTo>
                  <a:cubicBezTo>
                    <a:pt x="316629" y="642290"/>
                    <a:pt x="166238" y="583219"/>
                    <a:pt x="129775" y="569424"/>
                  </a:cubicBezTo>
                  <a:lnTo>
                    <a:pt x="129775" y="569424"/>
                  </a:lnTo>
                  <a:lnTo>
                    <a:pt x="129425" y="569424"/>
                  </a:lnTo>
                  <a:close/>
                </a:path>
              </a:pathLst>
            </a:custGeom>
            <a:gradFill>
              <a:gsLst>
                <a:gs pos="0">
                  <a:srgbClr val="FFFFFF"/>
                </a:gs>
                <a:gs pos="50000">
                  <a:srgbClr val="BFCD7F"/>
                </a:gs>
                <a:gs pos="100000">
                  <a:srgbClr val="809B00"/>
                </a:gs>
              </a:gsLst>
              <a:lin ang="12509132" scaled="1"/>
            </a:gradFill>
            <a:ln w="109" cap="flat">
              <a:noFill/>
              <a:prstDash val="solid"/>
              <a:miter/>
            </a:ln>
          </p:spPr>
          <p:txBody>
            <a:bodyPr rtlCol="0" anchor="ctr"/>
            <a:lstStyle/>
            <a:p>
              <a:endParaRPr lang="zh-CN" altLang="en-US"/>
            </a:p>
          </p:txBody>
        </p:sp>
      </p:grpSp>
      <p:grpSp>
        <p:nvGrpSpPr>
          <p:cNvPr id="28" name="组合 27">
            <a:extLst>
              <a:ext uri="{FF2B5EF4-FFF2-40B4-BE49-F238E27FC236}">
                <a16:creationId xmlns:a16="http://schemas.microsoft.com/office/drawing/2014/main" id="{EF36AEA8-3AEE-2BD2-6A1A-683B2C33F84A}"/>
              </a:ext>
            </a:extLst>
          </p:cNvPr>
          <p:cNvGrpSpPr/>
          <p:nvPr userDrawn="1"/>
        </p:nvGrpSpPr>
        <p:grpSpPr>
          <a:xfrm>
            <a:off x="407988" y="416022"/>
            <a:ext cx="446425" cy="432024"/>
            <a:chOff x="3157789" y="1162600"/>
            <a:chExt cx="2232000" cy="2160000"/>
          </a:xfrm>
        </p:grpSpPr>
        <p:sp>
          <p:nvSpPr>
            <p:cNvPr id="29" name="椭圆 28">
              <a:extLst>
                <a:ext uri="{FF2B5EF4-FFF2-40B4-BE49-F238E27FC236}">
                  <a16:creationId xmlns:a16="http://schemas.microsoft.com/office/drawing/2014/main" id="{6314E6E3-A28B-A97E-0AE5-88C0DE0B414D}"/>
                </a:ext>
              </a:extLst>
            </p:cNvPr>
            <p:cNvSpPr>
              <a:spLocks noChangeAspect="1"/>
            </p:cNvSpPr>
            <p:nvPr/>
          </p:nvSpPr>
          <p:spPr>
            <a:xfrm>
              <a:off x="3193787" y="1162600"/>
              <a:ext cx="2159999" cy="2160000"/>
            </a:xfrm>
            <a:prstGeom prst="ellipse">
              <a:avLst/>
            </a:prstGeom>
            <a:solidFill>
              <a:srgbClr val="0B30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30" name="图形 29">
              <a:extLst>
                <a:ext uri="{FF2B5EF4-FFF2-40B4-BE49-F238E27FC236}">
                  <a16:creationId xmlns:a16="http://schemas.microsoft.com/office/drawing/2014/main" id="{46565262-88D8-725C-5ACD-4D69907B94B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57789" y="1461401"/>
              <a:ext cx="2232000" cy="1562399"/>
            </a:xfrm>
            <a:prstGeom prst="rect">
              <a:avLst/>
            </a:prstGeom>
          </p:spPr>
        </p:pic>
      </p:grpSp>
      <p:sp>
        <p:nvSpPr>
          <p:cNvPr id="32" name="任意形状 31">
            <a:extLst>
              <a:ext uri="{FF2B5EF4-FFF2-40B4-BE49-F238E27FC236}">
                <a16:creationId xmlns:a16="http://schemas.microsoft.com/office/drawing/2014/main" id="{B149AD21-405B-D537-EB6C-FEB360C5FB03}"/>
              </a:ext>
            </a:extLst>
          </p:cNvPr>
          <p:cNvSpPr/>
          <p:nvPr userDrawn="1"/>
        </p:nvSpPr>
        <p:spPr>
          <a:xfrm>
            <a:off x="777665" y="416034"/>
            <a:ext cx="8213621" cy="432000"/>
          </a:xfrm>
          <a:custGeom>
            <a:avLst/>
            <a:gdLst>
              <a:gd name="connsiteX0" fmla="*/ 0 w 8213621"/>
              <a:gd name="connsiteY0" fmla="*/ 0 h 432000"/>
              <a:gd name="connsiteX1" fmla="*/ 7997621 w 8213621"/>
              <a:gd name="connsiteY1" fmla="*/ 0 h 432000"/>
              <a:gd name="connsiteX2" fmla="*/ 8213621 w 8213621"/>
              <a:gd name="connsiteY2" fmla="*/ 216000 h 432000"/>
              <a:gd name="connsiteX3" fmla="*/ 7997621 w 8213621"/>
              <a:gd name="connsiteY3" fmla="*/ 432000 h 432000"/>
              <a:gd name="connsiteX4" fmla="*/ 0 w 8213621"/>
              <a:gd name="connsiteY4" fmla="*/ 432000 h 432000"/>
              <a:gd name="connsiteX5" fmla="*/ 38100 w 8213621"/>
              <a:gd name="connsiteY5" fmla="*/ 400565 h 432000"/>
              <a:gd name="connsiteX6" fmla="*/ 114549 w 8213621"/>
              <a:gd name="connsiteY6" fmla="*/ 216000 h 432000"/>
              <a:gd name="connsiteX7" fmla="*/ 38100 w 8213621"/>
              <a:gd name="connsiteY7" fmla="*/ 31435 h 43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213621" h="432000">
                <a:moveTo>
                  <a:pt x="0" y="0"/>
                </a:moveTo>
                <a:lnTo>
                  <a:pt x="7997621" y="0"/>
                </a:lnTo>
                <a:cubicBezTo>
                  <a:pt x="8116915" y="0"/>
                  <a:pt x="8213621" y="96706"/>
                  <a:pt x="8213621" y="216000"/>
                </a:cubicBezTo>
                <a:cubicBezTo>
                  <a:pt x="8213621" y="335294"/>
                  <a:pt x="8116915" y="432000"/>
                  <a:pt x="7997621" y="432000"/>
                </a:cubicBezTo>
                <a:lnTo>
                  <a:pt x="0" y="432000"/>
                </a:lnTo>
                <a:lnTo>
                  <a:pt x="38100" y="400565"/>
                </a:lnTo>
                <a:cubicBezTo>
                  <a:pt x="85334" y="353331"/>
                  <a:pt x="114549" y="288077"/>
                  <a:pt x="114549" y="216000"/>
                </a:cubicBezTo>
                <a:cubicBezTo>
                  <a:pt x="114549" y="143923"/>
                  <a:pt x="85334" y="78670"/>
                  <a:pt x="38100" y="31435"/>
                </a:cubicBezTo>
                <a:close/>
              </a:path>
            </a:pathLst>
          </a:custGeom>
          <a:gradFill flip="none" rotWithShape="1">
            <a:gsLst>
              <a:gs pos="0">
                <a:srgbClr val="6492D4">
                  <a:alpha val="2000"/>
                </a:srgbClr>
              </a:gs>
              <a:gs pos="50000">
                <a:srgbClr val="6492D4">
                  <a:alpha val="10000"/>
                </a:srgbClr>
              </a:gs>
              <a:gs pos="98000">
                <a:srgbClr val="6492D4">
                  <a:alpha val="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pic>
        <p:nvPicPr>
          <p:cNvPr id="16" name="图片 15">
            <a:extLst>
              <a:ext uri="{FF2B5EF4-FFF2-40B4-BE49-F238E27FC236}">
                <a16:creationId xmlns:a16="http://schemas.microsoft.com/office/drawing/2014/main" id="{4AAD96DA-A547-44C3-527A-3BB8CA701C33}"/>
              </a:ext>
            </a:extLst>
          </p:cNvPr>
          <p:cNvPicPr>
            <a:picLocks noChangeAspect="1"/>
          </p:cNvPicPr>
          <p:nvPr userDrawn="1"/>
        </p:nvPicPr>
        <p:blipFill>
          <a:blip r:embed="rId5"/>
          <a:srcRect/>
          <a:stretch/>
        </p:blipFill>
        <p:spPr>
          <a:xfrm>
            <a:off x="265112" y="6498448"/>
            <a:ext cx="1555083" cy="101928"/>
          </a:xfrm>
          <a:prstGeom prst="rect">
            <a:avLst/>
          </a:prstGeom>
        </p:spPr>
      </p:pic>
    </p:spTree>
    <p:extLst>
      <p:ext uri="{BB962C8B-B14F-4D97-AF65-F5344CB8AC3E}">
        <p14:creationId xmlns:p14="http://schemas.microsoft.com/office/powerpoint/2010/main" val="7983799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C4FF59C-D32E-291D-F4BC-2EBEDD3FC6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2FCCB62A-A28B-9E82-A3F3-AF5202CE41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790780B2-EC77-5362-71CA-6DDF89EE99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D146ACC-1619-E242-AD15-F336193CCCB6}" type="datetimeFigureOut">
              <a:rPr kumimoji="1" lang="zh-CN" altLang="en-US" smtClean="0"/>
              <a:t>2026/10/10</a:t>
            </a:fld>
            <a:endParaRPr kumimoji="1" lang="zh-CN" altLang="en-US"/>
          </a:p>
        </p:txBody>
      </p:sp>
      <p:sp>
        <p:nvSpPr>
          <p:cNvPr id="5" name="页脚占位符 4">
            <a:extLst>
              <a:ext uri="{FF2B5EF4-FFF2-40B4-BE49-F238E27FC236}">
                <a16:creationId xmlns:a16="http://schemas.microsoft.com/office/drawing/2014/main" id="{B95DEC29-7515-0103-604F-66D4083E18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049263E4-CC43-E1F8-6671-5541F77EC6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16536109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image" Target="../media/image25.jpg"/><Relationship Id="rId4" Type="http://schemas.openxmlformats.org/officeDocument/2006/relationships/image" Target="../media/image17.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image" Target="../media/image27.jpg"/><Relationship Id="rId4" Type="http://schemas.openxmlformats.org/officeDocument/2006/relationships/image" Target="../media/image17.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image" Target="../media/image29.jpg"/><Relationship Id="rId4" Type="http://schemas.openxmlformats.org/officeDocument/2006/relationships/image" Target="../media/image17.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image" Target="../media/image31.jpg"/><Relationship Id="rId4" Type="http://schemas.openxmlformats.org/officeDocument/2006/relationships/image" Target="../media/image17.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17.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image" Target="../media/image35.jpg"/><Relationship Id="rId4" Type="http://schemas.openxmlformats.org/officeDocument/2006/relationships/image" Target="../media/image17.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17.png"/><Relationship Id="rId7" Type="http://schemas.openxmlformats.org/officeDocument/2006/relationships/image" Target="../media/image39.png"/><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15.png"/><Relationship Id="rId4" Type="http://schemas.openxmlformats.org/officeDocument/2006/relationships/image" Target="../media/image44.png"/><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5.png"/><Relationship Id="rId4" Type="http://schemas.openxmlformats.org/officeDocument/2006/relationships/image" Target="../media/image37.png"/><Relationship Id="rId5" Type="http://schemas.openxmlformats.org/officeDocument/2006/relationships/image" Target="../media/image45.png"/><Relationship Id="rId6" Type="http://schemas.openxmlformats.org/officeDocument/2006/relationships/image" Target="../media/image44.png"/><Relationship Id="rId7" Type="http://schemas.openxmlformats.org/officeDocument/2006/relationships/image" Target="../media/image46.png"/><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000" cy="76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40640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0" y="76200"/>
            <a:ext cx="76200" cy="6781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a_1d401b357e.png"/>
          <p:cNvPicPr>
            <a:picLocks noChangeAspect="1"/>
          </p:cNvPicPr>
          <p:nvPr/>
        </p:nvPicPr>
        <p:blipFill>
          <a:blip r:embed="rId2"/>
          <a:stretch>
            <a:fillRect/>
          </a:stretch>
        </p:blipFill>
        <p:spPr>
          <a:xfrm>
            <a:off x="9702800" y="384070"/>
            <a:ext cx="1397000" cy="552659"/>
          </a:xfrm>
          <a:prstGeom prst="rect">
            <a:avLst/>
          </a:prstGeom>
        </p:spPr>
      </p:pic>
      <p:sp>
        <p:nvSpPr>
          <p:cNvPr id="7" name="TextBox 6"/>
          <p:cNvSpPr txBox="1"/>
          <p:nvPr/>
        </p:nvSpPr>
        <p:spPr>
          <a:xfrm>
            <a:off x="863600" y="1371600"/>
            <a:ext cx="5842000" cy="228600"/>
          </a:xfrm>
          <a:prstGeom prst="rect">
            <a:avLst/>
          </a:prstGeom>
          <a:noFill/>
        </p:spPr>
        <p:txBody>
          <a:bodyPr wrap="square" lIns="0" rIns="0" tIns="0" bIns="0" anchor="t">
            <a:spAutoFit/>
          </a:bodyPr>
          <a:lstStyle/>
          <a:p>
            <a:pPr algn="l">
              <a:lnSpc>
                <a:spcPct val="125000"/>
              </a:lnSpc>
              <a:spcAft>
                <a:spcPts val="300"/>
              </a:spcAft>
            </a:pPr>
            <a:r>
              <a:rPr sz="1050" b="1">
                <a:solidFill>
                  <a:srgbClr val="7F9B00"/>
                </a:solidFill>
                <a:latin typeface="Arial"/>
              </a:rPr>
              <a:t>HYTERA  ×  GLOBE TELECOM</a:t>
            </a:r>
          </a:p>
        </p:txBody>
      </p:sp>
      <p:sp>
        <p:nvSpPr>
          <p:cNvPr id="8" name="TextBox 7"/>
          <p:cNvSpPr txBox="1"/>
          <p:nvPr/>
        </p:nvSpPr>
        <p:spPr>
          <a:xfrm>
            <a:off x="863600" y="1752600"/>
            <a:ext cx="5969000" cy="1524000"/>
          </a:xfrm>
          <a:prstGeom prst="rect">
            <a:avLst/>
          </a:prstGeom>
          <a:noFill/>
        </p:spPr>
        <p:txBody>
          <a:bodyPr wrap="square" lIns="0" rIns="0" tIns="0" bIns="0" anchor="t">
            <a:spAutoFit/>
          </a:bodyPr>
          <a:lstStyle/>
          <a:p>
            <a:pPr algn="l">
              <a:lnSpc>
                <a:spcPct val="114000"/>
              </a:lnSpc>
              <a:spcAft>
                <a:spcPts val="300"/>
              </a:spcAft>
            </a:pPr>
            <a:r>
              <a:rPr sz="3400" b="1">
                <a:solidFill>
                  <a:srgbClr val="0B308E"/>
                </a:solidFill>
                <a:latin typeface="Arial"/>
              </a:rPr>
              <a:t>450 MHz Mission-Critical</a:t>
            </a:r>
          </a:p>
          <a:p>
            <a:pPr algn="l">
              <a:lnSpc>
                <a:spcPct val="114000"/>
              </a:lnSpc>
              <a:spcAft>
                <a:spcPts val="300"/>
              </a:spcAft>
            </a:pPr>
            <a:r>
              <a:rPr sz="3400" b="1">
                <a:solidFill>
                  <a:srgbClr val="0B308E"/>
                </a:solidFill>
                <a:latin typeface="Arial"/>
              </a:rPr>
              <a:t>Network for the</a:t>
            </a:r>
          </a:p>
          <a:p>
            <a:pPr algn="l">
              <a:lnSpc>
                <a:spcPct val="114000"/>
              </a:lnSpc>
              <a:spcAft>
                <a:spcPts val="300"/>
              </a:spcAft>
            </a:pPr>
            <a:r>
              <a:rPr sz="3400" b="1">
                <a:solidFill>
                  <a:srgbClr val="0B308E"/>
                </a:solidFill>
                <a:latin typeface="Arial"/>
              </a:rPr>
              <a:t>Philippines</a:t>
            </a:r>
          </a:p>
        </p:txBody>
      </p:sp>
      <p:sp>
        <p:nvSpPr>
          <p:cNvPr id="9" name="Rectangle 8"/>
          <p:cNvSpPr/>
          <p:nvPr/>
        </p:nvSpPr>
        <p:spPr>
          <a:xfrm>
            <a:off x="863600" y="3479800"/>
            <a:ext cx="914400" cy="508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63600" y="3810000"/>
            <a:ext cx="5588000" cy="762000"/>
          </a:xfrm>
          <a:prstGeom prst="rect">
            <a:avLst/>
          </a:prstGeom>
          <a:noFill/>
        </p:spPr>
        <p:txBody>
          <a:bodyPr wrap="square" lIns="0" rIns="0" tIns="0" bIns="0" anchor="t">
            <a:spAutoFit/>
          </a:bodyPr>
          <a:lstStyle/>
          <a:p>
            <a:pPr algn="l">
              <a:lnSpc>
                <a:spcPct val="142000"/>
              </a:lnSpc>
              <a:spcAft>
                <a:spcPts val="300"/>
              </a:spcAft>
            </a:pPr>
            <a:r>
              <a:rPr sz="1250" b="0">
                <a:solidFill>
                  <a:srgbClr val="55607A"/>
                </a:solidFill>
                <a:latin typeface="Arial"/>
              </a:rPr>
              <a:t>A coverage and resilience layer for utilities,</a:t>
            </a:r>
          </a:p>
          <a:p>
            <a:pPr algn="l">
              <a:lnSpc>
                <a:spcPct val="142000"/>
              </a:lnSpc>
              <a:spcAft>
                <a:spcPts val="300"/>
              </a:spcAft>
            </a:pPr>
            <a:r>
              <a:rPr sz="1250" b="0">
                <a:solidFill>
                  <a:srgbClr val="55607A"/>
                </a:solidFill>
                <a:latin typeface="Arial"/>
              </a:rPr>
              <a:t>public safety, transport and remote communities.</a:t>
            </a:r>
          </a:p>
        </p:txBody>
      </p:sp>
      <p:pic>
        <p:nvPicPr>
          <p:cNvPr id="11" name="Picture 10" descr="a_68c10d9d76.png"/>
          <p:cNvPicPr>
            <a:picLocks noChangeAspect="1"/>
          </p:cNvPicPr>
          <p:nvPr/>
        </p:nvPicPr>
        <p:blipFill>
          <a:blip r:embed="rId3"/>
          <a:stretch>
            <a:fillRect/>
          </a:stretch>
        </p:blipFill>
        <p:spPr>
          <a:xfrm>
            <a:off x="7977553" y="838200"/>
            <a:ext cx="3094892" cy="4470400"/>
          </a:xfrm>
          <a:prstGeom prst="rect">
            <a:avLst/>
          </a:prstGeom>
        </p:spPr>
      </p:pic>
      <p:pic>
        <p:nvPicPr>
          <p:cNvPr id="12" name="Picture 11" descr="a_8bb7411989.png"/>
          <p:cNvPicPr>
            <a:picLocks noChangeAspect="1"/>
          </p:cNvPicPr>
          <p:nvPr/>
        </p:nvPicPr>
        <p:blipFill>
          <a:blip r:embed="rId4"/>
          <a:stretch>
            <a:fillRect/>
          </a:stretch>
        </p:blipFill>
        <p:spPr>
          <a:xfrm>
            <a:off x="6883400" y="1884191"/>
            <a:ext cx="1092200" cy="3369016"/>
          </a:xfrm>
          <a:prstGeom prst="rect">
            <a:avLst/>
          </a:prstGeom>
        </p:spPr>
      </p:pic>
      <p:cxnSp>
        <p:nvCxnSpPr>
          <p:cNvPr id="13" name="Connector 12"/>
          <p:cNvCxnSpPr/>
          <p:nvPr/>
        </p:nvCxnSpPr>
        <p:spPr>
          <a:xfrm>
            <a:off x="609600" y="5918200"/>
            <a:ext cx="10972800" cy="0"/>
          </a:xfrm>
          <a:prstGeom prst="line">
            <a:avLst/>
          </a:prstGeom>
          <a:ln w="12700">
            <a:solidFill>
              <a:srgbClr val="D6E0F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09600" y="6121400"/>
            <a:ext cx="5080000" cy="203200"/>
          </a:xfrm>
          <a:prstGeom prst="rect">
            <a:avLst/>
          </a:prstGeom>
          <a:noFill/>
        </p:spPr>
        <p:txBody>
          <a:bodyPr wrap="square" lIns="0" rIns="0" tIns="0" bIns="0" anchor="t">
            <a:spAutoFit/>
          </a:bodyPr>
          <a:lstStyle/>
          <a:p>
            <a:pPr algn="l">
              <a:lnSpc>
                <a:spcPct val="125000"/>
              </a:lnSpc>
              <a:spcAft>
                <a:spcPts val="300"/>
              </a:spcAft>
            </a:pPr>
            <a:r>
              <a:rPr sz="1150" b="1">
                <a:solidFill>
                  <a:srgbClr val="0B308E"/>
                </a:solidFill>
                <a:latin typeface="Arial"/>
              </a:rPr>
              <a:t>Philippines  ·  October 2026</a:t>
            </a:r>
          </a:p>
        </p:txBody>
      </p:sp>
      <p:sp>
        <p:nvSpPr>
          <p:cNvPr id="15" name="TextBox 14"/>
          <p:cNvSpPr txBox="1"/>
          <p:nvPr/>
        </p:nvSpPr>
        <p:spPr>
          <a:xfrm>
            <a:off x="7112000" y="6146800"/>
            <a:ext cx="4470400" cy="177800"/>
          </a:xfrm>
          <a:prstGeom prst="rect">
            <a:avLst/>
          </a:prstGeom>
          <a:noFill/>
        </p:spPr>
        <p:txBody>
          <a:bodyPr wrap="square" lIns="0" rIns="0" tIns="0" bIns="0" anchor="t">
            <a:spAutoFit/>
          </a:bodyPr>
          <a:lstStyle/>
          <a:p>
            <a:pPr algn="r">
              <a:lnSpc>
                <a:spcPct val="125000"/>
              </a:lnSpc>
              <a:spcAft>
                <a:spcPts val="300"/>
              </a:spcAft>
            </a:pPr>
            <a:r>
              <a:rPr sz="950" b="0">
                <a:solidFill>
                  <a:srgbClr val="93A0B4"/>
                </a:solidFill>
                <a:latin typeface="Arial"/>
              </a:rPr>
              <a:t>Terminal  ·  Network  ·  Application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381000"/>
            <a:ext cx="228600" cy="635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39800" y="279400"/>
            <a:ext cx="9906000" cy="381000"/>
          </a:xfrm>
          <a:prstGeom prst="rect">
            <a:avLst/>
          </a:prstGeom>
          <a:noFill/>
        </p:spPr>
        <p:txBody>
          <a:bodyPr wrap="square" lIns="0" rIns="0" tIns="0" bIns="0" anchor="t">
            <a:spAutoFit/>
          </a:bodyPr>
          <a:lstStyle/>
          <a:p>
            <a:pPr algn="l">
              <a:lnSpc>
                <a:spcPct val="125000"/>
              </a:lnSpc>
              <a:spcAft>
                <a:spcPts val="300"/>
              </a:spcAft>
            </a:pPr>
            <a:r>
              <a:rPr sz="2100" b="1">
                <a:solidFill>
                  <a:srgbClr val="0B308E"/>
                </a:solidFill>
                <a:latin typeface="Arial"/>
              </a:rPr>
              <a:t>Islands, mountains and typhoons</a:t>
            </a:r>
          </a:p>
        </p:txBody>
      </p:sp>
      <p:sp>
        <p:nvSpPr>
          <p:cNvPr id="5" name="TextBox 4"/>
          <p:cNvSpPr txBox="1"/>
          <p:nvPr/>
        </p:nvSpPr>
        <p:spPr>
          <a:xfrm>
            <a:off x="609600" y="787400"/>
            <a:ext cx="8890000" cy="203200"/>
          </a:xfrm>
          <a:prstGeom prst="rect">
            <a:avLst/>
          </a:prstGeom>
          <a:noFill/>
        </p:spPr>
        <p:txBody>
          <a:bodyPr wrap="square" lIns="0" rIns="0" tIns="0" bIns="0" anchor="t">
            <a:spAutoFit/>
          </a:bodyPr>
          <a:lstStyle/>
          <a:p>
            <a:pPr algn="l">
              <a:lnSpc>
                <a:spcPct val="125000"/>
              </a:lnSpc>
              <a:spcAft>
                <a:spcPts val="300"/>
              </a:spcAft>
            </a:pPr>
            <a:r>
              <a:rPr sz="850" b="1">
                <a:solidFill>
                  <a:srgbClr val="7F9B00"/>
                </a:solidFill>
                <a:latin typeface="Arial"/>
              </a:rPr>
              <a:t>THE GAP</a:t>
            </a:r>
          </a:p>
        </p:txBody>
      </p:sp>
      <p:sp>
        <p:nvSpPr>
          <p:cNvPr id="6" name="TextBox 5"/>
          <p:cNvSpPr txBox="1"/>
          <p:nvPr/>
        </p:nvSpPr>
        <p:spPr>
          <a:xfrm>
            <a:off x="11023600" y="279400"/>
            <a:ext cx="558800" cy="330200"/>
          </a:xfrm>
          <a:prstGeom prst="rect">
            <a:avLst/>
          </a:prstGeom>
          <a:noFill/>
        </p:spPr>
        <p:txBody>
          <a:bodyPr wrap="square" lIns="0" rIns="0" tIns="0" bIns="0" anchor="t">
            <a:spAutoFit/>
          </a:bodyPr>
          <a:lstStyle/>
          <a:p>
            <a:pPr algn="r">
              <a:lnSpc>
                <a:spcPct val="125000"/>
              </a:lnSpc>
              <a:spcAft>
                <a:spcPts val="300"/>
              </a:spcAft>
            </a:pPr>
            <a:r>
              <a:rPr sz="1700" b="1">
                <a:solidFill>
                  <a:srgbClr val="0B308E"/>
                </a:solidFill>
                <a:latin typeface="Arial"/>
              </a:rPr>
              <a:t>02</a:t>
            </a:r>
          </a:p>
        </p:txBody>
      </p:sp>
      <p:cxnSp>
        <p:nvCxnSpPr>
          <p:cNvPr id="7" name="Connector 6"/>
          <p:cNvCxnSpPr/>
          <p:nvPr/>
        </p:nvCxnSpPr>
        <p:spPr>
          <a:xfrm>
            <a:off x="609600" y="1041400"/>
            <a:ext cx="10972800" cy="0"/>
          </a:xfrm>
          <a:prstGeom prst="line">
            <a:avLst/>
          </a:prstGeom>
          <a:ln w="12700">
            <a:solidFill>
              <a:srgbClr val="D6E0F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1193800"/>
            <a:ext cx="10972800" cy="228600"/>
          </a:xfrm>
          <a:prstGeom prst="rect">
            <a:avLst/>
          </a:prstGeom>
          <a:noFill/>
        </p:spPr>
        <p:txBody>
          <a:bodyPr wrap="square" lIns="0" rIns="0" tIns="0" bIns="0" anchor="t">
            <a:spAutoFit/>
          </a:bodyPr>
          <a:lstStyle/>
          <a:p>
            <a:pPr algn="l">
              <a:lnSpc>
                <a:spcPct val="125000"/>
              </a:lnSpc>
              <a:spcAft>
                <a:spcPts val="300"/>
              </a:spcAft>
            </a:pPr>
            <a:r>
              <a:rPr sz="1150" b="0">
                <a:solidFill>
                  <a:srgbClr val="55607A"/>
                </a:solidFill>
                <a:latin typeface="Arial"/>
              </a:rPr>
              <a:t>Public 4G and 5G reach the cities. What is missing is coverage that is still there after the storm.</a:t>
            </a:r>
          </a:p>
        </p:txBody>
      </p:sp>
      <p:sp>
        <p:nvSpPr>
          <p:cNvPr id="9" name="Rectangle 8"/>
          <p:cNvSpPr/>
          <p:nvPr/>
        </p:nvSpPr>
        <p:spPr>
          <a:xfrm>
            <a:off x="609600" y="1549400"/>
            <a:ext cx="5080000" cy="37592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0" name="Picture 9" descr="a_68c10d9d76.png"/>
          <p:cNvPicPr>
            <a:picLocks noChangeAspect="1"/>
          </p:cNvPicPr>
          <p:nvPr/>
        </p:nvPicPr>
        <p:blipFill>
          <a:blip r:embed="rId2"/>
          <a:stretch>
            <a:fillRect/>
          </a:stretch>
        </p:blipFill>
        <p:spPr>
          <a:xfrm>
            <a:off x="889000" y="2053166"/>
            <a:ext cx="1905000" cy="2751666"/>
          </a:xfrm>
          <a:prstGeom prst="rect">
            <a:avLst/>
          </a:prstGeom>
        </p:spPr>
      </p:pic>
      <p:sp>
        <p:nvSpPr>
          <p:cNvPr id="11" name="Rectangle 10"/>
          <p:cNvSpPr/>
          <p:nvPr/>
        </p:nvSpPr>
        <p:spPr>
          <a:xfrm>
            <a:off x="2971800" y="1778000"/>
            <a:ext cx="2489200" cy="12192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3175000" y="1955800"/>
            <a:ext cx="2108200" cy="889000"/>
          </a:xfrm>
          <a:prstGeom prst="rect">
            <a:avLst/>
          </a:prstGeom>
          <a:noFill/>
        </p:spPr>
        <p:txBody>
          <a:bodyPr wrap="square" lIns="0" rIns="0" tIns="0" bIns="0" anchor="t">
            <a:spAutoFit/>
          </a:bodyPr>
          <a:lstStyle/>
          <a:p>
            <a:pPr algn="l">
              <a:lnSpc>
                <a:spcPct val="135000"/>
              </a:lnSpc>
              <a:spcAft>
                <a:spcPts val="300"/>
              </a:spcAft>
            </a:pPr>
            <a:r>
              <a:rPr sz="1050" b="1">
                <a:solidFill>
                  <a:srgbClr val="0B308E"/>
                </a:solidFill>
                <a:latin typeface="Arial"/>
              </a:rPr>
              <a:t>7,641 islands.</a:t>
            </a:r>
          </a:p>
          <a:p>
            <a:pPr algn="l">
              <a:lnSpc>
                <a:spcPct val="135000"/>
              </a:lnSpc>
              <a:spcAft>
                <a:spcPts val="300"/>
              </a:spcAft>
            </a:pPr>
            <a:r>
              <a:rPr sz="1050" b="1">
                <a:solidFill>
                  <a:srgbClr val="0B308E"/>
                </a:solidFill>
                <a:latin typeface="Arial"/>
              </a:rPr>
              <a:t>One grid has to reach</a:t>
            </a:r>
          </a:p>
          <a:p>
            <a:pPr algn="l">
              <a:lnSpc>
                <a:spcPct val="135000"/>
              </a:lnSpc>
              <a:spcAft>
                <a:spcPts val="300"/>
              </a:spcAft>
            </a:pPr>
            <a:r>
              <a:rPr sz="1050" b="1">
                <a:solidFill>
                  <a:srgbClr val="0B308E"/>
                </a:solidFill>
                <a:latin typeface="Arial"/>
              </a:rPr>
              <a:t>across all of them.</a:t>
            </a:r>
          </a:p>
        </p:txBody>
      </p:sp>
      <p:sp>
        <p:nvSpPr>
          <p:cNvPr id="13" name="Rectangle 12"/>
          <p:cNvSpPr/>
          <p:nvPr/>
        </p:nvSpPr>
        <p:spPr>
          <a:xfrm>
            <a:off x="2971800" y="3149600"/>
            <a:ext cx="2489200" cy="990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4" name="Picture 13" descr="a_1d1256f7a9.png"/>
          <p:cNvPicPr>
            <a:picLocks noChangeAspect="1"/>
          </p:cNvPicPr>
          <p:nvPr/>
        </p:nvPicPr>
        <p:blipFill>
          <a:blip r:embed="rId3"/>
          <a:stretch>
            <a:fillRect/>
          </a:stretch>
        </p:blipFill>
        <p:spPr>
          <a:xfrm>
            <a:off x="3073400" y="3272790"/>
            <a:ext cx="2286000" cy="668020"/>
          </a:xfrm>
          <a:prstGeom prst="rect">
            <a:avLst/>
          </a:prstGeom>
        </p:spPr>
      </p:pic>
      <p:pic>
        <p:nvPicPr>
          <p:cNvPr id="15" name="Picture 14" descr="a_714a2cb85d.png"/>
          <p:cNvPicPr>
            <a:picLocks noChangeAspect="1"/>
          </p:cNvPicPr>
          <p:nvPr/>
        </p:nvPicPr>
        <p:blipFill>
          <a:blip r:embed="rId4"/>
          <a:stretch>
            <a:fillRect/>
          </a:stretch>
        </p:blipFill>
        <p:spPr>
          <a:xfrm>
            <a:off x="4622800" y="3287568"/>
            <a:ext cx="431800" cy="765463"/>
          </a:xfrm>
          <a:prstGeom prst="rect">
            <a:avLst/>
          </a:prstGeom>
        </p:spPr>
      </p:pic>
      <p:sp>
        <p:nvSpPr>
          <p:cNvPr id="16" name="Rectangle 15"/>
          <p:cNvSpPr/>
          <p:nvPr/>
        </p:nvSpPr>
        <p:spPr>
          <a:xfrm>
            <a:off x="2971800" y="4292600"/>
            <a:ext cx="2489200" cy="787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149600" y="4419600"/>
            <a:ext cx="2133600" cy="558800"/>
          </a:xfrm>
          <a:prstGeom prst="rect">
            <a:avLst/>
          </a:prstGeom>
          <a:noFill/>
        </p:spPr>
        <p:txBody>
          <a:bodyPr wrap="square" lIns="0" rIns="0" tIns="0" bIns="0" anchor="t">
            <a:spAutoFit/>
          </a:bodyPr>
          <a:lstStyle/>
          <a:p>
            <a:pPr algn="l">
              <a:lnSpc>
                <a:spcPct val="135000"/>
              </a:lnSpc>
              <a:spcAft>
                <a:spcPts val="300"/>
              </a:spcAft>
            </a:pPr>
            <a:r>
              <a:rPr sz="950" b="0">
                <a:solidFill>
                  <a:srgbClr val="55607A"/>
                </a:solidFill>
                <a:latin typeface="Arial"/>
              </a:rPr>
              <a:t>Mountains, storm landfall and</a:t>
            </a:r>
          </a:p>
          <a:p>
            <a:pPr algn="l">
              <a:lnSpc>
                <a:spcPct val="135000"/>
              </a:lnSpc>
              <a:spcAft>
                <a:spcPts val="300"/>
              </a:spcAft>
            </a:pPr>
            <a:r>
              <a:rPr sz="950" b="0">
                <a:solidFill>
                  <a:srgbClr val="55607A"/>
                </a:solidFill>
                <a:latin typeface="Arial"/>
              </a:rPr>
              <a:t>2,000 km of sea between</a:t>
            </a:r>
          </a:p>
          <a:p>
            <a:pPr algn="l">
              <a:lnSpc>
                <a:spcPct val="135000"/>
              </a:lnSpc>
              <a:spcAft>
                <a:spcPts val="300"/>
              </a:spcAft>
            </a:pPr>
            <a:r>
              <a:rPr sz="950" b="0">
                <a:solidFill>
                  <a:srgbClr val="55607A"/>
                </a:solidFill>
                <a:latin typeface="Arial"/>
              </a:rPr>
              <a:t>the islands.</a:t>
            </a:r>
          </a:p>
        </p:txBody>
      </p:sp>
      <p:sp>
        <p:nvSpPr>
          <p:cNvPr id="18" name="Rectangle 17"/>
          <p:cNvSpPr/>
          <p:nvPr/>
        </p:nvSpPr>
        <p:spPr>
          <a:xfrm>
            <a:off x="6096000" y="1549400"/>
            <a:ext cx="2641600" cy="1778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096000" y="1549400"/>
            <a:ext cx="44450" cy="1778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99200" y="1701800"/>
            <a:ext cx="2235200" cy="355600"/>
          </a:xfrm>
          <a:prstGeom prst="rect">
            <a:avLst/>
          </a:prstGeom>
          <a:noFill/>
        </p:spPr>
        <p:txBody>
          <a:bodyPr wrap="square" lIns="0" rIns="0" tIns="0" bIns="0" anchor="t">
            <a:spAutoFit/>
          </a:bodyPr>
          <a:lstStyle/>
          <a:p>
            <a:pPr algn="l">
              <a:lnSpc>
                <a:spcPct val="125000"/>
              </a:lnSpc>
              <a:spcAft>
                <a:spcPts val="300"/>
              </a:spcAft>
            </a:pPr>
            <a:r>
              <a:rPr sz="2400" b="1">
                <a:solidFill>
                  <a:srgbClr val="0B308E"/>
                </a:solidFill>
                <a:latin typeface="Arial"/>
              </a:rPr>
              <a:t>7,641</a:t>
            </a:r>
          </a:p>
        </p:txBody>
      </p:sp>
      <p:sp>
        <p:nvSpPr>
          <p:cNvPr id="21" name="TextBox 20"/>
          <p:cNvSpPr txBox="1"/>
          <p:nvPr/>
        </p:nvSpPr>
        <p:spPr>
          <a:xfrm>
            <a:off x="6299200" y="2108200"/>
            <a:ext cx="2235200" cy="1143000"/>
          </a:xfrm>
          <a:prstGeom prst="rect">
            <a:avLst/>
          </a:prstGeom>
          <a:noFill/>
        </p:spPr>
        <p:txBody>
          <a:bodyPr wrap="square" lIns="0" rIns="0" tIns="0" bIns="0" anchor="t">
            <a:spAutoFit/>
          </a:bodyPr>
          <a:lstStyle/>
          <a:p>
            <a:pPr algn="l">
              <a:lnSpc>
                <a:spcPct val="125000"/>
              </a:lnSpc>
              <a:spcAft>
                <a:spcPts val="300"/>
              </a:spcAft>
            </a:pPr>
            <a:r>
              <a:rPr sz="950" b="0">
                <a:solidFill>
                  <a:srgbClr val="55607A"/>
                </a:solidFill>
                <a:latin typeface="Arial"/>
              </a:rPr>
              <a:t>islands, much of the terrain mountainous</a:t>
            </a:r>
          </a:p>
        </p:txBody>
      </p:sp>
      <p:sp>
        <p:nvSpPr>
          <p:cNvPr id="22" name="Rectangle 21"/>
          <p:cNvSpPr/>
          <p:nvPr/>
        </p:nvSpPr>
        <p:spPr>
          <a:xfrm>
            <a:off x="8890000" y="1549400"/>
            <a:ext cx="2641600" cy="1778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8890000" y="1549400"/>
            <a:ext cx="44450" cy="17780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093200" y="1701800"/>
            <a:ext cx="2235200" cy="355600"/>
          </a:xfrm>
          <a:prstGeom prst="rect">
            <a:avLst/>
          </a:prstGeom>
          <a:noFill/>
        </p:spPr>
        <p:txBody>
          <a:bodyPr wrap="square" lIns="0" rIns="0" tIns="0" bIns="0" anchor="t">
            <a:spAutoFit/>
          </a:bodyPr>
          <a:lstStyle/>
          <a:p>
            <a:pPr algn="l">
              <a:lnSpc>
                <a:spcPct val="125000"/>
              </a:lnSpc>
              <a:spcAft>
                <a:spcPts val="300"/>
              </a:spcAft>
            </a:pPr>
            <a:r>
              <a:rPr sz="2400" b="1">
                <a:solidFill>
                  <a:srgbClr val="7F9B00"/>
                </a:solidFill>
                <a:latin typeface="Arial"/>
              </a:rPr>
              <a:t>#1</a:t>
            </a:r>
          </a:p>
        </p:txBody>
      </p:sp>
      <p:sp>
        <p:nvSpPr>
          <p:cNvPr id="25" name="TextBox 24"/>
          <p:cNvSpPr txBox="1"/>
          <p:nvPr/>
        </p:nvSpPr>
        <p:spPr>
          <a:xfrm>
            <a:off x="9093200" y="2108200"/>
            <a:ext cx="2235200" cy="1143000"/>
          </a:xfrm>
          <a:prstGeom prst="rect">
            <a:avLst/>
          </a:prstGeom>
          <a:noFill/>
        </p:spPr>
        <p:txBody>
          <a:bodyPr wrap="square" lIns="0" rIns="0" tIns="0" bIns="0" anchor="t">
            <a:spAutoFit/>
          </a:bodyPr>
          <a:lstStyle/>
          <a:p>
            <a:pPr algn="l">
              <a:lnSpc>
                <a:spcPct val="125000"/>
              </a:lnSpc>
              <a:spcAft>
                <a:spcPts val="300"/>
              </a:spcAft>
            </a:pPr>
            <a:r>
              <a:rPr sz="950" b="0">
                <a:solidFill>
                  <a:srgbClr val="55607A"/>
                </a:solidFill>
                <a:latin typeface="Arial"/>
              </a:rPr>
              <a:t>WorldRiskIndex 2025 - highest disaster risk</a:t>
            </a:r>
          </a:p>
        </p:txBody>
      </p:sp>
      <p:sp>
        <p:nvSpPr>
          <p:cNvPr id="26" name="Rectangle 25"/>
          <p:cNvSpPr/>
          <p:nvPr/>
        </p:nvSpPr>
        <p:spPr>
          <a:xfrm>
            <a:off x="6096000" y="3479800"/>
            <a:ext cx="2641600" cy="1778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6096000" y="3479800"/>
            <a:ext cx="44450" cy="1778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299200" y="3632200"/>
            <a:ext cx="2235200" cy="355600"/>
          </a:xfrm>
          <a:prstGeom prst="rect">
            <a:avLst/>
          </a:prstGeom>
          <a:noFill/>
        </p:spPr>
        <p:txBody>
          <a:bodyPr wrap="square" lIns="0" rIns="0" tIns="0" bIns="0" anchor="t">
            <a:spAutoFit/>
          </a:bodyPr>
          <a:lstStyle/>
          <a:p>
            <a:pPr algn="l">
              <a:lnSpc>
                <a:spcPct val="125000"/>
              </a:lnSpc>
              <a:spcAft>
                <a:spcPts val="300"/>
              </a:spcAft>
            </a:pPr>
            <a:r>
              <a:rPr sz="2400" b="1">
                <a:solidFill>
                  <a:srgbClr val="0B308E"/>
                </a:solidFill>
                <a:latin typeface="Arial"/>
              </a:rPr>
              <a:t>~20</a:t>
            </a:r>
          </a:p>
        </p:txBody>
      </p:sp>
      <p:sp>
        <p:nvSpPr>
          <p:cNvPr id="29" name="TextBox 28"/>
          <p:cNvSpPr txBox="1"/>
          <p:nvPr/>
        </p:nvSpPr>
        <p:spPr>
          <a:xfrm>
            <a:off x="6299200" y="4038600"/>
            <a:ext cx="2235200" cy="1143000"/>
          </a:xfrm>
          <a:prstGeom prst="rect">
            <a:avLst/>
          </a:prstGeom>
          <a:noFill/>
        </p:spPr>
        <p:txBody>
          <a:bodyPr wrap="square" lIns="0" rIns="0" tIns="0" bIns="0" anchor="t">
            <a:spAutoFit/>
          </a:bodyPr>
          <a:lstStyle/>
          <a:p>
            <a:pPr algn="l">
              <a:lnSpc>
                <a:spcPct val="125000"/>
              </a:lnSpc>
              <a:spcAft>
                <a:spcPts val="300"/>
              </a:spcAft>
            </a:pPr>
            <a:r>
              <a:rPr sz="950" b="0">
                <a:solidFill>
                  <a:srgbClr val="55607A"/>
                </a:solidFill>
                <a:latin typeface="Arial"/>
              </a:rPr>
              <a:t>tropical cyclones enter PAR every year</a:t>
            </a:r>
          </a:p>
        </p:txBody>
      </p:sp>
      <p:sp>
        <p:nvSpPr>
          <p:cNvPr id="30" name="Rectangle 29"/>
          <p:cNvSpPr/>
          <p:nvPr/>
        </p:nvSpPr>
        <p:spPr>
          <a:xfrm>
            <a:off x="8890000" y="3479800"/>
            <a:ext cx="2641600" cy="1778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8890000" y="3479800"/>
            <a:ext cx="44450" cy="17780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9093200" y="3632200"/>
            <a:ext cx="2235200" cy="355600"/>
          </a:xfrm>
          <a:prstGeom prst="rect">
            <a:avLst/>
          </a:prstGeom>
          <a:noFill/>
        </p:spPr>
        <p:txBody>
          <a:bodyPr wrap="square" lIns="0" rIns="0" tIns="0" bIns="0" anchor="t">
            <a:spAutoFit/>
          </a:bodyPr>
          <a:lstStyle/>
          <a:p>
            <a:pPr algn="l">
              <a:lnSpc>
                <a:spcPct val="125000"/>
              </a:lnSpc>
              <a:spcAft>
                <a:spcPts val="300"/>
              </a:spcAft>
            </a:pPr>
            <a:r>
              <a:rPr sz="2400" b="1">
                <a:solidFill>
                  <a:srgbClr val="7F9B00"/>
                </a:solidFill>
                <a:latin typeface="Arial"/>
              </a:rPr>
              <a:t>1.4M</a:t>
            </a:r>
          </a:p>
        </p:txBody>
      </p:sp>
      <p:sp>
        <p:nvSpPr>
          <p:cNvPr id="33" name="TextBox 32"/>
          <p:cNvSpPr txBox="1"/>
          <p:nvPr/>
        </p:nvSpPr>
        <p:spPr>
          <a:xfrm>
            <a:off x="9093200" y="4038600"/>
            <a:ext cx="2235200" cy="1143000"/>
          </a:xfrm>
          <a:prstGeom prst="rect">
            <a:avLst/>
          </a:prstGeom>
          <a:noFill/>
        </p:spPr>
        <p:txBody>
          <a:bodyPr wrap="square" lIns="0" rIns="0" tIns="0" bIns="0" anchor="t">
            <a:spAutoFit/>
          </a:bodyPr>
          <a:lstStyle/>
          <a:p>
            <a:pPr algn="l">
              <a:lnSpc>
                <a:spcPct val="125000"/>
              </a:lnSpc>
              <a:spcAft>
                <a:spcPts val="300"/>
              </a:spcAft>
            </a:pPr>
            <a:r>
              <a:rPr sz="950" b="0">
                <a:solidFill>
                  <a:srgbClr val="55607A"/>
                </a:solidFill>
                <a:latin typeface="Arial"/>
              </a:rPr>
              <a:t>households lost power in Typhoon Tino</a:t>
            </a:r>
          </a:p>
        </p:txBody>
      </p:sp>
      <p:sp>
        <p:nvSpPr>
          <p:cNvPr id="34" name="Rectangle 33"/>
          <p:cNvSpPr/>
          <p:nvPr/>
        </p:nvSpPr>
        <p:spPr>
          <a:xfrm>
            <a:off x="0" y="5740400"/>
            <a:ext cx="12192000" cy="508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09600" y="5740400"/>
            <a:ext cx="10972800" cy="508000"/>
          </a:xfrm>
          <a:prstGeom prst="rect">
            <a:avLst/>
          </a:prstGeom>
          <a:noFill/>
        </p:spPr>
        <p:txBody>
          <a:bodyPr wrap="square" lIns="0" rIns="0" tIns="0" bIns="0" anchor="ctr">
            <a:spAutoFit/>
          </a:bodyPr>
          <a:lstStyle/>
          <a:p>
            <a:pPr algn="l">
              <a:lnSpc>
                <a:spcPct val="130000"/>
              </a:lnSpc>
            </a:pPr>
            <a:r>
              <a:rPr sz="1200" b="1">
                <a:solidFill>
                  <a:srgbClr val="FFFFFF"/>
                </a:solidFill>
                <a:latin typeface="Arial"/>
              </a:rPr>
              <a:t>450 MHz is the layer that stays up.  </a:t>
            </a:r>
            <a:r>
              <a:rPr sz="1200" b="0">
                <a:solidFill>
                  <a:srgbClr val="DCE5F3"/>
                </a:solidFill>
                <a:latin typeface="Arial"/>
              </a:rPr>
              <a:t>Coverage and resilience, not capacity - alongside Globe’s 4G and 5G, not instead of them.</a:t>
            </a:r>
          </a:p>
        </p:txBody>
      </p:sp>
      <p:sp>
        <p:nvSpPr>
          <p:cNvPr id="36" name="TextBox 35"/>
          <p:cNvSpPr txBox="1"/>
          <p:nvPr/>
        </p:nvSpPr>
        <p:spPr>
          <a:xfrm>
            <a:off x="609600" y="6451600"/>
            <a:ext cx="10972800" cy="177800"/>
          </a:xfrm>
          <a:prstGeom prst="rect">
            <a:avLst/>
          </a:prstGeom>
          <a:noFill/>
        </p:spPr>
        <p:txBody>
          <a:bodyPr wrap="square" lIns="0" rIns="0" tIns="0" bIns="0" anchor="t">
            <a:spAutoFit/>
          </a:bodyPr>
          <a:lstStyle/>
          <a:p>
            <a:pPr algn="l">
              <a:lnSpc>
                <a:spcPct val="125000"/>
              </a:lnSpc>
              <a:spcAft>
                <a:spcPts val="300"/>
              </a:spcAft>
            </a:pPr>
            <a:r>
              <a:rPr sz="800" b="0">
                <a:solidFill>
                  <a:srgbClr val="93A0B4"/>
                </a:solidFill>
                <a:latin typeface="Arial"/>
              </a:rPr>
              <a:t>Source: WorldRiskReport 2025; PAGASA; Philippine Statistics Authority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381000"/>
            <a:ext cx="228600" cy="635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39800" y="279400"/>
            <a:ext cx="9906000" cy="381000"/>
          </a:xfrm>
          <a:prstGeom prst="rect">
            <a:avLst/>
          </a:prstGeom>
          <a:noFill/>
        </p:spPr>
        <p:txBody>
          <a:bodyPr wrap="square" lIns="0" rIns="0" tIns="0" bIns="0" anchor="t">
            <a:spAutoFit/>
          </a:bodyPr>
          <a:lstStyle/>
          <a:p>
            <a:pPr algn="l">
              <a:lnSpc>
                <a:spcPct val="125000"/>
              </a:lnSpc>
              <a:spcAft>
                <a:spcPts val="300"/>
              </a:spcAft>
            </a:pPr>
            <a:r>
              <a:rPr sz="2100" b="1">
                <a:solidFill>
                  <a:srgbClr val="0B308E"/>
                </a:solidFill>
                <a:latin typeface="Arial"/>
              </a:rPr>
              <a:t>What we will cover</a:t>
            </a:r>
          </a:p>
        </p:txBody>
      </p:sp>
      <p:sp>
        <p:nvSpPr>
          <p:cNvPr id="5" name="TextBox 4"/>
          <p:cNvSpPr txBox="1"/>
          <p:nvPr/>
        </p:nvSpPr>
        <p:spPr>
          <a:xfrm>
            <a:off x="609600" y="787400"/>
            <a:ext cx="8890000" cy="203200"/>
          </a:xfrm>
          <a:prstGeom prst="rect">
            <a:avLst/>
          </a:prstGeom>
          <a:noFill/>
        </p:spPr>
        <p:txBody>
          <a:bodyPr wrap="square" lIns="0" rIns="0" tIns="0" bIns="0" anchor="t">
            <a:spAutoFit/>
          </a:bodyPr>
          <a:lstStyle/>
          <a:p>
            <a:pPr algn="l">
              <a:lnSpc>
                <a:spcPct val="125000"/>
              </a:lnSpc>
              <a:spcAft>
                <a:spcPts val="300"/>
              </a:spcAft>
            </a:pPr>
            <a:r>
              <a:rPr sz="850" b="1">
                <a:solidFill>
                  <a:srgbClr val="7F9B00"/>
                </a:solidFill>
                <a:latin typeface="Arial"/>
              </a:rPr>
              <a:t>AGENDA</a:t>
            </a:r>
          </a:p>
        </p:txBody>
      </p:sp>
      <p:sp>
        <p:nvSpPr>
          <p:cNvPr id="6" name="TextBox 5"/>
          <p:cNvSpPr txBox="1"/>
          <p:nvPr/>
        </p:nvSpPr>
        <p:spPr>
          <a:xfrm>
            <a:off x="11023600" y="279400"/>
            <a:ext cx="558800" cy="330200"/>
          </a:xfrm>
          <a:prstGeom prst="rect">
            <a:avLst/>
          </a:prstGeom>
          <a:noFill/>
        </p:spPr>
        <p:txBody>
          <a:bodyPr wrap="square" lIns="0" rIns="0" tIns="0" bIns="0" anchor="t">
            <a:spAutoFit/>
          </a:bodyPr>
          <a:lstStyle/>
          <a:p>
            <a:pPr algn="r">
              <a:lnSpc>
                <a:spcPct val="125000"/>
              </a:lnSpc>
              <a:spcAft>
                <a:spcPts val="300"/>
              </a:spcAft>
            </a:pPr>
            <a:r>
              <a:rPr sz="1700" b="1">
                <a:solidFill>
                  <a:srgbClr val="0B308E"/>
                </a:solidFill>
                <a:latin typeface="Arial"/>
              </a:rPr>
              <a:t>03</a:t>
            </a:r>
          </a:p>
        </p:txBody>
      </p:sp>
      <p:cxnSp>
        <p:nvCxnSpPr>
          <p:cNvPr id="7" name="Connector 6"/>
          <p:cNvCxnSpPr/>
          <p:nvPr/>
        </p:nvCxnSpPr>
        <p:spPr>
          <a:xfrm>
            <a:off x="609600" y="1041400"/>
            <a:ext cx="10972800" cy="0"/>
          </a:xfrm>
          <a:prstGeom prst="line">
            <a:avLst/>
          </a:prstGeom>
          <a:ln w="12700">
            <a:solidFill>
              <a:srgbClr val="D6E0F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1193800"/>
            <a:ext cx="10972800" cy="228600"/>
          </a:xfrm>
          <a:prstGeom prst="rect">
            <a:avLst/>
          </a:prstGeom>
          <a:noFill/>
        </p:spPr>
        <p:txBody>
          <a:bodyPr wrap="square" lIns="0" rIns="0" tIns="0" bIns="0" anchor="t">
            <a:spAutoFit/>
          </a:bodyPr>
          <a:lstStyle/>
          <a:p>
            <a:pPr algn="l">
              <a:lnSpc>
                <a:spcPct val="125000"/>
              </a:lnSpc>
              <a:spcAft>
                <a:spcPts val="300"/>
              </a:spcAft>
            </a:pPr>
            <a:r>
              <a:rPr sz="1150" b="0">
                <a:solidFill>
                  <a:srgbClr val="55607A"/>
                </a:solidFill>
                <a:latin typeface="Arial"/>
              </a:rPr>
              <a:t>Five sections. The first two are the argument, the last three are the delivery.</a:t>
            </a:r>
          </a:p>
        </p:txBody>
      </p:sp>
      <p:sp>
        <p:nvSpPr>
          <p:cNvPr id="9" name="Rectangle 8"/>
          <p:cNvSpPr/>
          <p:nvPr/>
        </p:nvSpPr>
        <p:spPr>
          <a:xfrm>
            <a:off x="609600" y="1549400"/>
            <a:ext cx="2057400" cy="37592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0" name="Picture 9" descr="a_5f016aad19.png"/>
          <p:cNvPicPr>
            <a:picLocks noChangeAspect="1"/>
          </p:cNvPicPr>
          <p:nvPr/>
        </p:nvPicPr>
        <p:blipFill>
          <a:blip r:embed="rId2"/>
          <a:stretch>
            <a:fillRect/>
          </a:stretch>
        </p:blipFill>
        <p:spPr>
          <a:xfrm>
            <a:off x="609600" y="1550554"/>
            <a:ext cx="2057400" cy="1039090"/>
          </a:xfrm>
          <a:prstGeom prst="rect">
            <a:avLst/>
          </a:prstGeom>
        </p:spPr>
      </p:pic>
      <p:cxnSp>
        <p:nvCxnSpPr>
          <p:cNvPr id="11" name="Connector 10"/>
          <p:cNvCxnSpPr/>
          <p:nvPr/>
        </p:nvCxnSpPr>
        <p:spPr>
          <a:xfrm>
            <a:off x="609600" y="2590800"/>
            <a:ext cx="2057400" cy="0"/>
          </a:xfrm>
          <a:prstGeom prst="line">
            <a:avLst/>
          </a:prstGeom>
          <a:ln w="12700">
            <a:solidFill>
              <a:srgbClr val="D6E0F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87400" y="2717800"/>
            <a:ext cx="1701800" cy="381000"/>
          </a:xfrm>
          <a:prstGeom prst="rect">
            <a:avLst/>
          </a:prstGeom>
          <a:noFill/>
        </p:spPr>
        <p:txBody>
          <a:bodyPr wrap="square" lIns="0" rIns="0" tIns="0" bIns="0" anchor="t">
            <a:spAutoFit/>
          </a:bodyPr>
          <a:lstStyle/>
          <a:p>
            <a:pPr algn="l">
              <a:lnSpc>
                <a:spcPct val="125000"/>
              </a:lnSpc>
              <a:spcAft>
                <a:spcPts val="300"/>
              </a:spcAft>
            </a:pPr>
            <a:r>
              <a:rPr sz="2100" b="1">
                <a:solidFill>
                  <a:srgbClr val="8CC63F"/>
                </a:solidFill>
                <a:latin typeface="Arial"/>
              </a:rPr>
              <a:t>01</a:t>
            </a:r>
          </a:p>
        </p:txBody>
      </p:sp>
      <p:sp>
        <p:nvSpPr>
          <p:cNvPr id="13" name="TextBox 12"/>
          <p:cNvSpPr txBox="1"/>
          <p:nvPr/>
        </p:nvSpPr>
        <p:spPr>
          <a:xfrm>
            <a:off x="787400" y="3175000"/>
            <a:ext cx="1701800" cy="508000"/>
          </a:xfrm>
          <a:prstGeom prst="rect">
            <a:avLst/>
          </a:prstGeom>
          <a:noFill/>
        </p:spPr>
        <p:txBody>
          <a:bodyPr wrap="square" lIns="0" rIns="0" tIns="0" bIns="0" anchor="t">
            <a:spAutoFit/>
          </a:bodyPr>
          <a:lstStyle/>
          <a:p>
            <a:pPr algn="l">
              <a:lnSpc>
                <a:spcPct val="120000"/>
              </a:lnSpc>
              <a:spcAft>
                <a:spcPts val="300"/>
              </a:spcAft>
            </a:pPr>
            <a:r>
              <a:rPr sz="1150" b="1">
                <a:solidFill>
                  <a:srgbClr val="0B308E"/>
                </a:solidFill>
                <a:latin typeface="Arial"/>
              </a:rPr>
              <a:t>Why 450 MHz &amp; Hytera</a:t>
            </a:r>
          </a:p>
        </p:txBody>
      </p:sp>
      <p:sp>
        <p:nvSpPr>
          <p:cNvPr id="14" name="TextBox 13"/>
          <p:cNvSpPr txBox="1"/>
          <p:nvPr/>
        </p:nvSpPr>
        <p:spPr>
          <a:xfrm>
            <a:off x="787400" y="3759200"/>
            <a:ext cx="1701800" cy="838200"/>
          </a:xfrm>
          <a:prstGeom prst="rect">
            <a:avLst/>
          </a:prstGeom>
          <a:noFill/>
        </p:spPr>
        <p:txBody>
          <a:bodyPr wrap="square" lIns="0" rIns="0" tIns="0" bIns="0" anchor="t">
            <a:spAutoFit/>
          </a:bodyPr>
          <a:lstStyle/>
          <a:p>
            <a:pPr algn="l">
              <a:lnSpc>
                <a:spcPct val="130000"/>
              </a:lnSpc>
              <a:spcAft>
                <a:spcPts val="300"/>
              </a:spcAft>
            </a:pPr>
            <a:r>
              <a:rPr sz="900" b="0">
                <a:solidFill>
                  <a:srgbClr val="55607A"/>
                </a:solidFill>
                <a:latin typeface="Arial"/>
              </a:rPr>
              <a:t>Global trend, the band itself, and what MCS means</a:t>
            </a:r>
          </a:p>
        </p:txBody>
      </p:sp>
      <p:sp>
        <p:nvSpPr>
          <p:cNvPr id="15" name="TextBox 14"/>
          <p:cNvSpPr txBox="1"/>
          <p:nvPr/>
        </p:nvSpPr>
        <p:spPr>
          <a:xfrm>
            <a:off x="787400" y="4927600"/>
            <a:ext cx="1701800" cy="177800"/>
          </a:xfrm>
          <a:prstGeom prst="rect">
            <a:avLst/>
          </a:prstGeom>
          <a:noFill/>
        </p:spPr>
        <p:txBody>
          <a:bodyPr wrap="square" lIns="0" rIns="0" tIns="0" bIns="0" anchor="t">
            <a:spAutoFit/>
          </a:bodyPr>
          <a:lstStyle/>
          <a:p>
            <a:pPr algn="l">
              <a:lnSpc>
                <a:spcPct val="125000"/>
              </a:lnSpc>
              <a:spcAft>
                <a:spcPts val="300"/>
              </a:spcAft>
            </a:pPr>
            <a:r>
              <a:rPr sz="850" b="1">
                <a:solidFill>
                  <a:srgbClr val="93A0B4"/>
                </a:solidFill>
                <a:latin typeface="Arial"/>
              </a:rPr>
              <a:t>P4 – P6</a:t>
            </a:r>
          </a:p>
        </p:txBody>
      </p:sp>
      <p:sp>
        <p:nvSpPr>
          <p:cNvPr id="16" name="Rectangle 15"/>
          <p:cNvSpPr/>
          <p:nvPr/>
        </p:nvSpPr>
        <p:spPr>
          <a:xfrm>
            <a:off x="2819400" y="1549400"/>
            <a:ext cx="2057400" cy="37592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a_5d56a8bb40.png"/>
          <p:cNvPicPr>
            <a:picLocks noChangeAspect="1"/>
          </p:cNvPicPr>
          <p:nvPr/>
        </p:nvPicPr>
        <p:blipFill>
          <a:blip r:embed="rId3"/>
          <a:stretch>
            <a:fillRect/>
          </a:stretch>
        </p:blipFill>
        <p:spPr>
          <a:xfrm>
            <a:off x="2819400" y="1550554"/>
            <a:ext cx="2057400" cy="1039090"/>
          </a:xfrm>
          <a:prstGeom prst="rect">
            <a:avLst/>
          </a:prstGeom>
        </p:spPr>
      </p:pic>
      <p:cxnSp>
        <p:nvCxnSpPr>
          <p:cNvPr id="18" name="Connector 17"/>
          <p:cNvCxnSpPr/>
          <p:nvPr/>
        </p:nvCxnSpPr>
        <p:spPr>
          <a:xfrm>
            <a:off x="2819400" y="2590800"/>
            <a:ext cx="2057400" cy="0"/>
          </a:xfrm>
          <a:prstGeom prst="line">
            <a:avLst/>
          </a:prstGeom>
          <a:ln w="12700">
            <a:solidFill>
              <a:srgbClr val="D6E0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997200" y="2717800"/>
            <a:ext cx="1701800" cy="381000"/>
          </a:xfrm>
          <a:prstGeom prst="rect">
            <a:avLst/>
          </a:prstGeom>
          <a:noFill/>
        </p:spPr>
        <p:txBody>
          <a:bodyPr wrap="square" lIns="0" rIns="0" tIns="0" bIns="0" anchor="t">
            <a:spAutoFit/>
          </a:bodyPr>
          <a:lstStyle/>
          <a:p>
            <a:pPr algn="l">
              <a:lnSpc>
                <a:spcPct val="125000"/>
              </a:lnSpc>
              <a:spcAft>
                <a:spcPts val="300"/>
              </a:spcAft>
            </a:pPr>
            <a:r>
              <a:rPr sz="2100" b="1">
                <a:solidFill>
                  <a:srgbClr val="8CC63F"/>
                </a:solidFill>
                <a:latin typeface="Arial"/>
              </a:rPr>
              <a:t>02</a:t>
            </a:r>
          </a:p>
        </p:txBody>
      </p:sp>
      <p:sp>
        <p:nvSpPr>
          <p:cNvPr id="20" name="TextBox 19"/>
          <p:cNvSpPr txBox="1"/>
          <p:nvPr/>
        </p:nvSpPr>
        <p:spPr>
          <a:xfrm>
            <a:off x="2997200" y="3175000"/>
            <a:ext cx="1701800" cy="508000"/>
          </a:xfrm>
          <a:prstGeom prst="rect">
            <a:avLst/>
          </a:prstGeom>
          <a:noFill/>
        </p:spPr>
        <p:txBody>
          <a:bodyPr wrap="square" lIns="0" rIns="0" tIns="0" bIns="0" anchor="t">
            <a:spAutoFit/>
          </a:bodyPr>
          <a:lstStyle/>
          <a:p>
            <a:pPr algn="l">
              <a:lnSpc>
                <a:spcPct val="120000"/>
              </a:lnSpc>
              <a:spcAft>
                <a:spcPts val="300"/>
              </a:spcAft>
            </a:pPr>
            <a:r>
              <a:rPr sz="1150" b="1">
                <a:solidFill>
                  <a:srgbClr val="0B308E"/>
                </a:solidFill>
                <a:latin typeface="Arial"/>
              </a:rPr>
              <a:t>Industry solutions</a:t>
            </a:r>
          </a:p>
        </p:txBody>
      </p:sp>
      <p:sp>
        <p:nvSpPr>
          <p:cNvPr id="21" name="TextBox 20"/>
          <p:cNvSpPr txBox="1"/>
          <p:nvPr/>
        </p:nvSpPr>
        <p:spPr>
          <a:xfrm>
            <a:off x="2997200" y="3759200"/>
            <a:ext cx="1701800" cy="838200"/>
          </a:xfrm>
          <a:prstGeom prst="rect">
            <a:avLst/>
          </a:prstGeom>
          <a:noFill/>
        </p:spPr>
        <p:txBody>
          <a:bodyPr wrap="square" lIns="0" rIns="0" tIns="0" bIns="0" anchor="t">
            <a:spAutoFit/>
          </a:bodyPr>
          <a:lstStyle/>
          <a:p>
            <a:pPr algn="l">
              <a:lnSpc>
                <a:spcPct val="130000"/>
              </a:lnSpc>
              <a:spcAft>
                <a:spcPts val="300"/>
              </a:spcAft>
            </a:pPr>
            <a:r>
              <a:rPr sz="900" b="0">
                <a:solidFill>
                  <a:srgbClr val="55607A"/>
                </a:solidFill>
                <a:latin typeface="Arial"/>
              </a:rPr>
              <a:t>Power · Water · Police · Emergency · Rail · Port</a:t>
            </a:r>
          </a:p>
        </p:txBody>
      </p:sp>
      <p:sp>
        <p:nvSpPr>
          <p:cNvPr id="22" name="TextBox 21"/>
          <p:cNvSpPr txBox="1"/>
          <p:nvPr/>
        </p:nvSpPr>
        <p:spPr>
          <a:xfrm>
            <a:off x="2997200" y="4927600"/>
            <a:ext cx="1701800" cy="177800"/>
          </a:xfrm>
          <a:prstGeom prst="rect">
            <a:avLst/>
          </a:prstGeom>
          <a:noFill/>
        </p:spPr>
        <p:txBody>
          <a:bodyPr wrap="square" lIns="0" rIns="0" tIns="0" bIns="0" anchor="t">
            <a:spAutoFit/>
          </a:bodyPr>
          <a:lstStyle/>
          <a:p>
            <a:pPr algn="l">
              <a:lnSpc>
                <a:spcPct val="125000"/>
              </a:lnSpc>
              <a:spcAft>
                <a:spcPts val="300"/>
              </a:spcAft>
            </a:pPr>
            <a:r>
              <a:rPr sz="850" b="1">
                <a:solidFill>
                  <a:srgbClr val="93A0B4"/>
                </a:solidFill>
                <a:latin typeface="Arial"/>
              </a:rPr>
              <a:t>P7 – P13</a:t>
            </a:r>
          </a:p>
        </p:txBody>
      </p:sp>
      <p:sp>
        <p:nvSpPr>
          <p:cNvPr id="23" name="Rectangle 22"/>
          <p:cNvSpPr/>
          <p:nvPr/>
        </p:nvSpPr>
        <p:spPr>
          <a:xfrm>
            <a:off x="5029200" y="1549400"/>
            <a:ext cx="2057400" cy="37592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a_7003a82543.png"/>
          <p:cNvPicPr>
            <a:picLocks noChangeAspect="1"/>
          </p:cNvPicPr>
          <p:nvPr/>
        </p:nvPicPr>
        <p:blipFill>
          <a:blip r:embed="rId4"/>
          <a:stretch>
            <a:fillRect/>
          </a:stretch>
        </p:blipFill>
        <p:spPr>
          <a:xfrm>
            <a:off x="5029200" y="1550554"/>
            <a:ext cx="2057400" cy="1039090"/>
          </a:xfrm>
          <a:prstGeom prst="rect">
            <a:avLst/>
          </a:prstGeom>
        </p:spPr>
      </p:pic>
      <p:cxnSp>
        <p:nvCxnSpPr>
          <p:cNvPr id="25" name="Connector 24"/>
          <p:cNvCxnSpPr/>
          <p:nvPr/>
        </p:nvCxnSpPr>
        <p:spPr>
          <a:xfrm>
            <a:off x="5029200" y="2590800"/>
            <a:ext cx="2057400" cy="0"/>
          </a:xfrm>
          <a:prstGeom prst="line">
            <a:avLst/>
          </a:prstGeom>
          <a:ln w="12700">
            <a:solidFill>
              <a:srgbClr val="D6E0F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207000" y="2717800"/>
            <a:ext cx="1701800" cy="381000"/>
          </a:xfrm>
          <a:prstGeom prst="rect">
            <a:avLst/>
          </a:prstGeom>
          <a:noFill/>
        </p:spPr>
        <p:txBody>
          <a:bodyPr wrap="square" lIns="0" rIns="0" tIns="0" bIns="0" anchor="t">
            <a:spAutoFit/>
          </a:bodyPr>
          <a:lstStyle/>
          <a:p>
            <a:pPr algn="l">
              <a:lnSpc>
                <a:spcPct val="125000"/>
              </a:lnSpc>
              <a:spcAft>
                <a:spcPts val="300"/>
              </a:spcAft>
            </a:pPr>
            <a:r>
              <a:rPr sz="2100" b="1">
                <a:solidFill>
                  <a:srgbClr val="8CC63F"/>
                </a:solidFill>
                <a:latin typeface="Arial"/>
              </a:rPr>
              <a:t>03</a:t>
            </a:r>
          </a:p>
        </p:txBody>
      </p:sp>
      <p:sp>
        <p:nvSpPr>
          <p:cNvPr id="27" name="TextBox 26"/>
          <p:cNvSpPr txBox="1"/>
          <p:nvPr/>
        </p:nvSpPr>
        <p:spPr>
          <a:xfrm>
            <a:off x="5207000" y="3175000"/>
            <a:ext cx="1701800" cy="508000"/>
          </a:xfrm>
          <a:prstGeom prst="rect">
            <a:avLst/>
          </a:prstGeom>
          <a:noFill/>
        </p:spPr>
        <p:txBody>
          <a:bodyPr wrap="square" lIns="0" rIns="0" tIns="0" bIns="0" anchor="t">
            <a:spAutoFit/>
          </a:bodyPr>
          <a:lstStyle/>
          <a:p>
            <a:pPr algn="l">
              <a:lnSpc>
                <a:spcPct val="120000"/>
              </a:lnSpc>
              <a:spcAft>
                <a:spcPts val="300"/>
              </a:spcAft>
            </a:pPr>
            <a:r>
              <a:rPr sz="1150" b="1">
                <a:solidFill>
                  <a:srgbClr val="0B308E"/>
                </a:solidFill>
                <a:latin typeface="Arial"/>
              </a:rPr>
              <a:t>End-to-end architecture</a:t>
            </a:r>
          </a:p>
        </p:txBody>
      </p:sp>
      <p:sp>
        <p:nvSpPr>
          <p:cNvPr id="28" name="TextBox 27"/>
          <p:cNvSpPr txBox="1"/>
          <p:nvPr/>
        </p:nvSpPr>
        <p:spPr>
          <a:xfrm>
            <a:off x="5207000" y="3759200"/>
            <a:ext cx="1701800" cy="838200"/>
          </a:xfrm>
          <a:prstGeom prst="rect">
            <a:avLst/>
          </a:prstGeom>
          <a:noFill/>
        </p:spPr>
        <p:txBody>
          <a:bodyPr wrap="square" lIns="0" rIns="0" tIns="0" bIns="0" anchor="t">
            <a:spAutoFit/>
          </a:bodyPr>
          <a:lstStyle/>
          <a:p>
            <a:pPr algn="l">
              <a:lnSpc>
                <a:spcPct val="130000"/>
              </a:lnSpc>
              <a:spcAft>
                <a:spcPts val="300"/>
              </a:spcAft>
            </a:pPr>
            <a:r>
              <a:rPr sz="900" b="0">
                <a:solidFill>
                  <a:srgbClr val="55607A"/>
                </a:solidFill>
                <a:latin typeface="Arial"/>
              </a:rPr>
              <a:t>Terminal · Network · Application</a:t>
            </a:r>
          </a:p>
        </p:txBody>
      </p:sp>
      <p:sp>
        <p:nvSpPr>
          <p:cNvPr id="29" name="TextBox 28"/>
          <p:cNvSpPr txBox="1"/>
          <p:nvPr/>
        </p:nvSpPr>
        <p:spPr>
          <a:xfrm>
            <a:off x="5207000" y="4927600"/>
            <a:ext cx="1701800" cy="177800"/>
          </a:xfrm>
          <a:prstGeom prst="rect">
            <a:avLst/>
          </a:prstGeom>
          <a:noFill/>
        </p:spPr>
        <p:txBody>
          <a:bodyPr wrap="square" lIns="0" rIns="0" tIns="0" bIns="0" anchor="t">
            <a:spAutoFit/>
          </a:bodyPr>
          <a:lstStyle/>
          <a:p>
            <a:pPr algn="l">
              <a:lnSpc>
                <a:spcPct val="125000"/>
              </a:lnSpc>
              <a:spcAft>
                <a:spcPts val="300"/>
              </a:spcAft>
            </a:pPr>
            <a:r>
              <a:rPr sz="850" b="1">
                <a:solidFill>
                  <a:srgbClr val="93A0B4"/>
                </a:solidFill>
                <a:latin typeface="Arial"/>
              </a:rPr>
              <a:t>P14</a:t>
            </a:r>
          </a:p>
        </p:txBody>
      </p:sp>
      <p:sp>
        <p:nvSpPr>
          <p:cNvPr id="30" name="Rectangle 29"/>
          <p:cNvSpPr/>
          <p:nvPr/>
        </p:nvSpPr>
        <p:spPr>
          <a:xfrm>
            <a:off x="7239000" y="1549400"/>
            <a:ext cx="2057400" cy="37592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1" name="Picture 30" descr="a_75520b724c.png"/>
          <p:cNvPicPr>
            <a:picLocks noChangeAspect="1"/>
          </p:cNvPicPr>
          <p:nvPr/>
        </p:nvPicPr>
        <p:blipFill>
          <a:blip r:embed="rId5"/>
          <a:stretch>
            <a:fillRect/>
          </a:stretch>
        </p:blipFill>
        <p:spPr>
          <a:xfrm>
            <a:off x="7239000" y="1550554"/>
            <a:ext cx="2057400" cy="1039090"/>
          </a:xfrm>
          <a:prstGeom prst="rect">
            <a:avLst/>
          </a:prstGeom>
        </p:spPr>
      </p:pic>
      <p:cxnSp>
        <p:nvCxnSpPr>
          <p:cNvPr id="32" name="Connector 31"/>
          <p:cNvCxnSpPr/>
          <p:nvPr/>
        </p:nvCxnSpPr>
        <p:spPr>
          <a:xfrm>
            <a:off x="7239000" y="2590800"/>
            <a:ext cx="2057400" cy="0"/>
          </a:xfrm>
          <a:prstGeom prst="line">
            <a:avLst/>
          </a:prstGeom>
          <a:ln w="12700">
            <a:solidFill>
              <a:srgbClr val="D6E0F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416800" y="2717800"/>
            <a:ext cx="1701800" cy="381000"/>
          </a:xfrm>
          <a:prstGeom prst="rect">
            <a:avLst/>
          </a:prstGeom>
          <a:noFill/>
        </p:spPr>
        <p:txBody>
          <a:bodyPr wrap="square" lIns="0" rIns="0" tIns="0" bIns="0" anchor="t">
            <a:spAutoFit/>
          </a:bodyPr>
          <a:lstStyle/>
          <a:p>
            <a:pPr algn="l">
              <a:lnSpc>
                <a:spcPct val="125000"/>
              </a:lnSpc>
              <a:spcAft>
                <a:spcPts val="300"/>
              </a:spcAft>
            </a:pPr>
            <a:r>
              <a:rPr sz="2100" b="1">
                <a:solidFill>
                  <a:srgbClr val="8CC63F"/>
                </a:solidFill>
                <a:latin typeface="Arial"/>
              </a:rPr>
              <a:t>04</a:t>
            </a:r>
          </a:p>
        </p:txBody>
      </p:sp>
      <p:sp>
        <p:nvSpPr>
          <p:cNvPr id="34" name="TextBox 33"/>
          <p:cNvSpPr txBox="1"/>
          <p:nvPr/>
        </p:nvSpPr>
        <p:spPr>
          <a:xfrm>
            <a:off x="7416800" y="3175000"/>
            <a:ext cx="1701800" cy="508000"/>
          </a:xfrm>
          <a:prstGeom prst="rect">
            <a:avLst/>
          </a:prstGeom>
          <a:noFill/>
        </p:spPr>
        <p:txBody>
          <a:bodyPr wrap="square" lIns="0" rIns="0" tIns="0" bIns="0" anchor="t">
            <a:spAutoFit/>
          </a:bodyPr>
          <a:lstStyle/>
          <a:p>
            <a:pPr algn="l">
              <a:lnSpc>
                <a:spcPct val="120000"/>
              </a:lnSpc>
              <a:spcAft>
                <a:spcPts val="300"/>
              </a:spcAft>
            </a:pPr>
            <a:r>
              <a:rPr sz="1150" b="1">
                <a:solidFill>
                  <a:srgbClr val="0B308E"/>
                </a:solidFill>
                <a:latin typeface="Arial"/>
              </a:rPr>
              <a:t>Reference cases</a:t>
            </a:r>
          </a:p>
        </p:txBody>
      </p:sp>
      <p:sp>
        <p:nvSpPr>
          <p:cNvPr id="35" name="TextBox 34"/>
          <p:cNvSpPr txBox="1"/>
          <p:nvPr/>
        </p:nvSpPr>
        <p:spPr>
          <a:xfrm>
            <a:off x="7416800" y="3759200"/>
            <a:ext cx="1701800" cy="838200"/>
          </a:xfrm>
          <a:prstGeom prst="rect">
            <a:avLst/>
          </a:prstGeom>
          <a:noFill/>
        </p:spPr>
        <p:txBody>
          <a:bodyPr wrap="square" lIns="0" rIns="0" tIns="0" bIns="0" anchor="t">
            <a:spAutoFit/>
          </a:bodyPr>
          <a:lstStyle/>
          <a:p>
            <a:pPr algn="l">
              <a:lnSpc>
                <a:spcPct val="130000"/>
              </a:lnSpc>
              <a:spcAft>
                <a:spcPts val="300"/>
              </a:spcAft>
            </a:pPr>
            <a:r>
              <a:rPr sz="900" b="0">
                <a:solidFill>
                  <a:srgbClr val="55607A"/>
                </a:solidFill>
                <a:latin typeface="Arial"/>
              </a:rPr>
              <a:t>Global 450 MHz networks, and four customer cases</a:t>
            </a:r>
          </a:p>
        </p:txBody>
      </p:sp>
      <p:sp>
        <p:nvSpPr>
          <p:cNvPr id="36" name="TextBox 35"/>
          <p:cNvSpPr txBox="1"/>
          <p:nvPr/>
        </p:nvSpPr>
        <p:spPr>
          <a:xfrm>
            <a:off x="7416800" y="4927600"/>
            <a:ext cx="1701800" cy="177800"/>
          </a:xfrm>
          <a:prstGeom prst="rect">
            <a:avLst/>
          </a:prstGeom>
          <a:noFill/>
        </p:spPr>
        <p:txBody>
          <a:bodyPr wrap="square" lIns="0" rIns="0" tIns="0" bIns="0" anchor="t">
            <a:spAutoFit/>
          </a:bodyPr>
          <a:lstStyle/>
          <a:p>
            <a:pPr algn="l">
              <a:lnSpc>
                <a:spcPct val="125000"/>
              </a:lnSpc>
              <a:spcAft>
                <a:spcPts val="300"/>
              </a:spcAft>
            </a:pPr>
            <a:r>
              <a:rPr sz="850" b="1">
                <a:solidFill>
                  <a:srgbClr val="93A0B4"/>
                </a:solidFill>
                <a:latin typeface="Arial"/>
              </a:rPr>
              <a:t>P15 – P18</a:t>
            </a:r>
          </a:p>
        </p:txBody>
      </p:sp>
      <p:sp>
        <p:nvSpPr>
          <p:cNvPr id="37" name="Rectangle 36"/>
          <p:cNvSpPr/>
          <p:nvPr/>
        </p:nvSpPr>
        <p:spPr>
          <a:xfrm>
            <a:off x="9448800" y="1549400"/>
            <a:ext cx="2057400" cy="37592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8" name="Picture 37" descr="a_c5aaa5b224.png"/>
          <p:cNvPicPr>
            <a:picLocks noChangeAspect="1"/>
          </p:cNvPicPr>
          <p:nvPr/>
        </p:nvPicPr>
        <p:blipFill>
          <a:blip r:embed="rId6"/>
          <a:stretch>
            <a:fillRect/>
          </a:stretch>
        </p:blipFill>
        <p:spPr>
          <a:xfrm>
            <a:off x="9448800" y="1550554"/>
            <a:ext cx="2057400" cy="1039090"/>
          </a:xfrm>
          <a:prstGeom prst="rect">
            <a:avLst/>
          </a:prstGeom>
        </p:spPr>
      </p:pic>
      <p:cxnSp>
        <p:nvCxnSpPr>
          <p:cNvPr id="39" name="Connector 38"/>
          <p:cNvCxnSpPr/>
          <p:nvPr/>
        </p:nvCxnSpPr>
        <p:spPr>
          <a:xfrm>
            <a:off x="9448800" y="2590800"/>
            <a:ext cx="2057400" cy="0"/>
          </a:xfrm>
          <a:prstGeom prst="line">
            <a:avLst/>
          </a:prstGeom>
          <a:ln w="12700">
            <a:solidFill>
              <a:srgbClr val="D6E0F0"/>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9626600" y="2717800"/>
            <a:ext cx="1701800" cy="381000"/>
          </a:xfrm>
          <a:prstGeom prst="rect">
            <a:avLst/>
          </a:prstGeom>
          <a:noFill/>
        </p:spPr>
        <p:txBody>
          <a:bodyPr wrap="square" lIns="0" rIns="0" tIns="0" bIns="0" anchor="t">
            <a:spAutoFit/>
          </a:bodyPr>
          <a:lstStyle/>
          <a:p>
            <a:pPr algn="l">
              <a:lnSpc>
                <a:spcPct val="125000"/>
              </a:lnSpc>
              <a:spcAft>
                <a:spcPts val="300"/>
              </a:spcAft>
            </a:pPr>
            <a:r>
              <a:rPr sz="2100" b="1">
                <a:solidFill>
                  <a:srgbClr val="8CC63F"/>
                </a:solidFill>
                <a:latin typeface="Arial"/>
              </a:rPr>
              <a:t>05</a:t>
            </a:r>
          </a:p>
        </p:txBody>
      </p:sp>
      <p:sp>
        <p:nvSpPr>
          <p:cNvPr id="41" name="TextBox 40"/>
          <p:cNvSpPr txBox="1"/>
          <p:nvPr/>
        </p:nvSpPr>
        <p:spPr>
          <a:xfrm>
            <a:off x="9626600" y="3175000"/>
            <a:ext cx="1701800" cy="508000"/>
          </a:xfrm>
          <a:prstGeom prst="rect">
            <a:avLst/>
          </a:prstGeom>
          <a:noFill/>
        </p:spPr>
        <p:txBody>
          <a:bodyPr wrap="square" lIns="0" rIns="0" tIns="0" bIns="0" anchor="t">
            <a:spAutoFit/>
          </a:bodyPr>
          <a:lstStyle/>
          <a:p>
            <a:pPr algn="l">
              <a:lnSpc>
                <a:spcPct val="120000"/>
              </a:lnSpc>
              <a:spcAft>
                <a:spcPts val="300"/>
              </a:spcAft>
            </a:pPr>
            <a:r>
              <a:rPr sz="1150" b="1">
                <a:solidFill>
                  <a:srgbClr val="0B308E"/>
                </a:solidFill>
                <a:latin typeface="Arial"/>
              </a:rPr>
              <a:t>Business model</a:t>
            </a:r>
          </a:p>
        </p:txBody>
      </p:sp>
      <p:sp>
        <p:nvSpPr>
          <p:cNvPr id="42" name="TextBox 41"/>
          <p:cNvSpPr txBox="1"/>
          <p:nvPr/>
        </p:nvSpPr>
        <p:spPr>
          <a:xfrm>
            <a:off x="9626600" y="3759200"/>
            <a:ext cx="1701800" cy="838200"/>
          </a:xfrm>
          <a:prstGeom prst="rect">
            <a:avLst/>
          </a:prstGeom>
          <a:noFill/>
        </p:spPr>
        <p:txBody>
          <a:bodyPr wrap="square" lIns="0" rIns="0" tIns="0" bIns="0" anchor="t">
            <a:spAutoFit/>
          </a:bodyPr>
          <a:lstStyle/>
          <a:p>
            <a:pPr algn="l">
              <a:lnSpc>
                <a:spcPct val="130000"/>
              </a:lnSpc>
              <a:spcAft>
                <a:spcPts val="300"/>
              </a:spcAft>
            </a:pPr>
            <a:r>
              <a:rPr sz="900" b="0">
                <a:solidFill>
                  <a:srgbClr val="55607A"/>
                </a:solidFill>
                <a:latin typeface="Arial"/>
              </a:rPr>
              <a:t>Who does what, six revenue streams, next steps</a:t>
            </a:r>
          </a:p>
        </p:txBody>
      </p:sp>
      <p:sp>
        <p:nvSpPr>
          <p:cNvPr id="43" name="TextBox 42"/>
          <p:cNvSpPr txBox="1"/>
          <p:nvPr/>
        </p:nvSpPr>
        <p:spPr>
          <a:xfrm>
            <a:off x="9626600" y="4927600"/>
            <a:ext cx="1701800" cy="177800"/>
          </a:xfrm>
          <a:prstGeom prst="rect">
            <a:avLst/>
          </a:prstGeom>
          <a:noFill/>
        </p:spPr>
        <p:txBody>
          <a:bodyPr wrap="square" lIns="0" rIns="0" tIns="0" bIns="0" anchor="t">
            <a:spAutoFit/>
          </a:bodyPr>
          <a:lstStyle/>
          <a:p>
            <a:pPr algn="l">
              <a:lnSpc>
                <a:spcPct val="125000"/>
              </a:lnSpc>
              <a:spcAft>
                <a:spcPts val="300"/>
              </a:spcAft>
            </a:pPr>
            <a:r>
              <a:rPr sz="850" b="1">
                <a:solidFill>
                  <a:srgbClr val="93A0B4"/>
                </a:solidFill>
                <a:latin typeface="Arial"/>
              </a:rPr>
              <a:t>P19 – P21</a:t>
            </a:r>
          </a:p>
        </p:txBody>
      </p:sp>
      <p:sp>
        <p:nvSpPr>
          <p:cNvPr id="44" name="Rectangle 43"/>
          <p:cNvSpPr/>
          <p:nvPr/>
        </p:nvSpPr>
        <p:spPr>
          <a:xfrm>
            <a:off x="0" y="5740400"/>
            <a:ext cx="12192000" cy="508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09600" y="5740400"/>
            <a:ext cx="10972800" cy="508000"/>
          </a:xfrm>
          <a:prstGeom prst="rect">
            <a:avLst/>
          </a:prstGeom>
          <a:noFill/>
        </p:spPr>
        <p:txBody>
          <a:bodyPr wrap="square" lIns="0" rIns="0" tIns="0" bIns="0" anchor="ctr">
            <a:spAutoFit/>
          </a:bodyPr>
          <a:lstStyle/>
          <a:p>
            <a:pPr algn="l">
              <a:lnSpc>
                <a:spcPct val="130000"/>
              </a:lnSpc>
            </a:pPr>
            <a:r>
              <a:rPr sz="1200" b="1">
                <a:solidFill>
                  <a:srgbClr val="FFFFFF"/>
                </a:solidFill>
                <a:latin typeface="Arial"/>
              </a:rPr>
              <a:t>One network, six industries.  </a:t>
            </a:r>
            <a:r>
              <a:rPr sz="1200" b="0">
                <a:solidFill>
                  <a:srgbClr val="DCE5F3"/>
                </a:solidFill>
                <a:latin typeface="Arial"/>
              </a:rPr>
              <a:t>The same 450 MHz layer serves all of them, on the same sites.</a:t>
            </a:r>
          </a:p>
        </p:txBody>
      </p:sp>
      <p:sp>
        <p:nvSpPr>
          <p:cNvPr id="46" name="TextBox 45"/>
          <p:cNvSpPr txBox="1"/>
          <p:nvPr/>
        </p:nvSpPr>
        <p:spPr>
          <a:xfrm>
            <a:off x="609600" y="6451600"/>
            <a:ext cx="10972800" cy="177800"/>
          </a:xfrm>
          <a:prstGeom prst="rect">
            <a:avLst/>
          </a:prstGeom>
          <a:noFill/>
        </p:spPr>
        <p:txBody>
          <a:bodyPr wrap="square" lIns="0" rIns="0" tIns="0" bIns="0" anchor="t">
            <a:spAutoFit/>
          </a:bodyPr>
          <a:lstStyle/>
          <a:p>
            <a:pPr algn="l">
              <a:lnSpc>
                <a:spcPct val="125000"/>
              </a:lnSpc>
              <a:spcAft>
                <a:spcPts val="300"/>
              </a:spcAft>
            </a:pPr>
            <a:r>
              <a:rPr sz="800" b="0">
                <a:solidFill>
                  <a:srgbClr val="93A0B4"/>
                </a:solidFill>
                <a:latin typeface="Arial"/>
              </a:rPr>
              <a:t>Source: Hytera proposal structure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381000"/>
            <a:ext cx="228600" cy="635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39800" y="279400"/>
            <a:ext cx="9906000" cy="381000"/>
          </a:xfrm>
          <a:prstGeom prst="rect">
            <a:avLst/>
          </a:prstGeom>
          <a:noFill/>
        </p:spPr>
        <p:txBody>
          <a:bodyPr wrap="square" lIns="0" rIns="0" tIns="0" bIns="0" anchor="t">
            <a:spAutoFit/>
          </a:bodyPr>
          <a:lstStyle/>
          <a:p>
            <a:pPr algn="l">
              <a:lnSpc>
                <a:spcPct val="125000"/>
              </a:lnSpc>
              <a:spcAft>
                <a:spcPts val="300"/>
              </a:spcAft>
            </a:pPr>
            <a:r>
              <a:rPr sz="2100" b="1">
                <a:solidFill>
                  <a:srgbClr val="0B308E"/>
                </a:solidFill>
                <a:latin typeface="Arial"/>
              </a:rPr>
              <a:t>From a niche band to critical infrastructure</a:t>
            </a:r>
          </a:p>
        </p:txBody>
      </p:sp>
      <p:sp>
        <p:nvSpPr>
          <p:cNvPr id="5" name="TextBox 4"/>
          <p:cNvSpPr txBox="1"/>
          <p:nvPr/>
        </p:nvSpPr>
        <p:spPr>
          <a:xfrm>
            <a:off x="609600" y="787400"/>
            <a:ext cx="8890000" cy="203200"/>
          </a:xfrm>
          <a:prstGeom prst="rect">
            <a:avLst/>
          </a:prstGeom>
          <a:noFill/>
        </p:spPr>
        <p:txBody>
          <a:bodyPr wrap="square" lIns="0" rIns="0" tIns="0" bIns="0" anchor="t">
            <a:spAutoFit/>
          </a:bodyPr>
          <a:lstStyle/>
          <a:p>
            <a:pPr algn="l">
              <a:lnSpc>
                <a:spcPct val="125000"/>
              </a:lnSpc>
              <a:spcAft>
                <a:spcPts val="300"/>
              </a:spcAft>
            </a:pPr>
            <a:r>
              <a:rPr sz="850" b="1">
                <a:solidFill>
                  <a:srgbClr val="7F9B00"/>
                </a:solidFill>
                <a:latin typeface="Arial"/>
              </a:rPr>
              <a:t>GLOBAL TREND</a:t>
            </a:r>
          </a:p>
        </p:txBody>
      </p:sp>
      <p:sp>
        <p:nvSpPr>
          <p:cNvPr id="6" name="TextBox 5"/>
          <p:cNvSpPr txBox="1"/>
          <p:nvPr/>
        </p:nvSpPr>
        <p:spPr>
          <a:xfrm>
            <a:off x="11023600" y="279400"/>
            <a:ext cx="558800" cy="330200"/>
          </a:xfrm>
          <a:prstGeom prst="rect">
            <a:avLst/>
          </a:prstGeom>
          <a:noFill/>
        </p:spPr>
        <p:txBody>
          <a:bodyPr wrap="square" lIns="0" rIns="0" tIns="0" bIns="0" anchor="t">
            <a:spAutoFit/>
          </a:bodyPr>
          <a:lstStyle/>
          <a:p>
            <a:pPr algn="r">
              <a:lnSpc>
                <a:spcPct val="125000"/>
              </a:lnSpc>
              <a:spcAft>
                <a:spcPts val="300"/>
              </a:spcAft>
            </a:pPr>
            <a:r>
              <a:rPr sz="1700" b="1">
                <a:solidFill>
                  <a:srgbClr val="0B308E"/>
                </a:solidFill>
                <a:latin typeface="Arial"/>
              </a:rPr>
              <a:t>04</a:t>
            </a:r>
          </a:p>
        </p:txBody>
      </p:sp>
      <p:cxnSp>
        <p:nvCxnSpPr>
          <p:cNvPr id="7" name="Connector 6"/>
          <p:cNvCxnSpPr/>
          <p:nvPr/>
        </p:nvCxnSpPr>
        <p:spPr>
          <a:xfrm>
            <a:off x="609600" y="1041400"/>
            <a:ext cx="10972800" cy="0"/>
          </a:xfrm>
          <a:prstGeom prst="line">
            <a:avLst/>
          </a:prstGeom>
          <a:ln w="12700">
            <a:solidFill>
              <a:srgbClr val="D6E0F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1193800"/>
            <a:ext cx="10972800" cy="228600"/>
          </a:xfrm>
          <a:prstGeom prst="rect">
            <a:avLst/>
          </a:prstGeom>
          <a:noFill/>
        </p:spPr>
        <p:txBody>
          <a:bodyPr wrap="square" lIns="0" rIns="0" tIns="0" bIns="0" anchor="t">
            <a:spAutoFit/>
          </a:bodyPr>
          <a:lstStyle/>
          <a:p>
            <a:pPr algn="l">
              <a:lnSpc>
                <a:spcPct val="125000"/>
              </a:lnSpc>
              <a:spcAft>
                <a:spcPts val="300"/>
              </a:spcAft>
            </a:pPr>
            <a:r>
              <a:rPr sz="1150" b="0">
                <a:solidFill>
                  <a:srgbClr val="55607A"/>
                </a:solidFill>
                <a:latin typeface="Arial"/>
              </a:rPr>
              <a:t>Regulators, utilities and public safety agencies have settled on what this band is for.</a:t>
            </a:r>
          </a:p>
        </p:txBody>
      </p:sp>
      <p:sp>
        <p:nvSpPr>
          <p:cNvPr id="9" name="Rectangle 8"/>
          <p:cNvSpPr/>
          <p:nvPr/>
        </p:nvSpPr>
        <p:spPr>
          <a:xfrm>
            <a:off x="609600" y="1549400"/>
            <a:ext cx="5969000" cy="9906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09600" y="1549400"/>
            <a:ext cx="44450" cy="9906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12800" y="1701800"/>
            <a:ext cx="5562600" cy="355600"/>
          </a:xfrm>
          <a:prstGeom prst="rect">
            <a:avLst/>
          </a:prstGeom>
          <a:noFill/>
        </p:spPr>
        <p:txBody>
          <a:bodyPr wrap="square" lIns="0" rIns="0" tIns="0" bIns="0" anchor="t">
            <a:spAutoFit/>
          </a:bodyPr>
          <a:lstStyle/>
          <a:p>
            <a:pPr algn="l">
              <a:lnSpc>
                <a:spcPct val="125000"/>
              </a:lnSpc>
              <a:spcAft>
                <a:spcPts val="300"/>
              </a:spcAft>
            </a:pPr>
            <a:r>
              <a:rPr sz="2100" b="1">
                <a:solidFill>
                  <a:srgbClr val="0B308E"/>
                </a:solidFill>
                <a:latin typeface="Arial"/>
              </a:rPr>
              <a:t>86%</a:t>
            </a:r>
          </a:p>
        </p:txBody>
      </p:sp>
      <p:sp>
        <p:nvSpPr>
          <p:cNvPr id="12" name="TextBox 11"/>
          <p:cNvSpPr txBox="1"/>
          <p:nvPr/>
        </p:nvSpPr>
        <p:spPr>
          <a:xfrm>
            <a:off x="812800" y="2108200"/>
            <a:ext cx="5562600" cy="355600"/>
          </a:xfrm>
          <a:prstGeom prst="rect">
            <a:avLst/>
          </a:prstGeom>
          <a:noFill/>
        </p:spPr>
        <p:txBody>
          <a:bodyPr wrap="square" lIns="0" rIns="0" tIns="0" bIns="0" anchor="t">
            <a:spAutoFit/>
          </a:bodyPr>
          <a:lstStyle/>
          <a:p>
            <a:pPr algn="l">
              <a:lnSpc>
                <a:spcPct val="125000"/>
              </a:lnSpc>
              <a:spcAft>
                <a:spcPts val="300"/>
              </a:spcAft>
            </a:pPr>
            <a:r>
              <a:rPr sz="950" b="0">
                <a:solidFill>
                  <a:srgbClr val="55607A"/>
                </a:solidFill>
                <a:latin typeface="Arial"/>
              </a:rPr>
              <a:t>of the world’s population lives in countries where the 400 MHz bands are allocated or under consultation</a:t>
            </a:r>
          </a:p>
        </p:txBody>
      </p:sp>
      <p:sp>
        <p:nvSpPr>
          <p:cNvPr id="13" name="Rectangle 12"/>
          <p:cNvSpPr/>
          <p:nvPr/>
        </p:nvSpPr>
        <p:spPr>
          <a:xfrm>
            <a:off x="609600" y="2641600"/>
            <a:ext cx="5969000" cy="9906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09600" y="2641600"/>
            <a:ext cx="44450" cy="9906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12800" y="2794000"/>
            <a:ext cx="5562600" cy="355600"/>
          </a:xfrm>
          <a:prstGeom prst="rect">
            <a:avLst/>
          </a:prstGeom>
          <a:noFill/>
        </p:spPr>
        <p:txBody>
          <a:bodyPr wrap="square" lIns="0" rIns="0" tIns="0" bIns="0" anchor="t">
            <a:spAutoFit/>
          </a:bodyPr>
          <a:lstStyle/>
          <a:p>
            <a:pPr algn="l">
              <a:lnSpc>
                <a:spcPct val="125000"/>
              </a:lnSpc>
              <a:spcAft>
                <a:spcPts val="300"/>
              </a:spcAft>
            </a:pPr>
            <a:r>
              <a:rPr sz="2100" b="1">
                <a:solidFill>
                  <a:srgbClr val="7F9B00"/>
                </a:solidFill>
                <a:latin typeface="Arial"/>
              </a:rPr>
              <a:t>39</a:t>
            </a:r>
          </a:p>
        </p:txBody>
      </p:sp>
      <p:sp>
        <p:nvSpPr>
          <p:cNvPr id="16" name="TextBox 15"/>
          <p:cNvSpPr txBox="1"/>
          <p:nvPr/>
        </p:nvSpPr>
        <p:spPr>
          <a:xfrm>
            <a:off x="812800" y="3200400"/>
            <a:ext cx="5562600" cy="355600"/>
          </a:xfrm>
          <a:prstGeom prst="rect">
            <a:avLst/>
          </a:prstGeom>
          <a:noFill/>
        </p:spPr>
        <p:txBody>
          <a:bodyPr wrap="square" lIns="0" rIns="0" tIns="0" bIns="0" anchor="t">
            <a:spAutoFit/>
          </a:bodyPr>
          <a:lstStyle/>
          <a:p>
            <a:pPr algn="l">
              <a:lnSpc>
                <a:spcPct val="125000"/>
              </a:lnSpc>
              <a:spcAft>
                <a:spcPts val="300"/>
              </a:spcAft>
            </a:pPr>
            <a:r>
              <a:rPr sz="950" b="0">
                <a:solidFill>
                  <a:srgbClr val="55607A"/>
                </a:solidFill>
                <a:latin typeface="Arial"/>
              </a:rPr>
              <a:t>countries have already deployed networks in these bands, out of 77 with allocations at 380 / 410 / 450 MHz</a:t>
            </a:r>
          </a:p>
        </p:txBody>
      </p:sp>
      <p:sp>
        <p:nvSpPr>
          <p:cNvPr id="17" name="Rectangle 16"/>
          <p:cNvSpPr/>
          <p:nvPr/>
        </p:nvSpPr>
        <p:spPr>
          <a:xfrm>
            <a:off x="609600" y="3733800"/>
            <a:ext cx="5969000" cy="9906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09600" y="3733800"/>
            <a:ext cx="44450" cy="9906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12800" y="3886200"/>
            <a:ext cx="5562600" cy="355600"/>
          </a:xfrm>
          <a:prstGeom prst="rect">
            <a:avLst/>
          </a:prstGeom>
          <a:noFill/>
        </p:spPr>
        <p:txBody>
          <a:bodyPr wrap="square" lIns="0" rIns="0" tIns="0" bIns="0" anchor="t">
            <a:spAutoFit/>
          </a:bodyPr>
          <a:lstStyle/>
          <a:p>
            <a:pPr algn="l">
              <a:lnSpc>
                <a:spcPct val="125000"/>
              </a:lnSpc>
              <a:spcAft>
                <a:spcPts val="300"/>
              </a:spcAft>
            </a:pPr>
            <a:r>
              <a:rPr sz="2100" b="1">
                <a:solidFill>
                  <a:srgbClr val="0B308E"/>
                </a:solidFill>
                <a:latin typeface="Arial"/>
              </a:rPr>
              <a:t>1.8M / 14M</a:t>
            </a:r>
          </a:p>
        </p:txBody>
      </p:sp>
      <p:sp>
        <p:nvSpPr>
          <p:cNvPr id="20" name="TextBox 19"/>
          <p:cNvSpPr txBox="1"/>
          <p:nvPr/>
        </p:nvSpPr>
        <p:spPr>
          <a:xfrm>
            <a:off x="812800" y="4292600"/>
            <a:ext cx="5562600" cy="355600"/>
          </a:xfrm>
          <a:prstGeom prst="rect">
            <a:avLst/>
          </a:prstGeom>
          <a:noFill/>
        </p:spPr>
        <p:txBody>
          <a:bodyPr wrap="square" lIns="0" rIns="0" tIns="0" bIns="0" anchor="t">
            <a:spAutoFit/>
          </a:bodyPr>
          <a:lstStyle/>
          <a:p>
            <a:pPr algn="l">
              <a:lnSpc>
                <a:spcPct val="125000"/>
              </a:lnSpc>
              <a:spcAft>
                <a:spcPts val="300"/>
              </a:spcAft>
            </a:pPr>
            <a:r>
              <a:rPr sz="950" b="0">
                <a:solidFill>
                  <a:srgbClr val="55607A"/>
                </a:solidFill>
                <a:latin typeface="Arial"/>
              </a:rPr>
              <a:t>broadband and sensor connections forecast by 2030, from 420k and 1.2M in 2026</a:t>
            </a:r>
          </a:p>
        </p:txBody>
      </p:sp>
      <p:sp>
        <p:nvSpPr>
          <p:cNvPr id="21" name="TextBox 20"/>
          <p:cNvSpPr txBox="1"/>
          <p:nvPr/>
        </p:nvSpPr>
        <p:spPr>
          <a:xfrm>
            <a:off x="6934200" y="1549400"/>
            <a:ext cx="4648200" cy="177800"/>
          </a:xfrm>
          <a:prstGeom prst="rect">
            <a:avLst/>
          </a:prstGeom>
          <a:noFill/>
        </p:spPr>
        <p:txBody>
          <a:bodyPr wrap="square" lIns="0" rIns="0" tIns="0" bIns="0" anchor="t">
            <a:spAutoFit/>
          </a:bodyPr>
          <a:lstStyle/>
          <a:p>
            <a:pPr algn="l">
              <a:lnSpc>
                <a:spcPct val="125000"/>
              </a:lnSpc>
              <a:spcAft>
                <a:spcPts val="300"/>
              </a:spcAft>
            </a:pPr>
            <a:r>
              <a:rPr sz="850" b="1">
                <a:solidFill>
                  <a:srgbClr val="7F9B00"/>
                </a:solidFill>
                <a:latin typeface="Arial"/>
              </a:rPr>
              <a:t>OUR POSITION</a:t>
            </a:r>
          </a:p>
        </p:txBody>
      </p:sp>
      <p:sp>
        <p:nvSpPr>
          <p:cNvPr id="22" name="Rectangle 21"/>
          <p:cNvSpPr/>
          <p:nvPr/>
        </p:nvSpPr>
        <p:spPr>
          <a:xfrm>
            <a:off x="6934200" y="1803400"/>
            <a:ext cx="4648200" cy="9652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934200" y="1803400"/>
            <a:ext cx="44450" cy="965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162800" y="1955800"/>
            <a:ext cx="4267200" cy="228600"/>
          </a:xfrm>
          <a:prstGeom prst="rect">
            <a:avLst/>
          </a:prstGeom>
          <a:noFill/>
        </p:spPr>
        <p:txBody>
          <a:bodyPr wrap="square" lIns="0" rIns="0" tIns="0" bIns="0" anchor="t">
            <a:spAutoFit/>
          </a:bodyPr>
          <a:lstStyle/>
          <a:p>
            <a:pPr algn="l">
              <a:lnSpc>
                <a:spcPct val="125000"/>
              </a:lnSpc>
              <a:spcAft>
                <a:spcPts val="300"/>
              </a:spcAft>
            </a:pPr>
            <a:r>
              <a:rPr sz="1150" b="1">
                <a:solidFill>
                  <a:srgbClr val="0B308E"/>
                </a:solidFill>
                <a:latin typeface="Arial"/>
              </a:rPr>
              <a:t>Named at both ends of the chain</a:t>
            </a:r>
          </a:p>
        </p:txBody>
      </p:sp>
      <p:sp>
        <p:nvSpPr>
          <p:cNvPr id="25" name="TextBox 24"/>
          <p:cNvSpPr txBox="1"/>
          <p:nvPr/>
        </p:nvSpPr>
        <p:spPr>
          <a:xfrm>
            <a:off x="7162800" y="2235200"/>
            <a:ext cx="4267200" cy="508000"/>
          </a:xfrm>
          <a:prstGeom prst="rect">
            <a:avLst/>
          </a:prstGeom>
          <a:noFill/>
        </p:spPr>
        <p:txBody>
          <a:bodyPr wrap="square" lIns="0" rIns="0" tIns="0" bIns="0" anchor="t">
            <a:spAutoFit/>
          </a:bodyPr>
          <a:lstStyle/>
          <a:p>
            <a:pPr algn="l">
              <a:lnSpc>
                <a:spcPct val="130000"/>
              </a:lnSpc>
              <a:spcAft>
                <a:spcPts val="300"/>
              </a:spcAft>
            </a:pPr>
            <a:r>
              <a:rPr sz="900" b="0">
                <a:solidFill>
                  <a:srgbClr val="55607A"/>
                </a:solidFill>
                <a:latin typeface="Arial"/>
              </a:rPr>
              <a:t>The Alliance lists Hytera in its device supplier list and in its macro eNB supplier list.</a:t>
            </a:r>
          </a:p>
        </p:txBody>
      </p:sp>
      <p:sp>
        <p:nvSpPr>
          <p:cNvPr id="26" name="Rectangle 25"/>
          <p:cNvSpPr/>
          <p:nvPr/>
        </p:nvSpPr>
        <p:spPr>
          <a:xfrm>
            <a:off x="6934200" y="2870200"/>
            <a:ext cx="4648200" cy="9652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6934200" y="2870200"/>
            <a:ext cx="44450" cy="9652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162800" y="3022600"/>
            <a:ext cx="4267200" cy="228600"/>
          </a:xfrm>
          <a:prstGeom prst="rect">
            <a:avLst/>
          </a:prstGeom>
          <a:noFill/>
        </p:spPr>
        <p:txBody>
          <a:bodyPr wrap="square" lIns="0" rIns="0" tIns="0" bIns="0" anchor="t">
            <a:spAutoFit/>
          </a:bodyPr>
          <a:lstStyle/>
          <a:p>
            <a:pPr algn="l">
              <a:lnSpc>
                <a:spcPct val="125000"/>
              </a:lnSpc>
              <a:spcAft>
                <a:spcPts val="300"/>
              </a:spcAft>
            </a:pPr>
            <a:r>
              <a:rPr sz="1150" b="1">
                <a:solidFill>
                  <a:srgbClr val="0B308E"/>
                </a:solidFill>
                <a:latin typeface="Arial"/>
              </a:rPr>
              <a:t>Through operator acceptance</a:t>
            </a:r>
          </a:p>
        </p:txBody>
      </p:sp>
      <p:sp>
        <p:nvSpPr>
          <p:cNvPr id="29" name="TextBox 28"/>
          <p:cNvSpPr txBox="1"/>
          <p:nvPr/>
        </p:nvSpPr>
        <p:spPr>
          <a:xfrm>
            <a:off x="7162800" y="3302000"/>
            <a:ext cx="4267200" cy="508000"/>
          </a:xfrm>
          <a:prstGeom prst="rect">
            <a:avLst/>
          </a:prstGeom>
          <a:noFill/>
        </p:spPr>
        <p:txBody>
          <a:bodyPr wrap="square" lIns="0" rIns="0" tIns="0" bIns="0" anchor="t">
            <a:spAutoFit/>
          </a:bodyPr>
          <a:lstStyle/>
          <a:p>
            <a:pPr algn="l">
              <a:lnSpc>
                <a:spcPct val="130000"/>
              </a:lnSpc>
              <a:spcAft>
                <a:spcPts val="300"/>
              </a:spcAft>
            </a:pPr>
            <a:r>
              <a:rPr sz="900" b="0">
                <a:solidFill>
                  <a:srgbClr val="55607A"/>
                </a:solidFill>
                <a:latin typeface="Arial"/>
              </a:rPr>
              <a:t>PNC660 450M is whitelisted by 450connect to −115 dBm RSRP - the operator’s own document.</a:t>
            </a:r>
          </a:p>
        </p:txBody>
      </p:sp>
      <p:sp>
        <p:nvSpPr>
          <p:cNvPr id="30" name="Rectangle 29"/>
          <p:cNvSpPr/>
          <p:nvPr/>
        </p:nvSpPr>
        <p:spPr>
          <a:xfrm>
            <a:off x="6934200" y="3937000"/>
            <a:ext cx="4648200" cy="9652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6934200" y="3937000"/>
            <a:ext cx="44450" cy="9652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162800" y="4089400"/>
            <a:ext cx="4267200" cy="228600"/>
          </a:xfrm>
          <a:prstGeom prst="rect">
            <a:avLst/>
          </a:prstGeom>
          <a:noFill/>
        </p:spPr>
        <p:txBody>
          <a:bodyPr wrap="square" lIns="0" rIns="0" tIns="0" bIns="0" anchor="t">
            <a:spAutoFit/>
          </a:bodyPr>
          <a:lstStyle/>
          <a:p>
            <a:pPr algn="l">
              <a:lnSpc>
                <a:spcPct val="125000"/>
              </a:lnSpc>
              <a:spcAft>
                <a:spcPts val="300"/>
              </a:spcAft>
            </a:pPr>
            <a:r>
              <a:rPr sz="1150" b="1">
                <a:solidFill>
                  <a:srgbClr val="0B308E"/>
                </a:solidFill>
                <a:latin typeface="Arial"/>
              </a:rPr>
              <a:t>A 5G-ready 450 MHz portfolio</a:t>
            </a:r>
          </a:p>
        </p:txBody>
      </p:sp>
      <p:sp>
        <p:nvSpPr>
          <p:cNvPr id="33" name="TextBox 32"/>
          <p:cNvSpPr txBox="1"/>
          <p:nvPr/>
        </p:nvSpPr>
        <p:spPr>
          <a:xfrm>
            <a:off x="7162800" y="4368800"/>
            <a:ext cx="4267200" cy="508000"/>
          </a:xfrm>
          <a:prstGeom prst="rect">
            <a:avLst/>
          </a:prstGeom>
          <a:noFill/>
        </p:spPr>
        <p:txBody>
          <a:bodyPr wrap="square" lIns="0" rIns="0" tIns="0" bIns="0" anchor="t">
            <a:spAutoFit/>
          </a:bodyPr>
          <a:lstStyle/>
          <a:p>
            <a:pPr algn="l">
              <a:lnSpc>
                <a:spcPct val="130000"/>
              </a:lnSpc>
              <a:spcAft>
                <a:spcPts val="300"/>
              </a:spcAft>
            </a:pPr>
            <a:r>
              <a:rPr sz="900" b="0">
                <a:solidFill>
                  <a:srgbClr val="55607A"/>
                </a:solidFill>
                <a:latin typeface="Arial"/>
              </a:rPr>
              <a:t>Handheld, vehicle radio, base station and core, with a 5G model in development.</a:t>
            </a:r>
          </a:p>
        </p:txBody>
      </p:sp>
      <p:sp>
        <p:nvSpPr>
          <p:cNvPr id="34" name="Rectangle 33"/>
          <p:cNvSpPr/>
          <p:nvPr/>
        </p:nvSpPr>
        <p:spPr>
          <a:xfrm>
            <a:off x="0" y="5740400"/>
            <a:ext cx="12192000" cy="508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09600" y="5740400"/>
            <a:ext cx="10972800" cy="508000"/>
          </a:xfrm>
          <a:prstGeom prst="rect">
            <a:avLst/>
          </a:prstGeom>
          <a:noFill/>
        </p:spPr>
        <p:txBody>
          <a:bodyPr wrap="square" lIns="0" rIns="0" tIns="0" bIns="0" anchor="ctr">
            <a:spAutoFit/>
          </a:bodyPr>
          <a:lstStyle/>
          <a:p>
            <a:pPr algn="l">
              <a:lnSpc>
                <a:spcPct val="130000"/>
              </a:lnSpc>
            </a:pPr>
            <a:r>
              <a:rPr sz="1200" b="1">
                <a:solidFill>
                  <a:srgbClr val="FFFFFF"/>
                </a:solidFill>
                <a:latin typeface="Arial"/>
              </a:rPr>
              <a:t>The band is no longer experimental.  </a:t>
            </a:r>
            <a:r>
              <a:rPr sz="1200" b="0">
                <a:solidFill>
                  <a:srgbClr val="DCE5F3"/>
                </a:solidFill>
                <a:latin typeface="Arial"/>
              </a:rPr>
              <a:t>It is assigned, standardised in 3GPP, and carrying utility and public-safety traffic today.</a:t>
            </a:r>
          </a:p>
        </p:txBody>
      </p:sp>
      <p:sp>
        <p:nvSpPr>
          <p:cNvPr id="36" name="TextBox 35"/>
          <p:cNvSpPr txBox="1"/>
          <p:nvPr/>
        </p:nvSpPr>
        <p:spPr>
          <a:xfrm>
            <a:off x="609600" y="6451600"/>
            <a:ext cx="10972800" cy="177800"/>
          </a:xfrm>
          <a:prstGeom prst="rect">
            <a:avLst/>
          </a:prstGeom>
          <a:noFill/>
        </p:spPr>
        <p:txBody>
          <a:bodyPr wrap="square" lIns="0" rIns="0" tIns="0" bIns="0" anchor="t">
            <a:spAutoFit/>
          </a:bodyPr>
          <a:lstStyle/>
          <a:p>
            <a:pPr algn="l">
              <a:lnSpc>
                <a:spcPct val="125000"/>
              </a:lnSpc>
              <a:spcAft>
                <a:spcPts val="300"/>
              </a:spcAft>
            </a:pPr>
            <a:r>
              <a:rPr sz="800" b="0">
                <a:solidFill>
                  <a:srgbClr val="93A0B4"/>
                </a:solidFill>
                <a:latin typeface="Arial"/>
              </a:rPr>
              <a:t>Source: 450 MHz Alliance, Annual Global Update (Dec 2025) p4, p11, p12; Annual Equipment Report (May 2025) p5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381000"/>
            <a:ext cx="228600" cy="635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39800" y="279400"/>
            <a:ext cx="9906000" cy="381000"/>
          </a:xfrm>
          <a:prstGeom prst="rect">
            <a:avLst/>
          </a:prstGeom>
          <a:noFill/>
        </p:spPr>
        <p:txBody>
          <a:bodyPr wrap="square" lIns="0" rIns="0" tIns="0" bIns="0" anchor="t">
            <a:spAutoFit/>
          </a:bodyPr>
          <a:lstStyle/>
          <a:p>
            <a:pPr algn="l">
              <a:lnSpc>
                <a:spcPct val="125000"/>
              </a:lnSpc>
              <a:spcAft>
                <a:spcPts val="300"/>
              </a:spcAft>
            </a:pPr>
            <a:r>
              <a:rPr sz="2100" b="1">
                <a:solidFill>
                  <a:srgbClr val="0B308E"/>
                </a:solidFill>
                <a:latin typeface="Arial"/>
              </a:rPr>
              <a:t>One site replaces several mid-band sites</a:t>
            </a:r>
          </a:p>
        </p:txBody>
      </p:sp>
      <p:sp>
        <p:nvSpPr>
          <p:cNvPr id="5" name="TextBox 4"/>
          <p:cNvSpPr txBox="1"/>
          <p:nvPr/>
        </p:nvSpPr>
        <p:spPr>
          <a:xfrm>
            <a:off x="609600" y="787400"/>
            <a:ext cx="8890000" cy="203200"/>
          </a:xfrm>
          <a:prstGeom prst="rect">
            <a:avLst/>
          </a:prstGeom>
          <a:noFill/>
        </p:spPr>
        <p:txBody>
          <a:bodyPr wrap="square" lIns="0" rIns="0" tIns="0" bIns="0" anchor="t">
            <a:spAutoFit/>
          </a:bodyPr>
          <a:lstStyle/>
          <a:p>
            <a:pPr algn="l">
              <a:lnSpc>
                <a:spcPct val="125000"/>
              </a:lnSpc>
              <a:spcAft>
                <a:spcPts val="300"/>
              </a:spcAft>
            </a:pPr>
            <a:r>
              <a:rPr sz="850" b="1">
                <a:solidFill>
                  <a:srgbClr val="7F9B00"/>
                </a:solidFill>
                <a:latin typeface="Arial"/>
              </a:rPr>
              <a:t>WHY 450 MHZ</a:t>
            </a:r>
          </a:p>
        </p:txBody>
      </p:sp>
      <p:sp>
        <p:nvSpPr>
          <p:cNvPr id="6" name="TextBox 5"/>
          <p:cNvSpPr txBox="1"/>
          <p:nvPr/>
        </p:nvSpPr>
        <p:spPr>
          <a:xfrm>
            <a:off x="11023600" y="279400"/>
            <a:ext cx="558800" cy="330200"/>
          </a:xfrm>
          <a:prstGeom prst="rect">
            <a:avLst/>
          </a:prstGeom>
          <a:noFill/>
        </p:spPr>
        <p:txBody>
          <a:bodyPr wrap="square" lIns="0" rIns="0" tIns="0" bIns="0" anchor="t">
            <a:spAutoFit/>
          </a:bodyPr>
          <a:lstStyle/>
          <a:p>
            <a:pPr algn="r">
              <a:lnSpc>
                <a:spcPct val="125000"/>
              </a:lnSpc>
              <a:spcAft>
                <a:spcPts val="300"/>
              </a:spcAft>
            </a:pPr>
            <a:r>
              <a:rPr sz="1700" b="1">
                <a:solidFill>
                  <a:srgbClr val="0B308E"/>
                </a:solidFill>
                <a:latin typeface="Arial"/>
              </a:rPr>
              <a:t>05</a:t>
            </a:r>
          </a:p>
        </p:txBody>
      </p:sp>
      <p:cxnSp>
        <p:nvCxnSpPr>
          <p:cNvPr id="7" name="Connector 6"/>
          <p:cNvCxnSpPr/>
          <p:nvPr/>
        </p:nvCxnSpPr>
        <p:spPr>
          <a:xfrm>
            <a:off x="609600" y="1041400"/>
            <a:ext cx="10972800" cy="0"/>
          </a:xfrm>
          <a:prstGeom prst="line">
            <a:avLst/>
          </a:prstGeom>
          <a:ln w="12700">
            <a:solidFill>
              <a:srgbClr val="D6E0F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1193800"/>
            <a:ext cx="10972800" cy="228600"/>
          </a:xfrm>
          <a:prstGeom prst="rect">
            <a:avLst/>
          </a:prstGeom>
          <a:noFill/>
        </p:spPr>
        <p:txBody>
          <a:bodyPr wrap="square" lIns="0" rIns="0" tIns="0" bIns="0" anchor="t">
            <a:spAutoFit/>
          </a:bodyPr>
          <a:lstStyle/>
          <a:p>
            <a:pPr algn="l">
              <a:lnSpc>
                <a:spcPct val="125000"/>
              </a:lnSpc>
              <a:spcAft>
                <a:spcPts val="300"/>
              </a:spcAft>
            </a:pPr>
            <a:r>
              <a:rPr sz="1150" b="0">
                <a:solidFill>
                  <a:srgbClr val="55607A"/>
                </a:solidFill>
                <a:latin typeface="Arial"/>
              </a:rPr>
              <a:t>Low-band physics is the whole argument. The numbers below reuse one grid at three frequencies.</a:t>
            </a:r>
          </a:p>
        </p:txBody>
      </p:sp>
      <p:sp>
        <p:nvSpPr>
          <p:cNvPr id="9" name="Rectangle 8"/>
          <p:cNvSpPr/>
          <p:nvPr/>
        </p:nvSpPr>
        <p:spPr>
          <a:xfrm>
            <a:off x="609600" y="1549400"/>
            <a:ext cx="1981200" cy="19812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0" name="Connector 9"/>
          <p:cNvCxnSpPr/>
          <p:nvPr/>
        </p:nvCxnSpPr>
        <p:spPr>
          <a:xfrm>
            <a:off x="1104900" y="1612900"/>
            <a:ext cx="0" cy="1854200"/>
          </a:xfrm>
          <a:prstGeom prst="line">
            <a:avLst/>
          </a:prstGeom>
          <a:ln w="6350">
            <a:solidFill>
              <a:srgbClr val="DCE5F3"/>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73100" y="2044700"/>
            <a:ext cx="1854200" cy="0"/>
          </a:xfrm>
          <a:prstGeom prst="line">
            <a:avLst/>
          </a:prstGeom>
          <a:ln w="6350">
            <a:solidFill>
              <a:srgbClr val="DCE5F3"/>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600200" y="1612900"/>
            <a:ext cx="0" cy="1854200"/>
          </a:xfrm>
          <a:prstGeom prst="line">
            <a:avLst/>
          </a:prstGeom>
          <a:ln w="6350">
            <a:solidFill>
              <a:srgbClr val="DCE5F3"/>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73100" y="2540000"/>
            <a:ext cx="1854200" cy="0"/>
          </a:xfrm>
          <a:prstGeom prst="line">
            <a:avLst/>
          </a:prstGeom>
          <a:ln w="6350">
            <a:solidFill>
              <a:srgbClr val="DCE5F3"/>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095500" y="1612900"/>
            <a:ext cx="0" cy="1854200"/>
          </a:xfrm>
          <a:prstGeom prst="line">
            <a:avLst/>
          </a:prstGeom>
          <a:ln w="6350">
            <a:solidFill>
              <a:srgbClr val="DCE5F3"/>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73100" y="3035300"/>
            <a:ext cx="1854200" cy="0"/>
          </a:xfrm>
          <a:prstGeom prst="line">
            <a:avLst/>
          </a:prstGeom>
          <a:ln w="6350">
            <a:solidFill>
              <a:srgbClr val="DCE5F3"/>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812800" y="1862836"/>
            <a:ext cx="1574800" cy="1354328"/>
          </a:xfrm>
          <a:prstGeom prst="ellipse">
            <a:avLst/>
          </a:prstGeom>
          <a:solidFill>
            <a:srgbClr val="D8E4F6"/>
          </a:solidFill>
          <a:ln w="9525">
            <a:solidFill>
              <a:srgbClr val="0B30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09600" y="3657600"/>
            <a:ext cx="1981200" cy="203200"/>
          </a:xfrm>
          <a:prstGeom prst="rect">
            <a:avLst/>
          </a:prstGeom>
          <a:noFill/>
        </p:spPr>
        <p:txBody>
          <a:bodyPr wrap="square" lIns="0" rIns="0" tIns="0" bIns="0" anchor="t">
            <a:spAutoFit/>
          </a:bodyPr>
          <a:lstStyle/>
          <a:p>
            <a:pPr algn="ctr">
              <a:lnSpc>
                <a:spcPct val="125000"/>
              </a:lnSpc>
              <a:spcAft>
                <a:spcPts val="300"/>
              </a:spcAft>
            </a:pPr>
            <a:r>
              <a:rPr sz="1100" b="1">
                <a:solidFill>
                  <a:srgbClr val="0B308E"/>
                </a:solidFill>
                <a:latin typeface="Arial"/>
              </a:rPr>
              <a:t>450 MHz</a:t>
            </a:r>
          </a:p>
        </p:txBody>
      </p:sp>
      <p:sp>
        <p:nvSpPr>
          <p:cNvPr id="18" name="TextBox 17"/>
          <p:cNvSpPr txBox="1"/>
          <p:nvPr/>
        </p:nvSpPr>
        <p:spPr>
          <a:xfrm>
            <a:off x="609600" y="3886200"/>
            <a:ext cx="1981200" cy="381000"/>
          </a:xfrm>
          <a:prstGeom prst="rect">
            <a:avLst/>
          </a:prstGeom>
          <a:noFill/>
        </p:spPr>
        <p:txBody>
          <a:bodyPr wrap="square" lIns="0" rIns="0" tIns="0" bIns="0" anchor="t">
            <a:spAutoFit/>
          </a:bodyPr>
          <a:lstStyle/>
          <a:p>
            <a:pPr algn="ctr">
              <a:lnSpc>
                <a:spcPct val="125000"/>
              </a:lnSpc>
              <a:spcAft>
                <a:spcPts val="300"/>
              </a:spcAft>
            </a:pPr>
            <a:r>
              <a:rPr sz="900" b="1">
                <a:solidFill>
                  <a:srgbClr val="7F9B00"/>
                </a:solidFill>
                <a:latin typeface="Arial"/>
              </a:rPr>
              <a:t>1 site  ·  100% covered</a:t>
            </a:r>
          </a:p>
        </p:txBody>
      </p:sp>
      <p:sp>
        <p:nvSpPr>
          <p:cNvPr id="19" name="Rectangle 18"/>
          <p:cNvSpPr/>
          <p:nvPr/>
        </p:nvSpPr>
        <p:spPr>
          <a:xfrm>
            <a:off x="2717800" y="1549400"/>
            <a:ext cx="1981200" cy="19812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20" name="Connector 19"/>
          <p:cNvCxnSpPr/>
          <p:nvPr/>
        </p:nvCxnSpPr>
        <p:spPr>
          <a:xfrm>
            <a:off x="3213100" y="1612900"/>
            <a:ext cx="0" cy="1854200"/>
          </a:xfrm>
          <a:prstGeom prst="line">
            <a:avLst/>
          </a:prstGeom>
          <a:ln w="6350">
            <a:solidFill>
              <a:srgbClr val="DCE5F3"/>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781300" y="2044700"/>
            <a:ext cx="1854200" cy="0"/>
          </a:xfrm>
          <a:prstGeom prst="line">
            <a:avLst/>
          </a:prstGeom>
          <a:ln w="6350">
            <a:solidFill>
              <a:srgbClr val="DCE5F3"/>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708400" y="1612900"/>
            <a:ext cx="0" cy="1854200"/>
          </a:xfrm>
          <a:prstGeom prst="line">
            <a:avLst/>
          </a:prstGeom>
          <a:ln w="6350">
            <a:solidFill>
              <a:srgbClr val="DCE5F3"/>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781300" y="2540000"/>
            <a:ext cx="1854200" cy="0"/>
          </a:xfrm>
          <a:prstGeom prst="line">
            <a:avLst/>
          </a:prstGeom>
          <a:ln w="6350">
            <a:solidFill>
              <a:srgbClr val="DCE5F3"/>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203700" y="1612900"/>
            <a:ext cx="0" cy="1854200"/>
          </a:xfrm>
          <a:prstGeom prst="line">
            <a:avLst/>
          </a:prstGeom>
          <a:ln w="6350">
            <a:solidFill>
              <a:srgbClr val="DCE5F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781300" y="3035300"/>
            <a:ext cx="1854200" cy="0"/>
          </a:xfrm>
          <a:prstGeom prst="line">
            <a:avLst/>
          </a:prstGeom>
          <a:ln w="6350">
            <a:solidFill>
              <a:srgbClr val="DCE5F3"/>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2819400" y="1965452"/>
            <a:ext cx="863600" cy="742696"/>
          </a:xfrm>
          <a:prstGeom prst="ellipse">
            <a:avLst/>
          </a:prstGeom>
          <a:solidFill>
            <a:srgbClr val="D8E4F6"/>
          </a:solidFill>
          <a:ln w="9525">
            <a:solidFill>
              <a:srgbClr val="0B30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3733800" y="1965452"/>
            <a:ext cx="863600" cy="742696"/>
          </a:xfrm>
          <a:prstGeom prst="ellipse">
            <a:avLst/>
          </a:prstGeom>
          <a:solidFill>
            <a:srgbClr val="D8E4F6"/>
          </a:solidFill>
          <a:ln w="9525">
            <a:solidFill>
              <a:srgbClr val="0B30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3276600" y="2524252"/>
            <a:ext cx="863600" cy="742696"/>
          </a:xfrm>
          <a:prstGeom prst="ellipse">
            <a:avLst/>
          </a:prstGeom>
          <a:solidFill>
            <a:srgbClr val="D8E4F6"/>
          </a:solidFill>
          <a:ln w="9525">
            <a:solidFill>
              <a:srgbClr val="0B30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717800" y="3657600"/>
            <a:ext cx="1981200" cy="203200"/>
          </a:xfrm>
          <a:prstGeom prst="rect">
            <a:avLst/>
          </a:prstGeom>
          <a:noFill/>
        </p:spPr>
        <p:txBody>
          <a:bodyPr wrap="square" lIns="0" rIns="0" tIns="0" bIns="0" anchor="t">
            <a:spAutoFit/>
          </a:bodyPr>
          <a:lstStyle/>
          <a:p>
            <a:pPr algn="ctr">
              <a:lnSpc>
                <a:spcPct val="125000"/>
              </a:lnSpc>
              <a:spcAft>
                <a:spcPts val="300"/>
              </a:spcAft>
            </a:pPr>
            <a:r>
              <a:rPr sz="1100" b="1">
                <a:solidFill>
                  <a:srgbClr val="0B308E"/>
                </a:solidFill>
                <a:latin typeface="Arial"/>
              </a:rPr>
              <a:t>740 MHz</a:t>
            </a:r>
          </a:p>
        </p:txBody>
      </p:sp>
      <p:sp>
        <p:nvSpPr>
          <p:cNvPr id="30" name="TextBox 29"/>
          <p:cNvSpPr txBox="1"/>
          <p:nvPr/>
        </p:nvSpPr>
        <p:spPr>
          <a:xfrm>
            <a:off x="2717800" y="3886200"/>
            <a:ext cx="1981200" cy="381000"/>
          </a:xfrm>
          <a:prstGeom prst="rect">
            <a:avLst/>
          </a:prstGeom>
          <a:noFill/>
        </p:spPr>
        <p:txBody>
          <a:bodyPr wrap="square" lIns="0" rIns="0" tIns="0" bIns="0" anchor="t">
            <a:spAutoFit/>
          </a:bodyPr>
          <a:lstStyle/>
          <a:p>
            <a:pPr algn="ctr">
              <a:lnSpc>
                <a:spcPct val="125000"/>
              </a:lnSpc>
              <a:spcAft>
                <a:spcPts val="300"/>
              </a:spcAft>
            </a:pPr>
            <a:r>
              <a:rPr sz="900" b="1">
                <a:solidFill>
                  <a:srgbClr val="7F9B00"/>
                </a:solidFill>
                <a:latin typeface="Arial"/>
              </a:rPr>
              <a:t>2.5-3× sites  ·  91.3% from the same grid</a:t>
            </a:r>
          </a:p>
        </p:txBody>
      </p:sp>
      <p:sp>
        <p:nvSpPr>
          <p:cNvPr id="31" name="Rectangle 30"/>
          <p:cNvSpPr/>
          <p:nvPr/>
        </p:nvSpPr>
        <p:spPr>
          <a:xfrm>
            <a:off x="4826000" y="1549400"/>
            <a:ext cx="1981200" cy="19812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2" name="Connector 31"/>
          <p:cNvCxnSpPr/>
          <p:nvPr/>
        </p:nvCxnSpPr>
        <p:spPr>
          <a:xfrm>
            <a:off x="5321300" y="1612900"/>
            <a:ext cx="0" cy="1854200"/>
          </a:xfrm>
          <a:prstGeom prst="line">
            <a:avLst/>
          </a:prstGeom>
          <a:ln w="6350">
            <a:solidFill>
              <a:srgbClr val="DCE5F3"/>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89500" y="2044700"/>
            <a:ext cx="1854200" cy="0"/>
          </a:xfrm>
          <a:prstGeom prst="line">
            <a:avLst/>
          </a:prstGeom>
          <a:ln w="6350">
            <a:solidFill>
              <a:srgbClr val="DCE5F3"/>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816600" y="1612900"/>
            <a:ext cx="0" cy="1854200"/>
          </a:xfrm>
          <a:prstGeom prst="line">
            <a:avLst/>
          </a:prstGeom>
          <a:ln w="6350">
            <a:solidFill>
              <a:srgbClr val="DCE5F3"/>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889500" y="2540000"/>
            <a:ext cx="1854200" cy="0"/>
          </a:xfrm>
          <a:prstGeom prst="line">
            <a:avLst/>
          </a:prstGeom>
          <a:ln w="6350">
            <a:solidFill>
              <a:srgbClr val="DCE5F3"/>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311900" y="1612900"/>
            <a:ext cx="0" cy="1854200"/>
          </a:xfrm>
          <a:prstGeom prst="line">
            <a:avLst/>
          </a:prstGeom>
          <a:ln w="6350">
            <a:solidFill>
              <a:srgbClr val="DCE5F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889500" y="3035300"/>
            <a:ext cx="1854200" cy="0"/>
          </a:xfrm>
          <a:prstGeom prst="line">
            <a:avLst/>
          </a:prstGeom>
          <a:ln w="6350">
            <a:solidFill>
              <a:srgbClr val="DCE5F3"/>
            </a:solidFill>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4876800" y="2163826"/>
            <a:ext cx="431800" cy="371348"/>
          </a:xfrm>
          <a:prstGeom prst="ellipse">
            <a:avLst/>
          </a:prstGeom>
          <a:solidFill>
            <a:srgbClr val="D8E4F6"/>
          </a:solidFill>
          <a:ln w="9525">
            <a:solidFill>
              <a:srgbClr val="0B30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Oval 38"/>
          <p:cNvSpPr/>
          <p:nvPr/>
        </p:nvSpPr>
        <p:spPr>
          <a:xfrm>
            <a:off x="4876800" y="2544826"/>
            <a:ext cx="431800" cy="371348"/>
          </a:xfrm>
          <a:prstGeom prst="ellipse">
            <a:avLst/>
          </a:prstGeom>
          <a:solidFill>
            <a:srgbClr val="D8E4F6"/>
          </a:solidFill>
          <a:ln w="9525">
            <a:solidFill>
              <a:srgbClr val="0B30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Oval 39"/>
          <p:cNvSpPr/>
          <p:nvPr/>
        </p:nvSpPr>
        <p:spPr>
          <a:xfrm>
            <a:off x="5359400" y="1782826"/>
            <a:ext cx="431800" cy="371348"/>
          </a:xfrm>
          <a:prstGeom prst="ellipse">
            <a:avLst/>
          </a:prstGeom>
          <a:solidFill>
            <a:srgbClr val="D8E4F6"/>
          </a:solidFill>
          <a:ln w="9525">
            <a:solidFill>
              <a:srgbClr val="0B30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Oval 40"/>
          <p:cNvSpPr/>
          <p:nvPr/>
        </p:nvSpPr>
        <p:spPr>
          <a:xfrm>
            <a:off x="5359400" y="2163826"/>
            <a:ext cx="431800" cy="371348"/>
          </a:xfrm>
          <a:prstGeom prst="ellipse">
            <a:avLst/>
          </a:prstGeom>
          <a:solidFill>
            <a:srgbClr val="D8E4F6"/>
          </a:solidFill>
          <a:ln w="9525">
            <a:solidFill>
              <a:srgbClr val="0B30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5359400" y="2544826"/>
            <a:ext cx="431800" cy="371348"/>
          </a:xfrm>
          <a:prstGeom prst="ellipse">
            <a:avLst/>
          </a:prstGeom>
          <a:solidFill>
            <a:srgbClr val="D8E4F6"/>
          </a:solidFill>
          <a:ln w="9525">
            <a:solidFill>
              <a:srgbClr val="0B30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Oval 42"/>
          <p:cNvSpPr/>
          <p:nvPr/>
        </p:nvSpPr>
        <p:spPr>
          <a:xfrm>
            <a:off x="5359400" y="2925826"/>
            <a:ext cx="431800" cy="371348"/>
          </a:xfrm>
          <a:prstGeom prst="ellipse">
            <a:avLst/>
          </a:prstGeom>
          <a:solidFill>
            <a:srgbClr val="D8E4F6"/>
          </a:solidFill>
          <a:ln w="9525">
            <a:solidFill>
              <a:srgbClr val="0B30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Oval 43"/>
          <p:cNvSpPr/>
          <p:nvPr/>
        </p:nvSpPr>
        <p:spPr>
          <a:xfrm>
            <a:off x="5842000" y="1782826"/>
            <a:ext cx="431800" cy="371348"/>
          </a:xfrm>
          <a:prstGeom prst="ellipse">
            <a:avLst/>
          </a:prstGeom>
          <a:solidFill>
            <a:srgbClr val="D8E4F6"/>
          </a:solidFill>
          <a:ln w="9525">
            <a:solidFill>
              <a:srgbClr val="0B30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Oval 44"/>
          <p:cNvSpPr/>
          <p:nvPr/>
        </p:nvSpPr>
        <p:spPr>
          <a:xfrm>
            <a:off x="5842000" y="2163826"/>
            <a:ext cx="431800" cy="371348"/>
          </a:xfrm>
          <a:prstGeom prst="ellipse">
            <a:avLst/>
          </a:prstGeom>
          <a:solidFill>
            <a:srgbClr val="D8E4F6"/>
          </a:solidFill>
          <a:ln w="9525">
            <a:solidFill>
              <a:srgbClr val="0B30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Oval 45"/>
          <p:cNvSpPr/>
          <p:nvPr/>
        </p:nvSpPr>
        <p:spPr>
          <a:xfrm>
            <a:off x="5842000" y="2544826"/>
            <a:ext cx="431800" cy="371348"/>
          </a:xfrm>
          <a:prstGeom prst="ellipse">
            <a:avLst/>
          </a:prstGeom>
          <a:solidFill>
            <a:srgbClr val="D8E4F6"/>
          </a:solidFill>
          <a:ln w="9525">
            <a:solidFill>
              <a:srgbClr val="0B30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Oval 46"/>
          <p:cNvSpPr/>
          <p:nvPr/>
        </p:nvSpPr>
        <p:spPr>
          <a:xfrm>
            <a:off x="5842000" y="2925826"/>
            <a:ext cx="431800" cy="371348"/>
          </a:xfrm>
          <a:prstGeom prst="ellipse">
            <a:avLst/>
          </a:prstGeom>
          <a:solidFill>
            <a:srgbClr val="D8E4F6"/>
          </a:solidFill>
          <a:ln w="9525">
            <a:solidFill>
              <a:srgbClr val="0B30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Oval 47"/>
          <p:cNvSpPr/>
          <p:nvPr/>
        </p:nvSpPr>
        <p:spPr>
          <a:xfrm>
            <a:off x="6324600" y="2163826"/>
            <a:ext cx="431800" cy="371348"/>
          </a:xfrm>
          <a:prstGeom prst="ellipse">
            <a:avLst/>
          </a:prstGeom>
          <a:solidFill>
            <a:srgbClr val="D8E4F6"/>
          </a:solidFill>
          <a:ln w="9525">
            <a:solidFill>
              <a:srgbClr val="0B30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Oval 48"/>
          <p:cNvSpPr/>
          <p:nvPr/>
        </p:nvSpPr>
        <p:spPr>
          <a:xfrm>
            <a:off x="6324600" y="2544826"/>
            <a:ext cx="431800" cy="371348"/>
          </a:xfrm>
          <a:prstGeom prst="ellipse">
            <a:avLst/>
          </a:prstGeom>
          <a:solidFill>
            <a:srgbClr val="D8E4F6"/>
          </a:solidFill>
          <a:ln w="9525">
            <a:solidFill>
              <a:srgbClr val="0B30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Oval 49"/>
          <p:cNvSpPr/>
          <p:nvPr/>
        </p:nvSpPr>
        <p:spPr>
          <a:xfrm>
            <a:off x="6324600" y="2925826"/>
            <a:ext cx="431800" cy="371348"/>
          </a:xfrm>
          <a:prstGeom prst="ellipse">
            <a:avLst/>
          </a:prstGeom>
          <a:solidFill>
            <a:srgbClr val="D8E4F6"/>
          </a:solidFill>
          <a:ln w="9525">
            <a:solidFill>
              <a:srgbClr val="0B308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4826000" y="3657600"/>
            <a:ext cx="1981200" cy="203200"/>
          </a:xfrm>
          <a:prstGeom prst="rect">
            <a:avLst/>
          </a:prstGeom>
          <a:noFill/>
        </p:spPr>
        <p:txBody>
          <a:bodyPr wrap="square" lIns="0" rIns="0" tIns="0" bIns="0" anchor="t">
            <a:spAutoFit/>
          </a:bodyPr>
          <a:lstStyle/>
          <a:p>
            <a:pPr algn="ctr">
              <a:lnSpc>
                <a:spcPct val="125000"/>
              </a:lnSpc>
              <a:spcAft>
                <a:spcPts val="300"/>
              </a:spcAft>
            </a:pPr>
            <a:r>
              <a:rPr sz="1100" b="1">
                <a:solidFill>
                  <a:srgbClr val="0B308E"/>
                </a:solidFill>
                <a:latin typeface="Arial"/>
              </a:rPr>
              <a:t>2350 MHz</a:t>
            </a:r>
          </a:p>
        </p:txBody>
      </p:sp>
      <p:sp>
        <p:nvSpPr>
          <p:cNvPr id="52" name="TextBox 51"/>
          <p:cNvSpPr txBox="1"/>
          <p:nvPr/>
        </p:nvSpPr>
        <p:spPr>
          <a:xfrm>
            <a:off x="4826000" y="3886200"/>
            <a:ext cx="1981200" cy="381000"/>
          </a:xfrm>
          <a:prstGeom prst="rect">
            <a:avLst/>
          </a:prstGeom>
          <a:noFill/>
        </p:spPr>
        <p:txBody>
          <a:bodyPr wrap="square" lIns="0" rIns="0" tIns="0" bIns="0" anchor="t">
            <a:spAutoFit/>
          </a:bodyPr>
          <a:lstStyle/>
          <a:p>
            <a:pPr algn="ctr">
              <a:lnSpc>
                <a:spcPct val="125000"/>
              </a:lnSpc>
              <a:spcAft>
                <a:spcPts val="300"/>
              </a:spcAft>
            </a:pPr>
            <a:r>
              <a:rPr sz="900" b="1">
                <a:solidFill>
                  <a:srgbClr val="7F9B00"/>
                </a:solidFill>
                <a:latin typeface="Arial"/>
              </a:rPr>
              <a:t>12-15× sites  ·  58.7% from the same grid</a:t>
            </a:r>
          </a:p>
        </p:txBody>
      </p:sp>
      <p:sp>
        <p:nvSpPr>
          <p:cNvPr id="53" name="TextBox 52"/>
          <p:cNvSpPr txBox="1"/>
          <p:nvPr/>
        </p:nvSpPr>
        <p:spPr>
          <a:xfrm>
            <a:off x="609600" y="4368800"/>
            <a:ext cx="6350000" cy="406400"/>
          </a:xfrm>
          <a:prstGeom prst="rect">
            <a:avLst/>
          </a:prstGeom>
          <a:noFill/>
        </p:spPr>
        <p:txBody>
          <a:bodyPr wrap="square" lIns="0" rIns="0" tIns="0" bIns="0" anchor="t">
            <a:spAutoFit/>
          </a:bodyPr>
          <a:lstStyle/>
          <a:p>
            <a:pPr algn="l">
              <a:lnSpc>
                <a:spcPct val="135000"/>
              </a:lnSpc>
              <a:spcAft>
                <a:spcPts val="300"/>
              </a:spcAft>
            </a:pPr>
            <a:r>
              <a:rPr sz="1000" b="0">
                <a:solidFill>
                  <a:srgbClr val="55607A"/>
                </a:solidFill>
                <a:latin typeface="Arial"/>
              </a:rPr>
              <a:t>Same area, same grid. Only the low band covers it with one site - which is what makes island and</a:t>
            </a:r>
          </a:p>
          <a:p>
            <a:pPr algn="l">
              <a:lnSpc>
                <a:spcPct val="135000"/>
              </a:lnSpc>
              <a:spcAft>
                <a:spcPts val="300"/>
              </a:spcAft>
            </a:pPr>
            <a:r>
              <a:rPr sz="1000" b="0">
                <a:solidFill>
                  <a:srgbClr val="55607A"/>
                </a:solidFill>
                <a:latin typeface="Arial"/>
              </a:rPr>
              <a:t>mountain coverage affordable, and what makes extensive backup power affordable.</a:t>
            </a:r>
          </a:p>
        </p:txBody>
      </p:sp>
      <p:sp>
        <p:nvSpPr>
          <p:cNvPr id="54" name="TextBox 53"/>
          <p:cNvSpPr txBox="1"/>
          <p:nvPr/>
        </p:nvSpPr>
        <p:spPr>
          <a:xfrm>
            <a:off x="7112000" y="1549400"/>
            <a:ext cx="4470400" cy="177800"/>
          </a:xfrm>
          <a:prstGeom prst="rect">
            <a:avLst/>
          </a:prstGeom>
          <a:noFill/>
        </p:spPr>
        <p:txBody>
          <a:bodyPr wrap="square" lIns="0" rIns="0" tIns="0" bIns="0" anchor="t">
            <a:spAutoFit/>
          </a:bodyPr>
          <a:lstStyle/>
          <a:p>
            <a:pPr algn="l">
              <a:lnSpc>
                <a:spcPct val="125000"/>
              </a:lnSpc>
              <a:spcAft>
                <a:spcPts val="300"/>
              </a:spcAft>
            </a:pPr>
            <a:r>
              <a:rPr sz="850" b="1">
                <a:solidFill>
                  <a:srgbClr val="7F9B00"/>
                </a:solidFill>
                <a:latin typeface="Arial"/>
              </a:rPr>
              <a:t>WHAT THAT BUYS</a:t>
            </a:r>
          </a:p>
        </p:txBody>
      </p:sp>
      <p:sp>
        <p:nvSpPr>
          <p:cNvPr id="55" name="Rectangle 54"/>
          <p:cNvSpPr/>
          <p:nvPr/>
        </p:nvSpPr>
        <p:spPr>
          <a:xfrm>
            <a:off x="7112000" y="19431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7315200" y="1879600"/>
            <a:ext cx="4267200" cy="584200"/>
          </a:xfrm>
          <a:prstGeom prst="rect">
            <a:avLst/>
          </a:prstGeom>
          <a:noFill/>
        </p:spPr>
        <p:txBody>
          <a:bodyPr wrap="square" lIns="0" rIns="0" tIns="0" bIns="0" anchor="t">
            <a:spAutoFit/>
          </a:bodyPr>
          <a:lstStyle/>
          <a:p>
            <a:pPr algn="l">
              <a:lnSpc>
                <a:spcPct val="128000"/>
              </a:lnSpc>
              <a:spcAft>
                <a:spcPts val="300"/>
              </a:spcAft>
            </a:pPr>
            <a:r>
              <a:rPr sz="1150" b="0">
                <a:solidFill>
                  <a:srgbClr val="55607A"/>
                </a:solidFill>
                <a:latin typeface="Arial"/>
              </a:rPr>
              <a:t>Bends around ridges and into valleys instead of needing line of sight</a:t>
            </a:r>
          </a:p>
        </p:txBody>
      </p:sp>
      <p:sp>
        <p:nvSpPr>
          <p:cNvPr id="57" name="Rectangle 56"/>
          <p:cNvSpPr/>
          <p:nvPr/>
        </p:nvSpPr>
        <p:spPr>
          <a:xfrm>
            <a:off x="7112000" y="25781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7315200" y="2514600"/>
            <a:ext cx="4267200" cy="584200"/>
          </a:xfrm>
          <a:prstGeom prst="rect">
            <a:avLst/>
          </a:prstGeom>
          <a:noFill/>
        </p:spPr>
        <p:txBody>
          <a:bodyPr wrap="square" lIns="0" rIns="0" tIns="0" bIns="0" anchor="t">
            <a:spAutoFit/>
          </a:bodyPr>
          <a:lstStyle/>
          <a:p>
            <a:pPr algn="l">
              <a:lnSpc>
                <a:spcPct val="128000"/>
              </a:lnSpc>
              <a:spcAft>
                <a:spcPts val="300"/>
              </a:spcAft>
            </a:pPr>
            <a:r>
              <a:rPr sz="1150" b="0">
                <a:solidFill>
                  <a:srgbClr val="55607A"/>
                </a:solidFill>
                <a:latin typeface="Arial"/>
              </a:rPr>
              <a:t>Reaches meter boxes, basements and tunnels that mid-band cannot</a:t>
            </a:r>
          </a:p>
        </p:txBody>
      </p:sp>
      <p:sp>
        <p:nvSpPr>
          <p:cNvPr id="59" name="Rectangle 58"/>
          <p:cNvSpPr/>
          <p:nvPr/>
        </p:nvSpPr>
        <p:spPr>
          <a:xfrm>
            <a:off x="7112000" y="32131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7315200" y="3149600"/>
            <a:ext cx="4267200" cy="584200"/>
          </a:xfrm>
          <a:prstGeom prst="rect">
            <a:avLst/>
          </a:prstGeom>
          <a:noFill/>
        </p:spPr>
        <p:txBody>
          <a:bodyPr wrap="square" lIns="0" rIns="0" tIns="0" bIns="0" anchor="t">
            <a:spAutoFit/>
          </a:bodyPr>
          <a:lstStyle/>
          <a:p>
            <a:pPr algn="l">
              <a:lnSpc>
                <a:spcPct val="128000"/>
              </a:lnSpc>
              <a:spcAft>
                <a:spcPts val="300"/>
              </a:spcAft>
            </a:pPr>
            <a:r>
              <a:rPr sz="1150" b="0">
                <a:solidFill>
                  <a:srgbClr val="55607A"/>
                </a:solidFill>
                <a:latin typeface="Arial"/>
              </a:rPr>
              <a:t>Fewer sites is what makes extensive backup power affordable</a:t>
            </a:r>
          </a:p>
        </p:txBody>
      </p:sp>
      <p:sp>
        <p:nvSpPr>
          <p:cNvPr id="61" name="Rectangle 60"/>
          <p:cNvSpPr/>
          <p:nvPr/>
        </p:nvSpPr>
        <p:spPr>
          <a:xfrm>
            <a:off x="0" y="5740400"/>
            <a:ext cx="12192000" cy="508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609600" y="5740400"/>
            <a:ext cx="10972800" cy="508000"/>
          </a:xfrm>
          <a:prstGeom prst="rect">
            <a:avLst/>
          </a:prstGeom>
          <a:noFill/>
        </p:spPr>
        <p:txBody>
          <a:bodyPr wrap="square" lIns="0" rIns="0" tIns="0" bIns="0" anchor="ctr">
            <a:spAutoFit/>
          </a:bodyPr>
          <a:lstStyle/>
          <a:p>
            <a:pPr algn="l">
              <a:lnSpc>
                <a:spcPct val="130000"/>
              </a:lnSpc>
            </a:pPr>
            <a:r>
              <a:rPr sz="1200" b="1">
                <a:solidFill>
                  <a:srgbClr val="FFFFFF"/>
                </a:solidFill>
                <a:latin typeface="Arial"/>
              </a:rPr>
              <a:t>What it is not:  </a:t>
            </a:r>
            <a:r>
              <a:rPr sz="1200" b="0">
                <a:solidFill>
                  <a:srgbClr val="DCE5F3"/>
                </a:solidFill>
                <a:latin typeface="Arial"/>
              </a:rPr>
              <a:t>with 3-5 MHz it carries voice, low-rate video and telemetry. It stays outside the capacity game.</a:t>
            </a:r>
          </a:p>
        </p:txBody>
      </p:sp>
      <p:sp>
        <p:nvSpPr>
          <p:cNvPr id="63" name="TextBox 62"/>
          <p:cNvSpPr txBox="1"/>
          <p:nvPr/>
        </p:nvSpPr>
        <p:spPr>
          <a:xfrm>
            <a:off x="609600" y="6451600"/>
            <a:ext cx="10972800" cy="177800"/>
          </a:xfrm>
          <a:prstGeom prst="rect">
            <a:avLst/>
          </a:prstGeom>
          <a:noFill/>
        </p:spPr>
        <p:txBody>
          <a:bodyPr wrap="square" lIns="0" rIns="0" tIns="0" bIns="0" anchor="t">
            <a:spAutoFit/>
          </a:bodyPr>
          <a:lstStyle/>
          <a:p>
            <a:pPr algn="l">
              <a:lnSpc>
                <a:spcPct val="125000"/>
              </a:lnSpc>
              <a:spcAft>
                <a:spcPts val="300"/>
              </a:spcAft>
            </a:pPr>
            <a:r>
              <a:rPr sz="800" b="0">
                <a:solidFill>
                  <a:srgbClr val="93A0B4"/>
                </a:solidFill>
                <a:latin typeface="Arial"/>
              </a:rPr>
              <a:t>Source: 450 MHz Alliance, Brief (Jun 2022) p15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381000"/>
            <a:ext cx="228600" cy="635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39800" y="279400"/>
            <a:ext cx="9906000" cy="381000"/>
          </a:xfrm>
          <a:prstGeom prst="rect">
            <a:avLst/>
          </a:prstGeom>
          <a:noFill/>
        </p:spPr>
        <p:txBody>
          <a:bodyPr wrap="square" lIns="0" rIns="0" tIns="0" bIns="0" anchor="t">
            <a:spAutoFit/>
          </a:bodyPr>
          <a:lstStyle/>
          <a:p>
            <a:pPr algn="l">
              <a:lnSpc>
                <a:spcPct val="125000"/>
              </a:lnSpc>
              <a:spcAft>
                <a:spcPts val="300"/>
              </a:spcAft>
            </a:pPr>
            <a:r>
              <a:rPr sz="2100" b="1">
                <a:solidFill>
                  <a:srgbClr val="0B308E"/>
                </a:solidFill>
                <a:latin typeface="Arial"/>
              </a:rPr>
              <a:t>What MCS means - and how it sits on the band</a:t>
            </a:r>
          </a:p>
        </p:txBody>
      </p:sp>
      <p:sp>
        <p:nvSpPr>
          <p:cNvPr id="5" name="TextBox 4"/>
          <p:cNvSpPr txBox="1"/>
          <p:nvPr/>
        </p:nvSpPr>
        <p:spPr>
          <a:xfrm>
            <a:off x="609600" y="787400"/>
            <a:ext cx="8890000" cy="203200"/>
          </a:xfrm>
          <a:prstGeom prst="rect">
            <a:avLst/>
          </a:prstGeom>
          <a:noFill/>
        </p:spPr>
        <p:txBody>
          <a:bodyPr wrap="square" lIns="0" rIns="0" tIns="0" bIns="0" anchor="t">
            <a:spAutoFit/>
          </a:bodyPr>
          <a:lstStyle/>
          <a:p>
            <a:pPr algn="l">
              <a:lnSpc>
                <a:spcPct val="125000"/>
              </a:lnSpc>
              <a:spcAft>
                <a:spcPts val="300"/>
              </a:spcAft>
            </a:pPr>
            <a:r>
              <a:rPr sz="850" b="1">
                <a:solidFill>
                  <a:srgbClr val="7F9B00"/>
                </a:solidFill>
                <a:latin typeface="Arial"/>
              </a:rPr>
              <a:t>THE SERVICE LAYER</a:t>
            </a:r>
          </a:p>
        </p:txBody>
      </p:sp>
      <p:sp>
        <p:nvSpPr>
          <p:cNvPr id="6" name="TextBox 5"/>
          <p:cNvSpPr txBox="1"/>
          <p:nvPr/>
        </p:nvSpPr>
        <p:spPr>
          <a:xfrm>
            <a:off x="11023600" y="279400"/>
            <a:ext cx="558800" cy="330200"/>
          </a:xfrm>
          <a:prstGeom prst="rect">
            <a:avLst/>
          </a:prstGeom>
          <a:noFill/>
        </p:spPr>
        <p:txBody>
          <a:bodyPr wrap="square" lIns="0" rIns="0" tIns="0" bIns="0" anchor="t">
            <a:spAutoFit/>
          </a:bodyPr>
          <a:lstStyle/>
          <a:p>
            <a:pPr algn="r">
              <a:lnSpc>
                <a:spcPct val="125000"/>
              </a:lnSpc>
              <a:spcAft>
                <a:spcPts val="300"/>
              </a:spcAft>
            </a:pPr>
            <a:r>
              <a:rPr sz="1700" b="1">
                <a:solidFill>
                  <a:srgbClr val="0B308E"/>
                </a:solidFill>
                <a:latin typeface="Arial"/>
              </a:rPr>
              <a:t>06</a:t>
            </a:r>
          </a:p>
        </p:txBody>
      </p:sp>
      <p:cxnSp>
        <p:nvCxnSpPr>
          <p:cNvPr id="7" name="Connector 6"/>
          <p:cNvCxnSpPr/>
          <p:nvPr/>
        </p:nvCxnSpPr>
        <p:spPr>
          <a:xfrm>
            <a:off x="609600" y="1041400"/>
            <a:ext cx="10972800" cy="0"/>
          </a:xfrm>
          <a:prstGeom prst="line">
            <a:avLst/>
          </a:prstGeom>
          <a:ln w="12700">
            <a:solidFill>
              <a:srgbClr val="D6E0F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1193800"/>
            <a:ext cx="10972800" cy="228600"/>
          </a:xfrm>
          <a:prstGeom prst="rect">
            <a:avLst/>
          </a:prstGeom>
          <a:noFill/>
        </p:spPr>
        <p:txBody>
          <a:bodyPr wrap="square" lIns="0" rIns="0" tIns="0" bIns="0" anchor="t">
            <a:spAutoFit/>
          </a:bodyPr>
          <a:lstStyle/>
          <a:p>
            <a:pPr algn="l">
              <a:lnSpc>
                <a:spcPct val="125000"/>
              </a:lnSpc>
              <a:spcAft>
                <a:spcPts val="300"/>
              </a:spcAft>
            </a:pPr>
            <a:r>
              <a:rPr sz="1150" b="0">
                <a:solidFill>
                  <a:srgbClr val="55607A"/>
                </a:solidFill>
                <a:latin typeface="Arial"/>
              </a:rPr>
              <a:t>Every case in this deck runs MCS. This page explains what it is, because the term carries the delivery.</a:t>
            </a:r>
          </a:p>
        </p:txBody>
      </p:sp>
      <p:sp>
        <p:nvSpPr>
          <p:cNvPr id="9" name="Rectangle 8"/>
          <p:cNvSpPr/>
          <p:nvPr/>
        </p:nvSpPr>
        <p:spPr>
          <a:xfrm>
            <a:off x="609600" y="1549400"/>
            <a:ext cx="5461000" cy="254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38200" y="1727200"/>
            <a:ext cx="5003800" cy="228600"/>
          </a:xfrm>
          <a:prstGeom prst="rect">
            <a:avLst/>
          </a:prstGeom>
          <a:noFill/>
        </p:spPr>
        <p:txBody>
          <a:bodyPr wrap="square" lIns="0" rIns="0" tIns="0" bIns="0" anchor="t">
            <a:spAutoFit/>
          </a:bodyPr>
          <a:lstStyle/>
          <a:p>
            <a:pPr algn="l">
              <a:lnSpc>
                <a:spcPct val="125000"/>
              </a:lnSpc>
              <a:spcAft>
                <a:spcPts val="300"/>
              </a:spcAft>
            </a:pPr>
            <a:r>
              <a:rPr sz="1200" b="1">
                <a:solidFill>
                  <a:srgbClr val="0B308E"/>
                </a:solidFill>
                <a:latin typeface="Arial"/>
              </a:rPr>
              <a:t>3GPP mission-critical services (MCS / MCX)</a:t>
            </a:r>
          </a:p>
        </p:txBody>
      </p:sp>
      <p:sp>
        <p:nvSpPr>
          <p:cNvPr id="11" name="Rectangle 10"/>
          <p:cNvSpPr/>
          <p:nvPr/>
        </p:nvSpPr>
        <p:spPr>
          <a:xfrm>
            <a:off x="838200" y="2082800"/>
            <a:ext cx="5003800" cy="50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838200" y="2082800"/>
            <a:ext cx="38100" cy="5080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a_894738e172.png"/>
          <p:cNvPicPr>
            <a:picLocks noChangeAspect="1"/>
          </p:cNvPicPr>
          <p:nvPr/>
        </p:nvPicPr>
        <p:blipFill>
          <a:blip r:embed="rId2"/>
          <a:stretch>
            <a:fillRect/>
          </a:stretch>
        </p:blipFill>
        <p:spPr>
          <a:xfrm>
            <a:off x="1030634" y="2159000"/>
            <a:ext cx="123130" cy="355599"/>
          </a:xfrm>
          <a:prstGeom prst="rect">
            <a:avLst/>
          </a:prstGeom>
        </p:spPr>
      </p:pic>
      <p:sp>
        <p:nvSpPr>
          <p:cNvPr id="14" name="TextBox 13"/>
          <p:cNvSpPr txBox="1"/>
          <p:nvPr/>
        </p:nvSpPr>
        <p:spPr>
          <a:xfrm>
            <a:off x="1295400" y="2133600"/>
            <a:ext cx="1397000" cy="228600"/>
          </a:xfrm>
          <a:prstGeom prst="rect">
            <a:avLst/>
          </a:prstGeom>
          <a:noFill/>
        </p:spPr>
        <p:txBody>
          <a:bodyPr wrap="square" lIns="0" rIns="0" tIns="0" bIns="0" anchor="t">
            <a:spAutoFit/>
          </a:bodyPr>
          <a:lstStyle/>
          <a:p>
            <a:pPr algn="l">
              <a:lnSpc>
                <a:spcPct val="125000"/>
              </a:lnSpc>
              <a:spcAft>
                <a:spcPts val="300"/>
              </a:spcAft>
            </a:pPr>
            <a:r>
              <a:rPr sz="1150" b="1">
                <a:solidFill>
                  <a:srgbClr val="0B308E"/>
                </a:solidFill>
                <a:latin typeface="Arial"/>
              </a:rPr>
              <a:t>MCPTT</a:t>
            </a:r>
          </a:p>
        </p:txBody>
      </p:sp>
      <p:sp>
        <p:nvSpPr>
          <p:cNvPr id="15" name="TextBox 14"/>
          <p:cNvSpPr txBox="1"/>
          <p:nvPr/>
        </p:nvSpPr>
        <p:spPr>
          <a:xfrm>
            <a:off x="1295400" y="2349500"/>
            <a:ext cx="4368800" cy="203200"/>
          </a:xfrm>
          <a:prstGeom prst="rect">
            <a:avLst/>
          </a:prstGeom>
          <a:noFill/>
        </p:spPr>
        <p:txBody>
          <a:bodyPr wrap="square" lIns="0" rIns="0" tIns="0" bIns="0" anchor="t">
            <a:spAutoFit/>
          </a:bodyPr>
          <a:lstStyle/>
          <a:p>
            <a:pPr algn="l">
              <a:lnSpc>
                <a:spcPct val="125000"/>
              </a:lnSpc>
              <a:spcAft>
                <a:spcPts val="300"/>
              </a:spcAft>
            </a:pPr>
            <a:r>
              <a:rPr sz="900" b="0">
                <a:solidFill>
                  <a:srgbClr val="55607A"/>
                </a:solidFill>
                <a:latin typeface="Arial"/>
              </a:rPr>
              <a:t>push-to-talk voice, with priority and pre-emption</a:t>
            </a:r>
          </a:p>
        </p:txBody>
      </p:sp>
      <p:sp>
        <p:nvSpPr>
          <p:cNvPr id="16" name="Rectangle 15"/>
          <p:cNvSpPr/>
          <p:nvPr/>
        </p:nvSpPr>
        <p:spPr>
          <a:xfrm>
            <a:off x="838200" y="2692400"/>
            <a:ext cx="5003800" cy="50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838200" y="2692400"/>
            <a:ext cx="38100" cy="5080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a_5ed136eabd.png"/>
          <p:cNvPicPr>
            <a:picLocks noChangeAspect="1"/>
          </p:cNvPicPr>
          <p:nvPr/>
        </p:nvPicPr>
        <p:blipFill>
          <a:blip r:embed="rId3"/>
          <a:stretch>
            <a:fillRect/>
          </a:stretch>
        </p:blipFill>
        <p:spPr>
          <a:xfrm>
            <a:off x="1017817" y="2768600"/>
            <a:ext cx="148764" cy="355600"/>
          </a:xfrm>
          <a:prstGeom prst="rect">
            <a:avLst/>
          </a:prstGeom>
        </p:spPr>
      </p:pic>
      <p:sp>
        <p:nvSpPr>
          <p:cNvPr id="19" name="TextBox 18"/>
          <p:cNvSpPr txBox="1"/>
          <p:nvPr/>
        </p:nvSpPr>
        <p:spPr>
          <a:xfrm>
            <a:off x="1295400" y="2743200"/>
            <a:ext cx="1397000" cy="228600"/>
          </a:xfrm>
          <a:prstGeom prst="rect">
            <a:avLst/>
          </a:prstGeom>
          <a:noFill/>
        </p:spPr>
        <p:txBody>
          <a:bodyPr wrap="square" lIns="0" rIns="0" tIns="0" bIns="0" anchor="t">
            <a:spAutoFit/>
          </a:bodyPr>
          <a:lstStyle/>
          <a:p>
            <a:pPr algn="l">
              <a:lnSpc>
                <a:spcPct val="125000"/>
              </a:lnSpc>
              <a:spcAft>
                <a:spcPts val="300"/>
              </a:spcAft>
            </a:pPr>
            <a:r>
              <a:rPr sz="1150" b="1">
                <a:solidFill>
                  <a:srgbClr val="0B308E"/>
                </a:solidFill>
                <a:latin typeface="Arial"/>
              </a:rPr>
              <a:t>MCVideo</a:t>
            </a:r>
          </a:p>
        </p:txBody>
      </p:sp>
      <p:sp>
        <p:nvSpPr>
          <p:cNvPr id="20" name="TextBox 19"/>
          <p:cNvSpPr txBox="1"/>
          <p:nvPr/>
        </p:nvSpPr>
        <p:spPr>
          <a:xfrm>
            <a:off x="1295400" y="2959100"/>
            <a:ext cx="4368800" cy="203200"/>
          </a:xfrm>
          <a:prstGeom prst="rect">
            <a:avLst/>
          </a:prstGeom>
          <a:noFill/>
        </p:spPr>
        <p:txBody>
          <a:bodyPr wrap="square" lIns="0" rIns="0" tIns="0" bIns="0" anchor="t">
            <a:spAutoFit/>
          </a:bodyPr>
          <a:lstStyle/>
          <a:p>
            <a:pPr algn="l">
              <a:lnSpc>
                <a:spcPct val="125000"/>
              </a:lnSpc>
              <a:spcAft>
                <a:spcPts val="300"/>
              </a:spcAft>
            </a:pPr>
            <a:r>
              <a:rPr sz="900" b="0">
                <a:solidFill>
                  <a:srgbClr val="55607A"/>
                </a:solidFill>
                <a:latin typeface="Arial"/>
              </a:rPr>
              <a:t>live and recorded video from the scene</a:t>
            </a:r>
          </a:p>
        </p:txBody>
      </p:sp>
      <p:sp>
        <p:nvSpPr>
          <p:cNvPr id="21" name="Rectangle 20"/>
          <p:cNvSpPr/>
          <p:nvPr/>
        </p:nvSpPr>
        <p:spPr>
          <a:xfrm>
            <a:off x="838200" y="3302000"/>
            <a:ext cx="5003800" cy="50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838200" y="3302000"/>
            <a:ext cx="38100" cy="5080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a_f5756d3699.png"/>
          <p:cNvPicPr>
            <a:picLocks noChangeAspect="1"/>
          </p:cNvPicPr>
          <p:nvPr/>
        </p:nvPicPr>
        <p:blipFill>
          <a:blip r:embed="rId4"/>
          <a:stretch>
            <a:fillRect/>
          </a:stretch>
        </p:blipFill>
        <p:spPr>
          <a:xfrm>
            <a:off x="1001447" y="3378200"/>
            <a:ext cx="181504" cy="355600"/>
          </a:xfrm>
          <a:prstGeom prst="rect">
            <a:avLst/>
          </a:prstGeom>
        </p:spPr>
      </p:pic>
      <p:sp>
        <p:nvSpPr>
          <p:cNvPr id="24" name="TextBox 23"/>
          <p:cNvSpPr txBox="1"/>
          <p:nvPr/>
        </p:nvSpPr>
        <p:spPr>
          <a:xfrm>
            <a:off x="1295400" y="3352800"/>
            <a:ext cx="1397000" cy="228600"/>
          </a:xfrm>
          <a:prstGeom prst="rect">
            <a:avLst/>
          </a:prstGeom>
          <a:noFill/>
        </p:spPr>
        <p:txBody>
          <a:bodyPr wrap="square" lIns="0" rIns="0" tIns="0" bIns="0" anchor="t">
            <a:spAutoFit/>
          </a:bodyPr>
          <a:lstStyle/>
          <a:p>
            <a:pPr algn="l">
              <a:lnSpc>
                <a:spcPct val="125000"/>
              </a:lnSpc>
              <a:spcAft>
                <a:spcPts val="300"/>
              </a:spcAft>
            </a:pPr>
            <a:r>
              <a:rPr sz="1150" b="1">
                <a:solidFill>
                  <a:srgbClr val="0B308E"/>
                </a:solidFill>
                <a:latin typeface="Arial"/>
              </a:rPr>
              <a:t>MCData</a:t>
            </a:r>
          </a:p>
        </p:txBody>
      </p:sp>
      <p:sp>
        <p:nvSpPr>
          <p:cNvPr id="25" name="TextBox 24"/>
          <p:cNvSpPr txBox="1"/>
          <p:nvPr/>
        </p:nvSpPr>
        <p:spPr>
          <a:xfrm>
            <a:off x="1295400" y="3568700"/>
            <a:ext cx="4368800" cy="203200"/>
          </a:xfrm>
          <a:prstGeom prst="rect">
            <a:avLst/>
          </a:prstGeom>
          <a:noFill/>
        </p:spPr>
        <p:txBody>
          <a:bodyPr wrap="square" lIns="0" rIns="0" tIns="0" bIns="0" anchor="t">
            <a:spAutoFit/>
          </a:bodyPr>
          <a:lstStyle/>
          <a:p>
            <a:pPr algn="l">
              <a:lnSpc>
                <a:spcPct val="125000"/>
              </a:lnSpc>
              <a:spcAft>
                <a:spcPts val="300"/>
              </a:spcAft>
            </a:pPr>
            <a:r>
              <a:rPr sz="900" b="0">
                <a:solidFill>
                  <a:srgbClr val="55607A"/>
                </a:solidFill>
                <a:latin typeface="Arial"/>
              </a:rPr>
              <a:t>messaging, file transfer and location data</a:t>
            </a:r>
          </a:p>
        </p:txBody>
      </p:sp>
      <p:sp>
        <p:nvSpPr>
          <p:cNvPr id="26" name="TextBox 25"/>
          <p:cNvSpPr txBox="1"/>
          <p:nvPr/>
        </p:nvSpPr>
        <p:spPr>
          <a:xfrm>
            <a:off x="609600" y="4191000"/>
            <a:ext cx="5461000" cy="558800"/>
          </a:xfrm>
          <a:prstGeom prst="rect">
            <a:avLst/>
          </a:prstGeom>
          <a:noFill/>
        </p:spPr>
        <p:txBody>
          <a:bodyPr wrap="square" lIns="0" rIns="0" tIns="0" bIns="0" anchor="t">
            <a:spAutoFit/>
          </a:bodyPr>
          <a:lstStyle/>
          <a:p>
            <a:pPr algn="l">
              <a:lnSpc>
                <a:spcPct val="135000"/>
              </a:lnSpc>
              <a:spcAft>
                <a:spcPts val="300"/>
              </a:spcAft>
            </a:pPr>
            <a:r>
              <a:rPr sz="1000" b="0">
                <a:solidFill>
                  <a:srgbClr val="55607A"/>
                </a:solidFill>
                <a:latin typeface="Arial"/>
              </a:rPr>
              <a:t>Defined by 3GPP, not by a single vendor - so the network stays multi-vendor and the</a:t>
            </a:r>
          </a:p>
          <a:p>
            <a:pPr algn="l">
              <a:lnSpc>
                <a:spcPct val="135000"/>
              </a:lnSpc>
              <a:spcAft>
                <a:spcPts val="300"/>
              </a:spcAft>
            </a:pPr>
            <a:r>
              <a:rPr sz="1000" b="0">
                <a:solidFill>
                  <a:srgbClr val="55607A"/>
                </a:solidFill>
                <a:latin typeface="Arial"/>
              </a:rPr>
              <a:t>terminals are not locked to one supplier.</a:t>
            </a:r>
          </a:p>
        </p:txBody>
      </p:sp>
      <p:sp>
        <p:nvSpPr>
          <p:cNvPr id="27" name="TextBox 26"/>
          <p:cNvSpPr txBox="1"/>
          <p:nvPr/>
        </p:nvSpPr>
        <p:spPr>
          <a:xfrm>
            <a:off x="6477000" y="1549400"/>
            <a:ext cx="5105400" cy="177800"/>
          </a:xfrm>
          <a:prstGeom prst="rect">
            <a:avLst/>
          </a:prstGeom>
          <a:noFill/>
        </p:spPr>
        <p:txBody>
          <a:bodyPr wrap="square" lIns="0" rIns="0" tIns="0" bIns="0" anchor="t">
            <a:spAutoFit/>
          </a:bodyPr>
          <a:lstStyle/>
          <a:p>
            <a:pPr algn="l">
              <a:lnSpc>
                <a:spcPct val="125000"/>
              </a:lnSpc>
              <a:spcAft>
                <a:spcPts val="300"/>
              </a:spcAft>
            </a:pPr>
            <a:r>
              <a:rPr sz="850" b="1">
                <a:solidFill>
                  <a:srgbClr val="7F9B00"/>
                </a:solidFill>
                <a:latin typeface="Arial"/>
              </a:rPr>
              <a:t>HOW THE LAYERS STACK</a:t>
            </a:r>
          </a:p>
        </p:txBody>
      </p:sp>
      <p:sp>
        <p:nvSpPr>
          <p:cNvPr id="28" name="Rectangle 27"/>
          <p:cNvSpPr/>
          <p:nvPr/>
        </p:nvSpPr>
        <p:spPr>
          <a:xfrm>
            <a:off x="6477000" y="1854200"/>
            <a:ext cx="5105400" cy="6604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705600" y="1955800"/>
            <a:ext cx="4648200" cy="228600"/>
          </a:xfrm>
          <a:prstGeom prst="rect">
            <a:avLst/>
          </a:prstGeom>
          <a:noFill/>
        </p:spPr>
        <p:txBody>
          <a:bodyPr wrap="square" lIns="0" rIns="0" tIns="0" bIns="0" anchor="t">
            <a:spAutoFit/>
          </a:bodyPr>
          <a:lstStyle/>
          <a:p>
            <a:pPr algn="l">
              <a:lnSpc>
                <a:spcPct val="125000"/>
              </a:lnSpc>
              <a:spcAft>
                <a:spcPts val="300"/>
              </a:spcAft>
            </a:pPr>
            <a:r>
              <a:rPr sz="1200" b="1">
                <a:solidFill>
                  <a:srgbClr val="FFFFFF"/>
                </a:solidFill>
                <a:latin typeface="Arial"/>
              </a:rPr>
              <a:t>Applications</a:t>
            </a:r>
          </a:p>
        </p:txBody>
      </p:sp>
      <p:sp>
        <p:nvSpPr>
          <p:cNvPr id="30" name="TextBox 29"/>
          <p:cNvSpPr txBox="1"/>
          <p:nvPr/>
        </p:nvSpPr>
        <p:spPr>
          <a:xfrm>
            <a:off x="6705600" y="2209800"/>
            <a:ext cx="4648200" cy="203200"/>
          </a:xfrm>
          <a:prstGeom prst="rect">
            <a:avLst/>
          </a:prstGeom>
          <a:noFill/>
        </p:spPr>
        <p:txBody>
          <a:bodyPr wrap="square" lIns="0" rIns="0" tIns="0" bIns="0" anchor="t">
            <a:spAutoFit/>
          </a:bodyPr>
          <a:lstStyle/>
          <a:p>
            <a:pPr algn="l">
              <a:lnSpc>
                <a:spcPct val="125000"/>
              </a:lnSpc>
              <a:spcAft>
                <a:spcPts val="300"/>
              </a:spcAft>
            </a:pPr>
            <a:r>
              <a:rPr sz="900" b="0">
                <a:solidFill>
                  <a:srgbClr val="DCE5F3"/>
                </a:solidFill>
                <a:latin typeface="Arial"/>
              </a:rPr>
              <a:t>dispatch, recording, device management</a:t>
            </a:r>
          </a:p>
        </p:txBody>
      </p:sp>
      <p:sp>
        <p:nvSpPr>
          <p:cNvPr id="31" name="Down Arrow 30"/>
          <p:cNvSpPr/>
          <p:nvPr/>
        </p:nvSpPr>
        <p:spPr>
          <a:xfrm>
            <a:off x="8890000" y="2540000"/>
            <a:ext cx="279400" cy="203200"/>
          </a:xfrm>
          <a:prstGeom prst="downArrow">
            <a:avLst/>
          </a:prstGeom>
          <a:solidFill>
            <a:srgbClr val="3A5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6477000" y="2641600"/>
            <a:ext cx="5105400" cy="6604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705600" y="2743200"/>
            <a:ext cx="4648200" cy="228600"/>
          </a:xfrm>
          <a:prstGeom prst="rect">
            <a:avLst/>
          </a:prstGeom>
          <a:noFill/>
        </p:spPr>
        <p:txBody>
          <a:bodyPr wrap="square" lIns="0" rIns="0" tIns="0" bIns="0" anchor="t">
            <a:spAutoFit/>
          </a:bodyPr>
          <a:lstStyle/>
          <a:p>
            <a:pPr algn="l">
              <a:lnSpc>
                <a:spcPct val="125000"/>
              </a:lnSpc>
              <a:spcAft>
                <a:spcPts val="300"/>
              </a:spcAft>
            </a:pPr>
            <a:r>
              <a:rPr sz="1200" b="1">
                <a:solidFill>
                  <a:srgbClr val="FFFFFF"/>
                </a:solidFill>
                <a:latin typeface="Arial"/>
              </a:rPr>
              <a:t>MCS service layer</a:t>
            </a:r>
          </a:p>
        </p:txBody>
      </p:sp>
      <p:sp>
        <p:nvSpPr>
          <p:cNvPr id="34" name="TextBox 33"/>
          <p:cNvSpPr txBox="1"/>
          <p:nvPr/>
        </p:nvSpPr>
        <p:spPr>
          <a:xfrm>
            <a:off x="6705600" y="2997200"/>
            <a:ext cx="4648200" cy="203200"/>
          </a:xfrm>
          <a:prstGeom prst="rect">
            <a:avLst/>
          </a:prstGeom>
          <a:noFill/>
        </p:spPr>
        <p:txBody>
          <a:bodyPr wrap="square" lIns="0" rIns="0" tIns="0" bIns="0" anchor="t">
            <a:spAutoFit/>
          </a:bodyPr>
          <a:lstStyle/>
          <a:p>
            <a:pPr algn="l">
              <a:lnSpc>
                <a:spcPct val="125000"/>
              </a:lnSpc>
              <a:spcAft>
                <a:spcPts val="300"/>
              </a:spcAft>
            </a:pPr>
            <a:r>
              <a:rPr sz="900" b="0">
                <a:solidFill>
                  <a:srgbClr val="DCE5F3"/>
                </a:solidFill>
                <a:latin typeface="Arial"/>
              </a:rPr>
              <a:t>MCPTT / MCVideo / MCData</a:t>
            </a:r>
          </a:p>
        </p:txBody>
      </p:sp>
      <p:sp>
        <p:nvSpPr>
          <p:cNvPr id="35" name="Down Arrow 34"/>
          <p:cNvSpPr/>
          <p:nvPr/>
        </p:nvSpPr>
        <p:spPr>
          <a:xfrm>
            <a:off x="8890000" y="3327400"/>
            <a:ext cx="279400" cy="203200"/>
          </a:xfrm>
          <a:prstGeom prst="downArrow">
            <a:avLst/>
          </a:prstGeom>
          <a:solidFill>
            <a:srgbClr val="3A5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6477000" y="3429000"/>
            <a:ext cx="5105400" cy="660400"/>
          </a:xfrm>
          <a:prstGeom prst="rect">
            <a:avLst/>
          </a:prstGeom>
          <a:solidFill>
            <a:srgbClr val="3A5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705600" y="3530600"/>
            <a:ext cx="4648200" cy="228600"/>
          </a:xfrm>
          <a:prstGeom prst="rect">
            <a:avLst/>
          </a:prstGeom>
          <a:noFill/>
        </p:spPr>
        <p:txBody>
          <a:bodyPr wrap="square" lIns="0" rIns="0" tIns="0" bIns="0" anchor="t">
            <a:spAutoFit/>
          </a:bodyPr>
          <a:lstStyle/>
          <a:p>
            <a:pPr algn="l">
              <a:lnSpc>
                <a:spcPct val="125000"/>
              </a:lnSpc>
              <a:spcAft>
                <a:spcPts val="300"/>
              </a:spcAft>
            </a:pPr>
            <a:r>
              <a:rPr sz="1200" b="1">
                <a:solidFill>
                  <a:srgbClr val="FFFFFF"/>
                </a:solidFill>
                <a:latin typeface="Arial"/>
              </a:rPr>
              <a:t>LTE or 5G radio</a:t>
            </a:r>
          </a:p>
        </p:txBody>
      </p:sp>
      <p:sp>
        <p:nvSpPr>
          <p:cNvPr id="38" name="TextBox 37"/>
          <p:cNvSpPr txBox="1"/>
          <p:nvPr/>
        </p:nvSpPr>
        <p:spPr>
          <a:xfrm>
            <a:off x="6705600" y="3784600"/>
            <a:ext cx="4648200" cy="203200"/>
          </a:xfrm>
          <a:prstGeom prst="rect">
            <a:avLst/>
          </a:prstGeom>
          <a:noFill/>
        </p:spPr>
        <p:txBody>
          <a:bodyPr wrap="square" lIns="0" rIns="0" tIns="0" bIns="0" anchor="t">
            <a:spAutoFit/>
          </a:bodyPr>
          <a:lstStyle/>
          <a:p>
            <a:pPr algn="l">
              <a:lnSpc>
                <a:spcPct val="125000"/>
              </a:lnSpc>
              <a:spcAft>
                <a:spcPts val="300"/>
              </a:spcAft>
            </a:pPr>
            <a:r>
              <a:rPr sz="900" b="0">
                <a:solidFill>
                  <a:srgbClr val="DCE5F3"/>
                </a:solidFill>
                <a:latin typeface="Arial"/>
              </a:rPr>
              <a:t>Band 31 / 72 at 450 MHz</a:t>
            </a:r>
          </a:p>
        </p:txBody>
      </p:sp>
      <p:sp>
        <p:nvSpPr>
          <p:cNvPr id="39" name="Rectangle 38"/>
          <p:cNvSpPr/>
          <p:nvPr/>
        </p:nvSpPr>
        <p:spPr>
          <a:xfrm>
            <a:off x="6477000" y="4267200"/>
            <a:ext cx="5105400" cy="4826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705600" y="4267200"/>
            <a:ext cx="4648200" cy="482600"/>
          </a:xfrm>
          <a:prstGeom prst="rect">
            <a:avLst/>
          </a:prstGeom>
          <a:noFill/>
        </p:spPr>
        <p:txBody>
          <a:bodyPr wrap="square" lIns="0" rIns="0" tIns="0" bIns="0" anchor="ctr">
            <a:spAutoFit/>
          </a:bodyPr>
          <a:lstStyle/>
          <a:p>
            <a:pPr algn="l">
              <a:lnSpc>
                <a:spcPct val="125000"/>
              </a:lnSpc>
              <a:spcAft>
                <a:spcPts val="300"/>
              </a:spcAft>
            </a:pPr>
            <a:r>
              <a:rPr sz="1000" b="1">
                <a:solidFill>
                  <a:srgbClr val="7F9B00"/>
                </a:solidFill>
                <a:latin typeface="Arial"/>
              </a:rPr>
              <a:t>In this deck: the band carries the traffic, MCS provides the service.</a:t>
            </a:r>
          </a:p>
        </p:txBody>
      </p:sp>
      <p:sp>
        <p:nvSpPr>
          <p:cNvPr id="41" name="Rectangle 40"/>
          <p:cNvSpPr/>
          <p:nvPr/>
        </p:nvSpPr>
        <p:spPr>
          <a:xfrm>
            <a:off x="0" y="5740400"/>
            <a:ext cx="12192000" cy="508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609600" y="5740400"/>
            <a:ext cx="10972800" cy="508000"/>
          </a:xfrm>
          <a:prstGeom prst="rect">
            <a:avLst/>
          </a:prstGeom>
          <a:noFill/>
        </p:spPr>
        <p:txBody>
          <a:bodyPr wrap="square" lIns="0" rIns="0" tIns="0" bIns="0" anchor="ctr">
            <a:spAutoFit/>
          </a:bodyPr>
          <a:lstStyle/>
          <a:p>
            <a:pPr algn="l">
              <a:lnSpc>
                <a:spcPct val="130000"/>
              </a:lnSpc>
            </a:pPr>
            <a:r>
              <a:rPr sz="1200" b="1">
                <a:solidFill>
                  <a:srgbClr val="FFFFFF"/>
                </a:solidFill>
                <a:latin typeface="Arial"/>
              </a:rPr>
              <a:t>450 MHz gives the coverage; MCS gives the service.  </a:t>
            </a:r>
            <a:r>
              <a:rPr sz="1200" b="0">
                <a:solidFill>
                  <a:srgbClr val="DCE5F3"/>
                </a:solidFill>
                <a:latin typeface="Arial"/>
              </a:rPr>
              <a:t>The two are specified together, and the cases that follow run both.</a:t>
            </a:r>
          </a:p>
        </p:txBody>
      </p:sp>
      <p:sp>
        <p:nvSpPr>
          <p:cNvPr id="43" name="TextBox 42"/>
          <p:cNvSpPr txBox="1"/>
          <p:nvPr/>
        </p:nvSpPr>
        <p:spPr>
          <a:xfrm>
            <a:off x="609600" y="6451600"/>
            <a:ext cx="10972800" cy="177800"/>
          </a:xfrm>
          <a:prstGeom prst="rect">
            <a:avLst/>
          </a:prstGeom>
          <a:noFill/>
        </p:spPr>
        <p:txBody>
          <a:bodyPr wrap="square" lIns="0" rIns="0" tIns="0" bIns="0" anchor="t">
            <a:spAutoFit/>
          </a:bodyPr>
          <a:lstStyle/>
          <a:p>
            <a:pPr algn="l">
              <a:lnSpc>
                <a:spcPct val="125000"/>
              </a:lnSpc>
              <a:spcAft>
                <a:spcPts val="300"/>
              </a:spcAft>
            </a:pPr>
            <a:r>
              <a:rPr sz="800" b="0">
                <a:solidFill>
                  <a:srgbClr val="93A0B4"/>
                </a:solidFill>
                <a:latin typeface="Arial"/>
              </a:rPr>
              <a:t>Source: 3GPP mission-critical services; Hytera HyTalk MC platform documentation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381000"/>
            <a:ext cx="228600" cy="635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39800" y="279400"/>
            <a:ext cx="9906000" cy="381000"/>
          </a:xfrm>
          <a:prstGeom prst="rect">
            <a:avLst/>
          </a:prstGeom>
          <a:noFill/>
        </p:spPr>
        <p:txBody>
          <a:bodyPr wrap="square" lIns="0" rIns="0" tIns="0" bIns="0" anchor="t">
            <a:spAutoFit/>
          </a:bodyPr>
          <a:lstStyle/>
          <a:p>
            <a:pPr algn="l">
              <a:lnSpc>
                <a:spcPct val="125000"/>
              </a:lnSpc>
              <a:spcAft>
                <a:spcPts val="300"/>
              </a:spcAft>
            </a:pPr>
            <a:r>
              <a:rPr sz="2100" b="1">
                <a:solidFill>
                  <a:srgbClr val="0B308E"/>
                </a:solidFill>
                <a:latin typeface="Arial"/>
              </a:rPr>
              <a:t>One network, six industries</a:t>
            </a:r>
          </a:p>
        </p:txBody>
      </p:sp>
      <p:sp>
        <p:nvSpPr>
          <p:cNvPr id="5" name="TextBox 4"/>
          <p:cNvSpPr txBox="1"/>
          <p:nvPr/>
        </p:nvSpPr>
        <p:spPr>
          <a:xfrm>
            <a:off x="609600" y="787400"/>
            <a:ext cx="8890000" cy="203200"/>
          </a:xfrm>
          <a:prstGeom prst="rect">
            <a:avLst/>
          </a:prstGeom>
          <a:noFill/>
        </p:spPr>
        <p:txBody>
          <a:bodyPr wrap="square" lIns="0" rIns="0" tIns="0" bIns="0" anchor="t">
            <a:spAutoFit/>
          </a:bodyPr>
          <a:lstStyle/>
          <a:p>
            <a:pPr algn="l">
              <a:lnSpc>
                <a:spcPct val="125000"/>
              </a:lnSpc>
              <a:spcAft>
                <a:spcPts val="300"/>
              </a:spcAft>
            </a:pPr>
            <a:r>
              <a:rPr sz="850" b="1">
                <a:solidFill>
                  <a:srgbClr val="7F9B00"/>
                </a:solidFill>
                <a:latin typeface="Arial"/>
              </a:rPr>
              <a:t>INDUSTRY SOLUTIONS</a:t>
            </a:r>
          </a:p>
        </p:txBody>
      </p:sp>
      <p:sp>
        <p:nvSpPr>
          <p:cNvPr id="6" name="TextBox 5"/>
          <p:cNvSpPr txBox="1"/>
          <p:nvPr/>
        </p:nvSpPr>
        <p:spPr>
          <a:xfrm>
            <a:off x="11023600" y="279400"/>
            <a:ext cx="558800" cy="330200"/>
          </a:xfrm>
          <a:prstGeom prst="rect">
            <a:avLst/>
          </a:prstGeom>
          <a:noFill/>
        </p:spPr>
        <p:txBody>
          <a:bodyPr wrap="square" lIns="0" rIns="0" tIns="0" bIns="0" anchor="t">
            <a:spAutoFit/>
          </a:bodyPr>
          <a:lstStyle/>
          <a:p>
            <a:pPr algn="r">
              <a:lnSpc>
                <a:spcPct val="125000"/>
              </a:lnSpc>
              <a:spcAft>
                <a:spcPts val="300"/>
              </a:spcAft>
            </a:pPr>
            <a:r>
              <a:rPr sz="1700" b="1">
                <a:solidFill>
                  <a:srgbClr val="0B308E"/>
                </a:solidFill>
                <a:latin typeface="Arial"/>
              </a:rPr>
              <a:t>07</a:t>
            </a:r>
          </a:p>
        </p:txBody>
      </p:sp>
      <p:cxnSp>
        <p:nvCxnSpPr>
          <p:cNvPr id="7" name="Connector 6"/>
          <p:cNvCxnSpPr/>
          <p:nvPr/>
        </p:nvCxnSpPr>
        <p:spPr>
          <a:xfrm>
            <a:off x="609600" y="1041400"/>
            <a:ext cx="10972800" cy="0"/>
          </a:xfrm>
          <a:prstGeom prst="line">
            <a:avLst/>
          </a:prstGeom>
          <a:ln w="12700">
            <a:solidFill>
              <a:srgbClr val="D6E0F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1193800"/>
            <a:ext cx="10972800" cy="228600"/>
          </a:xfrm>
          <a:prstGeom prst="rect">
            <a:avLst/>
          </a:prstGeom>
          <a:noFill/>
        </p:spPr>
        <p:txBody>
          <a:bodyPr wrap="square" lIns="0" rIns="0" tIns="0" bIns="0" anchor="t">
            <a:spAutoFit/>
          </a:bodyPr>
          <a:lstStyle/>
          <a:p>
            <a:pPr algn="l">
              <a:lnSpc>
                <a:spcPct val="125000"/>
              </a:lnSpc>
              <a:spcAft>
                <a:spcPts val="300"/>
              </a:spcAft>
            </a:pPr>
            <a:r>
              <a:rPr sz="1150" b="0">
                <a:solidFill>
                  <a:srgbClr val="55607A"/>
                </a:solidFill>
                <a:latin typeface="Arial"/>
              </a:rPr>
              <a:t>The same 450 MHz layer serves all six, on the same sites. Each of the next pages takes one.</a:t>
            </a:r>
          </a:p>
        </p:txBody>
      </p:sp>
      <p:sp>
        <p:nvSpPr>
          <p:cNvPr id="9" name="Rectangle 8"/>
          <p:cNvSpPr/>
          <p:nvPr/>
        </p:nvSpPr>
        <p:spPr>
          <a:xfrm>
            <a:off x="609600" y="1549400"/>
            <a:ext cx="3556000" cy="1778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09600" y="1549400"/>
            <a:ext cx="44450" cy="1778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87400" y="1701800"/>
            <a:ext cx="1473200" cy="14732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a_8930e6f186.png"/>
          <p:cNvPicPr>
            <a:picLocks noChangeAspect="1"/>
          </p:cNvPicPr>
          <p:nvPr/>
        </p:nvPicPr>
        <p:blipFill>
          <a:blip r:embed="rId2"/>
          <a:stretch>
            <a:fillRect/>
          </a:stretch>
        </p:blipFill>
        <p:spPr>
          <a:xfrm>
            <a:off x="863600" y="1908498"/>
            <a:ext cx="1320800" cy="1059803"/>
          </a:xfrm>
          <a:prstGeom prst="rect">
            <a:avLst/>
          </a:prstGeom>
        </p:spPr>
      </p:pic>
      <p:sp>
        <p:nvSpPr>
          <p:cNvPr id="13" name="TextBox 12"/>
          <p:cNvSpPr txBox="1"/>
          <p:nvPr/>
        </p:nvSpPr>
        <p:spPr>
          <a:xfrm>
            <a:off x="2438400" y="1854200"/>
            <a:ext cx="1574800" cy="279400"/>
          </a:xfrm>
          <a:prstGeom prst="rect">
            <a:avLst/>
          </a:prstGeom>
          <a:noFill/>
        </p:spPr>
        <p:txBody>
          <a:bodyPr wrap="square" lIns="0" rIns="0" tIns="0" bIns="0" anchor="t">
            <a:spAutoFit/>
          </a:bodyPr>
          <a:lstStyle/>
          <a:p>
            <a:pPr algn="l">
              <a:lnSpc>
                <a:spcPct val="125000"/>
              </a:lnSpc>
              <a:spcAft>
                <a:spcPts val="300"/>
              </a:spcAft>
            </a:pPr>
            <a:r>
              <a:rPr sz="1450" b="1">
                <a:solidFill>
                  <a:srgbClr val="0B308E"/>
                </a:solidFill>
                <a:latin typeface="Arial"/>
              </a:rPr>
              <a:t>Power</a:t>
            </a:r>
          </a:p>
        </p:txBody>
      </p:sp>
      <p:sp>
        <p:nvSpPr>
          <p:cNvPr id="14" name="TextBox 13"/>
          <p:cNvSpPr txBox="1"/>
          <p:nvPr/>
        </p:nvSpPr>
        <p:spPr>
          <a:xfrm>
            <a:off x="2438400" y="2235200"/>
            <a:ext cx="1574800" cy="914400"/>
          </a:xfrm>
          <a:prstGeom prst="rect">
            <a:avLst/>
          </a:prstGeom>
          <a:noFill/>
        </p:spPr>
        <p:txBody>
          <a:bodyPr wrap="square" lIns="0" rIns="0" tIns="0" bIns="0" anchor="t">
            <a:spAutoFit/>
          </a:bodyPr>
          <a:lstStyle/>
          <a:p>
            <a:pPr algn="l">
              <a:lnSpc>
                <a:spcPct val="135000"/>
              </a:lnSpc>
              <a:spcAft>
                <a:spcPts val="300"/>
              </a:spcAft>
            </a:pPr>
            <a:r>
              <a:rPr sz="950" b="0">
                <a:solidFill>
                  <a:srgbClr val="55607A"/>
                </a:solidFill>
                <a:latin typeface="Arial"/>
              </a:rPr>
              <a:t>Grid dispatch, feeder automation and smart metering</a:t>
            </a:r>
          </a:p>
        </p:txBody>
      </p:sp>
      <p:sp>
        <p:nvSpPr>
          <p:cNvPr id="15" name="Rectangle 14"/>
          <p:cNvSpPr/>
          <p:nvPr/>
        </p:nvSpPr>
        <p:spPr>
          <a:xfrm>
            <a:off x="4318000" y="1549400"/>
            <a:ext cx="3556000" cy="1778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318000" y="1549400"/>
            <a:ext cx="44450" cy="1778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495800" y="1701800"/>
            <a:ext cx="1473200" cy="14732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a_44d3be0462.png"/>
          <p:cNvPicPr>
            <a:picLocks noChangeAspect="1"/>
          </p:cNvPicPr>
          <p:nvPr/>
        </p:nvPicPr>
        <p:blipFill>
          <a:blip r:embed="rId3"/>
          <a:stretch>
            <a:fillRect/>
          </a:stretch>
        </p:blipFill>
        <p:spPr>
          <a:xfrm>
            <a:off x="4572000" y="1906757"/>
            <a:ext cx="1320800" cy="1063285"/>
          </a:xfrm>
          <a:prstGeom prst="rect">
            <a:avLst/>
          </a:prstGeom>
        </p:spPr>
      </p:pic>
      <p:sp>
        <p:nvSpPr>
          <p:cNvPr id="19" name="TextBox 18"/>
          <p:cNvSpPr txBox="1"/>
          <p:nvPr/>
        </p:nvSpPr>
        <p:spPr>
          <a:xfrm>
            <a:off x="6146800" y="1854200"/>
            <a:ext cx="1574800" cy="279400"/>
          </a:xfrm>
          <a:prstGeom prst="rect">
            <a:avLst/>
          </a:prstGeom>
          <a:noFill/>
        </p:spPr>
        <p:txBody>
          <a:bodyPr wrap="square" lIns="0" rIns="0" tIns="0" bIns="0" anchor="t">
            <a:spAutoFit/>
          </a:bodyPr>
          <a:lstStyle/>
          <a:p>
            <a:pPr algn="l">
              <a:lnSpc>
                <a:spcPct val="125000"/>
              </a:lnSpc>
              <a:spcAft>
                <a:spcPts val="300"/>
              </a:spcAft>
            </a:pPr>
            <a:r>
              <a:rPr sz="1450" b="1">
                <a:solidFill>
                  <a:srgbClr val="0B308E"/>
                </a:solidFill>
                <a:latin typeface="Arial"/>
              </a:rPr>
              <a:t>Water</a:t>
            </a:r>
          </a:p>
        </p:txBody>
      </p:sp>
      <p:sp>
        <p:nvSpPr>
          <p:cNvPr id="20" name="TextBox 19"/>
          <p:cNvSpPr txBox="1"/>
          <p:nvPr/>
        </p:nvSpPr>
        <p:spPr>
          <a:xfrm>
            <a:off x="6146800" y="2235200"/>
            <a:ext cx="1574800" cy="914400"/>
          </a:xfrm>
          <a:prstGeom prst="rect">
            <a:avLst/>
          </a:prstGeom>
          <a:noFill/>
        </p:spPr>
        <p:txBody>
          <a:bodyPr wrap="square" lIns="0" rIns="0" tIns="0" bIns="0" anchor="t">
            <a:spAutoFit/>
          </a:bodyPr>
          <a:lstStyle/>
          <a:p>
            <a:pPr algn="l">
              <a:lnSpc>
                <a:spcPct val="135000"/>
              </a:lnSpc>
              <a:spcAft>
                <a:spcPts val="300"/>
              </a:spcAft>
            </a:pPr>
            <a:r>
              <a:rPr sz="950" b="0">
                <a:solidFill>
                  <a:srgbClr val="55607A"/>
                </a:solidFill>
                <a:latin typeface="Arial"/>
              </a:rPr>
              <a:t>Metering, pressure sensing and reservoir telemetry</a:t>
            </a:r>
          </a:p>
        </p:txBody>
      </p:sp>
      <p:sp>
        <p:nvSpPr>
          <p:cNvPr id="21" name="Rectangle 20"/>
          <p:cNvSpPr/>
          <p:nvPr/>
        </p:nvSpPr>
        <p:spPr>
          <a:xfrm>
            <a:off x="8026400" y="1549400"/>
            <a:ext cx="3556000" cy="1778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8026400" y="1549400"/>
            <a:ext cx="44450" cy="1778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8204200" y="1701800"/>
            <a:ext cx="1473200" cy="14732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a_1929f99a02.png"/>
          <p:cNvPicPr>
            <a:picLocks noChangeAspect="1"/>
          </p:cNvPicPr>
          <p:nvPr/>
        </p:nvPicPr>
        <p:blipFill>
          <a:blip r:embed="rId4"/>
          <a:stretch>
            <a:fillRect/>
          </a:stretch>
        </p:blipFill>
        <p:spPr>
          <a:xfrm>
            <a:off x="8338611" y="1778000"/>
            <a:ext cx="1204376" cy="1320800"/>
          </a:xfrm>
          <a:prstGeom prst="rect">
            <a:avLst/>
          </a:prstGeom>
        </p:spPr>
      </p:pic>
      <p:sp>
        <p:nvSpPr>
          <p:cNvPr id="25" name="TextBox 24"/>
          <p:cNvSpPr txBox="1"/>
          <p:nvPr/>
        </p:nvSpPr>
        <p:spPr>
          <a:xfrm>
            <a:off x="9855200" y="1854200"/>
            <a:ext cx="1574800" cy="279400"/>
          </a:xfrm>
          <a:prstGeom prst="rect">
            <a:avLst/>
          </a:prstGeom>
          <a:noFill/>
        </p:spPr>
        <p:txBody>
          <a:bodyPr wrap="square" lIns="0" rIns="0" tIns="0" bIns="0" anchor="t">
            <a:spAutoFit/>
          </a:bodyPr>
          <a:lstStyle/>
          <a:p>
            <a:pPr algn="l">
              <a:lnSpc>
                <a:spcPct val="125000"/>
              </a:lnSpc>
              <a:spcAft>
                <a:spcPts val="300"/>
              </a:spcAft>
            </a:pPr>
            <a:r>
              <a:rPr sz="1450" b="1">
                <a:solidFill>
                  <a:srgbClr val="0B308E"/>
                </a:solidFill>
                <a:latin typeface="Arial"/>
              </a:rPr>
              <a:t>Police</a:t>
            </a:r>
          </a:p>
        </p:txBody>
      </p:sp>
      <p:sp>
        <p:nvSpPr>
          <p:cNvPr id="26" name="TextBox 25"/>
          <p:cNvSpPr txBox="1"/>
          <p:nvPr/>
        </p:nvSpPr>
        <p:spPr>
          <a:xfrm>
            <a:off x="9855200" y="2235200"/>
            <a:ext cx="1574800" cy="914400"/>
          </a:xfrm>
          <a:prstGeom prst="rect">
            <a:avLst/>
          </a:prstGeom>
          <a:noFill/>
        </p:spPr>
        <p:txBody>
          <a:bodyPr wrap="square" lIns="0" rIns="0" tIns="0" bIns="0" anchor="t">
            <a:spAutoFit/>
          </a:bodyPr>
          <a:lstStyle/>
          <a:p>
            <a:pPr algn="l">
              <a:lnSpc>
                <a:spcPct val="135000"/>
              </a:lnSpc>
              <a:spcAft>
                <a:spcPts val="300"/>
              </a:spcAft>
            </a:pPr>
            <a:r>
              <a:rPr sz="950" b="0">
                <a:solidFill>
                  <a:srgbClr val="55607A"/>
                </a:solidFill>
                <a:latin typeface="Arial"/>
              </a:rPr>
              <a:t>Cross-agency group calls and live video from the scene</a:t>
            </a:r>
          </a:p>
        </p:txBody>
      </p:sp>
      <p:sp>
        <p:nvSpPr>
          <p:cNvPr id="27" name="Rectangle 26"/>
          <p:cNvSpPr/>
          <p:nvPr/>
        </p:nvSpPr>
        <p:spPr>
          <a:xfrm>
            <a:off x="609600" y="3479800"/>
            <a:ext cx="3556000" cy="1778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609600" y="3479800"/>
            <a:ext cx="44450" cy="17780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787400" y="3632200"/>
            <a:ext cx="1473200" cy="14732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a_cde93aebc7.png"/>
          <p:cNvPicPr>
            <a:picLocks noChangeAspect="1"/>
          </p:cNvPicPr>
          <p:nvPr/>
        </p:nvPicPr>
        <p:blipFill>
          <a:blip r:embed="rId5"/>
          <a:stretch>
            <a:fillRect/>
          </a:stretch>
        </p:blipFill>
        <p:spPr>
          <a:xfrm>
            <a:off x="863600" y="3813717"/>
            <a:ext cx="1320800" cy="1110165"/>
          </a:xfrm>
          <a:prstGeom prst="rect">
            <a:avLst/>
          </a:prstGeom>
        </p:spPr>
      </p:pic>
      <p:sp>
        <p:nvSpPr>
          <p:cNvPr id="31" name="TextBox 30"/>
          <p:cNvSpPr txBox="1"/>
          <p:nvPr/>
        </p:nvSpPr>
        <p:spPr>
          <a:xfrm>
            <a:off x="2438400" y="3784600"/>
            <a:ext cx="1574800" cy="279400"/>
          </a:xfrm>
          <a:prstGeom prst="rect">
            <a:avLst/>
          </a:prstGeom>
          <a:noFill/>
        </p:spPr>
        <p:txBody>
          <a:bodyPr wrap="square" lIns="0" rIns="0" tIns="0" bIns="0" anchor="t">
            <a:spAutoFit/>
          </a:bodyPr>
          <a:lstStyle/>
          <a:p>
            <a:pPr algn="l">
              <a:lnSpc>
                <a:spcPct val="125000"/>
              </a:lnSpc>
              <a:spcAft>
                <a:spcPts val="300"/>
              </a:spcAft>
            </a:pPr>
            <a:r>
              <a:rPr sz="1450" b="1">
                <a:solidFill>
                  <a:srgbClr val="0B308E"/>
                </a:solidFill>
                <a:latin typeface="Arial"/>
              </a:rPr>
              <a:t>Emergency</a:t>
            </a:r>
          </a:p>
        </p:txBody>
      </p:sp>
      <p:sp>
        <p:nvSpPr>
          <p:cNvPr id="32" name="TextBox 31"/>
          <p:cNvSpPr txBox="1"/>
          <p:nvPr/>
        </p:nvSpPr>
        <p:spPr>
          <a:xfrm>
            <a:off x="2438400" y="4165600"/>
            <a:ext cx="1574800" cy="914400"/>
          </a:xfrm>
          <a:prstGeom prst="rect">
            <a:avLst/>
          </a:prstGeom>
          <a:noFill/>
        </p:spPr>
        <p:txBody>
          <a:bodyPr wrap="square" lIns="0" rIns="0" tIns="0" bIns="0" anchor="t">
            <a:spAutoFit/>
          </a:bodyPr>
          <a:lstStyle/>
          <a:p>
            <a:pPr algn="l">
              <a:lnSpc>
                <a:spcPct val="135000"/>
              </a:lnSpc>
              <a:spcAft>
                <a:spcPts val="300"/>
              </a:spcAft>
            </a:pPr>
            <a:r>
              <a:rPr sz="950" b="0">
                <a:solidFill>
                  <a:srgbClr val="55607A"/>
                </a:solidFill>
                <a:latin typeface="Arial"/>
              </a:rPr>
              <a:t>Rapid deployment and coverage after the storm</a:t>
            </a:r>
          </a:p>
        </p:txBody>
      </p:sp>
      <p:sp>
        <p:nvSpPr>
          <p:cNvPr id="33" name="Rectangle 32"/>
          <p:cNvSpPr/>
          <p:nvPr/>
        </p:nvSpPr>
        <p:spPr>
          <a:xfrm>
            <a:off x="4318000" y="3479800"/>
            <a:ext cx="3556000" cy="1778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318000" y="3479800"/>
            <a:ext cx="44450" cy="17780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4495800" y="3632200"/>
            <a:ext cx="1473200" cy="14732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6" name="Picture 35" descr="a_8ef3b7b6d7.png"/>
          <p:cNvPicPr>
            <a:picLocks noChangeAspect="1"/>
          </p:cNvPicPr>
          <p:nvPr/>
        </p:nvPicPr>
        <p:blipFill>
          <a:blip r:embed="rId6"/>
          <a:stretch>
            <a:fillRect/>
          </a:stretch>
        </p:blipFill>
        <p:spPr>
          <a:xfrm>
            <a:off x="4572000" y="3905289"/>
            <a:ext cx="1320800" cy="927021"/>
          </a:xfrm>
          <a:prstGeom prst="rect">
            <a:avLst/>
          </a:prstGeom>
        </p:spPr>
      </p:pic>
      <p:sp>
        <p:nvSpPr>
          <p:cNvPr id="37" name="TextBox 36"/>
          <p:cNvSpPr txBox="1"/>
          <p:nvPr/>
        </p:nvSpPr>
        <p:spPr>
          <a:xfrm>
            <a:off x="6146800" y="3784600"/>
            <a:ext cx="1574800" cy="279400"/>
          </a:xfrm>
          <a:prstGeom prst="rect">
            <a:avLst/>
          </a:prstGeom>
          <a:noFill/>
        </p:spPr>
        <p:txBody>
          <a:bodyPr wrap="square" lIns="0" rIns="0" tIns="0" bIns="0" anchor="t">
            <a:spAutoFit/>
          </a:bodyPr>
          <a:lstStyle/>
          <a:p>
            <a:pPr algn="l">
              <a:lnSpc>
                <a:spcPct val="125000"/>
              </a:lnSpc>
              <a:spcAft>
                <a:spcPts val="300"/>
              </a:spcAft>
            </a:pPr>
            <a:r>
              <a:rPr sz="1450" b="1">
                <a:solidFill>
                  <a:srgbClr val="0B308E"/>
                </a:solidFill>
                <a:latin typeface="Arial"/>
              </a:rPr>
              <a:t>Rail</a:t>
            </a:r>
          </a:p>
        </p:txBody>
      </p:sp>
      <p:sp>
        <p:nvSpPr>
          <p:cNvPr id="38" name="TextBox 37"/>
          <p:cNvSpPr txBox="1"/>
          <p:nvPr/>
        </p:nvSpPr>
        <p:spPr>
          <a:xfrm>
            <a:off x="6146800" y="4165600"/>
            <a:ext cx="1574800" cy="914400"/>
          </a:xfrm>
          <a:prstGeom prst="rect">
            <a:avLst/>
          </a:prstGeom>
          <a:noFill/>
        </p:spPr>
        <p:txBody>
          <a:bodyPr wrap="square" lIns="0" rIns="0" tIns="0" bIns="0" anchor="t">
            <a:spAutoFit/>
          </a:bodyPr>
          <a:lstStyle/>
          <a:p>
            <a:pPr algn="l">
              <a:lnSpc>
                <a:spcPct val="135000"/>
              </a:lnSpc>
              <a:spcAft>
                <a:spcPts val="300"/>
              </a:spcAft>
            </a:pPr>
            <a:r>
              <a:rPr sz="950" b="0">
                <a:solidFill>
                  <a:srgbClr val="55607A"/>
                </a:solidFill>
                <a:latin typeface="Arial"/>
              </a:rPr>
              <a:t>Corridor coverage and train-to-ground voice and data</a:t>
            </a:r>
          </a:p>
        </p:txBody>
      </p:sp>
      <p:sp>
        <p:nvSpPr>
          <p:cNvPr id="39" name="Rectangle 38"/>
          <p:cNvSpPr/>
          <p:nvPr/>
        </p:nvSpPr>
        <p:spPr>
          <a:xfrm>
            <a:off x="8026400" y="3479800"/>
            <a:ext cx="3556000" cy="1778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8026400" y="3479800"/>
            <a:ext cx="44450" cy="17780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8204200" y="3632200"/>
            <a:ext cx="1473200" cy="14732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2" name="Picture 41" descr="a_b0f8d119c2.png"/>
          <p:cNvPicPr>
            <a:picLocks noChangeAspect="1"/>
          </p:cNvPicPr>
          <p:nvPr/>
        </p:nvPicPr>
        <p:blipFill>
          <a:blip r:embed="rId7"/>
          <a:stretch>
            <a:fillRect/>
          </a:stretch>
        </p:blipFill>
        <p:spPr>
          <a:xfrm>
            <a:off x="8280400" y="3893692"/>
            <a:ext cx="1320800" cy="950215"/>
          </a:xfrm>
          <a:prstGeom prst="rect">
            <a:avLst/>
          </a:prstGeom>
        </p:spPr>
      </p:pic>
      <p:sp>
        <p:nvSpPr>
          <p:cNvPr id="43" name="TextBox 42"/>
          <p:cNvSpPr txBox="1"/>
          <p:nvPr/>
        </p:nvSpPr>
        <p:spPr>
          <a:xfrm>
            <a:off x="9855200" y="3784600"/>
            <a:ext cx="1574800" cy="279400"/>
          </a:xfrm>
          <a:prstGeom prst="rect">
            <a:avLst/>
          </a:prstGeom>
          <a:noFill/>
        </p:spPr>
        <p:txBody>
          <a:bodyPr wrap="square" lIns="0" rIns="0" tIns="0" bIns="0" anchor="t">
            <a:spAutoFit/>
          </a:bodyPr>
          <a:lstStyle/>
          <a:p>
            <a:pPr algn="l">
              <a:lnSpc>
                <a:spcPct val="125000"/>
              </a:lnSpc>
              <a:spcAft>
                <a:spcPts val="300"/>
              </a:spcAft>
            </a:pPr>
            <a:r>
              <a:rPr sz="1450" b="1">
                <a:solidFill>
                  <a:srgbClr val="0B308E"/>
                </a:solidFill>
                <a:latin typeface="Arial"/>
              </a:rPr>
              <a:t>Port</a:t>
            </a:r>
          </a:p>
        </p:txBody>
      </p:sp>
      <p:sp>
        <p:nvSpPr>
          <p:cNvPr id="44" name="TextBox 43"/>
          <p:cNvSpPr txBox="1"/>
          <p:nvPr/>
        </p:nvSpPr>
        <p:spPr>
          <a:xfrm>
            <a:off x="9855200" y="4165600"/>
            <a:ext cx="1574800" cy="914400"/>
          </a:xfrm>
          <a:prstGeom prst="rect">
            <a:avLst/>
          </a:prstGeom>
          <a:noFill/>
        </p:spPr>
        <p:txBody>
          <a:bodyPr wrap="square" lIns="0" rIns="0" tIns="0" bIns="0" anchor="t">
            <a:spAutoFit/>
          </a:bodyPr>
          <a:lstStyle/>
          <a:p>
            <a:pPr algn="l">
              <a:lnSpc>
                <a:spcPct val="135000"/>
              </a:lnSpc>
              <a:spcAft>
                <a:spcPts val="300"/>
              </a:spcAft>
            </a:pPr>
            <a:r>
              <a:rPr sz="950" b="0">
                <a:solidFill>
                  <a:srgbClr val="55607A"/>
                </a:solidFill>
                <a:latin typeface="Arial"/>
              </a:rPr>
              <a:t>Quay dispatch, ship-to-shore and coast guard patrols</a:t>
            </a:r>
          </a:p>
        </p:txBody>
      </p:sp>
      <p:sp>
        <p:nvSpPr>
          <p:cNvPr id="45" name="Rectangle 44"/>
          <p:cNvSpPr/>
          <p:nvPr/>
        </p:nvSpPr>
        <p:spPr>
          <a:xfrm>
            <a:off x="0" y="5740400"/>
            <a:ext cx="12192000" cy="508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609600" y="5740400"/>
            <a:ext cx="10972800" cy="508000"/>
          </a:xfrm>
          <a:prstGeom prst="rect">
            <a:avLst/>
          </a:prstGeom>
          <a:noFill/>
        </p:spPr>
        <p:txBody>
          <a:bodyPr wrap="square" lIns="0" rIns="0" tIns="0" bIns="0" anchor="ctr">
            <a:spAutoFit/>
          </a:bodyPr>
          <a:lstStyle/>
          <a:p>
            <a:pPr algn="l">
              <a:lnSpc>
                <a:spcPct val="130000"/>
              </a:lnSpc>
            </a:pPr>
            <a:r>
              <a:rPr sz="1200" b="1">
                <a:solidFill>
                  <a:srgbClr val="FFFFFF"/>
                </a:solidFill>
                <a:latin typeface="Arial"/>
              </a:rPr>
              <a:t>Utilities anchor it commercially.  </a:t>
            </a:r>
            <a:r>
              <a:rPr sz="1200" b="0">
                <a:solidFill>
                  <a:srgbClr val="DCE5F3"/>
                </a:solidFill>
                <a:latin typeface="Arial"/>
              </a:rPr>
              <a:t>Public safety, emergency, rail and port add national value on the same sites.</a:t>
            </a:r>
          </a:p>
        </p:txBody>
      </p:sp>
      <p:sp>
        <p:nvSpPr>
          <p:cNvPr id="47" name="TextBox 46"/>
          <p:cNvSpPr txBox="1"/>
          <p:nvPr/>
        </p:nvSpPr>
        <p:spPr>
          <a:xfrm>
            <a:off x="609600" y="6451600"/>
            <a:ext cx="10972800" cy="177800"/>
          </a:xfrm>
          <a:prstGeom prst="rect">
            <a:avLst/>
          </a:prstGeom>
          <a:noFill/>
        </p:spPr>
        <p:txBody>
          <a:bodyPr wrap="square" lIns="0" rIns="0" tIns="0" bIns="0" anchor="t">
            <a:spAutoFit/>
          </a:bodyPr>
          <a:lstStyle/>
          <a:p>
            <a:pPr algn="l">
              <a:lnSpc>
                <a:spcPct val="125000"/>
              </a:lnSpc>
              <a:spcAft>
                <a:spcPts val="300"/>
              </a:spcAft>
            </a:pPr>
            <a:r>
              <a:rPr sz="800" b="0">
                <a:solidFill>
                  <a:srgbClr val="93A0B4"/>
                </a:solidFill>
                <a:latin typeface="Arial"/>
              </a:rPr>
              <a:t>Source: 450 MHz Alliance (Dec 2025); Hytera industry solutions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381000"/>
            <a:ext cx="228600" cy="635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39800" y="279400"/>
            <a:ext cx="9906000" cy="381000"/>
          </a:xfrm>
          <a:prstGeom prst="rect">
            <a:avLst/>
          </a:prstGeom>
          <a:noFill/>
        </p:spPr>
        <p:txBody>
          <a:bodyPr wrap="square" lIns="0" rIns="0" tIns="0" bIns="0" anchor="t">
            <a:spAutoFit/>
          </a:bodyPr>
          <a:lstStyle/>
          <a:p>
            <a:pPr algn="l">
              <a:lnSpc>
                <a:spcPct val="125000"/>
              </a:lnSpc>
              <a:spcAft>
                <a:spcPts val="300"/>
              </a:spcAft>
            </a:pPr>
            <a:r>
              <a:rPr sz="2100" b="1">
                <a:solidFill>
                  <a:srgbClr val="0B308E"/>
                </a:solidFill>
                <a:latin typeface="Arial"/>
              </a:rPr>
              <a:t>Power: the grid, the crews and the meters</a:t>
            </a:r>
          </a:p>
        </p:txBody>
      </p:sp>
      <p:sp>
        <p:nvSpPr>
          <p:cNvPr id="5" name="TextBox 4"/>
          <p:cNvSpPr txBox="1"/>
          <p:nvPr/>
        </p:nvSpPr>
        <p:spPr>
          <a:xfrm>
            <a:off x="609600" y="787400"/>
            <a:ext cx="8890000" cy="203200"/>
          </a:xfrm>
          <a:prstGeom prst="rect">
            <a:avLst/>
          </a:prstGeom>
          <a:noFill/>
        </p:spPr>
        <p:txBody>
          <a:bodyPr wrap="square" lIns="0" rIns="0" tIns="0" bIns="0" anchor="t">
            <a:spAutoFit/>
          </a:bodyPr>
          <a:lstStyle/>
          <a:p>
            <a:pPr algn="l">
              <a:lnSpc>
                <a:spcPct val="125000"/>
              </a:lnSpc>
              <a:spcAft>
                <a:spcPts val="300"/>
              </a:spcAft>
            </a:pPr>
            <a:r>
              <a:rPr sz="850" b="1">
                <a:solidFill>
                  <a:srgbClr val="7F9B00"/>
                </a:solidFill>
                <a:latin typeface="Arial"/>
              </a:rPr>
              <a:t>INDUSTRY 1 OF 6  ·  POWER</a:t>
            </a:r>
          </a:p>
        </p:txBody>
      </p:sp>
      <p:sp>
        <p:nvSpPr>
          <p:cNvPr id="6" name="TextBox 5"/>
          <p:cNvSpPr txBox="1"/>
          <p:nvPr/>
        </p:nvSpPr>
        <p:spPr>
          <a:xfrm>
            <a:off x="11023600" y="279400"/>
            <a:ext cx="558800" cy="330200"/>
          </a:xfrm>
          <a:prstGeom prst="rect">
            <a:avLst/>
          </a:prstGeom>
          <a:noFill/>
        </p:spPr>
        <p:txBody>
          <a:bodyPr wrap="square" lIns="0" rIns="0" tIns="0" bIns="0" anchor="t">
            <a:spAutoFit/>
          </a:bodyPr>
          <a:lstStyle/>
          <a:p>
            <a:pPr algn="r">
              <a:lnSpc>
                <a:spcPct val="125000"/>
              </a:lnSpc>
              <a:spcAft>
                <a:spcPts val="300"/>
              </a:spcAft>
            </a:pPr>
            <a:r>
              <a:rPr sz="1700" b="1">
                <a:solidFill>
                  <a:srgbClr val="0B308E"/>
                </a:solidFill>
                <a:latin typeface="Arial"/>
              </a:rPr>
              <a:t>08</a:t>
            </a:r>
          </a:p>
        </p:txBody>
      </p:sp>
      <p:cxnSp>
        <p:nvCxnSpPr>
          <p:cNvPr id="7" name="Connector 6"/>
          <p:cNvCxnSpPr/>
          <p:nvPr/>
        </p:nvCxnSpPr>
        <p:spPr>
          <a:xfrm>
            <a:off x="609600" y="1041400"/>
            <a:ext cx="10972800" cy="0"/>
          </a:xfrm>
          <a:prstGeom prst="line">
            <a:avLst/>
          </a:prstGeom>
          <a:ln w="12700">
            <a:solidFill>
              <a:srgbClr val="D6E0F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1193800"/>
            <a:ext cx="10972800" cy="228600"/>
          </a:xfrm>
          <a:prstGeom prst="rect">
            <a:avLst/>
          </a:prstGeom>
          <a:noFill/>
        </p:spPr>
        <p:txBody>
          <a:bodyPr wrap="square" lIns="0" rIns="0" tIns="0" bIns="0" anchor="t">
            <a:spAutoFit/>
          </a:bodyPr>
          <a:lstStyle/>
          <a:p>
            <a:pPr algn="l">
              <a:lnSpc>
                <a:spcPct val="125000"/>
              </a:lnSpc>
              <a:spcAft>
                <a:spcPts val="300"/>
              </a:spcAft>
            </a:pPr>
            <a:r>
              <a:rPr sz="1150" b="0">
                <a:solidFill>
                  <a:srgbClr val="55607A"/>
                </a:solidFill>
                <a:latin typeface="Arial"/>
              </a:rPr>
              <a:t>Electric cooperatives have spread-out assets, a 10-15 year horizon and a willingness to pay for reliability.</a:t>
            </a:r>
          </a:p>
        </p:txBody>
      </p:sp>
      <p:pic>
        <p:nvPicPr>
          <p:cNvPr id="9" name="Picture 8" descr="v6_67b8eb7e59.jpg"/>
          <p:cNvPicPr>
            <a:picLocks noChangeAspect="1"/>
          </p:cNvPicPr>
          <p:nvPr/>
        </p:nvPicPr>
        <p:blipFill>
          <a:blip r:embed="rId2"/>
          <a:srcRect l="3533" r="3533"/>
          <a:stretch>
            <a:fillRect/>
          </a:stretch>
        </p:blipFill>
        <p:spPr>
          <a:xfrm>
            <a:off x="609600" y="1549400"/>
            <a:ext cx="4826000" cy="2921000"/>
          </a:xfrm>
          <a:prstGeom prst="rect">
            <a:avLst/>
          </a:prstGeom>
        </p:spPr>
      </p:pic>
      <p:sp>
        <p:nvSpPr>
          <p:cNvPr id="10" name="Rectangle 9"/>
          <p:cNvSpPr/>
          <p:nvPr/>
        </p:nvSpPr>
        <p:spPr>
          <a:xfrm>
            <a:off x="609600" y="1549400"/>
            <a:ext cx="4826000" cy="2921000"/>
          </a:xfrm>
          <a:prstGeom prst="rect">
            <a:avLst/>
          </a:prstGeom>
          <a:noFill/>
          <a:ln w="12700">
            <a:solidFill>
              <a:srgbClr val="D6E0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4318000" y="1701800"/>
            <a:ext cx="965200" cy="1168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v6_88fc894651.jpg"/>
          <p:cNvPicPr>
            <a:picLocks noChangeAspect="1"/>
          </p:cNvPicPr>
          <p:nvPr/>
        </p:nvPicPr>
        <p:blipFill>
          <a:blip r:embed="rId3"/>
          <a:srcRect l="23006" r="23006"/>
          <a:stretch>
            <a:fillRect/>
          </a:stretch>
        </p:blipFill>
        <p:spPr>
          <a:xfrm>
            <a:off x="4368800" y="1752600"/>
            <a:ext cx="863600" cy="1066800"/>
          </a:xfrm>
          <a:prstGeom prst="rect">
            <a:avLst/>
          </a:prstGeom>
        </p:spPr>
      </p:pic>
      <p:sp>
        <p:nvSpPr>
          <p:cNvPr id="13" name="TextBox 12"/>
          <p:cNvSpPr txBox="1"/>
          <p:nvPr/>
        </p:nvSpPr>
        <p:spPr>
          <a:xfrm>
            <a:off x="609600" y="4521200"/>
            <a:ext cx="4826000" cy="381000"/>
          </a:xfrm>
          <a:prstGeom prst="rect">
            <a:avLst/>
          </a:prstGeom>
          <a:noFill/>
        </p:spPr>
        <p:txBody>
          <a:bodyPr wrap="square" lIns="0" rIns="0" tIns="0" bIns="0" anchor="t">
            <a:spAutoFit/>
          </a:bodyPr>
          <a:lstStyle/>
          <a:p>
            <a:pPr algn="l">
              <a:lnSpc>
                <a:spcPct val="130000"/>
              </a:lnSpc>
              <a:spcAft>
                <a:spcPts val="300"/>
              </a:spcAft>
            </a:pPr>
            <a:r>
              <a:rPr sz="850" b="0">
                <a:solidFill>
                  <a:srgbClr val="93A0B4"/>
                </a:solidFill>
                <a:latin typeface="Arial"/>
              </a:rPr>
              <a:t>Grid repair crews and line assets. Illustrative imagery.</a:t>
            </a:r>
          </a:p>
        </p:txBody>
      </p:sp>
      <p:sp>
        <p:nvSpPr>
          <p:cNvPr id="14" name="Rectangle 13"/>
          <p:cNvSpPr/>
          <p:nvPr/>
        </p:nvSpPr>
        <p:spPr>
          <a:xfrm>
            <a:off x="5791200" y="1549400"/>
            <a:ext cx="5791200" cy="9906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5791200" y="1549400"/>
            <a:ext cx="44450" cy="9906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019800" y="1676400"/>
            <a:ext cx="5384800" cy="177800"/>
          </a:xfrm>
          <a:prstGeom prst="rect">
            <a:avLst/>
          </a:prstGeom>
          <a:noFill/>
        </p:spPr>
        <p:txBody>
          <a:bodyPr wrap="square" lIns="0" rIns="0" tIns="0" bIns="0" anchor="t">
            <a:spAutoFit/>
          </a:bodyPr>
          <a:lstStyle/>
          <a:p>
            <a:pPr algn="l">
              <a:lnSpc>
                <a:spcPct val="125000"/>
              </a:lnSpc>
              <a:spcAft>
                <a:spcPts val="300"/>
              </a:spcAft>
            </a:pPr>
            <a:r>
              <a:rPr sz="850" b="1">
                <a:solidFill>
                  <a:srgbClr val="7F9B00"/>
                </a:solidFill>
                <a:latin typeface="Arial"/>
              </a:rPr>
              <a:t>PAIN POINT</a:t>
            </a:r>
          </a:p>
        </p:txBody>
      </p:sp>
      <p:sp>
        <p:nvSpPr>
          <p:cNvPr id="17" name="TextBox 16"/>
          <p:cNvSpPr txBox="1"/>
          <p:nvPr/>
        </p:nvSpPr>
        <p:spPr>
          <a:xfrm>
            <a:off x="6019800" y="1905000"/>
            <a:ext cx="5384800" cy="584200"/>
          </a:xfrm>
          <a:prstGeom prst="rect">
            <a:avLst/>
          </a:prstGeom>
          <a:noFill/>
        </p:spPr>
        <p:txBody>
          <a:bodyPr wrap="square" lIns="0" rIns="0" tIns="0" bIns="0" anchor="t">
            <a:spAutoFit/>
          </a:bodyPr>
          <a:lstStyle/>
          <a:p>
            <a:pPr algn="l">
              <a:lnSpc>
                <a:spcPct val="130000"/>
              </a:lnSpc>
              <a:spcAft>
                <a:spcPts val="300"/>
              </a:spcAft>
            </a:pPr>
            <a:r>
              <a:rPr sz="950" b="0">
                <a:solidFill>
                  <a:srgbClr val="55607A"/>
                </a:solidFill>
                <a:latin typeface="Arial"/>
              </a:rPr>
              <a:t>Mountain and island lines have no reliable signal, and feeder automation needs a private data path that does not depend on the public network.</a:t>
            </a:r>
          </a:p>
        </p:txBody>
      </p:sp>
      <p:sp>
        <p:nvSpPr>
          <p:cNvPr id="18" name="TextBox 17"/>
          <p:cNvSpPr txBox="1"/>
          <p:nvPr/>
        </p:nvSpPr>
        <p:spPr>
          <a:xfrm>
            <a:off x="5791200" y="2667000"/>
            <a:ext cx="5334000" cy="177800"/>
          </a:xfrm>
          <a:prstGeom prst="rect">
            <a:avLst/>
          </a:prstGeom>
          <a:noFill/>
        </p:spPr>
        <p:txBody>
          <a:bodyPr wrap="square" lIns="0" rIns="0" tIns="0" bIns="0" anchor="t">
            <a:spAutoFit/>
          </a:bodyPr>
          <a:lstStyle/>
          <a:p>
            <a:pPr algn="l">
              <a:lnSpc>
                <a:spcPct val="125000"/>
              </a:lnSpc>
              <a:spcAft>
                <a:spcPts val="300"/>
              </a:spcAft>
            </a:pPr>
            <a:r>
              <a:rPr sz="850" b="1">
                <a:solidFill>
                  <a:srgbClr val="7F9B00"/>
                </a:solidFill>
                <a:latin typeface="Arial"/>
              </a:rPr>
              <a:t>WHAT 450 MHZ DOES</a:t>
            </a:r>
          </a:p>
        </p:txBody>
      </p:sp>
      <p:pic>
        <p:nvPicPr>
          <p:cNvPr id="19" name="Picture 18" descr="a_f5756d3699.png"/>
          <p:cNvPicPr>
            <a:picLocks noChangeAspect="1"/>
          </p:cNvPicPr>
          <p:nvPr/>
        </p:nvPicPr>
        <p:blipFill>
          <a:blip r:embed="rId4"/>
          <a:stretch>
            <a:fillRect/>
          </a:stretch>
        </p:blipFill>
        <p:spPr>
          <a:xfrm>
            <a:off x="5802577" y="2959100"/>
            <a:ext cx="129645" cy="254000"/>
          </a:xfrm>
          <a:prstGeom prst="rect">
            <a:avLst/>
          </a:prstGeom>
        </p:spPr>
      </p:pic>
      <p:sp>
        <p:nvSpPr>
          <p:cNvPr id="20" name="TextBox 19"/>
          <p:cNvSpPr txBox="1"/>
          <p:nvPr/>
        </p:nvSpPr>
        <p:spPr>
          <a:xfrm>
            <a:off x="6070600" y="2946400"/>
            <a:ext cx="5511800" cy="457200"/>
          </a:xfrm>
          <a:prstGeom prst="rect">
            <a:avLst/>
          </a:prstGeom>
          <a:noFill/>
        </p:spPr>
        <p:txBody>
          <a:bodyPr wrap="square" lIns="0" rIns="0" tIns="0" bIns="0" anchor="t">
            <a:spAutoFit/>
          </a:bodyPr>
          <a:lstStyle/>
          <a:p>
            <a:pPr algn="l">
              <a:lnSpc>
                <a:spcPct val="128000"/>
              </a:lnSpc>
              <a:spcAft>
                <a:spcPts val="300"/>
              </a:spcAft>
            </a:pPr>
            <a:r>
              <a:rPr sz="1050" b="0">
                <a:solidFill>
                  <a:srgbClr val="55607A"/>
                </a:solidFill>
                <a:latin typeface="Arial"/>
              </a:rPr>
              <a:t>Wide-area push-to-talk, video and lone-worker alarms along the lines</a:t>
            </a:r>
          </a:p>
        </p:txBody>
      </p:sp>
      <p:pic>
        <p:nvPicPr>
          <p:cNvPr id="21" name="Picture 20" descr="a_f5756d3699.png"/>
          <p:cNvPicPr>
            <a:picLocks noChangeAspect="1"/>
          </p:cNvPicPr>
          <p:nvPr/>
        </p:nvPicPr>
        <p:blipFill>
          <a:blip r:embed="rId4"/>
          <a:stretch>
            <a:fillRect/>
          </a:stretch>
        </p:blipFill>
        <p:spPr>
          <a:xfrm>
            <a:off x="5802577" y="3467100"/>
            <a:ext cx="129645" cy="254000"/>
          </a:xfrm>
          <a:prstGeom prst="rect">
            <a:avLst/>
          </a:prstGeom>
        </p:spPr>
      </p:pic>
      <p:sp>
        <p:nvSpPr>
          <p:cNvPr id="22" name="TextBox 21"/>
          <p:cNvSpPr txBox="1"/>
          <p:nvPr/>
        </p:nvSpPr>
        <p:spPr>
          <a:xfrm>
            <a:off x="6070600" y="3454400"/>
            <a:ext cx="5511800" cy="457200"/>
          </a:xfrm>
          <a:prstGeom prst="rect">
            <a:avLst/>
          </a:prstGeom>
          <a:noFill/>
        </p:spPr>
        <p:txBody>
          <a:bodyPr wrap="square" lIns="0" rIns="0" tIns="0" bIns="0" anchor="t">
            <a:spAutoFit/>
          </a:bodyPr>
          <a:lstStyle/>
          <a:p>
            <a:pPr algn="l">
              <a:lnSpc>
                <a:spcPct val="128000"/>
              </a:lnSpc>
              <a:spcAft>
                <a:spcPts val="300"/>
              </a:spcAft>
            </a:pPr>
            <a:r>
              <a:rPr sz="1050" b="0">
                <a:solidFill>
                  <a:srgbClr val="55607A"/>
                </a:solidFill>
                <a:latin typeface="Arial"/>
              </a:rPr>
              <a:t>A private data channel for SCADA, feeder automation and substation control</a:t>
            </a:r>
          </a:p>
        </p:txBody>
      </p:sp>
      <p:pic>
        <p:nvPicPr>
          <p:cNvPr id="23" name="Picture 22" descr="a_f5756d3699.png"/>
          <p:cNvPicPr>
            <a:picLocks noChangeAspect="1"/>
          </p:cNvPicPr>
          <p:nvPr/>
        </p:nvPicPr>
        <p:blipFill>
          <a:blip r:embed="rId4"/>
          <a:stretch>
            <a:fillRect/>
          </a:stretch>
        </p:blipFill>
        <p:spPr>
          <a:xfrm>
            <a:off x="5802577" y="3975100"/>
            <a:ext cx="129645" cy="254000"/>
          </a:xfrm>
          <a:prstGeom prst="rect">
            <a:avLst/>
          </a:prstGeom>
        </p:spPr>
      </p:pic>
      <p:sp>
        <p:nvSpPr>
          <p:cNvPr id="24" name="TextBox 23"/>
          <p:cNvSpPr txBox="1"/>
          <p:nvPr/>
        </p:nvSpPr>
        <p:spPr>
          <a:xfrm>
            <a:off x="6070600" y="3962400"/>
            <a:ext cx="5511800" cy="457200"/>
          </a:xfrm>
          <a:prstGeom prst="rect">
            <a:avLst/>
          </a:prstGeom>
          <a:noFill/>
        </p:spPr>
        <p:txBody>
          <a:bodyPr wrap="square" lIns="0" rIns="0" tIns="0" bIns="0" anchor="t">
            <a:spAutoFit/>
          </a:bodyPr>
          <a:lstStyle/>
          <a:p>
            <a:pPr algn="l">
              <a:lnSpc>
                <a:spcPct val="128000"/>
              </a:lnSpc>
              <a:spcAft>
                <a:spcPts val="300"/>
              </a:spcAft>
            </a:pPr>
            <a:r>
              <a:rPr sz="1050" b="0">
                <a:solidFill>
                  <a:srgbClr val="55607A"/>
                </a:solidFill>
                <a:latin typeface="Arial"/>
              </a:rPr>
              <a:t>Smart meters on the same sites, with deep indoor coverage</a:t>
            </a:r>
          </a:p>
        </p:txBody>
      </p:sp>
      <p:sp>
        <p:nvSpPr>
          <p:cNvPr id="25" name="Rectangle 24"/>
          <p:cNvSpPr/>
          <p:nvPr/>
        </p:nvSpPr>
        <p:spPr>
          <a:xfrm>
            <a:off x="5791200" y="4521200"/>
            <a:ext cx="5791200" cy="381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994400" y="4521200"/>
            <a:ext cx="5384800" cy="381000"/>
          </a:xfrm>
          <a:prstGeom prst="rect">
            <a:avLst/>
          </a:prstGeom>
          <a:noFill/>
        </p:spPr>
        <p:txBody>
          <a:bodyPr wrap="square" lIns="0" rIns="0" tIns="0" bIns="0" anchor="ctr">
            <a:spAutoFit/>
          </a:bodyPr>
          <a:lstStyle/>
          <a:p>
            <a:pPr algn="l">
              <a:lnSpc>
                <a:spcPct val="125000"/>
              </a:lnSpc>
              <a:spcAft>
                <a:spcPts val="300"/>
              </a:spcAft>
            </a:pPr>
            <a:r>
              <a:rPr sz="950" b="1">
                <a:solidFill>
                  <a:srgbClr val="0B308E"/>
                </a:solidFill>
                <a:latin typeface="Arial"/>
              </a:rPr>
              <a:t>In the Philippines: 121 electric cooperatives under NEA.</a:t>
            </a:r>
          </a:p>
        </p:txBody>
      </p:sp>
      <p:sp>
        <p:nvSpPr>
          <p:cNvPr id="27" name="TextBox 26"/>
          <p:cNvSpPr txBox="1"/>
          <p:nvPr/>
        </p:nvSpPr>
        <p:spPr>
          <a:xfrm>
            <a:off x="609600" y="6451600"/>
            <a:ext cx="10972800" cy="177800"/>
          </a:xfrm>
          <a:prstGeom prst="rect">
            <a:avLst/>
          </a:prstGeom>
          <a:noFill/>
        </p:spPr>
        <p:txBody>
          <a:bodyPr wrap="square" lIns="0" rIns="0" tIns="0" bIns="0" anchor="t">
            <a:spAutoFit/>
          </a:bodyPr>
          <a:lstStyle/>
          <a:p>
            <a:pPr algn="l">
              <a:lnSpc>
                <a:spcPct val="125000"/>
              </a:lnSpc>
              <a:spcAft>
                <a:spcPts val="300"/>
              </a:spcAft>
            </a:pPr>
            <a:r>
              <a:rPr sz="800" b="0">
                <a:solidFill>
                  <a:srgbClr val="93A0B4"/>
                </a:solidFill>
                <a:latin typeface="Arial"/>
              </a:rPr>
              <a:t>Source: 450 MHz Alliance (Dec 2025); NEA; Hytera power industry solutions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381000"/>
            <a:ext cx="228600" cy="635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39800" y="279400"/>
            <a:ext cx="9906000" cy="381000"/>
          </a:xfrm>
          <a:prstGeom prst="rect">
            <a:avLst/>
          </a:prstGeom>
          <a:noFill/>
        </p:spPr>
        <p:txBody>
          <a:bodyPr wrap="square" lIns="0" rIns="0" tIns="0" bIns="0" anchor="t">
            <a:spAutoFit/>
          </a:bodyPr>
          <a:lstStyle/>
          <a:p>
            <a:pPr algn="l">
              <a:lnSpc>
                <a:spcPct val="125000"/>
              </a:lnSpc>
              <a:spcAft>
                <a:spcPts val="300"/>
              </a:spcAft>
            </a:pPr>
            <a:r>
              <a:rPr sz="2100" b="1">
                <a:solidFill>
                  <a:srgbClr val="0B308E"/>
                </a:solidFill>
                <a:latin typeface="Arial"/>
              </a:rPr>
              <a:t>Water: locate the losses instead of estimating them</a:t>
            </a:r>
          </a:p>
        </p:txBody>
      </p:sp>
      <p:sp>
        <p:nvSpPr>
          <p:cNvPr id="5" name="TextBox 4"/>
          <p:cNvSpPr txBox="1"/>
          <p:nvPr/>
        </p:nvSpPr>
        <p:spPr>
          <a:xfrm>
            <a:off x="609600" y="787400"/>
            <a:ext cx="8890000" cy="203200"/>
          </a:xfrm>
          <a:prstGeom prst="rect">
            <a:avLst/>
          </a:prstGeom>
          <a:noFill/>
        </p:spPr>
        <p:txBody>
          <a:bodyPr wrap="square" lIns="0" rIns="0" tIns="0" bIns="0" anchor="t">
            <a:spAutoFit/>
          </a:bodyPr>
          <a:lstStyle/>
          <a:p>
            <a:pPr algn="l">
              <a:lnSpc>
                <a:spcPct val="125000"/>
              </a:lnSpc>
              <a:spcAft>
                <a:spcPts val="300"/>
              </a:spcAft>
            </a:pPr>
            <a:r>
              <a:rPr sz="850" b="1">
                <a:solidFill>
                  <a:srgbClr val="7F9B00"/>
                </a:solidFill>
                <a:latin typeface="Arial"/>
              </a:rPr>
              <a:t>INDUSTRY 2 OF 6  ·  WATER</a:t>
            </a:r>
          </a:p>
        </p:txBody>
      </p:sp>
      <p:sp>
        <p:nvSpPr>
          <p:cNvPr id="6" name="TextBox 5"/>
          <p:cNvSpPr txBox="1"/>
          <p:nvPr/>
        </p:nvSpPr>
        <p:spPr>
          <a:xfrm>
            <a:off x="11023600" y="279400"/>
            <a:ext cx="558800" cy="330200"/>
          </a:xfrm>
          <a:prstGeom prst="rect">
            <a:avLst/>
          </a:prstGeom>
          <a:noFill/>
        </p:spPr>
        <p:txBody>
          <a:bodyPr wrap="square" lIns="0" rIns="0" tIns="0" bIns="0" anchor="t">
            <a:spAutoFit/>
          </a:bodyPr>
          <a:lstStyle/>
          <a:p>
            <a:pPr algn="r">
              <a:lnSpc>
                <a:spcPct val="125000"/>
              </a:lnSpc>
              <a:spcAft>
                <a:spcPts val="300"/>
              </a:spcAft>
            </a:pPr>
            <a:r>
              <a:rPr sz="1700" b="1">
                <a:solidFill>
                  <a:srgbClr val="0B308E"/>
                </a:solidFill>
                <a:latin typeface="Arial"/>
              </a:rPr>
              <a:t>09</a:t>
            </a:r>
          </a:p>
        </p:txBody>
      </p:sp>
      <p:cxnSp>
        <p:nvCxnSpPr>
          <p:cNvPr id="7" name="Connector 6"/>
          <p:cNvCxnSpPr/>
          <p:nvPr/>
        </p:nvCxnSpPr>
        <p:spPr>
          <a:xfrm>
            <a:off x="609600" y="1041400"/>
            <a:ext cx="10972800" cy="0"/>
          </a:xfrm>
          <a:prstGeom prst="line">
            <a:avLst/>
          </a:prstGeom>
          <a:ln w="12700">
            <a:solidFill>
              <a:srgbClr val="D6E0F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1193800"/>
            <a:ext cx="10972800" cy="228600"/>
          </a:xfrm>
          <a:prstGeom prst="rect">
            <a:avLst/>
          </a:prstGeom>
          <a:noFill/>
        </p:spPr>
        <p:txBody>
          <a:bodyPr wrap="square" lIns="0" rIns="0" tIns="0" bIns="0" anchor="t">
            <a:spAutoFit/>
          </a:bodyPr>
          <a:lstStyle/>
          <a:p>
            <a:pPr algn="l">
              <a:lnSpc>
                <a:spcPct val="125000"/>
              </a:lnSpc>
              <a:spcAft>
                <a:spcPts val="300"/>
              </a:spcAft>
            </a:pPr>
            <a:r>
              <a:rPr sz="1150" b="0">
                <a:solidFill>
                  <a:srgbClr val="55607A"/>
                </a:solidFill>
                <a:latin typeface="Arial"/>
              </a:rPr>
              <a:t>Non-revenue water is usually estimated, not located. Pump, well and reservoir sites sit exactly where mid-band cannot reach.</a:t>
            </a:r>
          </a:p>
        </p:txBody>
      </p:sp>
      <p:pic>
        <p:nvPicPr>
          <p:cNvPr id="9" name="Picture 8" descr="v6_670251f705.jpg"/>
          <p:cNvPicPr>
            <a:picLocks noChangeAspect="1"/>
          </p:cNvPicPr>
          <p:nvPr/>
        </p:nvPicPr>
        <p:blipFill>
          <a:blip r:embed="rId2"/>
          <a:srcRect t="14535" b="14535"/>
          <a:stretch>
            <a:fillRect/>
          </a:stretch>
        </p:blipFill>
        <p:spPr>
          <a:xfrm>
            <a:off x="609600" y="1549400"/>
            <a:ext cx="4826000" cy="2921000"/>
          </a:xfrm>
          <a:prstGeom prst="rect">
            <a:avLst/>
          </a:prstGeom>
        </p:spPr>
      </p:pic>
      <p:sp>
        <p:nvSpPr>
          <p:cNvPr id="10" name="Rectangle 9"/>
          <p:cNvSpPr/>
          <p:nvPr/>
        </p:nvSpPr>
        <p:spPr>
          <a:xfrm>
            <a:off x="609600" y="1549400"/>
            <a:ext cx="4826000" cy="2921000"/>
          </a:xfrm>
          <a:prstGeom prst="rect">
            <a:avLst/>
          </a:prstGeom>
          <a:noFill/>
          <a:ln w="12700">
            <a:solidFill>
              <a:srgbClr val="D6E0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4318000" y="1701800"/>
            <a:ext cx="965200" cy="1168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v6_5344db92c5.jpg"/>
          <p:cNvPicPr>
            <a:picLocks noChangeAspect="1"/>
          </p:cNvPicPr>
          <p:nvPr/>
        </p:nvPicPr>
        <p:blipFill>
          <a:blip r:embed="rId3"/>
          <a:srcRect l="22493" r="22493"/>
          <a:stretch>
            <a:fillRect/>
          </a:stretch>
        </p:blipFill>
        <p:spPr>
          <a:xfrm>
            <a:off x="4368800" y="1752600"/>
            <a:ext cx="863600" cy="1066800"/>
          </a:xfrm>
          <a:prstGeom prst="rect">
            <a:avLst/>
          </a:prstGeom>
        </p:spPr>
      </p:pic>
      <p:sp>
        <p:nvSpPr>
          <p:cNvPr id="13" name="TextBox 12"/>
          <p:cNvSpPr txBox="1"/>
          <p:nvPr/>
        </p:nvSpPr>
        <p:spPr>
          <a:xfrm>
            <a:off x="609600" y="4521200"/>
            <a:ext cx="4826000" cy="381000"/>
          </a:xfrm>
          <a:prstGeom prst="rect">
            <a:avLst/>
          </a:prstGeom>
          <a:noFill/>
        </p:spPr>
        <p:txBody>
          <a:bodyPr wrap="square" lIns="0" rIns="0" tIns="0" bIns="0" anchor="t">
            <a:spAutoFit/>
          </a:bodyPr>
          <a:lstStyle/>
          <a:p>
            <a:pPr algn="l">
              <a:lnSpc>
                <a:spcPct val="130000"/>
              </a:lnSpc>
              <a:spcAft>
                <a:spcPts val="300"/>
              </a:spcAft>
            </a:pPr>
            <a:r>
              <a:rPr sz="850" b="0">
                <a:solidFill>
                  <a:srgbClr val="93A0B4"/>
                </a:solidFill>
                <a:latin typeface="Arial"/>
              </a:rPr>
              <a:t>Reservoir and pumping assets. Illustrative imagery.</a:t>
            </a:r>
          </a:p>
        </p:txBody>
      </p:sp>
      <p:sp>
        <p:nvSpPr>
          <p:cNvPr id="14" name="Rectangle 13"/>
          <p:cNvSpPr/>
          <p:nvPr/>
        </p:nvSpPr>
        <p:spPr>
          <a:xfrm>
            <a:off x="5791200" y="1549400"/>
            <a:ext cx="5791200" cy="9906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5791200" y="1549400"/>
            <a:ext cx="44450" cy="9906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019800" y="1676400"/>
            <a:ext cx="5384800" cy="177800"/>
          </a:xfrm>
          <a:prstGeom prst="rect">
            <a:avLst/>
          </a:prstGeom>
          <a:noFill/>
        </p:spPr>
        <p:txBody>
          <a:bodyPr wrap="square" lIns="0" rIns="0" tIns="0" bIns="0" anchor="t">
            <a:spAutoFit/>
          </a:bodyPr>
          <a:lstStyle/>
          <a:p>
            <a:pPr algn="l">
              <a:lnSpc>
                <a:spcPct val="125000"/>
              </a:lnSpc>
              <a:spcAft>
                <a:spcPts val="300"/>
              </a:spcAft>
            </a:pPr>
            <a:r>
              <a:rPr sz="850" b="1">
                <a:solidFill>
                  <a:srgbClr val="7F9B00"/>
                </a:solidFill>
                <a:latin typeface="Arial"/>
              </a:rPr>
              <a:t>PAIN POINT</a:t>
            </a:r>
          </a:p>
        </p:txBody>
      </p:sp>
      <p:sp>
        <p:nvSpPr>
          <p:cNvPr id="17" name="TextBox 16"/>
          <p:cNvSpPr txBox="1"/>
          <p:nvPr/>
        </p:nvSpPr>
        <p:spPr>
          <a:xfrm>
            <a:off x="6019800" y="1905000"/>
            <a:ext cx="5384800" cy="584200"/>
          </a:xfrm>
          <a:prstGeom prst="rect">
            <a:avLst/>
          </a:prstGeom>
          <a:noFill/>
        </p:spPr>
        <p:txBody>
          <a:bodyPr wrap="square" lIns="0" rIns="0" tIns="0" bIns="0" anchor="t">
            <a:spAutoFit/>
          </a:bodyPr>
          <a:lstStyle/>
          <a:p>
            <a:pPr algn="l">
              <a:lnSpc>
                <a:spcPct val="130000"/>
              </a:lnSpc>
              <a:spcAft>
                <a:spcPts val="300"/>
              </a:spcAft>
            </a:pPr>
            <a:r>
              <a:rPr sz="950" b="0">
                <a:solidFill>
                  <a:srgbClr val="55607A"/>
                </a:solidFill>
                <a:latin typeface="Arial"/>
              </a:rPr>
              <a:t>Most water districts know their losses as a percentage, not as an address - because the meters and pressure sensors cannot report.</a:t>
            </a:r>
          </a:p>
        </p:txBody>
      </p:sp>
      <p:sp>
        <p:nvSpPr>
          <p:cNvPr id="18" name="TextBox 17"/>
          <p:cNvSpPr txBox="1"/>
          <p:nvPr/>
        </p:nvSpPr>
        <p:spPr>
          <a:xfrm>
            <a:off x="5791200" y="2667000"/>
            <a:ext cx="5334000" cy="177800"/>
          </a:xfrm>
          <a:prstGeom prst="rect">
            <a:avLst/>
          </a:prstGeom>
          <a:noFill/>
        </p:spPr>
        <p:txBody>
          <a:bodyPr wrap="square" lIns="0" rIns="0" tIns="0" bIns="0" anchor="t">
            <a:spAutoFit/>
          </a:bodyPr>
          <a:lstStyle/>
          <a:p>
            <a:pPr algn="l">
              <a:lnSpc>
                <a:spcPct val="125000"/>
              </a:lnSpc>
              <a:spcAft>
                <a:spcPts val="300"/>
              </a:spcAft>
            </a:pPr>
            <a:r>
              <a:rPr sz="850" b="1">
                <a:solidFill>
                  <a:srgbClr val="7F9B00"/>
                </a:solidFill>
                <a:latin typeface="Arial"/>
              </a:rPr>
              <a:t>WHAT 450 MHZ DOES</a:t>
            </a:r>
          </a:p>
        </p:txBody>
      </p:sp>
      <p:pic>
        <p:nvPicPr>
          <p:cNvPr id="19" name="Picture 18" descr="a_f5756d3699.png"/>
          <p:cNvPicPr>
            <a:picLocks noChangeAspect="1"/>
          </p:cNvPicPr>
          <p:nvPr/>
        </p:nvPicPr>
        <p:blipFill>
          <a:blip r:embed="rId4"/>
          <a:stretch>
            <a:fillRect/>
          </a:stretch>
        </p:blipFill>
        <p:spPr>
          <a:xfrm>
            <a:off x="5802577" y="2959100"/>
            <a:ext cx="129645" cy="254000"/>
          </a:xfrm>
          <a:prstGeom prst="rect">
            <a:avLst/>
          </a:prstGeom>
        </p:spPr>
      </p:pic>
      <p:sp>
        <p:nvSpPr>
          <p:cNvPr id="20" name="TextBox 19"/>
          <p:cNvSpPr txBox="1"/>
          <p:nvPr/>
        </p:nvSpPr>
        <p:spPr>
          <a:xfrm>
            <a:off x="6070600" y="2946400"/>
            <a:ext cx="5511800" cy="457200"/>
          </a:xfrm>
          <a:prstGeom prst="rect">
            <a:avLst/>
          </a:prstGeom>
          <a:noFill/>
        </p:spPr>
        <p:txBody>
          <a:bodyPr wrap="square" lIns="0" rIns="0" tIns="0" bIns="0" anchor="t">
            <a:spAutoFit/>
          </a:bodyPr>
          <a:lstStyle/>
          <a:p>
            <a:pPr algn="l">
              <a:lnSpc>
                <a:spcPct val="128000"/>
              </a:lnSpc>
              <a:spcAft>
                <a:spcPts val="300"/>
              </a:spcAft>
            </a:pPr>
            <a:r>
              <a:rPr sz="1050" b="0">
                <a:solidFill>
                  <a:srgbClr val="55607A"/>
                </a:solidFill>
                <a:latin typeface="Arial"/>
              </a:rPr>
              <a:t>Meters and pressure sensors that locate losses instead of estimating them</a:t>
            </a:r>
          </a:p>
        </p:txBody>
      </p:sp>
      <p:pic>
        <p:nvPicPr>
          <p:cNvPr id="21" name="Picture 20" descr="a_f5756d3699.png"/>
          <p:cNvPicPr>
            <a:picLocks noChangeAspect="1"/>
          </p:cNvPicPr>
          <p:nvPr/>
        </p:nvPicPr>
        <p:blipFill>
          <a:blip r:embed="rId4"/>
          <a:stretch>
            <a:fillRect/>
          </a:stretch>
        </p:blipFill>
        <p:spPr>
          <a:xfrm>
            <a:off x="5802577" y="3467100"/>
            <a:ext cx="129645" cy="254000"/>
          </a:xfrm>
          <a:prstGeom prst="rect">
            <a:avLst/>
          </a:prstGeom>
        </p:spPr>
      </p:pic>
      <p:sp>
        <p:nvSpPr>
          <p:cNvPr id="22" name="TextBox 21"/>
          <p:cNvSpPr txBox="1"/>
          <p:nvPr/>
        </p:nvSpPr>
        <p:spPr>
          <a:xfrm>
            <a:off x="6070600" y="3454400"/>
            <a:ext cx="5511800" cy="457200"/>
          </a:xfrm>
          <a:prstGeom prst="rect">
            <a:avLst/>
          </a:prstGeom>
          <a:noFill/>
        </p:spPr>
        <p:txBody>
          <a:bodyPr wrap="square" lIns="0" rIns="0" tIns="0" bIns="0" anchor="t">
            <a:spAutoFit/>
          </a:bodyPr>
          <a:lstStyle/>
          <a:p>
            <a:pPr algn="l">
              <a:lnSpc>
                <a:spcPct val="128000"/>
              </a:lnSpc>
              <a:spcAft>
                <a:spcPts val="300"/>
              </a:spcAft>
            </a:pPr>
            <a:r>
              <a:rPr sz="1050" b="0">
                <a:solidFill>
                  <a:srgbClr val="55607A"/>
                </a:solidFill>
                <a:latin typeface="Arial"/>
              </a:rPr>
              <a:t>Pump, well and reservoir telemetry from remote and underground sites</a:t>
            </a:r>
          </a:p>
        </p:txBody>
      </p:sp>
      <p:pic>
        <p:nvPicPr>
          <p:cNvPr id="23" name="Picture 22" descr="a_f5756d3699.png"/>
          <p:cNvPicPr>
            <a:picLocks noChangeAspect="1"/>
          </p:cNvPicPr>
          <p:nvPr/>
        </p:nvPicPr>
        <p:blipFill>
          <a:blip r:embed="rId4"/>
          <a:stretch>
            <a:fillRect/>
          </a:stretch>
        </p:blipFill>
        <p:spPr>
          <a:xfrm>
            <a:off x="5802577" y="3975100"/>
            <a:ext cx="129645" cy="254000"/>
          </a:xfrm>
          <a:prstGeom prst="rect">
            <a:avLst/>
          </a:prstGeom>
        </p:spPr>
      </p:pic>
      <p:sp>
        <p:nvSpPr>
          <p:cNvPr id="24" name="TextBox 23"/>
          <p:cNvSpPr txBox="1"/>
          <p:nvPr/>
        </p:nvSpPr>
        <p:spPr>
          <a:xfrm>
            <a:off x="6070600" y="3962400"/>
            <a:ext cx="5511800" cy="457200"/>
          </a:xfrm>
          <a:prstGeom prst="rect">
            <a:avLst/>
          </a:prstGeom>
          <a:noFill/>
        </p:spPr>
        <p:txBody>
          <a:bodyPr wrap="square" lIns="0" rIns="0" tIns="0" bIns="0" anchor="t">
            <a:spAutoFit/>
          </a:bodyPr>
          <a:lstStyle/>
          <a:p>
            <a:pPr algn="l">
              <a:lnSpc>
                <a:spcPct val="128000"/>
              </a:lnSpc>
              <a:spcAft>
                <a:spcPts val="300"/>
              </a:spcAft>
            </a:pPr>
            <a:r>
              <a:rPr sz="1050" b="0">
                <a:solidFill>
                  <a:srgbClr val="55607A"/>
                </a:solidFill>
                <a:latin typeface="Arial"/>
              </a:rPr>
              <a:t>Backup-powered sites keep alarms flowing when the public network is down</a:t>
            </a:r>
          </a:p>
        </p:txBody>
      </p:sp>
      <p:sp>
        <p:nvSpPr>
          <p:cNvPr id="25" name="Rectangle 24"/>
          <p:cNvSpPr/>
          <p:nvPr/>
        </p:nvSpPr>
        <p:spPr>
          <a:xfrm>
            <a:off x="5791200" y="4521200"/>
            <a:ext cx="5791200" cy="381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994400" y="4521200"/>
            <a:ext cx="5384800" cy="381000"/>
          </a:xfrm>
          <a:prstGeom prst="rect">
            <a:avLst/>
          </a:prstGeom>
          <a:noFill/>
        </p:spPr>
        <p:txBody>
          <a:bodyPr wrap="square" lIns="0" rIns="0" tIns="0" bIns="0" anchor="ctr">
            <a:spAutoFit/>
          </a:bodyPr>
          <a:lstStyle/>
          <a:p>
            <a:pPr algn="l">
              <a:lnSpc>
                <a:spcPct val="125000"/>
              </a:lnSpc>
              <a:spcAft>
                <a:spcPts val="300"/>
              </a:spcAft>
            </a:pPr>
            <a:r>
              <a:rPr sz="950" b="1">
                <a:solidFill>
                  <a:srgbClr val="0B308E"/>
                </a:solidFill>
                <a:latin typeface="Arial"/>
              </a:rPr>
              <a:t>In the Philippines: 149 water districts under LWUA.</a:t>
            </a:r>
          </a:p>
        </p:txBody>
      </p:sp>
      <p:sp>
        <p:nvSpPr>
          <p:cNvPr id="27" name="TextBox 26"/>
          <p:cNvSpPr txBox="1"/>
          <p:nvPr/>
        </p:nvSpPr>
        <p:spPr>
          <a:xfrm>
            <a:off x="609600" y="6451600"/>
            <a:ext cx="10972800" cy="177800"/>
          </a:xfrm>
          <a:prstGeom prst="rect">
            <a:avLst/>
          </a:prstGeom>
          <a:noFill/>
        </p:spPr>
        <p:txBody>
          <a:bodyPr wrap="square" lIns="0" rIns="0" tIns="0" bIns="0" anchor="t">
            <a:spAutoFit/>
          </a:bodyPr>
          <a:lstStyle/>
          <a:p>
            <a:pPr algn="l">
              <a:lnSpc>
                <a:spcPct val="125000"/>
              </a:lnSpc>
              <a:spcAft>
                <a:spcPts val="300"/>
              </a:spcAft>
            </a:pPr>
            <a:r>
              <a:rPr sz="800" b="0">
                <a:solidFill>
                  <a:srgbClr val="93A0B4"/>
                </a:solidFill>
                <a:latin typeface="Arial"/>
              </a:rPr>
              <a:t>Source: 450 MHz Alliance (Dec 2025); LWUA; Hytera water industry solutions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381000"/>
            <a:ext cx="228600" cy="635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39800" y="279400"/>
            <a:ext cx="9906000" cy="381000"/>
          </a:xfrm>
          <a:prstGeom prst="rect">
            <a:avLst/>
          </a:prstGeom>
          <a:noFill/>
        </p:spPr>
        <p:txBody>
          <a:bodyPr wrap="square" lIns="0" rIns="0" tIns="0" bIns="0" anchor="t">
            <a:spAutoFit/>
          </a:bodyPr>
          <a:lstStyle/>
          <a:p>
            <a:pPr algn="l">
              <a:lnSpc>
                <a:spcPct val="125000"/>
              </a:lnSpc>
              <a:spcAft>
                <a:spcPts val="300"/>
              </a:spcAft>
            </a:pPr>
            <a:r>
              <a:rPr sz="2100" b="1">
                <a:solidFill>
                  <a:srgbClr val="0B308E"/>
                </a:solidFill>
                <a:latin typeface="Arial"/>
              </a:rPr>
              <a:t>Police: one group call across the agencies</a:t>
            </a:r>
          </a:p>
        </p:txBody>
      </p:sp>
      <p:sp>
        <p:nvSpPr>
          <p:cNvPr id="5" name="TextBox 4"/>
          <p:cNvSpPr txBox="1"/>
          <p:nvPr/>
        </p:nvSpPr>
        <p:spPr>
          <a:xfrm>
            <a:off x="609600" y="787400"/>
            <a:ext cx="8890000" cy="203200"/>
          </a:xfrm>
          <a:prstGeom prst="rect">
            <a:avLst/>
          </a:prstGeom>
          <a:noFill/>
        </p:spPr>
        <p:txBody>
          <a:bodyPr wrap="square" lIns="0" rIns="0" tIns="0" bIns="0" anchor="t">
            <a:spAutoFit/>
          </a:bodyPr>
          <a:lstStyle/>
          <a:p>
            <a:pPr algn="l">
              <a:lnSpc>
                <a:spcPct val="125000"/>
              </a:lnSpc>
              <a:spcAft>
                <a:spcPts val="300"/>
              </a:spcAft>
            </a:pPr>
            <a:r>
              <a:rPr sz="850" b="1">
                <a:solidFill>
                  <a:srgbClr val="7F9B00"/>
                </a:solidFill>
                <a:latin typeface="Arial"/>
              </a:rPr>
              <a:t>INDUSTRY 3 OF 6  ·  POLICE</a:t>
            </a:r>
          </a:p>
        </p:txBody>
      </p:sp>
      <p:sp>
        <p:nvSpPr>
          <p:cNvPr id="6" name="TextBox 5"/>
          <p:cNvSpPr txBox="1"/>
          <p:nvPr/>
        </p:nvSpPr>
        <p:spPr>
          <a:xfrm>
            <a:off x="11023600" y="279400"/>
            <a:ext cx="558800" cy="330200"/>
          </a:xfrm>
          <a:prstGeom prst="rect">
            <a:avLst/>
          </a:prstGeom>
          <a:noFill/>
        </p:spPr>
        <p:txBody>
          <a:bodyPr wrap="square" lIns="0" rIns="0" tIns="0" bIns="0" anchor="t">
            <a:spAutoFit/>
          </a:bodyPr>
          <a:lstStyle/>
          <a:p>
            <a:pPr algn="r">
              <a:lnSpc>
                <a:spcPct val="125000"/>
              </a:lnSpc>
              <a:spcAft>
                <a:spcPts val="300"/>
              </a:spcAft>
            </a:pPr>
            <a:r>
              <a:rPr sz="1700" b="1">
                <a:solidFill>
                  <a:srgbClr val="0B308E"/>
                </a:solidFill>
                <a:latin typeface="Arial"/>
              </a:rPr>
              <a:t>10</a:t>
            </a:r>
          </a:p>
        </p:txBody>
      </p:sp>
      <p:cxnSp>
        <p:nvCxnSpPr>
          <p:cNvPr id="7" name="Connector 6"/>
          <p:cNvCxnSpPr/>
          <p:nvPr/>
        </p:nvCxnSpPr>
        <p:spPr>
          <a:xfrm>
            <a:off x="609600" y="1041400"/>
            <a:ext cx="10972800" cy="0"/>
          </a:xfrm>
          <a:prstGeom prst="line">
            <a:avLst/>
          </a:prstGeom>
          <a:ln w="12700">
            <a:solidFill>
              <a:srgbClr val="D6E0F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1193800"/>
            <a:ext cx="10972800" cy="228600"/>
          </a:xfrm>
          <a:prstGeom prst="rect">
            <a:avLst/>
          </a:prstGeom>
          <a:noFill/>
        </p:spPr>
        <p:txBody>
          <a:bodyPr wrap="square" lIns="0" rIns="0" tIns="0" bIns="0" anchor="t">
            <a:spAutoFit/>
          </a:bodyPr>
          <a:lstStyle/>
          <a:p>
            <a:pPr algn="l">
              <a:lnSpc>
                <a:spcPct val="125000"/>
              </a:lnSpc>
              <a:spcAft>
                <a:spcPts val="300"/>
              </a:spcAft>
            </a:pPr>
            <a:r>
              <a:rPr sz="1150" b="0">
                <a:solidFill>
                  <a:srgbClr val="55607A"/>
                </a:solidFill>
                <a:latin typeface="Arial"/>
              </a:rPr>
              <a:t>The requirement is not another private network. It is interoperability between the agencies that already have one.</a:t>
            </a:r>
          </a:p>
        </p:txBody>
      </p:sp>
      <p:pic>
        <p:nvPicPr>
          <p:cNvPr id="9" name="Picture 8" descr="v6_895a98aa56.jpg"/>
          <p:cNvPicPr>
            <a:picLocks noChangeAspect="1"/>
          </p:cNvPicPr>
          <p:nvPr/>
        </p:nvPicPr>
        <p:blipFill>
          <a:blip r:embed="rId2"/>
          <a:srcRect b="8812"/>
          <a:stretch>
            <a:fillRect/>
          </a:stretch>
        </p:blipFill>
        <p:spPr>
          <a:xfrm>
            <a:off x="609600" y="1549400"/>
            <a:ext cx="4826000" cy="2921000"/>
          </a:xfrm>
          <a:prstGeom prst="rect">
            <a:avLst/>
          </a:prstGeom>
        </p:spPr>
      </p:pic>
      <p:sp>
        <p:nvSpPr>
          <p:cNvPr id="10" name="Rectangle 9"/>
          <p:cNvSpPr/>
          <p:nvPr/>
        </p:nvSpPr>
        <p:spPr>
          <a:xfrm>
            <a:off x="609600" y="1549400"/>
            <a:ext cx="4826000" cy="2921000"/>
          </a:xfrm>
          <a:prstGeom prst="rect">
            <a:avLst/>
          </a:prstGeom>
          <a:noFill/>
          <a:ln w="12700">
            <a:solidFill>
              <a:srgbClr val="D6E0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4318000" y="1701800"/>
            <a:ext cx="965200" cy="1168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v6_c20c53e890.jpg"/>
          <p:cNvPicPr>
            <a:picLocks noChangeAspect="1"/>
          </p:cNvPicPr>
          <p:nvPr/>
        </p:nvPicPr>
        <p:blipFill>
          <a:blip r:embed="rId3"/>
          <a:srcRect t="9349" b="9349"/>
          <a:stretch>
            <a:fillRect/>
          </a:stretch>
        </p:blipFill>
        <p:spPr>
          <a:xfrm>
            <a:off x="4368800" y="1752600"/>
            <a:ext cx="863600" cy="1066800"/>
          </a:xfrm>
          <a:prstGeom prst="rect">
            <a:avLst/>
          </a:prstGeom>
        </p:spPr>
      </p:pic>
      <p:sp>
        <p:nvSpPr>
          <p:cNvPr id="13" name="TextBox 12"/>
          <p:cNvSpPr txBox="1"/>
          <p:nvPr/>
        </p:nvSpPr>
        <p:spPr>
          <a:xfrm>
            <a:off x="609600" y="4521200"/>
            <a:ext cx="4826000" cy="381000"/>
          </a:xfrm>
          <a:prstGeom prst="rect">
            <a:avLst/>
          </a:prstGeom>
          <a:noFill/>
        </p:spPr>
        <p:txBody>
          <a:bodyPr wrap="square" lIns="0" rIns="0" tIns="0" bIns="0" anchor="t">
            <a:spAutoFit/>
          </a:bodyPr>
          <a:lstStyle/>
          <a:p>
            <a:pPr algn="l">
              <a:lnSpc>
                <a:spcPct val="130000"/>
              </a:lnSpc>
              <a:spcAft>
                <a:spcPts val="300"/>
              </a:spcAft>
            </a:pPr>
            <a:r>
              <a:rPr sz="850" b="0">
                <a:solidFill>
                  <a:srgbClr val="93A0B4"/>
                </a:solidFill>
                <a:latin typeface="Arial"/>
              </a:rPr>
              <a:t>A district police station. Illustrative imagery.</a:t>
            </a:r>
          </a:p>
        </p:txBody>
      </p:sp>
      <p:sp>
        <p:nvSpPr>
          <p:cNvPr id="14" name="Rectangle 13"/>
          <p:cNvSpPr/>
          <p:nvPr/>
        </p:nvSpPr>
        <p:spPr>
          <a:xfrm>
            <a:off x="5791200" y="1549400"/>
            <a:ext cx="5791200" cy="9906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5791200" y="1549400"/>
            <a:ext cx="44450" cy="9906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019800" y="1676400"/>
            <a:ext cx="5384800" cy="177800"/>
          </a:xfrm>
          <a:prstGeom prst="rect">
            <a:avLst/>
          </a:prstGeom>
          <a:noFill/>
        </p:spPr>
        <p:txBody>
          <a:bodyPr wrap="square" lIns="0" rIns="0" tIns="0" bIns="0" anchor="t">
            <a:spAutoFit/>
          </a:bodyPr>
          <a:lstStyle/>
          <a:p>
            <a:pPr algn="l">
              <a:lnSpc>
                <a:spcPct val="125000"/>
              </a:lnSpc>
              <a:spcAft>
                <a:spcPts val="300"/>
              </a:spcAft>
            </a:pPr>
            <a:r>
              <a:rPr sz="850" b="1">
                <a:solidFill>
                  <a:srgbClr val="7F9B00"/>
                </a:solidFill>
                <a:latin typeface="Arial"/>
              </a:rPr>
              <a:t>PAIN POINT</a:t>
            </a:r>
          </a:p>
        </p:txBody>
      </p:sp>
      <p:sp>
        <p:nvSpPr>
          <p:cNvPr id="17" name="TextBox 16"/>
          <p:cNvSpPr txBox="1"/>
          <p:nvPr/>
        </p:nvSpPr>
        <p:spPr>
          <a:xfrm>
            <a:off x="6019800" y="1905000"/>
            <a:ext cx="5384800" cy="584200"/>
          </a:xfrm>
          <a:prstGeom prst="rect">
            <a:avLst/>
          </a:prstGeom>
          <a:noFill/>
        </p:spPr>
        <p:txBody>
          <a:bodyPr wrap="square" lIns="0" rIns="0" tIns="0" bIns="0" anchor="t">
            <a:spAutoFit/>
          </a:bodyPr>
          <a:lstStyle/>
          <a:p>
            <a:pPr algn="l">
              <a:lnSpc>
                <a:spcPct val="130000"/>
              </a:lnSpc>
              <a:spcAft>
                <a:spcPts val="300"/>
              </a:spcAft>
            </a:pPr>
            <a:r>
              <a:rPr sz="950" b="0">
                <a:solidFill>
                  <a:srgbClr val="55607A"/>
                </a:solidFill>
                <a:latin typeface="Arial"/>
              </a:rPr>
              <a:t>Different agencies cannot talk to each other, and the public network congests exactly at the moment it is needed most.</a:t>
            </a:r>
          </a:p>
        </p:txBody>
      </p:sp>
      <p:sp>
        <p:nvSpPr>
          <p:cNvPr id="18" name="TextBox 17"/>
          <p:cNvSpPr txBox="1"/>
          <p:nvPr/>
        </p:nvSpPr>
        <p:spPr>
          <a:xfrm>
            <a:off x="5791200" y="2667000"/>
            <a:ext cx="5334000" cy="177800"/>
          </a:xfrm>
          <a:prstGeom prst="rect">
            <a:avLst/>
          </a:prstGeom>
          <a:noFill/>
        </p:spPr>
        <p:txBody>
          <a:bodyPr wrap="square" lIns="0" rIns="0" tIns="0" bIns="0" anchor="t">
            <a:spAutoFit/>
          </a:bodyPr>
          <a:lstStyle/>
          <a:p>
            <a:pPr algn="l">
              <a:lnSpc>
                <a:spcPct val="125000"/>
              </a:lnSpc>
              <a:spcAft>
                <a:spcPts val="300"/>
              </a:spcAft>
            </a:pPr>
            <a:r>
              <a:rPr sz="850" b="1">
                <a:solidFill>
                  <a:srgbClr val="7F9B00"/>
                </a:solidFill>
                <a:latin typeface="Arial"/>
              </a:rPr>
              <a:t>WHAT 450 MHZ DOES</a:t>
            </a:r>
          </a:p>
        </p:txBody>
      </p:sp>
      <p:pic>
        <p:nvPicPr>
          <p:cNvPr id="19" name="Picture 18" descr="a_f5756d3699.png"/>
          <p:cNvPicPr>
            <a:picLocks noChangeAspect="1"/>
          </p:cNvPicPr>
          <p:nvPr/>
        </p:nvPicPr>
        <p:blipFill>
          <a:blip r:embed="rId4"/>
          <a:stretch>
            <a:fillRect/>
          </a:stretch>
        </p:blipFill>
        <p:spPr>
          <a:xfrm>
            <a:off x="5802577" y="2959100"/>
            <a:ext cx="129645" cy="254000"/>
          </a:xfrm>
          <a:prstGeom prst="rect">
            <a:avLst/>
          </a:prstGeom>
        </p:spPr>
      </p:pic>
      <p:sp>
        <p:nvSpPr>
          <p:cNvPr id="20" name="TextBox 19"/>
          <p:cNvSpPr txBox="1"/>
          <p:nvPr/>
        </p:nvSpPr>
        <p:spPr>
          <a:xfrm>
            <a:off x="6070600" y="2946400"/>
            <a:ext cx="5511800" cy="457200"/>
          </a:xfrm>
          <a:prstGeom prst="rect">
            <a:avLst/>
          </a:prstGeom>
          <a:noFill/>
        </p:spPr>
        <p:txBody>
          <a:bodyPr wrap="square" lIns="0" rIns="0" tIns="0" bIns="0" anchor="t">
            <a:spAutoFit/>
          </a:bodyPr>
          <a:lstStyle/>
          <a:p>
            <a:pPr algn="l">
              <a:lnSpc>
                <a:spcPct val="128000"/>
              </a:lnSpc>
              <a:spcAft>
                <a:spcPts val="300"/>
              </a:spcAft>
            </a:pPr>
            <a:r>
              <a:rPr sz="1050" b="0">
                <a:solidFill>
                  <a:srgbClr val="55607A"/>
                </a:solidFill>
                <a:latin typeface="Arial"/>
              </a:rPr>
              <a:t>One group call across police, fire and civil defence</a:t>
            </a:r>
          </a:p>
        </p:txBody>
      </p:sp>
      <p:pic>
        <p:nvPicPr>
          <p:cNvPr id="21" name="Picture 20" descr="a_f5756d3699.png"/>
          <p:cNvPicPr>
            <a:picLocks noChangeAspect="1"/>
          </p:cNvPicPr>
          <p:nvPr/>
        </p:nvPicPr>
        <p:blipFill>
          <a:blip r:embed="rId4"/>
          <a:stretch>
            <a:fillRect/>
          </a:stretch>
        </p:blipFill>
        <p:spPr>
          <a:xfrm>
            <a:off x="5802577" y="3467100"/>
            <a:ext cx="129645" cy="254000"/>
          </a:xfrm>
          <a:prstGeom prst="rect">
            <a:avLst/>
          </a:prstGeom>
        </p:spPr>
      </p:pic>
      <p:sp>
        <p:nvSpPr>
          <p:cNvPr id="22" name="TextBox 21"/>
          <p:cNvSpPr txBox="1"/>
          <p:nvPr/>
        </p:nvSpPr>
        <p:spPr>
          <a:xfrm>
            <a:off x="6070600" y="3454400"/>
            <a:ext cx="5511800" cy="457200"/>
          </a:xfrm>
          <a:prstGeom prst="rect">
            <a:avLst/>
          </a:prstGeom>
          <a:noFill/>
        </p:spPr>
        <p:txBody>
          <a:bodyPr wrap="square" lIns="0" rIns="0" tIns="0" bIns="0" anchor="t">
            <a:spAutoFit/>
          </a:bodyPr>
          <a:lstStyle/>
          <a:p>
            <a:pPr algn="l">
              <a:lnSpc>
                <a:spcPct val="128000"/>
              </a:lnSpc>
              <a:spcAft>
                <a:spcPts val="300"/>
              </a:spcAft>
            </a:pPr>
            <a:r>
              <a:rPr sz="1050" b="0">
                <a:solidFill>
                  <a:srgbClr val="55607A"/>
                </a:solidFill>
                <a:latin typeface="Arial"/>
              </a:rPr>
              <a:t>Live video from the scene, with priority and pre-emption when the network congests</a:t>
            </a:r>
          </a:p>
        </p:txBody>
      </p:sp>
      <p:pic>
        <p:nvPicPr>
          <p:cNvPr id="23" name="Picture 22" descr="a_f5756d3699.png"/>
          <p:cNvPicPr>
            <a:picLocks noChangeAspect="1"/>
          </p:cNvPicPr>
          <p:nvPr/>
        </p:nvPicPr>
        <p:blipFill>
          <a:blip r:embed="rId4"/>
          <a:stretch>
            <a:fillRect/>
          </a:stretch>
        </p:blipFill>
        <p:spPr>
          <a:xfrm>
            <a:off x="5802577" y="3975100"/>
            <a:ext cx="129645" cy="254000"/>
          </a:xfrm>
          <a:prstGeom prst="rect">
            <a:avLst/>
          </a:prstGeom>
        </p:spPr>
      </p:pic>
      <p:sp>
        <p:nvSpPr>
          <p:cNvPr id="24" name="TextBox 23"/>
          <p:cNvSpPr txBox="1"/>
          <p:nvPr/>
        </p:nvSpPr>
        <p:spPr>
          <a:xfrm>
            <a:off x="6070600" y="3962400"/>
            <a:ext cx="5511800" cy="457200"/>
          </a:xfrm>
          <a:prstGeom prst="rect">
            <a:avLst/>
          </a:prstGeom>
          <a:noFill/>
        </p:spPr>
        <p:txBody>
          <a:bodyPr wrap="square" lIns="0" rIns="0" tIns="0" bIns="0" anchor="t">
            <a:spAutoFit/>
          </a:bodyPr>
          <a:lstStyle/>
          <a:p>
            <a:pPr algn="l">
              <a:lnSpc>
                <a:spcPct val="128000"/>
              </a:lnSpc>
              <a:spcAft>
                <a:spcPts val="300"/>
              </a:spcAft>
            </a:pPr>
            <a:r>
              <a:rPr sz="1050" b="0">
                <a:solidFill>
                  <a:srgbClr val="55607A"/>
                </a:solidFill>
                <a:latin typeface="Arial"/>
              </a:rPr>
              <a:t>Interworking with the DMR and TETRA networks already in service</a:t>
            </a:r>
          </a:p>
        </p:txBody>
      </p:sp>
      <p:sp>
        <p:nvSpPr>
          <p:cNvPr id="25" name="Rectangle 24"/>
          <p:cNvSpPr/>
          <p:nvPr/>
        </p:nvSpPr>
        <p:spPr>
          <a:xfrm>
            <a:off x="5791200" y="4521200"/>
            <a:ext cx="5791200" cy="381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994400" y="4521200"/>
            <a:ext cx="5384800" cy="381000"/>
          </a:xfrm>
          <a:prstGeom prst="rect">
            <a:avLst/>
          </a:prstGeom>
          <a:noFill/>
        </p:spPr>
        <p:txBody>
          <a:bodyPr wrap="square" lIns="0" rIns="0" tIns="0" bIns="0" anchor="ctr">
            <a:spAutoFit/>
          </a:bodyPr>
          <a:lstStyle/>
          <a:p>
            <a:pPr algn="l">
              <a:lnSpc>
                <a:spcPct val="125000"/>
              </a:lnSpc>
              <a:spcAft>
                <a:spcPts val="300"/>
              </a:spcAft>
            </a:pPr>
            <a:r>
              <a:rPr sz="950" b="1">
                <a:solidFill>
                  <a:srgbClr val="0B308E"/>
                </a:solidFill>
                <a:latin typeface="Arial"/>
              </a:rPr>
              <a:t>Reference: Singapore has assigned 450 MHz band 31 to public safety, in service.</a:t>
            </a:r>
          </a:p>
        </p:txBody>
      </p:sp>
      <p:sp>
        <p:nvSpPr>
          <p:cNvPr id="27" name="TextBox 26"/>
          <p:cNvSpPr txBox="1"/>
          <p:nvPr/>
        </p:nvSpPr>
        <p:spPr>
          <a:xfrm>
            <a:off x="609600" y="6451600"/>
            <a:ext cx="10972800" cy="177800"/>
          </a:xfrm>
          <a:prstGeom prst="rect">
            <a:avLst/>
          </a:prstGeom>
          <a:noFill/>
        </p:spPr>
        <p:txBody>
          <a:bodyPr wrap="square" lIns="0" rIns="0" tIns="0" bIns="0" anchor="t">
            <a:spAutoFit/>
          </a:bodyPr>
          <a:lstStyle/>
          <a:p>
            <a:pPr algn="l">
              <a:lnSpc>
                <a:spcPct val="125000"/>
              </a:lnSpc>
              <a:spcAft>
                <a:spcPts val="300"/>
              </a:spcAft>
            </a:pPr>
            <a:r>
              <a:rPr sz="800" b="0">
                <a:solidFill>
                  <a:srgbClr val="93A0B4"/>
                </a:solidFill>
                <a:latin typeface="Arial"/>
              </a:rPr>
              <a:t>Source: 450 MHz Alliance, Annual Global Update p8; Hytera public-safety references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381000"/>
            <a:ext cx="228600" cy="635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39800" y="279400"/>
            <a:ext cx="9906000" cy="381000"/>
          </a:xfrm>
          <a:prstGeom prst="rect">
            <a:avLst/>
          </a:prstGeom>
          <a:noFill/>
        </p:spPr>
        <p:txBody>
          <a:bodyPr wrap="square" lIns="0" rIns="0" tIns="0" bIns="0" anchor="t">
            <a:spAutoFit/>
          </a:bodyPr>
          <a:lstStyle/>
          <a:p>
            <a:pPr algn="l">
              <a:lnSpc>
                <a:spcPct val="125000"/>
              </a:lnSpc>
              <a:spcAft>
                <a:spcPts val="300"/>
              </a:spcAft>
            </a:pPr>
            <a:r>
              <a:rPr sz="2100" b="1">
                <a:solidFill>
                  <a:srgbClr val="0B308E"/>
                </a:solidFill>
                <a:latin typeface="Arial"/>
              </a:rPr>
              <a:t>Emergency: coverage that survives the storm</a:t>
            </a:r>
          </a:p>
        </p:txBody>
      </p:sp>
      <p:sp>
        <p:nvSpPr>
          <p:cNvPr id="5" name="TextBox 4"/>
          <p:cNvSpPr txBox="1"/>
          <p:nvPr/>
        </p:nvSpPr>
        <p:spPr>
          <a:xfrm>
            <a:off x="609600" y="787400"/>
            <a:ext cx="8890000" cy="203200"/>
          </a:xfrm>
          <a:prstGeom prst="rect">
            <a:avLst/>
          </a:prstGeom>
          <a:noFill/>
        </p:spPr>
        <p:txBody>
          <a:bodyPr wrap="square" lIns="0" rIns="0" tIns="0" bIns="0" anchor="t">
            <a:spAutoFit/>
          </a:bodyPr>
          <a:lstStyle/>
          <a:p>
            <a:pPr algn="l">
              <a:lnSpc>
                <a:spcPct val="125000"/>
              </a:lnSpc>
              <a:spcAft>
                <a:spcPts val="300"/>
              </a:spcAft>
            </a:pPr>
            <a:r>
              <a:rPr sz="850" b="1">
                <a:solidFill>
                  <a:srgbClr val="7F9B00"/>
                </a:solidFill>
                <a:latin typeface="Arial"/>
              </a:rPr>
              <a:t>INDUSTRY 4 OF 6  ·  EMERGENCY</a:t>
            </a:r>
          </a:p>
        </p:txBody>
      </p:sp>
      <p:sp>
        <p:nvSpPr>
          <p:cNvPr id="6" name="TextBox 5"/>
          <p:cNvSpPr txBox="1"/>
          <p:nvPr/>
        </p:nvSpPr>
        <p:spPr>
          <a:xfrm>
            <a:off x="11023600" y="279400"/>
            <a:ext cx="558800" cy="330200"/>
          </a:xfrm>
          <a:prstGeom prst="rect">
            <a:avLst/>
          </a:prstGeom>
          <a:noFill/>
        </p:spPr>
        <p:txBody>
          <a:bodyPr wrap="square" lIns="0" rIns="0" tIns="0" bIns="0" anchor="t">
            <a:spAutoFit/>
          </a:bodyPr>
          <a:lstStyle/>
          <a:p>
            <a:pPr algn="r">
              <a:lnSpc>
                <a:spcPct val="125000"/>
              </a:lnSpc>
              <a:spcAft>
                <a:spcPts val="300"/>
              </a:spcAft>
            </a:pPr>
            <a:r>
              <a:rPr sz="1700" b="1">
                <a:solidFill>
                  <a:srgbClr val="0B308E"/>
                </a:solidFill>
                <a:latin typeface="Arial"/>
              </a:rPr>
              <a:t>11</a:t>
            </a:r>
          </a:p>
        </p:txBody>
      </p:sp>
      <p:cxnSp>
        <p:nvCxnSpPr>
          <p:cNvPr id="7" name="Connector 6"/>
          <p:cNvCxnSpPr/>
          <p:nvPr/>
        </p:nvCxnSpPr>
        <p:spPr>
          <a:xfrm>
            <a:off x="609600" y="1041400"/>
            <a:ext cx="10972800" cy="0"/>
          </a:xfrm>
          <a:prstGeom prst="line">
            <a:avLst/>
          </a:prstGeom>
          <a:ln w="12700">
            <a:solidFill>
              <a:srgbClr val="D6E0F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1193800"/>
            <a:ext cx="10972800" cy="228600"/>
          </a:xfrm>
          <a:prstGeom prst="rect">
            <a:avLst/>
          </a:prstGeom>
          <a:noFill/>
        </p:spPr>
        <p:txBody>
          <a:bodyPr wrap="square" lIns="0" rIns="0" tIns="0" bIns="0" anchor="t">
            <a:spAutoFit/>
          </a:bodyPr>
          <a:lstStyle/>
          <a:p>
            <a:pPr algn="l">
              <a:lnSpc>
                <a:spcPct val="125000"/>
              </a:lnSpc>
              <a:spcAft>
                <a:spcPts val="300"/>
              </a:spcAft>
            </a:pPr>
            <a:r>
              <a:rPr sz="1150" b="0">
                <a:solidFill>
                  <a:srgbClr val="55607A"/>
                </a:solidFill>
                <a:latin typeface="Arial"/>
              </a:rPr>
              <a:t>After a typhoon the public network fails exactly where the response is needed. This is the layer that has to survive.</a:t>
            </a:r>
          </a:p>
        </p:txBody>
      </p:sp>
      <p:pic>
        <p:nvPicPr>
          <p:cNvPr id="9" name="Picture 8" descr="v6_9bbca1320b.jpg"/>
          <p:cNvPicPr>
            <a:picLocks noChangeAspect="1"/>
          </p:cNvPicPr>
          <p:nvPr/>
        </p:nvPicPr>
        <p:blipFill>
          <a:blip r:embed="rId2"/>
          <a:srcRect b="9154"/>
          <a:stretch>
            <a:fillRect/>
          </a:stretch>
        </p:blipFill>
        <p:spPr>
          <a:xfrm>
            <a:off x="609600" y="1549400"/>
            <a:ext cx="4826000" cy="2921000"/>
          </a:xfrm>
          <a:prstGeom prst="rect">
            <a:avLst/>
          </a:prstGeom>
        </p:spPr>
      </p:pic>
      <p:sp>
        <p:nvSpPr>
          <p:cNvPr id="10" name="Rectangle 9"/>
          <p:cNvSpPr/>
          <p:nvPr/>
        </p:nvSpPr>
        <p:spPr>
          <a:xfrm>
            <a:off x="609600" y="1549400"/>
            <a:ext cx="4826000" cy="2921000"/>
          </a:xfrm>
          <a:prstGeom prst="rect">
            <a:avLst/>
          </a:prstGeom>
          <a:noFill/>
          <a:ln w="12700">
            <a:solidFill>
              <a:srgbClr val="D6E0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4318000" y="1701800"/>
            <a:ext cx="965200" cy="1168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v6_4c8563220d.jpg"/>
          <p:cNvPicPr>
            <a:picLocks noChangeAspect="1"/>
          </p:cNvPicPr>
          <p:nvPr/>
        </p:nvPicPr>
        <p:blipFill>
          <a:blip r:embed="rId3"/>
          <a:srcRect l="23033" r="23033"/>
          <a:stretch>
            <a:fillRect/>
          </a:stretch>
        </p:blipFill>
        <p:spPr>
          <a:xfrm>
            <a:off x="4368800" y="1752600"/>
            <a:ext cx="863600" cy="1066800"/>
          </a:xfrm>
          <a:prstGeom prst="rect">
            <a:avLst/>
          </a:prstGeom>
        </p:spPr>
      </p:pic>
      <p:sp>
        <p:nvSpPr>
          <p:cNvPr id="13" name="TextBox 12"/>
          <p:cNvSpPr txBox="1"/>
          <p:nvPr/>
        </p:nvSpPr>
        <p:spPr>
          <a:xfrm>
            <a:off x="609600" y="4521200"/>
            <a:ext cx="4826000" cy="381000"/>
          </a:xfrm>
          <a:prstGeom prst="rect">
            <a:avLst/>
          </a:prstGeom>
          <a:noFill/>
        </p:spPr>
        <p:txBody>
          <a:bodyPr wrap="square" lIns="0" rIns="0" tIns="0" bIns="0" anchor="t">
            <a:spAutoFit/>
          </a:bodyPr>
          <a:lstStyle/>
          <a:p>
            <a:pPr algn="l">
              <a:lnSpc>
                <a:spcPct val="130000"/>
              </a:lnSpc>
              <a:spcAft>
                <a:spcPts val="300"/>
              </a:spcAft>
            </a:pPr>
            <a:r>
              <a:rPr sz="850" b="0">
                <a:solidFill>
                  <a:srgbClr val="93A0B4"/>
                </a:solidFill>
                <a:latin typeface="Arial"/>
              </a:rPr>
              <a:t>Fire, flooding and road clearance. Illustrative imagery.</a:t>
            </a:r>
          </a:p>
        </p:txBody>
      </p:sp>
      <p:sp>
        <p:nvSpPr>
          <p:cNvPr id="14" name="Rectangle 13"/>
          <p:cNvSpPr/>
          <p:nvPr/>
        </p:nvSpPr>
        <p:spPr>
          <a:xfrm>
            <a:off x="5791200" y="1549400"/>
            <a:ext cx="5791200" cy="9906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5791200" y="1549400"/>
            <a:ext cx="44450" cy="9906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019800" y="1676400"/>
            <a:ext cx="5384800" cy="177800"/>
          </a:xfrm>
          <a:prstGeom prst="rect">
            <a:avLst/>
          </a:prstGeom>
          <a:noFill/>
        </p:spPr>
        <p:txBody>
          <a:bodyPr wrap="square" lIns="0" rIns="0" tIns="0" bIns="0" anchor="t">
            <a:spAutoFit/>
          </a:bodyPr>
          <a:lstStyle/>
          <a:p>
            <a:pPr algn="l">
              <a:lnSpc>
                <a:spcPct val="125000"/>
              </a:lnSpc>
              <a:spcAft>
                <a:spcPts val="300"/>
              </a:spcAft>
            </a:pPr>
            <a:r>
              <a:rPr sz="850" b="1">
                <a:solidFill>
                  <a:srgbClr val="7F9B00"/>
                </a:solidFill>
                <a:latin typeface="Arial"/>
              </a:rPr>
              <a:t>PAIN POINT</a:t>
            </a:r>
          </a:p>
        </p:txBody>
      </p:sp>
      <p:sp>
        <p:nvSpPr>
          <p:cNvPr id="17" name="TextBox 16"/>
          <p:cNvSpPr txBox="1"/>
          <p:nvPr/>
        </p:nvSpPr>
        <p:spPr>
          <a:xfrm>
            <a:off x="6019800" y="1905000"/>
            <a:ext cx="5384800" cy="584200"/>
          </a:xfrm>
          <a:prstGeom prst="rect">
            <a:avLst/>
          </a:prstGeom>
          <a:noFill/>
        </p:spPr>
        <p:txBody>
          <a:bodyPr wrap="square" lIns="0" rIns="0" tIns="0" bIns="0" anchor="t">
            <a:spAutoFit/>
          </a:bodyPr>
          <a:lstStyle/>
          <a:p>
            <a:pPr algn="l">
              <a:lnSpc>
                <a:spcPct val="130000"/>
              </a:lnSpc>
              <a:spcAft>
                <a:spcPts val="300"/>
              </a:spcAft>
            </a:pPr>
            <a:r>
              <a:rPr sz="950" b="0">
                <a:solidFill>
                  <a:srgbClr val="55607A"/>
                </a:solidFill>
                <a:latin typeface="Arial"/>
              </a:rPr>
              <a:t>Rapid response needs communications within hours, not days - and it needs them where there is no grid and no backhaul.</a:t>
            </a:r>
          </a:p>
        </p:txBody>
      </p:sp>
      <p:sp>
        <p:nvSpPr>
          <p:cNvPr id="18" name="TextBox 17"/>
          <p:cNvSpPr txBox="1"/>
          <p:nvPr/>
        </p:nvSpPr>
        <p:spPr>
          <a:xfrm>
            <a:off x="5791200" y="2667000"/>
            <a:ext cx="5334000" cy="177800"/>
          </a:xfrm>
          <a:prstGeom prst="rect">
            <a:avLst/>
          </a:prstGeom>
          <a:noFill/>
        </p:spPr>
        <p:txBody>
          <a:bodyPr wrap="square" lIns="0" rIns="0" tIns="0" bIns="0" anchor="t">
            <a:spAutoFit/>
          </a:bodyPr>
          <a:lstStyle/>
          <a:p>
            <a:pPr algn="l">
              <a:lnSpc>
                <a:spcPct val="125000"/>
              </a:lnSpc>
              <a:spcAft>
                <a:spcPts val="300"/>
              </a:spcAft>
            </a:pPr>
            <a:r>
              <a:rPr sz="850" b="1">
                <a:solidFill>
                  <a:srgbClr val="7F9B00"/>
                </a:solidFill>
                <a:latin typeface="Arial"/>
              </a:rPr>
              <a:t>WHAT 450 MHZ DOES</a:t>
            </a:r>
          </a:p>
        </p:txBody>
      </p:sp>
      <p:pic>
        <p:nvPicPr>
          <p:cNvPr id="19" name="Picture 18" descr="a_f5756d3699.png"/>
          <p:cNvPicPr>
            <a:picLocks noChangeAspect="1"/>
          </p:cNvPicPr>
          <p:nvPr/>
        </p:nvPicPr>
        <p:blipFill>
          <a:blip r:embed="rId4"/>
          <a:stretch>
            <a:fillRect/>
          </a:stretch>
        </p:blipFill>
        <p:spPr>
          <a:xfrm>
            <a:off x="5802577" y="2959100"/>
            <a:ext cx="129645" cy="254000"/>
          </a:xfrm>
          <a:prstGeom prst="rect">
            <a:avLst/>
          </a:prstGeom>
        </p:spPr>
      </p:pic>
      <p:sp>
        <p:nvSpPr>
          <p:cNvPr id="20" name="TextBox 19"/>
          <p:cNvSpPr txBox="1"/>
          <p:nvPr/>
        </p:nvSpPr>
        <p:spPr>
          <a:xfrm>
            <a:off x="6070600" y="2946400"/>
            <a:ext cx="5511800" cy="457200"/>
          </a:xfrm>
          <a:prstGeom prst="rect">
            <a:avLst/>
          </a:prstGeom>
          <a:noFill/>
        </p:spPr>
        <p:txBody>
          <a:bodyPr wrap="square" lIns="0" rIns="0" tIns="0" bIns="0" anchor="t">
            <a:spAutoFit/>
          </a:bodyPr>
          <a:lstStyle/>
          <a:p>
            <a:pPr algn="l">
              <a:lnSpc>
                <a:spcPct val="128000"/>
              </a:lnSpc>
              <a:spcAft>
                <a:spcPts val="300"/>
              </a:spcAft>
            </a:pPr>
            <a:r>
              <a:rPr sz="1050" b="0">
                <a:solidFill>
                  <a:srgbClr val="55607A"/>
                </a:solidFill>
                <a:latin typeface="Arial"/>
              </a:rPr>
              <a:t>Portable base stations and satellite backhaul deployed within hours</a:t>
            </a:r>
          </a:p>
        </p:txBody>
      </p:sp>
      <p:pic>
        <p:nvPicPr>
          <p:cNvPr id="21" name="Picture 20" descr="a_f5756d3699.png"/>
          <p:cNvPicPr>
            <a:picLocks noChangeAspect="1"/>
          </p:cNvPicPr>
          <p:nvPr/>
        </p:nvPicPr>
        <p:blipFill>
          <a:blip r:embed="rId4"/>
          <a:stretch>
            <a:fillRect/>
          </a:stretch>
        </p:blipFill>
        <p:spPr>
          <a:xfrm>
            <a:off x="5802577" y="3467100"/>
            <a:ext cx="129645" cy="254000"/>
          </a:xfrm>
          <a:prstGeom prst="rect">
            <a:avLst/>
          </a:prstGeom>
        </p:spPr>
      </p:pic>
      <p:sp>
        <p:nvSpPr>
          <p:cNvPr id="22" name="TextBox 21"/>
          <p:cNvSpPr txBox="1"/>
          <p:nvPr/>
        </p:nvSpPr>
        <p:spPr>
          <a:xfrm>
            <a:off x="6070600" y="3454400"/>
            <a:ext cx="5511800" cy="457200"/>
          </a:xfrm>
          <a:prstGeom prst="rect">
            <a:avLst/>
          </a:prstGeom>
          <a:noFill/>
        </p:spPr>
        <p:txBody>
          <a:bodyPr wrap="square" lIns="0" rIns="0" tIns="0" bIns="0" anchor="t">
            <a:spAutoFit/>
          </a:bodyPr>
          <a:lstStyle/>
          <a:p>
            <a:pPr algn="l">
              <a:lnSpc>
                <a:spcPct val="128000"/>
              </a:lnSpc>
              <a:spcAft>
                <a:spcPts val="300"/>
              </a:spcAft>
            </a:pPr>
            <a:r>
              <a:rPr sz="1050" b="0">
                <a:solidFill>
                  <a:srgbClr val="55607A"/>
                </a:solidFill>
                <a:latin typeface="Arial"/>
              </a:rPr>
              <a:t>A field command post that reaches the provincial EOC and the national agency</a:t>
            </a:r>
          </a:p>
        </p:txBody>
      </p:sp>
      <p:pic>
        <p:nvPicPr>
          <p:cNvPr id="23" name="Picture 22" descr="a_f5756d3699.png"/>
          <p:cNvPicPr>
            <a:picLocks noChangeAspect="1"/>
          </p:cNvPicPr>
          <p:nvPr/>
        </p:nvPicPr>
        <p:blipFill>
          <a:blip r:embed="rId4"/>
          <a:stretch>
            <a:fillRect/>
          </a:stretch>
        </p:blipFill>
        <p:spPr>
          <a:xfrm>
            <a:off x="5802577" y="3975100"/>
            <a:ext cx="129645" cy="254000"/>
          </a:xfrm>
          <a:prstGeom prst="rect">
            <a:avLst/>
          </a:prstGeom>
        </p:spPr>
      </p:pic>
      <p:sp>
        <p:nvSpPr>
          <p:cNvPr id="24" name="TextBox 23"/>
          <p:cNvSpPr txBox="1"/>
          <p:nvPr/>
        </p:nvSpPr>
        <p:spPr>
          <a:xfrm>
            <a:off x="6070600" y="3962400"/>
            <a:ext cx="5511800" cy="457200"/>
          </a:xfrm>
          <a:prstGeom prst="rect">
            <a:avLst/>
          </a:prstGeom>
          <a:noFill/>
        </p:spPr>
        <p:txBody>
          <a:bodyPr wrap="square" lIns="0" rIns="0" tIns="0" bIns="0" anchor="t">
            <a:spAutoFit/>
          </a:bodyPr>
          <a:lstStyle/>
          <a:p>
            <a:pPr algn="l">
              <a:lnSpc>
                <a:spcPct val="128000"/>
              </a:lnSpc>
              <a:spcAft>
                <a:spcPts val="300"/>
              </a:spcAft>
            </a:pPr>
            <a:r>
              <a:rPr sz="1050" b="0">
                <a:solidFill>
                  <a:srgbClr val="55607A"/>
                </a:solidFill>
                <a:latin typeface="Arial"/>
              </a:rPr>
              <a:t>Sites that keep running on backup power when the grid does not</a:t>
            </a:r>
          </a:p>
        </p:txBody>
      </p:sp>
      <p:sp>
        <p:nvSpPr>
          <p:cNvPr id="25" name="Rectangle 24"/>
          <p:cNvSpPr/>
          <p:nvPr/>
        </p:nvSpPr>
        <p:spPr>
          <a:xfrm>
            <a:off x="5791200" y="4521200"/>
            <a:ext cx="5791200" cy="381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994400" y="4521200"/>
            <a:ext cx="5384800" cy="381000"/>
          </a:xfrm>
          <a:prstGeom prst="rect">
            <a:avLst/>
          </a:prstGeom>
          <a:noFill/>
        </p:spPr>
        <p:txBody>
          <a:bodyPr wrap="square" lIns="0" rIns="0" tIns="0" bIns="0" anchor="ctr">
            <a:spAutoFit/>
          </a:bodyPr>
          <a:lstStyle/>
          <a:p>
            <a:pPr algn="l">
              <a:lnSpc>
                <a:spcPct val="125000"/>
              </a:lnSpc>
              <a:spcAft>
                <a:spcPts val="300"/>
              </a:spcAft>
            </a:pPr>
            <a:r>
              <a:rPr sz="950" b="1">
                <a:solidFill>
                  <a:srgbClr val="0B308E"/>
                </a:solidFill>
                <a:latin typeface="Arial"/>
              </a:rPr>
              <a:t>Reference: rapid deployment kits and container command posts in service.</a:t>
            </a:r>
          </a:p>
        </p:txBody>
      </p:sp>
      <p:sp>
        <p:nvSpPr>
          <p:cNvPr id="27" name="TextBox 26"/>
          <p:cNvSpPr txBox="1"/>
          <p:nvPr/>
        </p:nvSpPr>
        <p:spPr>
          <a:xfrm>
            <a:off x="609600" y="6451600"/>
            <a:ext cx="10972800" cy="177800"/>
          </a:xfrm>
          <a:prstGeom prst="rect">
            <a:avLst/>
          </a:prstGeom>
          <a:noFill/>
        </p:spPr>
        <p:txBody>
          <a:bodyPr wrap="square" lIns="0" rIns="0" tIns="0" bIns="0" anchor="t">
            <a:spAutoFit/>
          </a:bodyPr>
          <a:lstStyle/>
          <a:p>
            <a:pPr algn="l">
              <a:lnSpc>
                <a:spcPct val="125000"/>
              </a:lnSpc>
              <a:spcAft>
                <a:spcPts val="300"/>
              </a:spcAft>
            </a:pPr>
            <a:r>
              <a:rPr sz="800" b="0">
                <a:solidFill>
                  <a:srgbClr val="93A0B4"/>
                </a:solidFill>
                <a:latin typeface="Arial"/>
              </a:rPr>
              <a:t>Source: Hytera emergency and rapid-deployment product documentation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381000"/>
            <a:ext cx="228600" cy="635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39800" y="279400"/>
            <a:ext cx="9906000" cy="381000"/>
          </a:xfrm>
          <a:prstGeom prst="rect">
            <a:avLst/>
          </a:prstGeom>
          <a:noFill/>
        </p:spPr>
        <p:txBody>
          <a:bodyPr wrap="square" lIns="0" rIns="0" tIns="0" bIns="0" anchor="t">
            <a:spAutoFit/>
          </a:bodyPr>
          <a:lstStyle/>
          <a:p>
            <a:pPr algn="l">
              <a:lnSpc>
                <a:spcPct val="125000"/>
              </a:lnSpc>
              <a:spcAft>
                <a:spcPts val="300"/>
              </a:spcAft>
            </a:pPr>
            <a:r>
              <a:rPr sz="2100" b="1">
                <a:solidFill>
                  <a:srgbClr val="0B308E"/>
                </a:solidFill>
                <a:latin typeface="Arial"/>
              </a:rPr>
              <a:t>Rail: continuous coverage along a narrow corridor</a:t>
            </a:r>
          </a:p>
        </p:txBody>
      </p:sp>
      <p:sp>
        <p:nvSpPr>
          <p:cNvPr id="5" name="TextBox 4"/>
          <p:cNvSpPr txBox="1"/>
          <p:nvPr/>
        </p:nvSpPr>
        <p:spPr>
          <a:xfrm>
            <a:off x="609600" y="787400"/>
            <a:ext cx="8890000" cy="203200"/>
          </a:xfrm>
          <a:prstGeom prst="rect">
            <a:avLst/>
          </a:prstGeom>
          <a:noFill/>
        </p:spPr>
        <p:txBody>
          <a:bodyPr wrap="square" lIns="0" rIns="0" tIns="0" bIns="0" anchor="t">
            <a:spAutoFit/>
          </a:bodyPr>
          <a:lstStyle/>
          <a:p>
            <a:pPr algn="l">
              <a:lnSpc>
                <a:spcPct val="125000"/>
              </a:lnSpc>
              <a:spcAft>
                <a:spcPts val="300"/>
              </a:spcAft>
            </a:pPr>
            <a:r>
              <a:rPr sz="850" b="1">
                <a:solidFill>
                  <a:srgbClr val="7F9B00"/>
                </a:solidFill>
                <a:latin typeface="Arial"/>
              </a:rPr>
              <a:t>INDUSTRY 5 OF 6  ·  RAIL</a:t>
            </a:r>
          </a:p>
        </p:txBody>
      </p:sp>
      <p:sp>
        <p:nvSpPr>
          <p:cNvPr id="6" name="TextBox 5"/>
          <p:cNvSpPr txBox="1"/>
          <p:nvPr/>
        </p:nvSpPr>
        <p:spPr>
          <a:xfrm>
            <a:off x="11023600" y="279400"/>
            <a:ext cx="558800" cy="330200"/>
          </a:xfrm>
          <a:prstGeom prst="rect">
            <a:avLst/>
          </a:prstGeom>
          <a:noFill/>
        </p:spPr>
        <p:txBody>
          <a:bodyPr wrap="square" lIns="0" rIns="0" tIns="0" bIns="0" anchor="t">
            <a:spAutoFit/>
          </a:bodyPr>
          <a:lstStyle/>
          <a:p>
            <a:pPr algn="r">
              <a:lnSpc>
                <a:spcPct val="125000"/>
              </a:lnSpc>
              <a:spcAft>
                <a:spcPts val="300"/>
              </a:spcAft>
            </a:pPr>
            <a:r>
              <a:rPr sz="1700" b="1">
                <a:solidFill>
                  <a:srgbClr val="0B308E"/>
                </a:solidFill>
                <a:latin typeface="Arial"/>
              </a:rPr>
              <a:t>12</a:t>
            </a:r>
          </a:p>
        </p:txBody>
      </p:sp>
      <p:cxnSp>
        <p:nvCxnSpPr>
          <p:cNvPr id="7" name="Connector 6"/>
          <p:cNvCxnSpPr/>
          <p:nvPr/>
        </p:nvCxnSpPr>
        <p:spPr>
          <a:xfrm>
            <a:off x="609600" y="1041400"/>
            <a:ext cx="10972800" cy="0"/>
          </a:xfrm>
          <a:prstGeom prst="line">
            <a:avLst/>
          </a:prstGeom>
          <a:ln w="12700">
            <a:solidFill>
              <a:srgbClr val="D6E0F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1193800"/>
            <a:ext cx="10972800" cy="228600"/>
          </a:xfrm>
          <a:prstGeom prst="rect">
            <a:avLst/>
          </a:prstGeom>
          <a:noFill/>
        </p:spPr>
        <p:txBody>
          <a:bodyPr wrap="square" lIns="0" rIns="0" tIns="0" bIns="0" anchor="t">
            <a:spAutoFit/>
          </a:bodyPr>
          <a:lstStyle/>
          <a:p>
            <a:pPr algn="l">
              <a:lnSpc>
                <a:spcPct val="125000"/>
              </a:lnSpc>
              <a:spcAft>
                <a:spcPts val="300"/>
              </a:spcAft>
            </a:pPr>
            <a:r>
              <a:rPr sz="1150" b="0">
                <a:solidFill>
                  <a:srgbClr val="55607A"/>
                </a:solidFill>
                <a:latin typeface="Arial"/>
              </a:rPr>
              <a:t>A rail corridor is a narrow strip, often in cuttings. It is one of the two shapes mid-band handles worst.</a:t>
            </a:r>
          </a:p>
        </p:txBody>
      </p:sp>
      <p:pic>
        <p:nvPicPr>
          <p:cNvPr id="9" name="Picture 8" descr="v6_3c7e7596b1.jpg"/>
          <p:cNvPicPr>
            <a:picLocks noChangeAspect="1"/>
          </p:cNvPicPr>
          <p:nvPr/>
        </p:nvPicPr>
        <p:blipFill>
          <a:blip r:embed="rId2"/>
          <a:srcRect t="3657" b="13657"/>
          <a:stretch>
            <a:fillRect/>
          </a:stretch>
        </p:blipFill>
        <p:spPr>
          <a:xfrm>
            <a:off x="609600" y="1549400"/>
            <a:ext cx="4826000" cy="2921000"/>
          </a:xfrm>
          <a:prstGeom prst="rect">
            <a:avLst/>
          </a:prstGeom>
        </p:spPr>
      </p:pic>
      <p:sp>
        <p:nvSpPr>
          <p:cNvPr id="10" name="Rectangle 9"/>
          <p:cNvSpPr/>
          <p:nvPr/>
        </p:nvSpPr>
        <p:spPr>
          <a:xfrm>
            <a:off x="609600" y="1549400"/>
            <a:ext cx="4826000" cy="2921000"/>
          </a:xfrm>
          <a:prstGeom prst="rect">
            <a:avLst/>
          </a:prstGeom>
          <a:noFill/>
          <a:ln w="12700">
            <a:solidFill>
              <a:srgbClr val="D6E0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4318000" y="1701800"/>
            <a:ext cx="965200" cy="1168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v6_3cff974c74.jpg"/>
          <p:cNvPicPr>
            <a:picLocks noChangeAspect="1"/>
          </p:cNvPicPr>
          <p:nvPr/>
        </p:nvPicPr>
        <p:blipFill>
          <a:blip r:embed="rId3"/>
          <a:srcRect t="8755" b="8755"/>
          <a:stretch>
            <a:fillRect/>
          </a:stretch>
        </p:blipFill>
        <p:spPr>
          <a:xfrm>
            <a:off x="4368800" y="1752600"/>
            <a:ext cx="863600" cy="1066800"/>
          </a:xfrm>
          <a:prstGeom prst="rect">
            <a:avLst/>
          </a:prstGeom>
        </p:spPr>
      </p:pic>
      <p:sp>
        <p:nvSpPr>
          <p:cNvPr id="13" name="TextBox 12"/>
          <p:cNvSpPr txBox="1"/>
          <p:nvPr/>
        </p:nvSpPr>
        <p:spPr>
          <a:xfrm>
            <a:off x="609600" y="4521200"/>
            <a:ext cx="4826000" cy="381000"/>
          </a:xfrm>
          <a:prstGeom prst="rect">
            <a:avLst/>
          </a:prstGeom>
          <a:noFill/>
        </p:spPr>
        <p:txBody>
          <a:bodyPr wrap="square" lIns="0" rIns="0" tIns="0" bIns="0" anchor="t">
            <a:spAutoFit/>
          </a:bodyPr>
          <a:lstStyle/>
          <a:p>
            <a:pPr algn="l">
              <a:lnSpc>
                <a:spcPct val="130000"/>
              </a:lnSpc>
              <a:spcAft>
                <a:spcPts val="300"/>
              </a:spcAft>
            </a:pPr>
            <a:r>
              <a:rPr sz="850" b="0">
                <a:solidFill>
                  <a:srgbClr val="93A0B4"/>
                </a:solidFill>
                <a:latin typeface="Arial"/>
              </a:rPr>
              <a:t>An interchange and a tunnel section. Illustrative imagery.</a:t>
            </a:r>
          </a:p>
        </p:txBody>
      </p:sp>
      <p:sp>
        <p:nvSpPr>
          <p:cNvPr id="14" name="Rectangle 13"/>
          <p:cNvSpPr/>
          <p:nvPr/>
        </p:nvSpPr>
        <p:spPr>
          <a:xfrm>
            <a:off x="5791200" y="1549400"/>
            <a:ext cx="5791200" cy="9906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5791200" y="1549400"/>
            <a:ext cx="44450" cy="9906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019800" y="1676400"/>
            <a:ext cx="5384800" cy="177800"/>
          </a:xfrm>
          <a:prstGeom prst="rect">
            <a:avLst/>
          </a:prstGeom>
          <a:noFill/>
        </p:spPr>
        <p:txBody>
          <a:bodyPr wrap="square" lIns="0" rIns="0" tIns="0" bIns="0" anchor="t">
            <a:spAutoFit/>
          </a:bodyPr>
          <a:lstStyle/>
          <a:p>
            <a:pPr algn="l">
              <a:lnSpc>
                <a:spcPct val="125000"/>
              </a:lnSpc>
              <a:spcAft>
                <a:spcPts val="300"/>
              </a:spcAft>
            </a:pPr>
            <a:r>
              <a:rPr sz="850" b="1">
                <a:solidFill>
                  <a:srgbClr val="7F9B00"/>
                </a:solidFill>
                <a:latin typeface="Arial"/>
              </a:rPr>
              <a:t>PAIN POINT</a:t>
            </a:r>
          </a:p>
        </p:txBody>
      </p:sp>
      <p:sp>
        <p:nvSpPr>
          <p:cNvPr id="17" name="TextBox 16"/>
          <p:cNvSpPr txBox="1"/>
          <p:nvPr/>
        </p:nvSpPr>
        <p:spPr>
          <a:xfrm>
            <a:off x="6019800" y="1905000"/>
            <a:ext cx="5384800" cy="584200"/>
          </a:xfrm>
          <a:prstGeom prst="rect">
            <a:avLst/>
          </a:prstGeom>
          <a:noFill/>
        </p:spPr>
        <p:txBody>
          <a:bodyPr wrap="square" lIns="0" rIns="0" tIns="0" bIns="0" anchor="t">
            <a:spAutoFit/>
          </a:bodyPr>
          <a:lstStyle/>
          <a:p>
            <a:pPr algn="l">
              <a:lnSpc>
                <a:spcPct val="130000"/>
              </a:lnSpc>
              <a:spcAft>
                <a:spcPts val="300"/>
              </a:spcAft>
            </a:pPr>
            <a:r>
              <a:rPr sz="950" b="0">
                <a:solidFill>
                  <a:srgbClr val="55607A"/>
                </a:solidFill>
                <a:latin typeface="Arial"/>
              </a:rPr>
              <a:t>Coverage has to follow the track, not the population - so a network built for towns leaves the corridor uncovered.</a:t>
            </a:r>
          </a:p>
        </p:txBody>
      </p:sp>
      <p:sp>
        <p:nvSpPr>
          <p:cNvPr id="18" name="TextBox 17"/>
          <p:cNvSpPr txBox="1"/>
          <p:nvPr/>
        </p:nvSpPr>
        <p:spPr>
          <a:xfrm>
            <a:off x="5791200" y="2667000"/>
            <a:ext cx="5334000" cy="177800"/>
          </a:xfrm>
          <a:prstGeom prst="rect">
            <a:avLst/>
          </a:prstGeom>
          <a:noFill/>
        </p:spPr>
        <p:txBody>
          <a:bodyPr wrap="square" lIns="0" rIns="0" tIns="0" bIns="0" anchor="t">
            <a:spAutoFit/>
          </a:bodyPr>
          <a:lstStyle/>
          <a:p>
            <a:pPr algn="l">
              <a:lnSpc>
                <a:spcPct val="125000"/>
              </a:lnSpc>
              <a:spcAft>
                <a:spcPts val="300"/>
              </a:spcAft>
            </a:pPr>
            <a:r>
              <a:rPr sz="850" b="1">
                <a:solidFill>
                  <a:srgbClr val="7F9B00"/>
                </a:solidFill>
                <a:latin typeface="Arial"/>
              </a:rPr>
              <a:t>WHAT 450 MHZ DOES</a:t>
            </a:r>
          </a:p>
        </p:txBody>
      </p:sp>
      <p:pic>
        <p:nvPicPr>
          <p:cNvPr id="19" name="Picture 18" descr="a_f5756d3699.png"/>
          <p:cNvPicPr>
            <a:picLocks noChangeAspect="1"/>
          </p:cNvPicPr>
          <p:nvPr/>
        </p:nvPicPr>
        <p:blipFill>
          <a:blip r:embed="rId4"/>
          <a:stretch>
            <a:fillRect/>
          </a:stretch>
        </p:blipFill>
        <p:spPr>
          <a:xfrm>
            <a:off x="5802577" y="2959100"/>
            <a:ext cx="129645" cy="254000"/>
          </a:xfrm>
          <a:prstGeom prst="rect">
            <a:avLst/>
          </a:prstGeom>
        </p:spPr>
      </p:pic>
      <p:sp>
        <p:nvSpPr>
          <p:cNvPr id="20" name="TextBox 19"/>
          <p:cNvSpPr txBox="1"/>
          <p:nvPr/>
        </p:nvSpPr>
        <p:spPr>
          <a:xfrm>
            <a:off x="6070600" y="2946400"/>
            <a:ext cx="5511800" cy="457200"/>
          </a:xfrm>
          <a:prstGeom prst="rect">
            <a:avLst/>
          </a:prstGeom>
          <a:noFill/>
        </p:spPr>
        <p:txBody>
          <a:bodyPr wrap="square" lIns="0" rIns="0" tIns="0" bIns="0" anchor="t">
            <a:spAutoFit/>
          </a:bodyPr>
          <a:lstStyle/>
          <a:p>
            <a:pPr algn="l">
              <a:lnSpc>
                <a:spcPct val="128000"/>
              </a:lnSpc>
              <a:spcAft>
                <a:spcPts val="300"/>
              </a:spcAft>
            </a:pPr>
            <a:r>
              <a:rPr sz="1050" b="0">
                <a:solidFill>
                  <a:srgbClr val="55607A"/>
                </a:solidFill>
                <a:latin typeface="Arial"/>
              </a:rPr>
              <a:t>Continuous coverage along the corridor, including cuttings and tunnels</a:t>
            </a:r>
          </a:p>
        </p:txBody>
      </p:sp>
      <p:pic>
        <p:nvPicPr>
          <p:cNvPr id="21" name="Picture 20" descr="a_f5756d3699.png"/>
          <p:cNvPicPr>
            <a:picLocks noChangeAspect="1"/>
          </p:cNvPicPr>
          <p:nvPr/>
        </p:nvPicPr>
        <p:blipFill>
          <a:blip r:embed="rId4"/>
          <a:stretch>
            <a:fillRect/>
          </a:stretch>
        </p:blipFill>
        <p:spPr>
          <a:xfrm>
            <a:off x="5802577" y="3467100"/>
            <a:ext cx="129645" cy="254000"/>
          </a:xfrm>
          <a:prstGeom prst="rect">
            <a:avLst/>
          </a:prstGeom>
        </p:spPr>
      </p:pic>
      <p:sp>
        <p:nvSpPr>
          <p:cNvPr id="22" name="TextBox 21"/>
          <p:cNvSpPr txBox="1"/>
          <p:nvPr/>
        </p:nvSpPr>
        <p:spPr>
          <a:xfrm>
            <a:off x="6070600" y="3454400"/>
            <a:ext cx="5511800" cy="457200"/>
          </a:xfrm>
          <a:prstGeom prst="rect">
            <a:avLst/>
          </a:prstGeom>
          <a:noFill/>
        </p:spPr>
        <p:txBody>
          <a:bodyPr wrap="square" lIns="0" rIns="0" tIns="0" bIns="0" anchor="t">
            <a:spAutoFit/>
          </a:bodyPr>
          <a:lstStyle/>
          <a:p>
            <a:pPr algn="l">
              <a:lnSpc>
                <a:spcPct val="128000"/>
              </a:lnSpc>
              <a:spcAft>
                <a:spcPts val="300"/>
              </a:spcAft>
            </a:pPr>
            <a:r>
              <a:rPr sz="1050" b="0">
                <a:solidFill>
                  <a:srgbClr val="55607A"/>
                </a:solidFill>
                <a:latin typeface="Arial"/>
              </a:rPr>
              <a:t>Train-to-ground voice, data and video for operations and security</a:t>
            </a:r>
          </a:p>
        </p:txBody>
      </p:sp>
      <p:pic>
        <p:nvPicPr>
          <p:cNvPr id="23" name="Picture 22" descr="a_f5756d3699.png"/>
          <p:cNvPicPr>
            <a:picLocks noChangeAspect="1"/>
          </p:cNvPicPr>
          <p:nvPr/>
        </p:nvPicPr>
        <p:blipFill>
          <a:blip r:embed="rId4"/>
          <a:stretch>
            <a:fillRect/>
          </a:stretch>
        </p:blipFill>
        <p:spPr>
          <a:xfrm>
            <a:off x="5802577" y="3975100"/>
            <a:ext cx="129645" cy="254000"/>
          </a:xfrm>
          <a:prstGeom prst="rect">
            <a:avLst/>
          </a:prstGeom>
        </p:spPr>
      </p:pic>
      <p:sp>
        <p:nvSpPr>
          <p:cNvPr id="24" name="TextBox 23"/>
          <p:cNvSpPr txBox="1"/>
          <p:nvPr/>
        </p:nvSpPr>
        <p:spPr>
          <a:xfrm>
            <a:off x="6070600" y="3962400"/>
            <a:ext cx="5511800" cy="457200"/>
          </a:xfrm>
          <a:prstGeom prst="rect">
            <a:avLst/>
          </a:prstGeom>
          <a:noFill/>
        </p:spPr>
        <p:txBody>
          <a:bodyPr wrap="square" lIns="0" rIns="0" tIns="0" bIns="0" anchor="t">
            <a:spAutoFit/>
          </a:bodyPr>
          <a:lstStyle/>
          <a:p>
            <a:pPr algn="l">
              <a:lnSpc>
                <a:spcPct val="128000"/>
              </a:lnSpc>
              <a:spcAft>
                <a:spcPts val="300"/>
              </a:spcAft>
            </a:pPr>
            <a:r>
              <a:rPr sz="1050" b="0">
                <a:solidFill>
                  <a:srgbClr val="55607A"/>
                </a:solidFill>
                <a:latin typeface="Arial"/>
              </a:rPr>
              <a:t>Runs on the operator’s network rather than a separate private system</a:t>
            </a:r>
          </a:p>
        </p:txBody>
      </p:sp>
      <p:sp>
        <p:nvSpPr>
          <p:cNvPr id="25" name="Rectangle 24"/>
          <p:cNvSpPr/>
          <p:nvPr/>
        </p:nvSpPr>
        <p:spPr>
          <a:xfrm>
            <a:off x="5791200" y="4521200"/>
            <a:ext cx="5791200" cy="381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994400" y="4521200"/>
            <a:ext cx="5384800" cy="381000"/>
          </a:xfrm>
          <a:prstGeom prst="rect">
            <a:avLst/>
          </a:prstGeom>
          <a:noFill/>
        </p:spPr>
        <p:txBody>
          <a:bodyPr wrap="square" lIns="0" rIns="0" tIns="0" bIns="0" anchor="ctr">
            <a:spAutoFit/>
          </a:bodyPr>
          <a:lstStyle/>
          <a:p>
            <a:pPr algn="l">
              <a:lnSpc>
                <a:spcPct val="125000"/>
              </a:lnSpc>
              <a:spcAft>
                <a:spcPts val="300"/>
              </a:spcAft>
            </a:pPr>
            <a:r>
              <a:rPr sz="950" b="1">
                <a:solidFill>
                  <a:srgbClr val="0B308E"/>
                </a:solidFill>
                <a:latin typeface="Arial"/>
              </a:rPr>
              <a:t>Reference: South Africa has assigned the band to Transnet for rail.</a:t>
            </a:r>
          </a:p>
        </p:txBody>
      </p:sp>
      <p:sp>
        <p:nvSpPr>
          <p:cNvPr id="27" name="TextBox 26"/>
          <p:cNvSpPr txBox="1"/>
          <p:nvPr/>
        </p:nvSpPr>
        <p:spPr>
          <a:xfrm>
            <a:off x="609600" y="6451600"/>
            <a:ext cx="10972800" cy="177800"/>
          </a:xfrm>
          <a:prstGeom prst="rect">
            <a:avLst/>
          </a:prstGeom>
          <a:noFill/>
        </p:spPr>
        <p:txBody>
          <a:bodyPr wrap="square" lIns="0" rIns="0" tIns="0" bIns="0" anchor="t">
            <a:spAutoFit/>
          </a:bodyPr>
          <a:lstStyle/>
          <a:p>
            <a:pPr algn="l">
              <a:lnSpc>
                <a:spcPct val="125000"/>
              </a:lnSpc>
              <a:spcAft>
                <a:spcPts val="300"/>
              </a:spcAft>
            </a:pPr>
            <a:r>
              <a:rPr sz="800" b="0">
                <a:solidFill>
                  <a:srgbClr val="93A0B4"/>
                </a:solidFill>
                <a:latin typeface="Arial"/>
              </a:rPr>
              <a:t>Source: 450 MHz Alliance, Annual Global Update 2025 p6; Hytera railway references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381000"/>
            <a:ext cx="228600" cy="635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39800" y="279400"/>
            <a:ext cx="9906000" cy="381000"/>
          </a:xfrm>
          <a:prstGeom prst="rect">
            <a:avLst/>
          </a:prstGeom>
          <a:noFill/>
        </p:spPr>
        <p:txBody>
          <a:bodyPr wrap="square" lIns="0" rIns="0" tIns="0" bIns="0" anchor="t">
            <a:spAutoFit/>
          </a:bodyPr>
          <a:lstStyle/>
          <a:p>
            <a:pPr algn="l">
              <a:lnSpc>
                <a:spcPct val="125000"/>
              </a:lnSpc>
              <a:spcAft>
                <a:spcPts val="300"/>
              </a:spcAft>
            </a:pPr>
            <a:r>
              <a:rPr sz="2100" b="1">
                <a:solidFill>
                  <a:srgbClr val="0B308E"/>
                </a:solidFill>
                <a:latin typeface="Arial"/>
              </a:rPr>
              <a:t>Port: from the quay out to sea</a:t>
            </a:r>
          </a:p>
        </p:txBody>
      </p:sp>
      <p:sp>
        <p:nvSpPr>
          <p:cNvPr id="5" name="TextBox 4"/>
          <p:cNvSpPr txBox="1"/>
          <p:nvPr/>
        </p:nvSpPr>
        <p:spPr>
          <a:xfrm>
            <a:off x="609600" y="787400"/>
            <a:ext cx="8890000" cy="203200"/>
          </a:xfrm>
          <a:prstGeom prst="rect">
            <a:avLst/>
          </a:prstGeom>
          <a:noFill/>
        </p:spPr>
        <p:txBody>
          <a:bodyPr wrap="square" lIns="0" rIns="0" tIns="0" bIns="0" anchor="t">
            <a:spAutoFit/>
          </a:bodyPr>
          <a:lstStyle/>
          <a:p>
            <a:pPr algn="l">
              <a:lnSpc>
                <a:spcPct val="125000"/>
              </a:lnSpc>
              <a:spcAft>
                <a:spcPts val="300"/>
              </a:spcAft>
            </a:pPr>
            <a:r>
              <a:rPr sz="850" b="1">
                <a:solidFill>
                  <a:srgbClr val="7F9B00"/>
                </a:solidFill>
                <a:latin typeface="Arial"/>
              </a:rPr>
              <a:t>INDUSTRY 6 OF 6  ·  PORT</a:t>
            </a:r>
          </a:p>
        </p:txBody>
      </p:sp>
      <p:sp>
        <p:nvSpPr>
          <p:cNvPr id="6" name="TextBox 5"/>
          <p:cNvSpPr txBox="1"/>
          <p:nvPr/>
        </p:nvSpPr>
        <p:spPr>
          <a:xfrm>
            <a:off x="11023600" y="279400"/>
            <a:ext cx="558800" cy="330200"/>
          </a:xfrm>
          <a:prstGeom prst="rect">
            <a:avLst/>
          </a:prstGeom>
          <a:noFill/>
        </p:spPr>
        <p:txBody>
          <a:bodyPr wrap="square" lIns="0" rIns="0" tIns="0" bIns="0" anchor="t">
            <a:spAutoFit/>
          </a:bodyPr>
          <a:lstStyle/>
          <a:p>
            <a:pPr algn="r">
              <a:lnSpc>
                <a:spcPct val="125000"/>
              </a:lnSpc>
              <a:spcAft>
                <a:spcPts val="300"/>
              </a:spcAft>
            </a:pPr>
            <a:r>
              <a:rPr sz="1700" b="1">
                <a:solidFill>
                  <a:srgbClr val="0B308E"/>
                </a:solidFill>
                <a:latin typeface="Arial"/>
              </a:rPr>
              <a:t>13</a:t>
            </a:r>
          </a:p>
        </p:txBody>
      </p:sp>
      <p:cxnSp>
        <p:nvCxnSpPr>
          <p:cNvPr id="7" name="Connector 6"/>
          <p:cNvCxnSpPr/>
          <p:nvPr/>
        </p:nvCxnSpPr>
        <p:spPr>
          <a:xfrm>
            <a:off x="609600" y="1041400"/>
            <a:ext cx="10972800" cy="0"/>
          </a:xfrm>
          <a:prstGeom prst="line">
            <a:avLst/>
          </a:prstGeom>
          <a:ln w="12700">
            <a:solidFill>
              <a:srgbClr val="D6E0F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1193800"/>
            <a:ext cx="10972800" cy="228600"/>
          </a:xfrm>
          <a:prstGeom prst="rect">
            <a:avLst/>
          </a:prstGeom>
          <a:noFill/>
        </p:spPr>
        <p:txBody>
          <a:bodyPr wrap="square" lIns="0" rIns="0" tIns="0" bIns="0" anchor="t">
            <a:spAutoFit/>
          </a:bodyPr>
          <a:lstStyle/>
          <a:p>
            <a:pPr algn="l">
              <a:lnSpc>
                <a:spcPct val="125000"/>
              </a:lnSpc>
              <a:spcAft>
                <a:spcPts val="300"/>
              </a:spcAft>
            </a:pPr>
            <a:r>
              <a:rPr sz="1150" b="0">
                <a:solidFill>
                  <a:srgbClr val="55607A"/>
                </a:solidFill>
                <a:latin typeface="Arial"/>
              </a:rPr>
              <a:t>Ports are dense and metallic, and coast guard patrols run far beyond mid-band reach. One network covers both.</a:t>
            </a:r>
          </a:p>
        </p:txBody>
      </p:sp>
      <p:pic>
        <p:nvPicPr>
          <p:cNvPr id="9" name="Picture 8" descr="v6_7856953e45.jpg"/>
          <p:cNvPicPr>
            <a:picLocks noChangeAspect="1"/>
          </p:cNvPicPr>
          <p:nvPr/>
        </p:nvPicPr>
        <p:blipFill>
          <a:blip r:embed="rId2"/>
          <a:srcRect l="2806" r="2806"/>
          <a:stretch>
            <a:fillRect/>
          </a:stretch>
        </p:blipFill>
        <p:spPr>
          <a:xfrm>
            <a:off x="609600" y="1549400"/>
            <a:ext cx="4826000" cy="2921000"/>
          </a:xfrm>
          <a:prstGeom prst="rect">
            <a:avLst/>
          </a:prstGeom>
        </p:spPr>
      </p:pic>
      <p:sp>
        <p:nvSpPr>
          <p:cNvPr id="10" name="Rectangle 9"/>
          <p:cNvSpPr/>
          <p:nvPr/>
        </p:nvSpPr>
        <p:spPr>
          <a:xfrm>
            <a:off x="609600" y="1549400"/>
            <a:ext cx="4826000" cy="2921000"/>
          </a:xfrm>
          <a:prstGeom prst="rect">
            <a:avLst/>
          </a:prstGeom>
          <a:noFill/>
          <a:ln w="12700">
            <a:solidFill>
              <a:srgbClr val="D6E0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4318000" y="1701800"/>
            <a:ext cx="965200" cy="1168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v6_28469d2a0b.jpg"/>
          <p:cNvPicPr>
            <a:picLocks noChangeAspect="1"/>
          </p:cNvPicPr>
          <p:nvPr/>
        </p:nvPicPr>
        <p:blipFill>
          <a:blip r:embed="rId3"/>
          <a:srcRect l="15040" r="15040"/>
          <a:stretch>
            <a:fillRect/>
          </a:stretch>
        </p:blipFill>
        <p:spPr>
          <a:xfrm>
            <a:off x="4368800" y="1752600"/>
            <a:ext cx="863600" cy="1066800"/>
          </a:xfrm>
          <a:prstGeom prst="rect">
            <a:avLst/>
          </a:prstGeom>
        </p:spPr>
      </p:pic>
      <p:sp>
        <p:nvSpPr>
          <p:cNvPr id="13" name="TextBox 12"/>
          <p:cNvSpPr txBox="1"/>
          <p:nvPr/>
        </p:nvSpPr>
        <p:spPr>
          <a:xfrm>
            <a:off x="609600" y="4521200"/>
            <a:ext cx="4826000" cy="381000"/>
          </a:xfrm>
          <a:prstGeom prst="rect">
            <a:avLst/>
          </a:prstGeom>
          <a:noFill/>
        </p:spPr>
        <p:txBody>
          <a:bodyPr wrap="square" lIns="0" rIns="0" tIns="0" bIns="0" anchor="t">
            <a:spAutoFit/>
          </a:bodyPr>
          <a:lstStyle/>
          <a:p>
            <a:pPr algn="l">
              <a:lnSpc>
                <a:spcPct val="130000"/>
              </a:lnSpc>
              <a:spcAft>
                <a:spcPts val="300"/>
              </a:spcAft>
            </a:pPr>
            <a:r>
              <a:rPr sz="850" b="0">
                <a:solidFill>
                  <a:srgbClr val="93A0B4"/>
                </a:solidFill>
                <a:latin typeface="Arial"/>
              </a:rPr>
              <a:t>A coastal terminal and a container command post. Illustrative imagery.</a:t>
            </a:r>
          </a:p>
        </p:txBody>
      </p:sp>
      <p:sp>
        <p:nvSpPr>
          <p:cNvPr id="14" name="Rectangle 13"/>
          <p:cNvSpPr/>
          <p:nvPr/>
        </p:nvSpPr>
        <p:spPr>
          <a:xfrm>
            <a:off x="5791200" y="1549400"/>
            <a:ext cx="5791200" cy="9906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5791200" y="1549400"/>
            <a:ext cx="44450" cy="9906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019800" y="1676400"/>
            <a:ext cx="5384800" cy="177800"/>
          </a:xfrm>
          <a:prstGeom prst="rect">
            <a:avLst/>
          </a:prstGeom>
          <a:noFill/>
        </p:spPr>
        <p:txBody>
          <a:bodyPr wrap="square" lIns="0" rIns="0" tIns="0" bIns="0" anchor="t">
            <a:spAutoFit/>
          </a:bodyPr>
          <a:lstStyle/>
          <a:p>
            <a:pPr algn="l">
              <a:lnSpc>
                <a:spcPct val="125000"/>
              </a:lnSpc>
              <a:spcAft>
                <a:spcPts val="300"/>
              </a:spcAft>
            </a:pPr>
            <a:r>
              <a:rPr sz="850" b="1">
                <a:solidFill>
                  <a:srgbClr val="7F9B00"/>
                </a:solidFill>
                <a:latin typeface="Arial"/>
              </a:rPr>
              <a:t>PAIN POINT</a:t>
            </a:r>
          </a:p>
        </p:txBody>
      </p:sp>
      <p:sp>
        <p:nvSpPr>
          <p:cNvPr id="17" name="TextBox 16"/>
          <p:cNvSpPr txBox="1"/>
          <p:nvPr/>
        </p:nvSpPr>
        <p:spPr>
          <a:xfrm>
            <a:off x="6019800" y="1905000"/>
            <a:ext cx="5384800" cy="584200"/>
          </a:xfrm>
          <a:prstGeom prst="rect">
            <a:avLst/>
          </a:prstGeom>
          <a:noFill/>
        </p:spPr>
        <p:txBody>
          <a:bodyPr wrap="square" lIns="0" rIns="0" tIns="0" bIns="0" anchor="t">
            <a:spAutoFit/>
          </a:bodyPr>
          <a:lstStyle/>
          <a:p>
            <a:pPr algn="l">
              <a:lnSpc>
                <a:spcPct val="130000"/>
              </a:lnSpc>
              <a:spcAft>
                <a:spcPts val="300"/>
              </a:spcAft>
            </a:pPr>
            <a:r>
              <a:rPr sz="950" b="0">
                <a:solidFill>
                  <a:srgbClr val="55607A"/>
                </a:solidFill>
                <a:latin typeface="Arial"/>
              </a:rPr>
              <a:t>Quay operations, ship-to-shore traffic and patrol boats all need the same group call, across water and steel.</a:t>
            </a:r>
          </a:p>
        </p:txBody>
      </p:sp>
      <p:sp>
        <p:nvSpPr>
          <p:cNvPr id="18" name="TextBox 17"/>
          <p:cNvSpPr txBox="1"/>
          <p:nvPr/>
        </p:nvSpPr>
        <p:spPr>
          <a:xfrm>
            <a:off x="5791200" y="2667000"/>
            <a:ext cx="5334000" cy="177800"/>
          </a:xfrm>
          <a:prstGeom prst="rect">
            <a:avLst/>
          </a:prstGeom>
          <a:noFill/>
        </p:spPr>
        <p:txBody>
          <a:bodyPr wrap="square" lIns="0" rIns="0" tIns="0" bIns="0" anchor="t">
            <a:spAutoFit/>
          </a:bodyPr>
          <a:lstStyle/>
          <a:p>
            <a:pPr algn="l">
              <a:lnSpc>
                <a:spcPct val="125000"/>
              </a:lnSpc>
              <a:spcAft>
                <a:spcPts val="300"/>
              </a:spcAft>
            </a:pPr>
            <a:r>
              <a:rPr sz="850" b="1">
                <a:solidFill>
                  <a:srgbClr val="7F9B00"/>
                </a:solidFill>
                <a:latin typeface="Arial"/>
              </a:rPr>
              <a:t>WHAT 450 MHZ DOES</a:t>
            </a:r>
          </a:p>
        </p:txBody>
      </p:sp>
      <p:pic>
        <p:nvPicPr>
          <p:cNvPr id="19" name="Picture 18" descr="a_f5756d3699.png"/>
          <p:cNvPicPr>
            <a:picLocks noChangeAspect="1"/>
          </p:cNvPicPr>
          <p:nvPr/>
        </p:nvPicPr>
        <p:blipFill>
          <a:blip r:embed="rId4"/>
          <a:stretch>
            <a:fillRect/>
          </a:stretch>
        </p:blipFill>
        <p:spPr>
          <a:xfrm>
            <a:off x="5802577" y="2959100"/>
            <a:ext cx="129645" cy="254000"/>
          </a:xfrm>
          <a:prstGeom prst="rect">
            <a:avLst/>
          </a:prstGeom>
        </p:spPr>
      </p:pic>
      <p:sp>
        <p:nvSpPr>
          <p:cNvPr id="20" name="TextBox 19"/>
          <p:cNvSpPr txBox="1"/>
          <p:nvPr/>
        </p:nvSpPr>
        <p:spPr>
          <a:xfrm>
            <a:off x="6070600" y="2946400"/>
            <a:ext cx="5511800" cy="457200"/>
          </a:xfrm>
          <a:prstGeom prst="rect">
            <a:avLst/>
          </a:prstGeom>
          <a:noFill/>
        </p:spPr>
        <p:txBody>
          <a:bodyPr wrap="square" lIns="0" rIns="0" tIns="0" bIns="0" anchor="t">
            <a:spAutoFit/>
          </a:bodyPr>
          <a:lstStyle/>
          <a:p>
            <a:pPr algn="l">
              <a:lnSpc>
                <a:spcPct val="128000"/>
              </a:lnSpc>
              <a:spcAft>
                <a:spcPts val="300"/>
              </a:spcAft>
            </a:pPr>
            <a:r>
              <a:rPr sz="1050" b="0">
                <a:solidFill>
                  <a:srgbClr val="55607A"/>
                </a:solidFill>
                <a:latin typeface="Arial"/>
              </a:rPr>
              <a:t>Port and terminal dispatch on one group call across the quay</a:t>
            </a:r>
          </a:p>
        </p:txBody>
      </p:sp>
      <p:pic>
        <p:nvPicPr>
          <p:cNvPr id="21" name="Picture 20" descr="a_f5756d3699.png"/>
          <p:cNvPicPr>
            <a:picLocks noChangeAspect="1"/>
          </p:cNvPicPr>
          <p:nvPr/>
        </p:nvPicPr>
        <p:blipFill>
          <a:blip r:embed="rId4"/>
          <a:stretch>
            <a:fillRect/>
          </a:stretch>
        </p:blipFill>
        <p:spPr>
          <a:xfrm>
            <a:off x="5802577" y="3467100"/>
            <a:ext cx="129645" cy="254000"/>
          </a:xfrm>
          <a:prstGeom prst="rect">
            <a:avLst/>
          </a:prstGeom>
        </p:spPr>
      </p:pic>
      <p:sp>
        <p:nvSpPr>
          <p:cNvPr id="22" name="TextBox 21"/>
          <p:cNvSpPr txBox="1"/>
          <p:nvPr/>
        </p:nvSpPr>
        <p:spPr>
          <a:xfrm>
            <a:off x="6070600" y="3454400"/>
            <a:ext cx="5511800" cy="457200"/>
          </a:xfrm>
          <a:prstGeom prst="rect">
            <a:avLst/>
          </a:prstGeom>
          <a:noFill/>
        </p:spPr>
        <p:txBody>
          <a:bodyPr wrap="square" lIns="0" rIns="0" tIns="0" bIns="0" anchor="t">
            <a:spAutoFit/>
          </a:bodyPr>
          <a:lstStyle/>
          <a:p>
            <a:pPr algn="l">
              <a:lnSpc>
                <a:spcPct val="128000"/>
              </a:lnSpc>
              <a:spcAft>
                <a:spcPts val="300"/>
              </a:spcAft>
            </a:pPr>
            <a:r>
              <a:rPr sz="1050" b="0">
                <a:solidFill>
                  <a:srgbClr val="55607A"/>
                </a:solidFill>
                <a:latin typeface="Arial"/>
              </a:rPr>
              <a:t>Ship-to-shore voice and data from coastal sites</a:t>
            </a:r>
          </a:p>
        </p:txBody>
      </p:sp>
      <p:pic>
        <p:nvPicPr>
          <p:cNvPr id="23" name="Picture 22" descr="a_f5756d3699.png"/>
          <p:cNvPicPr>
            <a:picLocks noChangeAspect="1"/>
          </p:cNvPicPr>
          <p:nvPr/>
        </p:nvPicPr>
        <p:blipFill>
          <a:blip r:embed="rId4"/>
          <a:stretch>
            <a:fillRect/>
          </a:stretch>
        </p:blipFill>
        <p:spPr>
          <a:xfrm>
            <a:off x="5802577" y="3975100"/>
            <a:ext cx="129645" cy="254000"/>
          </a:xfrm>
          <a:prstGeom prst="rect">
            <a:avLst/>
          </a:prstGeom>
        </p:spPr>
      </p:pic>
      <p:sp>
        <p:nvSpPr>
          <p:cNvPr id="24" name="TextBox 23"/>
          <p:cNvSpPr txBox="1"/>
          <p:nvPr/>
        </p:nvSpPr>
        <p:spPr>
          <a:xfrm>
            <a:off x="6070600" y="3962400"/>
            <a:ext cx="5511800" cy="457200"/>
          </a:xfrm>
          <a:prstGeom prst="rect">
            <a:avLst/>
          </a:prstGeom>
          <a:noFill/>
        </p:spPr>
        <p:txBody>
          <a:bodyPr wrap="square" lIns="0" rIns="0" tIns="0" bIns="0" anchor="t">
            <a:spAutoFit/>
          </a:bodyPr>
          <a:lstStyle/>
          <a:p>
            <a:pPr algn="l">
              <a:lnSpc>
                <a:spcPct val="128000"/>
              </a:lnSpc>
              <a:spcAft>
                <a:spcPts val="300"/>
              </a:spcAft>
            </a:pPr>
            <a:r>
              <a:rPr sz="1050" b="0">
                <a:solidFill>
                  <a:srgbClr val="55607A"/>
                </a:solidFill>
                <a:latin typeface="Arial"/>
              </a:rPr>
              <a:t>Coast guard patrols covered far out to sea, on the same network as the port</a:t>
            </a:r>
          </a:p>
        </p:txBody>
      </p:sp>
      <p:sp>
        <p:nvSpPr>
          <p:cNvPr id="25" name="Rectangle 24"/>
          <p:cNvSpPr/>
          <p:nvPr/>
        </p:nvSpPr>
        <p:spPr>
          <a:xfrm>
            <a:off x="5791200" y="4521200"/>
            <a:ext cx="5791200" cy="381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994400" y="4521200"/>
            <a:ext cx="5384800" cy="381000"/>
          </a:xfrm>
          <a:prstGeom prst="rect">
            <a:avLst/>
          </a:prstGeom>
          <a:noFill/>
        </p:spPr>
        <p:txBody>
          <a:bodyPr wrap="square" lIns="0" rIns="0" tIns="0" bIns="0" anchor="ctr">
            <a:spAutoFit/>
          </a:bodyPr>
          <a:lstStyle/>
          <a:p>
            <a:pPr algn="l">
              <a:lnSpc>
                <a:spcPct val="125000"/>
              </a:lnSpc>
              <a:spcAft>
                <a:spcPts val="300"/>
              </a:spcAft>
            </a:pPr>
            <a:r>
              <a:rPr sz="950" b="1">
                <a:solidFill>
                  <a:srgbClr val="0B308E"/>
                </a:solidFill>
                <a:latin typeface="Arial"/>
              </a:rPr>
              <a:t>The same coastal sites also serve island and rural communities.</a:t>
            </a:r>
          </a:p>
        </p:txBody>
      </p:sp>
      <p:sp>
        <p:nvSpPr>
          <p:cNvPr id="27" name="TextBox 26"/>
          <p:cNvSpPr txBox="1"/>
          <p:nvPr/>
        </p:nvSpPr>
        <p:spPr>
          <a:xfrm>
            <a:off x="609600" y="6451600"/>
            <a:ext cx="10972800" cy="177800"/>
          </a:xfrm>
          <a:prstGeom prst="rect">
            <a:avLst/>
          </a:prstGeom>
          <a:noFill/>
        </p:spPr>
        <p:txBody>
          <a:bodyPr wrap="square" lIns="0" rIns="0" tIns="0" bIns="0" anchor="t">
            <a:spAutoFit/>
          </a:bodyPr>
          <a:lstStyle/>
          <a:p>
            <a:pPr algn="l">
              <a:lnSpc>
                <a:spcPct val="125000"/>
              </a:lnSpc>
              <a:spcAft>
                <a:spcPts val="300"/>
              </a:spcAft>
            </a:pPr>
            <a:r>
              <a:rPr sz="800" b="0">
                <a:solidFill>
                  <a:srgbClr val="93A0B4"/>
                </a:solidFill>
                <a:latin typeface="Arial"/>
              </a:rPr>
              <a:t>Source: 450 MHz Alliance (Dec 2025); Hytera transport and maritime references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381000"/>
            <a:ext cx="228600" cy="635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39800" y="279400"/>
            <a:ext cx="9906000" cy="381000"/>
          </a:xfrm>
          <a:prstGeom prst="rect">
            <a:avLst/>
          </a:prstGeom>
          <a:noFill/>
        </p:spPr>
        <p:txBody>
          <a:bodyPr wrap="square" lIns="0" rIns="0" tIns="0" bIns="0" anchor="t">
            <a:spAutoFit/>
          </a:bodyPr>
          <a:lstStyle/>
          <a:p>
            <a:pPr algn="l">
              <a:lnSpc>
                <a:spcPct val="125000"/>
              </a:lnSpc>
              <a:spcAft>
                <a:spcPts val="300"/>
              </a:spcAft>
            </a:pPr>
            <a:r>
              <a:rPr sz="2100" b="1">
                <a:solidFill>
                  <a:srgbClr val="0B308E"/>
                </a:solidFill>
                <a:latin typeface="Arial"/>
              </a:rPr>
              <a:t>End to end: terminal - network - application</a:t>
            </a:r>
          </a:p>
        </p:txBody>
      </p:sp>
      <p:sp>
        <p:nvSpPr>
          <p:cNvPr id="5" name="TextBox 4"/>
          <p:cNvSpPr txBox="1"/>
          <p:nvPr/>
        </p:nvSpPr>
        <p:spPr>
          <a:xfrm>
            <a:off x="609600" y="787400"/>
            <a:ext cx="8890000" cy="203200"/>
          </a:xfrm>
          <a:prstGeom prst="rect">
            <a:avLst/>
          </a:prstGeom>
          <a:noFill/>
        </p:spPr>
        <p:txBody>
          <a:bodyPr wrap="square" lIns="0" rIns="0" tIns="0" bIns="0" anchor="t">
            <a:spAutoFit/>
          </a:bodyPr>
          <a:lstStyle/>
          <a:p>
            <a:pPr algn="l">
              <a:lnSpc>
                <a:spcPct val="125000"/>
              </a:lnSpc>
              <a:spcAft>
                <a:spcPts val="300"/>
              </a:spcAft>
            </a:pPr>
            <a:r>
              <a:rPr sz="850" b="1">
                <a:solidFill>
                  <a:srgbClr val="7F9B00"/>
                </a:solidFill>
                <a:latin typeface="Arial"/>
              </a:rPr>
              <a:t>ARCHITECTURE</a:t>
            </a:r>
          </a:p>
        </p:txBody>
      </p:sp>
      <p:sp>
        <p:nvSpPr>
          <p:cNvPr id="6" name="TextBox 5"/>
          <p:cNvSpPr txBox="1"/>
          <p:nvPr/>
        </p:nvSpPr>
        <p:spPr>
          <a:xfrm>
            <a:off x="11023600" y="279400"/>
            <a:ext cx="558800" cy="330200"/>
          </a:xfrm>
          <a:prstGeom prst="rect">
            <a:avLst/>
          </a:prstGeom>
          <a:noFill/>
        </p:spPr>
        <p:txBody>
          <a:bodyPr wrap="square" lIns="0" rIns="0" tIns="0" bIns="0" anchor="t">
            <a:spAutoFit/>
          </a:bodyPr>
          <a:lstStyle/>
          <a:p>
            <a:pPr algn="r">
              <a:lnSpc>
                <a:spcPct val="125000"/>
              </a:lnSpc>
              <a:spcAft>
                <a:spcPts val="300"/>
              </a:spcAft>
            </a:pPr>
            <a:r>
              <a:rPr sz="1700" b="1">
                <a:solidFill>
                  <a:srgbClr val="0B308E"/>
                </a:solidFill>
                <a:latin typeface="Arial"/>
              </a:rPr>
              <a:t>14</a:t>
            </a:r>
          </a:p>
        </p:txBody>
      </p:sp>
      <p:cxnSp>
        <p:nvCxnSpPr>
          <p:cNvPr id="7" name="Connector 6"/>
          <p:cNvCxnSpPr/>
          <p:nvPr/>
        </p:nvCxnSpPr>
        <p:spPr>
          <a:xfrm>
            <a:off x="609600" y="1041400"/>
            <a:ext cx="10972800" cy="0"/>
          </a:xfrm>
          <a:prstGeom prst="line">
            <a:avLst/>
          </a:prstGeom>
          <a:ln w="12700">
            <a:solidFill>
              <a:srgbClr val="D6E0F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1193800"/>
            <a:ext cx="10972800" cy="228600"/>
          </a:xfrm>
          <a:prstGeom prst="rect">
            <a:avLst/>
          </a:prstGeom>
          <a:noFill/>
        </p:spPr>
        <p:txBody>
          <a:bodyPr wrap="square" lIns="0" rIns="0" tIns="0" bIns="0" anchor="t">
            <a:spAutoFit/>
          </a:bodyPr>
          <a:lstStyle/>
          <a:p>
            <a:pPr algn="l">
              <a:lnSpc>
                <a:spcPct val="125000"/>
              </a:lnSpc>
              <a:spcAft>
                <a:spcPts val="300"/>
              </a:spcAft>
            </a:pPr>
            <a:r>
              <a:rPr sz="1150" b="0">
                <a:solidFill>
                  <a:srgbClr val="55607A"/>
                </a:solidFill>
                <a:latin typeface="Arial"/>
              </a:rPr>
              <a:t>One architecture, in three layers. Each layer is described by what it contains, not by who supplies it.</a:t>
            </a:r>
          </a:p>
        </p:txBody>
      </p:sp>
      <p:sp>
        <p:nvSpPr>
          <p:cNvPr id="9" name="Rectangle 8"/>
          <p:cNvSpPr/>
          <p:nvPr/>
        </p:nvSpPr>
        <p:spPr>
          <a:xfrm>
            <a:off x="609600" y="1549400"/>
            <a:ext cx="3556000" cy="3175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09600" y="1549400"/>
            <a:ext cx="3556000" cy="457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12800" y="1549400"/>
            <a:ext cx="3149600" cy="457200"/>
          </a:xfrm>
          <a:prstGeom prst="rect">
            <a:avLst/>
          </a:prstGeom>
          <a:noFill/>
        </p:spPr>
        <p:txBody>
          <a:bodyPr wrap="square" lIns="0" rIns="0" tIns="0" bIns="0" anchor="ctr">
            <a:spAutoFit/>
          </a:bodyPr>
          <a:lstStyle/>
          <a:p>
            <a:pPr algn="l">
              <a:lnSpc>
                <a:spcPct val="125000"/>
              </a:lnSpc>
              <a:spcAft>
                <a:spcPts val="300"/>
              </a:spcAft>
            </a:pPr>
            <a:r>
              <a:rPr sz="1300" b="1">
                <a:solidFill>
                  <a:srgbClr val="FFFFFF"/>
                </a:solidFill>
                <a:latin typeface="Arial"/>
              </a:rPr>
              <a:t>TERMINAL</a:t>
            </a:r>
          </a:p>
        </p:txBody>
      </p:sp>
      <p:sp>
        <p:nvSpPr>
          <p:cNvPr id="12" name="Rectangle 11"/>
          <p:cNvSpPr/>
          <p:nvPr/>
        </p:nvSpPr>
        <p:spPr>
          <a:xfrm>
            <a:off x="812800" y="2159000"/>
            <a:ext cx="203200" cy="381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a_894738e172.png"/>
          <p:cNvPicPr>
            <a:picLocks noChangeAspect="1"/>
          </p:cNvPicPr>
          <p:nvPr/>
        </p:nvPicPr>
        <p:blipFill>
          <a:blip r:embed="rId2"/>
          <a:stretch>
            <a:fillRect/>
          </a:stretch>
        </p:blipFill>
        <p:spPr>
          <a:xfrm>
            <a:off x="1217229" y="2032000"/>
            <a:ext cx="105540" cy="304800"/>
          </a:xfrm>
          <a:prstGeom prst="rect">
            <a:avLst/>
          </a:prstGeom>
        </p:spPr>
      </p:pic>
      <p:sp>
        <p:nvSpPr>
          <p:cNvPr id="14" name="TextBox 13"/>
          <p:cNvSpPr txBox="1"/>
          <p:nvPr/>
        </p:nvSpPr>
        <p:spPr>
          <a:xfrm>
            <a:off x="1524000" y="2082800"/>
            <a:ext cx="2438400" cy="203200"/>
          </a:xfrm>
          <a:prstGeom prst="rect">
            <a:avLst/>
          </a:prstGeom>
          <a:noFill/>
        </p:spPr>
        <p:txBody>
          <a:bodyPr wrap="square" lIns="0" rIns="0" tIns="0" bIns="0" anchor="t">
            <a:spAutoFit/>
          </a:bodyPr>
          <a:lstStyle/>
          <a:p>
            <a:pPr algn="l">
              <a:lnSpc>
                <a:spcPct val="125000"/>
              </a:lnSpc>
              <a:spcAft>
                <a:spcPts val="300"/>
              </a:spcAft>
            </a:pPr>
            <a:r>
              <a:rPr sz="1000" b="1">
                <a:solidFill>
                  <a:srgbClr val="7F9B00"/>
                </a:solidFill>
                <a:latin typeface="Arial"/>
              </a:rPr>
              <a:t>What the field carries</a:t>
            </a:r>
          </a:p>
        </p:txBody>
      </p:sp>
      <p:sp>
        <p:nvSpPr>
          <p:cNvPr id="15" name="Rectangle 14"/>
          <p:cNvSpPr/>
          <p:nvPr/>
        </p:nvSpPr>
        <p:spPr>
          <a:xfrm>
            <a:off x="812800" y="2552700"/>
            <a:ext cx="63500" cy="635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965200" y="2489200"/>
            <a:ext cx="3048000" cy="177800"/>
          </a:xfrm>
          <a:prstGeom prst="rect">
            <a:avLst/>
          </a:prstGeom>
          <a:noFill/>
        </p:spPr>
        <p:txBody>
          <a:bodyPr wrap="square" lIns="0" rIns="0" tIns="0" bIns="0" anchor="t">
            <a:spAutoFit/>
          </a:bodyPr>
          <a:lstStyle/>
          <a:p>
            <a:pPr algn="l">
              <a:lnSpc>
                <a:spcPct val="125000"/>
              </a:lnSpc>
              <a:spcAft>
                <a:spcPts val="300"/>
              </a:spcAft>
            </a:pPr>
            <a:r>
              <a:rPr sz="950" b="1">
                <a:solidFill>
                  <a:srgbClr val="0B308E"/>
                </a:solidFill>
                <a:latin typeface="Arial"/>
              </a:rPr>
              <a:t>PNC660 450M handheld</a:t>
            </a:r>
          </a:p>
        </p:txBody>
      </p:sp>
      <p:sp>
        <p:nvSpPr>
          <p:cNvPr id="17" name="TextBox 16"/>
          <p:cNvSpPr txBox="1"/>
          <p:nvPr/>
        </p:nvSpPr>
        <p:spPr>
          <a:xfrm>
            <a:off x="965200" y="2667000"/>
            <a:ext cx="3048000" cy="177800"/>
          </a:xfrm>
          <a:prstGeom prst="rect">
            <a:avLst/>
          </a:prstGeom>
          <a:noFill/>
        </p:spPr>
        <p:txBody>
          <a:bodyPr wrap="square" lIns="0" rIns="0" tIns="0" bIns="0" anchor="t">
            <a:spAutoFit/>
          </a:bodyPr>
          <a:lstStyle/>
          <a:p>
            <a:pPr algn="l">
              <a:lnSpc>
                <a:spcPct val="125000"/>
              </a:lnSpc>
              <a:spcAft>
                <a:spcPts val="300"/>
              </a:spcAft>
            </a:pPr>
            <a:r>
              <a:rPr sz="850" b="0">
                <a:solidFill>
                  <a:srgbClr val="55607A"/>
                </a:solidFill>
                <a:latin typeface="Arial"/>
              </a:rPr>
              <a:t>B31/B72, IP68, dual SIM</a:t>
            </a:r>
          </a:p>
        </p:txBody>
      </p:sp>
      <p:sp>
        <p:nvSpPr>
          <p:cNvPr id="18" name="Rectangle 17"/>
          <p:cNvSpPr/>
          <p:nvPr/>
        </p:nvSpPr>
        <p:spPr>
          <a:xfrm>
            <a:off x="812800" y="2971800"/>
            <a:ext cx="63500" cy="635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65200" y="2908300"/>
            <a:ext cx="3048000" cy="177800"/>
          </a:xfrm>
          <a:prstGeom prst="rect">
            <a:avLst/>
          </a:prstGeom>
          <a:noFill/>
        </p:spPr>
        <p:txBody>
          <a:bodyPr wrap="square" lIns="0" rIns="0" tIns="0" bIns="0" anchor="t">
            <a:spAutoFit/>
          </a:bodyPr>
          <a:lstStyle/>
          <a:p>
            <a:pPr algn="l">
              <a:lnSpc>
                <a:spcPct val="125000"/>
              </a:lnSpc>
              <a:spcAft>
                <a:spcPts val="300"/>
              </a:spcAft>
            </a:pPr>
            <a:r>
              <a:rPr sz="950" b="1">
                <a:solidFill>
                  <a:srgbClr val="0B308E"/>
                </a:solidFill>
                <a:latin typeface="Arial"/>
              </a:rPr>
              <a:t>MNC650 450M</a:t>
            </a:r>
          </a:p>
        </p:txBody>
      </p:sp>
      <p:sp>
        <p:nvSpPr>
          <p:cNvPr id="20" name="TextBox 19"/>
          <p:cNvSpPr txBox="1"/>
          <p:nvPr/>
        </p:nvSpPr>
        <p:spPr>
          <a:xfrm>
            <a:off x="965200" y="3086100"/>
            <a:ext cx="3048000" cy="177800"/>
          </a:xfrm>
          <a:prstGeom prst="rect">
            <a:avLst/>
          </a:prstGeom>
          <a:noFill/>
        </p:spPr>
        <p:txBody>
          <a:bodyPr wrap="square" lIns="0" rIns="0" tIns="0" bIns="0" anchor="t">
            <a:spAutoFit/>
          </a:bodyPr>
          <a:lstStyle/>
          <a:p>
            <a:pPr algn="l">
              <a:lnSpc>
                <a:spcPct val="125000"/>
              </a:lnSpc>
              <a:spcAft>
                <a:spcPts val="300"/>
              </a:spcAft>
            </a:pPr>
            <a:r>
              <a:rPr sz="850" b="0">
                <a:solidFill>
                  <a:srgbClr val="55607A"/>
                </a:solidFill>
                <a:latin typeface="Arial"/>
              </a:rPr>
              <a:t>vehicle radio</a:t>
            </a:r>
          </a:p>
        </p:txBody>
      </p:sp>
      <p:sp>
        <p:nvSpPr>
          <p:cNvPr id="21" name="Rectangle 20"/>
          <p:cNvSpPr/>
          <p:nvPr/>
        </p:nvSpPr>
        <p:spPr>
          <a:xfrm>
            <a:off x="812800" y="3390900"/>
            <a:ext cx="63500" cy="635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5200" y="3327400"/>
            <a:ext cx="3048000" cy="177800"/>
          </a:xfrm>
          <a:prstGeom prst="rect">
            <a:avLst/>
          </a:prstGeom>
          <a:noFill/>
        </p:spPr>
        <p:txBody>
          <a:bodyPr wrap="square" lIns="0" rIns="0" tIns="0" bIns="0" anchor="t">
            <a:spAutoFit/>
          </a:bodyPr>
          <a:lstStyle/>
          <a:p>
            <a:pPr algn="l">
              <a:lnSpc>
                <a:spcPct val="125000"/>
              </a:lnSpc>
              <a:spcAft>
                <a:spcPts val="300"/>
              </a:spcAft>
            </a:pPr>
            <a:r>
              <a:rPr sz="950" b="1">
                <a:solidFill>
                  <a:srgbClr val="0B308E"/>
                </a:solidFill>
                <a:latin typeface="Arial"/>
              </a:rPr>
              <a:t>P70 5G+450M</a:t>
            </a:r>
          </a:p>
        </p:txBody>
      </p:sp>
      <p:sp>
        <p:nvSpPr>
          <p:cNvPr id="23" name="TextBox 22"/>
          <p:cNvSpPr txBox="1"/>
          <p:nvPr/>
        </p:nvSpPr>
        <p:spPr>
          <a:xfrm>
            <a:off x="965200" y="3505200"/>
            <a:ext cx="3048000" cy="177800"/>
          </a:xfrm>
          <a:prstGeom prst="rect">
            <a:avLst/>
          </a:prstGeom>
          <a:noFill/>
        </p:spPr>
        <p:txBody>
          <a:bodyPr wrap="square" lIns="0" rIns="0" tIns="0" bIns="0" anchor="t">
            <a:spAutoFit/>
          </a:bodyPr>
          <a:lstStyle/>
          <a:p>
            <a:pPr algn="l">
              <a:lnSpc>
                <a:spcPct val="125000"/>
              </a:lnSpc>
              <a:spcAft>
                <a:spcPts val="300"/>
              </a:spcAft>
            </a:pPr>
            <a:r>
              <a:rPr sz="850" b="0">
                <a:solidFill>
                  <a:srgbClr val="55607A"/>
                </a:solidFill>
                <a:latin typeface="Arial"/>
              </a:rPr>
              <a:t>radio-style handheld, 2026 Q4</a:t>
            </a:r>
          </a:p>
        </p:txBody>
      </p:sp>
      <p:sp>
        <p:nvSpPr>
          <p:cNvPr id="24" name="Rectangle 23"/>
          <p:cNvSpPr/>
          <p:nvPr/>
        </p:nvSpPr>
        <p:spPr>
          <a:xfrm>
            <a:off x="812800" y="3810000"/>
            <a:ext cx="63500" cy="635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65200" y="3746500"/>
            <a:ext cx="3048000" cy="177800"/>
          </a:xfrm>
          <a:prstGeom prst="rect">
            <a:avLst/>
          </a:prstGeom>
          <a:noFill/>
        </p:spPr>
        <p:txBody>
          <a:bodyPr wrap="square" lIns="0" rIns="0" tIns="0" bIns="0" anchor="t">
            <a:spAutoFit/>
          </a:bodyPr>
          <a:lstStyle/>
          <a:p>
            <a:pPr algn="l">
              <a:lnSpc>
                <a:spcPct val="125000"/>
              </a:lnSpc>
              <a:spcAft>
                <a:spcPts val="300"/>
              </a:spcAft>
            </a:pPr>
            <a:r>
              <a:rPr sz="950" b="1">
                <a:solidFill>
                  <a:srgbClr val="0B308E"/>
                </a:solidFill>
                <a:latin typeface="Arial"/>
              </a:rPr>
              <a:t>PNC660Ex</a:t>
            </a:r>
          </a:p>
        </p:txBody>
      </p:sp>
      <p:sp>
        <p:nvSpPr>
          <p:cNvPr id="26" name="TextBox 25"/>
          <p:cNvSpPr txBox="1"/>
          <p:nvPr/>
        </p:nvSpPr>
        <p:spPr>
          <a:xfrm>
            <a:off x="965200" y="3924300"/>
            <a:ext cx="3048000" cy="177800"/>
          </a:xfrm>
          <a:prstGeom prst="rect">
            <a:avLst/>
          </a:prstGeom>
          <a:noFill/>
        </p:spPr>
        <p:txBody>
          <a:bodyPr wrap="square" lIns="0" rIns="0" tIns="0" bIns="0" anchor="t">
            <a:spAutoFit/>
          </a:bodyPr>
          <a:lstStyle/>
          <a:p>
            <a:pPr algn="l">
              <a:lnSpc>
                <a:spcPct val="125000"/>
              </a:lnSpc>
              <a:spcAft>
                <a:spcPts val="300"/>
              </a:spcAft>
            </a:pPr>
            <a:r>
              <a:rPr sz="850" b="0">
                <a:solidFill>
                  <a:srgbClr val="55607A"/>
                </a:solidFill>
                <a:latin typeface="Arial"/>
              </a:rPr>
              <a:t>ATEX variant, 2027 Q2</a:t>
            </a:r>
          </a:p>
        </p:txBody>
      </p:sp>
      <p:sp>
        <p:nvSpPr>
          <p:cNvPr id="27" name="Rectangle 26"/>
          <p:cNvSpPr/>
          <p:nvPr/>
        </p:nvSpPr>
        <p:spPr>
          <a:xfrm>
            <a:off x="787400" y="4089400"/>
            <a:ext cx="3200400" cy="50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8" name="Picture 27" descr="a_3ac7b175d0.png"/>
          <p:cNvPicPr>
            <a:picLocks noChangeAspect="1"/>
          </p:cNvPicPr>
          <p:nvPr/>
        </p:nvPicPr>
        <p:blipFill>
          <a:blip r:embed="rId3"/>
          <a:stretch>
            <a:fillRect/>
          </a:stretch>
        </p:blipFill>
        <p:spPr>
          <a:xfrm>
            <a:off x="2133952" y="4140200"/>
            <a:ext cx="507295" cy="406400"/>
          </a:xfrm>
          <a:prstGeom prst="rect">
            <a:avLst/>
          </a:prstGeom>
        </p:spPr>
      </p:pic>
      <p:sp>
        <p:nvSpPr>
          <p:cNvPr id="29" name="Isosceles Triangle 28"/>
          <p:cNvSpPr/>
          <p:nvPr/>
        </p:nvSpPr>
        <p:spPr>
          <a:xfrm>
            <a:off x="4191000" y="2946400"/>
            <a:ext cx="152400" cy="330200"/>
          </a:xfrm>
          <a:prstGeom prst="triangle">
            <a:avLst/>
          </a:prstGeom>
          <a:solidFill>
            <a:srgbClr val="3A5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4368800" y="1549400"/>
            <a:ext cx="3556000" cy="3175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4368800" y="1549400"/>
            <a:ext cx="3556000" cy="457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4572000" y="1549400"/>
            <a:ext cx="3149600" cy="457200"/>
          </a:xfrm>
          <a:prstGeom prst="rect">
            <a:avLst/>
          </a:prstGeom>
          <a:noFill/>
        </p:spPr>
        <p:txBody>
          <a:bodyPr wrap="square" lIns="0" rIns="0" tIns="0" bIns="0" anchor="ctr">
            <a:spAutoFit/>
          </a:bodyPr>
          <a:lstStyle/>
          <a:p>
            <a:pPr algn="l">
              <a:lnSpc>
                <a:spcPct val="125000"/>
              </a:lnSpc>
              <a:spcAft>
                <a:spcPts val="300"/>
              </a:spcAft>
            </a:pPr>
            <a:r>
              <a:rPr sz="1300" b="1">
                <a:solidFill>
                  <a:srgbClr val="FFFFFF"/>
                </a:solidFill>
                <a:latin typeface="Arial"/>
              </a:rPr>
              <a:t>NETWORK</a:t>
            </a:r>
          </a:p>
        </p:txBody>
      </p:sp>
      <p:sp>
        <p:nvSpPr>
          <p:cNvPr id="33" name="Rectangle 32"/>
          <p:cNvSpPr/>
          <p:nvPr/>
        </p:nvSpPr>
        <p:spPr>
          <a:xfrm>
            <a:off x="4572000" y="2159000"/>
            <a:ext cx="203200" cy="381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4" name="Picture 33" descr="a_dc3e86c187.png"/>
          <p:cNvPicPr>
            <a:picLocks noChangeAspect="1"/>
          </p:cNvPicPr>
          <p:nvPr/>
        </p:nvPicPr>
        <p:blipFill>
          <a:blip r:embed="rId4"/>
          <a:stretch>
            <a:fillRect/>
          </a:stretch>
        </p:blipFill>
        <p:spPr>
          <a:xfrm>
            <a:off x="4953943" y="2032000"/>
            <a:ext cx="150512" cy="304800"/>
          </a:xfrm>
          <a:prstGeom prst="rect">
            <a:avLst/>
          </a:prstGeom>
        </p:spPr>
      </p:pic>
      <p:sp>
        <p:nvSpPr>
          <p:cNvPr id="35" name="TextBox 34"/>
          <p:cNvSpPr txBox="1"/>
          <p:nvPr/>
        </p:nvSpPr>
        <p:spPr>
          <a:xfrm>
            <a:off x="5283200" y="2082800"/>
            <a:ext cx="2438400" cy="203200"/>
          </a:xfrm>
          <a:prstGeom prst="rect">
            <a:avLst/>
          </a:prstGeom>
          <a:noFill/>
        </p:spPr>
        <p:txBody>
          <a:bodyPr wrap="square" lIns="0" rIns="0" tIns="0" bIns="0" anchor="t">
            <a:spAutoFit/>
          </a:bodyPr>
          <a:lstStyle/>
          <a:p>
            <a:pPr algn="l">
              <a:lnSpc>
                <a:spcPct val="125000"/>
              </a:lnSpc>
              <a:spcAft>
                <a:spcPts val="300"/>
              </a:spcAft>
            </a:pPr>
            <a:r>
              <a:rPr sz="1000" b="1">
                <a:solidFill>
                  <a:srgbClr val="7F9B00"/>
                </a:solidFill>
                <a:latin typeface="Arial"/>
              </a:rPr>
              <a:t>Radio, core and backhaul</a:t>
            </a:r>
          </a:p>
        </p:txBody>
      </p:sp>
      <p:sp>
        <p:nvSpPr>
          <p:cNvPr id="36" name="Rectangle 35"/>
          <p:cNvSpPr/>
          <p:nvPr/>
        </p:nvSpPr>
        <p:spPr>
          <a:xfrm>
            <a:off x="4572000" y="2552700"/>
            <a:ext cx="63500" cy="635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4724400" y="2489200"/>
            <a:ext cx="3048000" cy="177800"/>
          </a:xfrm>
          <a:prstGeom prst="rect">
            <a:avLst/>
          </a:prstGeom>
          <a:noFill/>
        </p:spPr>
        <p:txBody>
          <a:bodyPr wrap="square" lIns="0" rIns="0" tIns="0" bIns="0" anchor="t">
            <a:spAutoFit/>
          </a:bodyPr>
          <a:lstStyle/>
          <a:p>
            <a:pPr algn="l">
              <a:lnSpc>
                <a:spcPct val="125000"/>
              </a:lnSpc>
              <a:spcAft>
                <a:spcPts val="300"/>
              </a:spcAft>
            </a:pPr>
            <a:r>
              <a:rPr sz="950" b="1">
                <a:solidFill>
                  <a:srgbClr val="0B308E"/>
                </a:solidFill>
                <a:latin typeface="Arial"/>
              </a:rPr>
              <a:t>450 MHz macro eNB</a:t>
            </a:r>
          </a:p>
        </p:txBody>
      </p:sp>
      <p:sp>
        <p:nvSpPr>
          <p:cNvPr id="38" name="TextBox 37"/>
          <p:cNvSpPr txBox="1"/>
          <p:nvPr/>
        </p:nvSpPr>
        <p:spPr>
          <a:xfrm>
            <a:off x="4724400" y="2667000"/>
            <a:ext cx="3048000" cy="177800"/>
          </a:xfrm>
          <a:prstGeom prst="rect">
            <a:avLst/>
          </a:prstGeom>
          <a:noFill/>
        </p:spPr>
        <p:txBody>
          <a:bodyPr wrap="square" lIns="0" rIns="0" tIns="0" bIns="0" anchor="t">
            <a:spAutoFit/>
          </a:bodyPr>
          <a:lstStyle/>
          <a:p>
            <a:pPr algn="l">
              <a:lnSpc>
                <a:spcPct val="125000"/>
              </a:lnSpc>
              <a:spcAft>
                <a:spcPts val="300"/>
              </a:spcAft>
            </a:pPr>
            <a:r>
              <a:rPr sz="850" b="0">
                <a:solidFill>
                  <a:srgbClr val="55607A"/>
                </a:solidFill>
                <a:latin typeface="Arial"/>
              </a:rPr>
              <a:t>wide area coverage, few sites</a:t>
            </a:r>
          </a:p>
        </p:txBody>
      </p:sp>
      <p:sp>
        <p:nvSpPr>
          <p:cNvPr id="39" name="Rectangle 38"/>
          <p:cNvSpPr/>
          <p:nvPr/>
        </p:nvSpPr>
        <p:spPr>
          <a:xfrm>
            <a:off x="4572000" y="2971800"/>
            <a:ext cx="63500" cy="635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724400" y="2908300"/>
            <a:ext cx="3048000" cy="177800"/>
          </a:xfrm>
          <a:prstGeom prst="rect">
            <a:avLst/>
          </a:prstGeom>
          <a:noFill/>
        </p:spPr>
        <p:txBody>
          <a:bodyPr wrap="square" lIns="0" rIns="0" tIns="0" bIns="0" anchor="t">
            <a:spAutoFit/>
          </a:bodyPr>
          <a:lstStyle/>
          <a:p>
            <a:pPr algn="l">
              <a:lnSpc>
                <a:spcPct val="125000"/>
              </a:lnSpc>
              <a:spcAft>
                <a:spcPts val="300"/>
              </a:spcAft>
            </a:pPr>
            <a:r>
              <a:rPr sz="950" b="1">
                <a:solidFill>
                  <a:srgbClr val="0B308E"/>
                </a:solidFill>
                <a:latin typeface="Arial"/>
              </a:rPr>
              <a:t>Private core</a:t>
            </a:r>
          </a:p>
        </p:txBody>
      </p:sp>
      <p:sp>
        <p:nvSpPr>
          <p:cNvPr id="41" name="TextBox 40"/>
          <p:cNvSpPr txBox="1"/>
          <p:nvPr/>
        </p:nvSpPr>
        <p:spPr>
          <a:xfrm>
            <a:off x="4724400" y="3086100"/>
            <a:ext cx="3048000" cy="177800"/>
          </a:xfrm>
          <a:prstGeom prst="rect">
            <a:avLst/>
          </a:prstGeom>
          <a:noFill/>
        </p:spPr>
        <p:txBody>
          <a:bodyPr wrap="square" lIns="0" rIns="0" tIns="0" bIns="0" anchor="t">
            <a:spAutoFit/>
          </a:bodyPr>
          <a:lstStyle/>
          <a:p>
            <a:pPr algn="l">
              <a:lnSpc>
                <a:spcPct val="125000"/>
              </a:lnSpc>
              <a:spcAft>
                <a:spcPts val="300"/>
              </a:spcAft>
            </a:pPr>
            <a:r>
              <a:rPr sz="850" b="0">
                <a:solidFill>
                  <a:srgbClr val="55607A"/>
                </a:solidFill>
                <a:latin typeface="Arial"/>
              </a:rPr>
              <a:t>or the operator’s own core</a:t>
            </a:r>
          </a:p>
        </p:txBody>
      </p:sp>
      <p:sp>
        <p:nvSpPr>
          <p:cNvPr id="42" name="Rectangle 41"/>
          <p:cNvSpPr/>
          <p:nvPr/>
        </p:nvSpPr>
        <p:spPr>
          <a:xfrm>
            <a:off x="4572000" y="3390900"/>
            <a:ext cx="63500" cy="635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4724400" y="3327400"/>
            <a:ext cx="3048000" cy="177800"/>
          </a:xfrm>
          <a:prstGeom prst="rect">
            <a:avLst/>
          </a:prstGeom>
          <a:noFill/>
        </p:spPr>
        <p:txBody>
          <a:bodyPr wrap="square" lIns="0" rIns="0" tIns="0" bIns="0" anchor="t">
            <a:spAutoFit/>
          </a:bodyPr>
          <a:lstStyle/>
          <a:p>
            <a:pPr algn="l">
              <a:lnSpc>
                <a:spcPct val="125000"/>
              </a:lnSpc>
              <a:spcAft>
                <a:spcPts val="300"/>
              </a:spcAft>
            </a:pPr>
            <a:r>
              <a:rPr sz="950" b="1">
                <a:solidFill>
                  <a:srgbClr val="0B308E"/>
                </a:solidFill>
                <a:latin typeface="Arial"/>
              </a:rPr>
              <a:t>Backhaul</a:t>
            </a:r>
          </a:p>
        </p:txBody>
      </p:sp>
      <p:sp>
        <p:nvSpPr>
          <p:cNvPr id="44" name="TextBox 43"/>
          <p:cNvSpPr txBox="1"/>
          <p:nvPr/>
        </p:nvSpPr>
        <p:spPr>
          <a:xfrm>
            <a:off x="4724400" y="3505200"/>
            <a:ext cx="3048000" cy="177800"/>
          </a:xfrm>
          <a:prstGeom prst="rect">
            <a:avLst/>
          </a:prstGeom>
          <a:noFill/>
        </p:spPr>
        <p:txBody>
          <a:bodyPr wrap="square" lIns="0" rIns="0" tIns="0" bIns="0" anchor="t">
            <a:spAutoFit/>
          </a:bodyPr>
          <a:lstStyle/>
          <a:p>
            <a:pPr algn="l">
              <a:lnSpc>
                <a:spcPct val="125000"/>
              </a:lnSpc>
              <a:spcAft>
                <a:spcPts val="300"/>
              </a:spcAft>
            </a:pPr>
            <a:r>
              <a:rPr sz="850" b="0">
                <a:solidFill>
                  <a:srgbClr val="55607A"/>
                </a:solidFill>
                <a:latin typeface="Arial"/>
              </a:rPr>
              <a:t>fibre, microwave or satellite</a:t>
            </a:r>
          </a:p>
        </p:txBody>
      </p:sp>
      <p:sp>
        <p:nvSpPr>
          <p:cNvPr id="45" name="Rectangle 44"/>
          <p:cNvSpPr/>
          <p:nvPr/>
        </p:nvSpPr>
        <p:spPr>
          <a:xfrm>
            <a:off x="4572000" y="3810000"/>
            <a:ext cx="63500" cy="635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4724400" y="3746500"/>
            <a:ext cx="3048000" cy="177800"/>
          </a:xfrm>
          <a:prstGeom prst="rect">
            <a:avLst/>
          </a:prstGeom>
          <a:noFill/>
        </p:spPr>
        <p:txBody>
          <a:bodyPr wrap="square" lIns="0" rIns="0" tIns="0" bIns="0" anchor="t">
            <a:spAutoFit/>
          </a:bodyPr>
          <a:lstStyle/>
          <a:p>
            <a:pPr algn="l">
              <a:lnSpc>
                <a:spcPct val="125000"/>
              </a:lnSpc>
              <a:spcAft>
                <a:spcPts val="300"/>
              </a:spcAft>
            </a:pPr>
            <a:r>
              <a:rPr sz="950" b="1">
                <a:solidFill>
                  <a:srgbClr val="0B308E"/>
                </a:solidFill>
                <a:latin typeface="Arial"/>
              </a:rPr>
              <a:t>Rapid deployment</a:t>
            </a:r>
          </a:p>
        </p:txBody>
      </p:sp>
      <p:sp>
        <p:nvSpPr>
          <p:cNvPr id="47" name="TextBox 46"/>
          <p:cNvSpPr txBox="1"/>
          <p:nvPr/>
        </p:nvSpPr>
        <p:spPr>
          <a:xfrm>
            <a:off x="4724400" y="3924300"/>
            <a:ext cx="3048000" cy="177800"/>
          </a:xfrm>
          <a:prstGeom prst="rect">
            <a:avLst/>
          </a:prstGeom>
          <a:noFill/>
        </p:spPr>
        <p:txBody>
          <a:bodyPr wrap="square" lIns="0" rIns="0" tIns="0" bIns="0" anchor="t">
            <a:spAutoFit/>
          </a:bodyPr>
          <a:lstStyle/>
          <a:p>
            <a:pPr algn="l">
              <a:lnSpc>
                <a:spcPct val="125000"/>
              </a:lnSpc>
              <a:spcAft>
                <a:spcPts val="300"/>
              </a:spcAft>
            </a:pPr>
            <a:r>
              <a:rPr sz="850" b="0">
                <a:solidFill>
                  <a:srgbClr val="55607A"/>
                </a:solidFill>
                <a:latin typeface="Arial"/>
              </a:rPr>
              <a:t>portable base station and satellite kit</a:t>
            </a:r>
          </a:p>
        </p:txBody>
      </p:sp>
      <p:sp>
        <p:nvSpPr>
          <p:cNvPr id="48" name="Rectangle 47"/>
          <p:cNvSpPr/>
          <p:nvPr/>
        </p:nvSpPr>
        <p:spPr>
          <a:xfrm>
            <a:off x="4546600" y="4089400"/>
            <a:ext cx="3200400" cy="50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9" name="Picture 48" descr="a_84722da999.png"/>
          <p:cNvPicPr>
            <a:picLocks noChangeAspect="1"/>
          </p:cNvPicPr>
          <p:nvPr/>
        </p:nvPicPr>
        <p:blipFill>
          <a:blip r:embed="rId5"/>
          <a:stretch>
            <a:fillRect/>
          </a:stretch>
        </p:blipFill>
        <p:spPr>
          <a:xfrm>
            <a:off x="5995851" y="4140200"/>
            <a:ext cx="301897" cy="406400"/>
          </a:xfrm>
          <a:prstGeom prst="rect">
            <a:avLst/>
          </a:prstGeom>
        </p:spPr>
      </p:pic>
      <p:sp>
        <p:nvSpPr>
          <p:cNvPr id="50" name="Isosceles Triangle 49"/>
          <p:cNvSpPr/>
          <p:nvPr/>
        </p:nvSpPr>
        <p:spPr>
          <a:xfrm>
            <a:off x="7950200" y="2946400"/>
            <a:ext cx="152400" cy="330200"/>
          </a:xfrm>
          <a:prstGeom prst="triangle">
            <a:avLst/>
          </a:prstGeom>
          <a:solidFill>
            <a:srgbClr val="3A5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8128000" y="1549400"/>
            <a:ext cx="3556000" cy="3175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ectangle 51"/>
          <p:cNvSpPr/>
          <p:nvPr/>
        </p:nvSpPr>
        <p:spPr>
          <a:xfrm>
            <a:off x="8128000" y="1549400"/>
            <a:ext cx="3556000" cy="457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8331200" y="1549400"/>
            <a:ext cx="3149600" cy="457200"/>
          </a:xfrm>
          <a:prstGeom prst="rect">
            <a:avLst/>
          </a:prstGeom>
          <a:noFill/>
        </p:spPr>
        <p:txBody>
          <a:bodyPr wrap="square" lIns="0" rIns="0" tIns="0" bIns="0" anchor="ctr">
            <a:spAutoFit/>
          </a:bodyPr>
          <a:lstStyle/>
          <a:p>
            <a:pPr algn="l">
              <a:lnSpc>
                <a:spcPct val="125000"/>
              </a:lnSpc>
              <a:spcAft>
                <a:spcPts val="300"/>
              </a:spcAft>
            </a:pPr>
            <a:r>
              <a:rPr sz="1300" b="1">
                <a:solidFill>
                  <a:srgbClr val="FFFFFF"/>
                </a:solidFill>
                <a:latin typeface="Arial"/>
              </a:rPr>
              <a:t>APPLICATION</a:t>
            </a:r>
          </a:p>
        </p:txBody>
      </p:sp>
      <p:sp>
        <p:nvSpPr>
          <p:cNvPr id="54" name="Rectangle 53"/>
          <p:cNvSpPr/>
          <p:nvPr/>
        </p:nvSpPr>
        <p:spPr>
          <a:xfrm>
            <a:off x="8331200" y="2159000"/>
            <a:ext cx="203200" cy="381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5" name="Picture 54" descr="a_f5756d3699.png"/>
          <p:cNvPicPr>
            <a:picLocks noChangeAspect="1"/>
          </p:cNvPicPr>
          <p:nvPr/>
        </p:nvPicPr>
        <p:blipFill>
          <a:blip r:embed="rId6"/>
          <a:stretch>
            <a:fillRect/>
          </a:stretch>
        </p:blipFill>
        <p:spPr>
          <a:xfrm>
            <a:off x="8710612" y="2032000"/>
            <a:ext cx="155575" cy="304800"/>
          </a:xfrm>
          <a:prstGeom prst="rect">
            <a:avLst/>
          </a:prstGeom>
        </p:spPr>
      </p:pic>
      <p:sp>
        <p:nvSpPr>
          <p:cNvPr id="56" name="TextBox 55"/>
          <p:cNvSpPr txBox="1"/>
          <p:nvPr/>
        </p:nvSpPr>
        <p:spPr>
          <a:xfrm>
            <a:off x="9042400" y="2082800"/>
            <a:ext cx="2438400" cy="203200"/>
          </a:xfrm>
          <a:prstGeom prst="rect">
            <a:avLst/>
          </a:prstGeom>
          <a:noFill/>
        </p:spPr>
        <p:txBody>
          <a:bodyPr wrap="square" lIns="0" rIns="0" tIns="0" bIns="0" anchor="t">
            <a:spAutoFit/>
          </a:bodyPr>
          <a:lstStyle/>
          <a:p>
            <a:pPr algn="l">
              <a:lnSpc>
                <a:spcPct val="125000"/>
              </a:lnSpc>
              <a:spcAft>
                <a:spcPts val="300"/>
              </a:spcAft>
            </a:pPr>
            <a:r>
              <a:rPr sz="1000" b="1">
                <a:solidFill>
                  <a:srgbClr val="7F9B00"/>
                </a:solidFill>
                <a:latin typeface="Arial"/>
              </a:rPr>
              <a:t>Dispatch, recording and management</a:t>
            </a:r>
          </a:p>
        </p:txBody>
      </p:sp>
      <p:sp>
        <p:nvSpPr>
          <p:cNvPr id="57" name="Rectangle 56"/>
          <p:cNvSpPr/>
          <p:nvPr/>
        </p:nvSpPr>
        <p:spPr>
          <a:xfrm>
            <a:off x="8331200" y="2552700"/>
            <a:ext cx="63500" cy="635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8483600" y="2489200"/>
            <a:ext cx="3048000" cy="177800"/>
          </a:xfrm>
          <a:prstGeom prst="rect">
            <a:avLst/>
          </a:prstGeom>
          <a:noFill/>
        </p:spPr>
        <p:txBody>
          <a:bodyPr wrap="square" lIns="0" rIns="0" tIns="0" bIns="0" anchor="t">
            <a:spAutoFit/>
          </a:bodyPr>
          <a:lstStyle/>
          <a:p>
            <a:pPr algn="l">
              <a:lnSpc>
                <a:spcPct val="125000"/>
              </a:lnSpc>
              <a:spcAft>
                <a:spcPts val="300"/>
              </a:spcAft>
            </a:pPr>
            <a:r>
              <a:rPr sz="950" b="1">
                <a:solidFill>
                  <a:srgbClr val="0B308E"/>
                </a:solidFill>
                <a:latin typeface="Arial"/>
              </a:rPr>
              <a:t>MCS services</a:t>
            </a:r>
          </a:p>
        </p:txBody>
      </p:sp>
      <p:sp>
        <p:nvSpPr>
          <p:cNvPr id="59" name="TextBox 58"/>
          <p:cNvSpPr txBox="1"/>
          <p:nvPr/>
        </p:nvSpPr>
        <p:spPr>
          <a:xfrm>
            <a:off x="8483600" y="2667000"/>
            <a:ext cx="3048000" cy="177800"/>
          </a:xfrm>
          <a:prstGeom prst="rect">
            <a:avLst/>
          </a:prstGeom>
          <a:noFill/>
        </p:spPr>
        <p:txBody>
          <a:bodyPr wrap="square" lIns="0" rIns="0" tIns="0" bIns="0" anchor="t">
            <a:spAutoFit/>
          </a:bodyPr>
          <a:lstStyle/>
          <a:p>
            <a:pPr algn="l">
              <a:lnSpc>
                <a:spcPct val="125000"/>
              </a:lnSpc>
              <a:spcAft>
                <a:spcPts val="300"/>
              </a:spcAft>
            </a:pPr>
            <a:r>
              <a:rPr sz="850" b="0">
                <a:solidFill>
                  <a:srgbClr val="55607A"/>
                </a:solidFill>
                <a:latin typeface="Arial"/>
              </a:rPr>
              <a:t>MCPTT / MCVideo / MCData</a:t>
            </a:r>
          </a:p>
        </p:txBody>
      </p:sp>
      <p:sp>
        <p:nvSpPr>
          <p:cNvPr id="60" name="Rectangle 59"/>
          <p:cNvSpPr/>
          <p:nvPr/>
        </p:nvSpPr>
        <p:spPr>
          <a:xfrm>
            <a:off x="8331200" y="2971800"/>
            <a:ext cx="63500" cy="635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8483600" y="2908300"/>
            <a:ext cx="3048000" cy="177800"/>
          </a:xfrm>
          <a:prstGeom prst="rect">
            <a:avLst/>
          </a:prstGeom>
          <a:noFill/>
        </p:spPr>
        <p:txBody>
          <a:bodyPr wrap="square" lIns="0" rIns="0" tIns="0" bIns="0" anchor="t">
            <a:spAutoFit/>
          </a:bodyPr>
          <a:lstStyle/>
          <a:p>
            <a:pPr algn="l">
              <a:lnSpc>
                <a:spcPct val="125000"/>
              </a:lnSpc>
              <a:spcAft>
                <a:spcPts val="300"/>
              </a:spcAft>
            </a:pPr>
            <a:r>
              <a:rPr sz="950" b="1">
                <a:solidFill>
                  <a:srgbClr val="0B308E"/>
                </a:solidFill>
                <a:latin typeface="Arial"/>
              </a:rPr>
              <a:t>Dispatch console</a:t>
            </a:r>
          </a:p>
        </p:txBody>
      </p:sp>
      <p:sp>
        <p:nvSpPr>
          <p:cNvPr id="62" name="TextBox 61"/>
          <p:cNvSpPr txBox="1"/>
          <p:nvPr/>
        </p:nvSpPr>
        <p:spPr>
          <a:xfrm>
            <a:off x="8483600" y="3086100"/>
            <a:ext cx="3048000" cy="177800"/>
          </a:xfrm>
          <a:prstGeom prst="rect">
            <a:avLst/>
          </a:prstGeom>
          <a:noFill/>
        </p:spPr>
        <p:txBody>
          <a:bodyPr wrap="square" lIns="0" rIns="0" tIns="0" bIns="0" anchor="t">
            <a:spAutoFit/>
          </a:bodyPr>
          <a:lstStyle/>
          <a:p>
            <a:pPr algn="l">
              <a:lnSpc>
                <a:spcPct val="125000"/>
              </a:lnSpc>
              <a:spcAft>
                <a:spcPts val="300"/>
              </a:spcAft>
            </a:pPr>
            <a:r>
              <a:rPr sz="850" b="0">
                <a:solidFill>
                  <a:srgbClr val="55607A"/>
                </a:solidFill>
                <a:latin typeface="Arial"/>
              </a:rPr>
              <a:t>voice, video, GIS and presence</a:t>
            </a:r>
          </a:p>
        </p:txBody>
      </p:sp>
      <p:sp>
        <p:nvSpPr>
          <p:cNvPr id="63" name="Rectangle 62"/>
          <p:cNvSpPr/>
          <p:nvPr/>
        </p:nvSpPr>
        <p:spPr>
          <a:xfrm>
            <a:off x="8331200" y="3390900"/>
            <a:ext cx="63500" cy="635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8483600" y="3327400"/>
            <a:ext cx="3048000" cy="177800"/>
          </a:xfrm>
          <a:prstGeom prst="rect">
            <a:avLst/>
          </a:prstGeom>
          <a:noFill/>
        </p:spPr>
        <p:txBody>
          <a:bodyPr wrap="square" lIns="0" rIns="0" tIns="0" bIns="0" anchor="t">
            <a:spAutoFit/>
          </a:bodyPr>
          <a:lstStyle/>
          <a:p>
            <a:pPr algn="l">
              <a:lnSpc>
                <a:spcPct val="125000"/>
              </a:lnSpc>
              <a:spcAft>
                <a:spcPts val="300"/>
              </a:spcAft>
            </a:pPr>
            <a:r>
              <a:rPr sz="950" b="1">
                <a:solidFill>
                  <a:srgbClr val="0B308E"/>
                </a:solidFill>
                <a:latin typeface="Arial"/>
              </a:rPr>
              <a:t>Recording</a:t>
            </a:r>
          </a:p>
        </p:txBody>
      </p:sp>
      <p:sp>
        <p:nvSpPr>
          <p:cNvPr id="65" name="TextBox 64"/>
          <p:cNvSpPr txBox="1"/>
          <p:nvPr/>
        </p:nvSpPr>
        <p:spPr>
          <a:xfrm>
            <a:off x="8483600" y="3505200"/>
            <a:ext cx="3048000" cy="177800"/>
          </a:xfrm>
          <a:prstGeom prst="rect">
            <a:avLst/>
          </a:prstGeom>
          <a:noFill/>
        </p:spPr>
        <p:txBody>
          <a:bodyPr wrap="square" lIns="0" rIns="0" tIns="0" bIns="0" anchor="t">
            <a:spAutoFit/>
          </a:bodyPr>
          <a:lstStyle/>
          <a:p>
            <a:pPr algn="l">
              <a:lnSpc>
                <a:spcPct val="125000"/>
              </a:lnSpc>
              <a:spcAft>
                <a:spcPts val="300"/>
              </a:spcAft>
            </a:pPr>
            <a:r>
              <a:rPr sz="850" b="0">
                <a:solidFill>
                  <a:srgbClr val="55607A"/>
                </a:solidFill>
                <a:latin typeface="Arial"/>
              </a:rPr>
              <a:t>multimedia capture and playback</a:t>
            </a:r>
          </a:p>
        </p:txBody>
      </p:sp>
      <p:sp>
        <p:nvSpPr>
          <p:cNvPr id="66" name="Rectangle 65"/>
          <p:cNvSpPr/>
          <p:nvPr/>
        </p:nvSpPr>
        <p:spPr>
          <a:xfrm>
            <a:off x="8331200" y="3810000"/>
            <a:ext cx="63500" cy="635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TextBox 66"/>
          <p:cNvSpPr txBox="1"/>
          <p:nvPr/>
        </p:nvSpPr>
        <p:spPr>
          <a:xfrm>
            <a:off x="8483600" y="3746500"/>
            <a:ext cx="3048000" cy="177800"/>
          </a:xfrm>
          <a:prstGeom prst="rect">
            <a:avLst/>
          </a:prstGeom>
          <a:noFill/>
        </p:spPr>
        <p:txBody>
          <a:bodyPr wrap="square" lIns="0" rIns="0" tIns="0" bIns="0" anchor="t">
            <a:spAutoFit/>
          </a:bodyPr>
          <a:lstStyle/>
          <a:p>
            <a:pPr algn="l">
              <a:lnSpc>
                <a:spcPct val="125000"/>
              </a:lnSpc>
              <a:spcAft>
                <a:spcPts val="300"/>
              </a:spcAft>
            </a:pPr>
            <a:r>
              <a:rPr sz="950" b="1">
                <a:solidFill>
                  <a:srgbClr val="0B308E"/>
                </a:solidFill>
                <a:latin typeface="Arial"/>
              </a:rPr>
              <a:t>Device management</a:t>
            </a:r>
          </a:p>
        </p:txBody>
      </p:sp>
      <p:sp>
        <p:nvSpPr>
          <p:cNvPr id="68" name="TextBox 67"/>
          <p:cNvSpPr txBox="1"/>
          <p:nvPr/>
        </p:nvSpPr>
        <p:spPr>
          <a:xfrm>
            <a:off x="8483600" y="3924300"/>
            <a:ext cx="3048000" cy="177800"/>
          </a:xfrm>
          <a:prstGeom prst="rect">
            <a:avLst/>
          </a:prstGeom>
          <a:noFill/>
        </p:spPr>
        <p:txBody>
          <a:bodyPr wrap="square" lIns="0" rIns="0" tIns="0" bIns="0" anchor="t">
            <a:spAutoFit/>
          </a:bodyPr>
          <a:lstStyle/>
          <a:p>
            <a:pPr algn="l">
              <a:lnSpc>
                <a:spcPct val="125000"/>
              </a:lnSpc>
              <a:spcAft>
                <a:spcPts val="300"/>
              </a:spcAft>
            </a:pPr>
            <a:r>
              <a:rPr sz="850" b="0">
                <a:solidFill>
                  <a:srgbClr val="55607A"/>
                </a:solidFill>
                <a:latin typeface="Arial"/>
              </a:rPr>
              <a:t>zero-touch deployment</a:t>
            </a:r>
          </a:p>
        </p:txBody>
      </p:sp>
      <p:sp>
        <p:nvSpPr>
          <p:cNvPr id="69" name="Rectangle 68"/>
          <p:cNvSpPr/>
          <p:nvPr/>
        </p:nvSpPr>
        <p:spPr>
          <a:xfrm>
            <a:off x="8305800" y="4089400"/>
            <a:ext cx="3200400" cy="50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0" name="Picture 69" descr="a_a20eb96eb5.png"/>
          <p:cNvPicPr>
            <a:picLocks noChangeAspect="1"/>
          </p:cNvPicPr>
          <p:nvPr/>
        </p:nvPicPr>
        <p:blipFill>
          <a:blip r:embed="rId7"/>
          <a:stretch>
            <a:fillRect/>
          </a:stretch>
        </p:blipFill>
        <p:spPr>
          <a:xfrm>
            <a:off x="9457764" y="4140200"/>
            <a:ext cx="896470" cy="406400"/>
          </a:xfrm>
          <a:prstGeom prst="rect">
            <a:avLst/>
          </a:prstGeom>
        </p:spPr>
      </p:pic>
      <p:sp>
        <p:nvSpPr>
          <p:cNvPr id="71" name="Rectangle 70"/>
          <p:cNvSpPr/>
          <p:nvPr/>
        </p:nvSpPr>
        <p:spPr>
          <a:xfrm>
            <a:off x="609600" y="4851400"/>
            <a:ext cx="10972800" cy="6604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TextBox 71"/>
          <p:cNvSpPr txBox="1"/>
          <p:nvPr/>
        </p:nvSpPr>
        <p:spPr>
          <a:xfrm>
            <a:off x="838200" y="4953000"/>
            <a:ext cx="3810000" cy="203200"/>
          </a:xfrm>
          <a:prstGeom prst="rect">
            <a:avLst/>
          </a:prstGeom>
          <a:noFill/>
        </p:spPr>
        <p:txBody>
          <a:bodyPr wrap="square" lIns="0" rIns="0" tIns="0" bIns="0" anchor="t">
            <a:spAutoFit/>
          </a:bodyPr>
          <a:lstStyle/>
          <a:p>
            <a:pPr algn="l">
              <a:lnSpc>
                <a:spcPct val="125000"/>
              </a:lnSpc>
              <a:spcAft>
                <a:spcPts val="300"/>
              </a:spcAft>
            </a:pPr>
            <a:r>
              <a:rPr sz="850" b="1">
                <a:solidFill>
                  <a:srgbClr val="7F9B00"/>
                </a:solidFill>
                <a:latin typeface="Arial"/>
              </a:rPr>
              <a:t>THE SAME ARCHITECTURE SERVES ALL SIX INDUSTRIES</a:t>
            </a:r>
          </a:p>
        </p:txBody>
      </p:sp>
      <p:sp>
        <p:nvSpPr>
          <p:cNvPr id="73" name="Rectangle 72"/>
          <p:cNvSpPr/>
          <p:nvPr/>
        </p:nvSpPr>
        <p:spPr>
          <a:xfrm>
            <a:off x="838200" y="5181600"/>
            <a:ext cx="1651000" cy="254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TextBox 73"/>
          <p:cNvSpPr txBox="1"/>
          <p:nvPr/>
        </p:nvSpPr>
        <p:spPr>
          <a:xfrm>
            <a:off x="838200" y="5181600"/>
            <a:ext cx="1651000" cy="254000"/>
          </a:xfrm>
          <a:prstGeom prst="rect">
            <a:avLst/>
          </a:prstGeom>
          <a:noFill/>
        </p:spPr>
        <p:txBody>
          <a:bodyPr wrap="square" lIns="0" rIns="0" tIns="0" bIns="0" anchor="ctr">
            <a:spAutoFit/>
          </a:bodyPr>
          <a:lstStyle/>
          <a:p>
            <a:pPr algn="ctr">
              <a:lnSpc>
                <a:spcPct val="125000"/>
              </a:lnSpc>
              <a:spcAft>
                <a:spcPts val="300"/>
              </a:spcAft>
            </a:pPr>
            <a:r>
              <a:rPr sz="900" b="1">
                <a:solidFill>
                  <a:srgbClr val="0B308E"/>
                </a:solidFill>
                <a:latin typeface="Arial"/>
              </a:rPr>
              <a:t>Power</a:t>
            </a:r>
          </a:p>
        </p:txBody>
      </p:sp>
      <p:sp>
        <p:nvSpPr>
          <p:cNvPr id="75" name="Rectangle 74"/>
          <p:cNvSpPr/>
          <p:nvPr/>
        </p:nvSpPr>
        <p:spPr>
          <a:xfrm>
            <a:off x="2616200" y="5181600"/>
            <a:ext cx="1651000" cy="254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TextBox 75"/>
          <p:cNvSpPr txBox="1"/>
          <p:nvPr/>
        </p:nvSpPr>
        <p:spPr>
          <a:xfrm>
            <a:off x="2616200" y="5181600"/>
            <a:ext cx="1651000" cy="254000"/>
          </a:xfrm>
          <a:prstGeom prst="rect">
            <a:avLst/>
          </a:prstGeom>
          <a:noFill/>
        </p:spPr>
        <p:txBody>
          <a:bodyPr wrap="square" lIns="0" rIns="0" tIns="0" bIns="0" anchor="ctr">
            <a:spAutoFit/>
          </a:bodyPr>
          <a:lstStyle/>
          <a:p>
            <a:pPr algn="ctr">
              <a:lnSpc>
                <a:spcPct val="125000"/>
              </a:lnSpc>
              <a:spcAft>
                <a:spcPts val="300"/>
              </a:spcAft>
            </a:pPr>
            <a:r>
              <a:rPr sz="900" b="1">
                <a:solidFill>
                  <a:srgbClr val="0B308E"/>
                </a:solidFill>
                <a:latin typeface="Arial"/>
              </a:rPr>
              <a:t>Water</a:t>
            </a:r>
          </a:p>
        </p:txBody>
      </p:sp>
      <p:sp>
        <p:nvSpPr>
          <p:cNvPr id="77" name="Rectangle 76"/>
          <p:cNvSpPr/>
          <p:nvPr/>
        </p:nvSpPr>
        <p:spPr>
          <a:xfrm>
            <a:off x="4394200" y="5181600"/>
            <a:ext cx="1651000" cy="254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8" name="TextBox 77"/>
          <p:cNvSpPr txBox="1"/>
          <p:nvPr/>
        </p:nvSpPr>
        <p:spPr>
          <a:xfrm>
            <a:off x="4394200" y="5181600"/>
            <a:ext cx="1651000" cy="254000"/>
          </a:xfrm>
          <a:prstGeom prst="rect">
            <a:avLst/>
          </a:prstGeom>
          <a:noFill/>
        </p:spPr>
        <p:txBody>
          <a:bodyPr wrap="square" lIns="0" rIns="0" tIns="0" bIns="0" anchor="ctr">
            <a:spAutoFit/>
          </a:bodyPr>
          <a:lstStyle/>
          <a:p>
            <a:pPr algn="ctr">
              <a:lnSpc>
                <a:spcPct val="125000"/>
              </a:lnSpc>
              <a:spcAft>
                <a:spcPts val="300"/>
              </a:spcAft>
            </a:pPr>
            <a:r>
              <a:rPr sz="900" b="1">
                <a:solidFill>
                  <a:srgbClr val="0B308E"/>
                </a:solidFill>
                <a:latin typeface="Arial"/>
              </a:rPr>
              <a:t>Police</a:t>
            </a:r>
          </a:p>
        </p:txBody>
      </p:sp>
      <p:sp>
        <p:nvSpPr>
          <p:cNvPr id="79" name="Rectangle 78"/>
          <p:cNvSpPr/>
          <p:nvPr/>
        </p:nvSpPr>
        <p:spPr>
          <a:xfrm>
            <a:off x="6172200" y="5181600"/>
            <a:ext cx="1651000" cy="254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0" name="TextBox 79"/>
          <p:cNvSpPr txBox="1"/>
          <p:nvPr/>
        </p:nvSpPr>
        <p:spPr>
          <a:xfrm>
            <a:off x="6172200" y="5181600"/>
            <a:ext cx="1651000" cy="254000"/>
          </a:xfrm>
          <a:prstGeom prst="rect">
            <a:avLst/>
          </a:prstGeom>
          <a:noFill/>
        </p:spPr>
        <p:txBody>
          <a:bodyPr wrap="square" lIns="0" rIns="0" tIns="0" bIns="0" anchor="ctr">
            <a:spAutoFit/>
          </a:bodyPr>
          <a:lstStyle/>
          <a:p>
            <a:pPr algn="ctr">
              <a:lnSpc>
                <a:spcPct val="125000"/>
              </a:lnSpc>
              <a:spcAft>
                <a:spcPts val="300"/>
              </a:spcAft>
            </a:pPr>
            <a:r>
              <a:rPr sz="900" b="1">
                <a:solidFill>
                  <a:srgbClr val="0B308E"/>
                </a:solidFill>
                <a:latin typeface="Arial"/>
              </a:rPr>
              <a:t>Emergency</a:t>
            </a:r>
          </a:p>
        </p:txBody>
      </p:sp>
      <p:sp>
        <p:nvSpPr>
          <p:cNvPr id="81" name="Rectangle 80"/>
          <p:cNvSpPr/>
          <p:nvPr/>
        </p:nvSpPr>
        <p:spPr>
          <a:xfrm>
            <a:off x="7950200" y="5181600"/>
            <a:ext cx="1651000" cy="254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2" name="TextBox 81"/>
          <p:cNvSpPr txBox="1"/>
          <p:nvPr/>
        </p:nvSpPr>
        <p:spPr>
          <a:xfrm>
            <a:off x="7950200" y="5181600"/>
            <a:ext cx="1651000" cy="254000"/>
          </a:xfrm>
          <a:prstGeom prst="rect">
            <a:avLst/>
          </a:prstGeom>
          <a:noFill/>
        </p:spPr>
        <p:txBody>
          <a:bodyPr wrap="square" lIns="0" rIns="0" tIns="0" bIns="0" anchor="ctr">
            <a:spAutoFit/>
          </a:bodyPr>
          <a:lstStyle/>
          <a:p>
            <a:pPr algn="ctr">
              <a:lnSpc>
                <a:spcPct val="125000"/>
              </a:lnSpc>
              <a:spcAft>
                <a:spcPts val="300"/>
              </a:spcAft>
            </a:pPr>
            <a:r>
              <a:rPr sz="900" b="1">
                <a:solidFill>
                  <a:srgbClr val="0B308E"/>
                </a:solidFill>
                <a:latin typeface="Arial"/>
              </a:rPr>
              <a:t>Rail</a:t>
            </a:r>
          </a:p>
        </p:txBody>
      </p:sp>
      <p:sp>
        <p:nvSpPr>
          <p:cNvPr id="83" name="Rectangle 82"/>
          <p:cNvSpPr/>
          <p:nvPr/>
        </p:nvSpPr>
        <p:spPr>
          <a:xfrm>
            <a:off x="9728200" y="5181600"/>
            <a:ext cx="1651000" cy="254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4" name="TextBox 83"/>
          <p:cNvSpPr txBox="1"/>
          <p:nvPr/>
        </p:nvSpPr>
        <p:spPr>
          <a:xfrm>
            <a:off x="9728200" y="5181600"/>
            <a:ext cx="1651000" cy="254000"/>
          </a:xfrm>
          <a:prstGeom prst="rect">
            <a:avLst/>
          </a:prstGeom>
          <a:noFill/>
        </p:spPr>
        <p:txBody>
          <a:bodyPr wrap="square" lIns="0" rIns="0" tIns="0" bIns="0" anchor="ctr">
            <a:spAutoFit/>
          </a:bodyPr>
          <a:lstStyle/>
          <a:p>
            <a:pPr algn="ctr">
              <a:lnSpc>
                <a:spcPct val="125000"/>
              </a:lnSpc>
              <a:spcAft>
                <a:spcPts val="300"/>
              </a:spcAft>
            </a:pPr>
            <a:r>
              <a:rPr sz="900" b="1">
                <a:solidFill>
                  <a:srgbClr val="0B308E"/>
                </a:solidFill>
                <a:latin typeface="Arial"/>
              </a:rPr>
              <a:t>Port</a:t>
            </a:r>
          </a:p>
        </p:txBody>
      </p:sp>
      <p:sp>
        <p:nvSpPr>
          <p:cNvPr id="85" name="Rectangle 84"/>
          <p:cNvSpPr/>
          <p:nvPr/>
        </p:nvSpPr>
        <p:spPr>
          <a:xfrm>
            <a:off x="0" y="5740400"/>
            <a:ext cx="12192000" cy="508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6" name="TextBox 85"/>
          <p:cNvSpPr txBox="1"/>
          <p:nvPr/>
        </p:nvSpPr>
        <p:spPr>
          <a:xfrm>
            <a:off x="609600" y="5740400"/>
            <a:ext cx="10972800" cy="508000"/>
          </a:xfrm>
          <a:prstGeom prst="rect">
            <a:avLst/>
          </a:prstGeom>
          <a:noFill/>
        </p:spPr>
        <p:txBody>
          <a:bodyPr wrap="square" lIns="0" rIns="0" tIns="0" bIns="0" anchor="ctr">
            <a:spAutoFit/>
          </a:bodyPr>
          <a:lstStyle/>
          <a:p>
            <a:pPr algn="l">
              <a:lnSpc>
                <a:spcPct val="130000"/>
              </a:lnSpc>
            </a:pPr>
            <a:r>
              <a:rPr sz="1200" b="1">
                <a:solidFill>
                  <a:srgbClr val="FFFFFF"/>
                </a:solidFill>
                <a:latin typeface="Arial"/>
              </a:rPr>
              <a:t>Only the terminals, the applications and the coverage area change.  </a:t>
            </a:r>
            <a:r>
              <a:rPr sz="1200" b="0">
                <a:solidFill>
                  <a:srgbClr val="DCE5F3"/>
                </a:solidFill>
                <a:latin typeface="Arial"/>
              </a:rPr>
              <a:t>The network layer is the same build.</a:t>
            </a:r>
          </a:p>
        </p:txBody>
      </p:sp>
      <p:sp>
        <p:nvSpPr>
          <p:cNvPr id="87" name="TextBox 86"/>
          <p:cNvSpPr txBox="1"/>
          <p:nvPr/>
        </p:nvSpPr>
        <p:spPr>
          <a:xfrm>
            <a:off x="609600" y="6451600"/>
            <a:ext cx="10972800" cy="177800"/>
          </a:xfrm>
          <a:prstGeom prst="rect">
            <a:avLst/>
          </a:prstGeom>
          <a:noFill/>
        </p:spPr>
        <p:txBody>
          <a:bodyPr wrap="square" lIns="0" rIns="0" tIns="0" bIns="0" anchor="t">
            <a:spAutoFit/>
          </a:bodyPr>
          <a:lstStyle/>
          <a:p>
            <a:pPr algn="l">
              <a:lnSpc>
                <a:spcPct val="125000"/>
              </a:lnSpc>
              <a:spcAft>
                <a:spcPts val="300"/>
              </a:spcAft>
            </a:pPr>
            <a:r>
              <a:rPr sz="800" b="0">
                <a:solidFill>
                  <a:srgbClr val="93A0B4"/>
                </a:solidFill>
                <a:latin typeface="Arial"/>
              </a:rPr>
              <a:t>Source: 450M Roadmap; HyTalk MC V6.1; 450 MHz Alliance, Equipment Report (May 2025)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381000"/>
            <a:ext cx="228600" cy="635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39800" y="279400"/>
            <a:ext cx="9906000" cy="381000"/>
          </a:xfrm>
          <a:prstGeom prst="rect">
            <a:avLst/>
          </a:prstGeom>
          <a:noFill/>
        </p:spPr>
        <p:txBody>
          <a:bodyPr wrap="square" lIns="0" rIns="0" tIns="0" bIns="0" anchor="t">
            <a:spAutoFit/>
          </a:bodyPr>
          <a:lstStyle/>
          <a:p>
            <a:pPr algn="l">
              <a:lnSpc>
                <a:spcPct val="125000"/>
              </a:lnSpc>
              <a:spcAft>
                <a:spcPts val="300"/>
              </a:spcAft>
            </a:pPr>
            <a:r>
              <a:rPr sz="2100" b="1">
                <a:solidFill>
                  <a:srgbClr val="0B308E"/>
                </a:solidFill>
                <a:latin typeface="Arial"/>
              </a:rPr>
              <a:t>450 MHz operators worldwide: the model works</a:t>
            </a:r>
          </a:p>
        </p:txBody>
      </p:sp>
      <p:sp>
        <p:nvSpPr>
          <p:cNvPr id="5" name="TextBox 4"/>
          <p:cNvSpPr txBox="1"/>
          <p:nvPr/>
        </p:nvSpPr>
        <p:spPr>
          <a:xfrm>
            <a:off x="609600" y="787400"/>
            <a:ext cx="8890000" cy="203200"/>
          </a:xfrm>
          <a:prstGeom prst="rect">
            <a:avLst/>
          </a:prstGeom>
          <a:noFill/>
        </p:spPr>
        <p:txBody>
          <a:bodyPr wrap="square" lIns="0" rIns="0" tIns="0" bIns="0" anchor="t">
            <a:spAutoFit/>
          </a:bodyPr>
          <a:lstStyle/>
          <a:p>
            <a:pPr algn="l">
              <a:lnSpc>
                <a:spcPct val="125000"/>
              </a:lnSpc>
              <a:spcAft>
                <a:spcPts val="300"/>
              </a:spcAft>
            </a:pPr>
            <a:r>
              <a:rPr sz="850" b="1">
                <a:solidFill>
                  <a:srgbClr val="7F9B00"/>
                </a:solidFill>
                <a:latin typeface="Arial"/>
              </a:rPr>
              <a:t>REFERENCE  ·  450 MHZ</a:t>
            </a:r>
          </a:p>
        </p:txBody>
      </p:sp>
      <p:sp>
        <p:nvSpPr>
          <p:cNvPr id="6" name="TextBox 5"/>
          <p:cNvSpPr txBox="1"/>
          <p:nvPr/>
        </p:nvSpPr>
        <p:spPr>
          <a:xfrm>
            <a:off x="11023600" y="279400"/>
            <a:ext cx="558800" cy="330200"/>
          </a:xfrm>
          <a:prstGeom prst="rect">
            <a:avLst/>
          </a:prstGeom>
          <a:noFill/>
        </p:spPr>
        <p:txBody>
          <a:bodyPr wrap="square" lIns="0" rIns="0" tIns="0" bIns="0" anchor="t">
            <a:spAutoFit/>
          </a:bodyPr>
          <a:lstStyle/>
          <a:p>
            <a:pPr algn="r">
              <a:lnSpc>
                <a:spcPct val="125000"/>
              </a:lnSpc>
              <a:spcAft>
                <a:spcPts val="300"/>
              </a:spcAft>
            </a:pPr>
            <a:r>
              <a:rPr sz="1700" b="1">
                <a:solidFill>
                  <a:srgbClr val="0B308E"/>
                </a:solidFill>
                <a:latin typeface="Arial"/>
              </a:rPr>
              <a:t>15</a:t>
            </a:r>
          </a:p>
        </p:txBody>
      </p:sp>
      <p:cxnSp>
        <p:nvCxnSpPr>
          <p:cNvPr id="7" name="Connector 6"/>
          <p:cNvCxnSpPr/>
          <p:nvPr/>
        </p:nvCxnSpPr>
        <p:spPr>
          <a:xfrm>
            <a:off x="609600" y="1041400"/>
            <a:ext cx="10972800" cy="0"/>
          </a:xfrm>
          <a:prstGeom prst="line">
            <a:avLst/>
          </a:prstGeom>
          <a:ln w="12700">
            <a:solidFill>
              <a:srgbClr val="D6E0F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1193800"/>
            <a:ext cx="10972800" cy="228600"/>
          </a:xfrm>
          <a:prstGeom prst="rect">
            <a:avLst/>
          </a:prstGeom>
          <a:noFill/>
        </p:spPr>
        <p:txBody>
          <a:bodyPr wrap="square" lIns="0" rIns="0" tIns="0" bIns="0" anchor="t">
            <a:spAutoFit/>
          </a:bodyPr>
          <a:lstStyle/>
          <a:p>
            <a:pPr algn="l">
              <a:lnSpc>
                <a:spcPct val="125000"/>
              </a:lnSpc>
              <a:spcAft>
                <a:spcPts val="300"/>
              </a:spcAft>
            </a:pPr>
            <a:r>
              <a:rPr sz="1150" b="0">
                <a:solidFill>
                  <a:srgbClr val="55607A"/>
                </a:solidFill>
                <a:latin typeface="Arial"/>
              </a:rPr>
              <a:t>Two things are the same in every market: a licensed operator carries the traffic, and utilities anchor the demand.</a:t>
            </a:r>
          </a:p>
        </p:txBody>
      </p:sp>
      <p:sp>
        <p:nvSpPr>
          <p:cNvPr id="9" name="Rectangle 8"/>
          <p:cNvSpPr/>
          <p:nvPr/>
        </p:nvSpPr>
        <p:spPr>
          <a:xfrm>
            <a:off x="609600" y="1549400"/>
            <a:ext cx="5080000" cy="3759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0" name="Picture 9" descr="a_df831a5b1a.png"/>
          <p:cNvPicPr>
            <a:picLocks noChangeAspect="1"/>
          </p:cNvPicPr>
          <p:nvPr/>
        </p:nvPicPr>
        <p:blipFill>
          <a:blip r:embed="rId2"/>
          <a:stretch>
            <a:fillRect/>
          </a:stretch>
        </p:blipFill>
        <p:spPr>
          <a:xfrm>
            <a:off x="787400" y="2095838"/>
            <a:ext cx="4724400" cy="2183722"/>
          </a:xfrm>
          <a:prstGeom prst="rect">
            <a:avLst/>
          </a:prstGeom>
        </p:spPr>
      </p:pic>
      <p:sp>
        <p:nvSpPr>
          <p:cNvPr id="11" name="Rectangle 10"/>
          <p:cNvSpPr/>
          <p:nvPr/>
        </p:nvSpPr>
        <p:spPr>
          <a:xfrm>
            <a:off x="787400" y="4724400"/>
            <a:ext cx="4724400" cy="431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90600" y="4724400"/>
            <a:ext cx="4318000" cy="431800"/>
          </a:xfrm>
          <a:prstGeom prst="rect">
            <a:avLst/>
          </a:prstGeom>
          <a:noFill/>
        </p:spPr>
        <p:txBody>
          <a:bodyPr wrap="square" lIns="0" rIns="0" tIns="0" bIns="0" anchor="ctr">
            <a:spAutoFit/>
          </a:bodyPr>
          <a:lstStyle/>
          <a:p>
            <a:pPr algn="l">
              <a:lnSpc>
                <a:spcPct val="125000"/>
              </a:lnSpc>
              <a:spcAft>
                <a:spcPts val="300"/>
              </a:spcAft>
            </a:pPr>
            <a:r>
              <a:rPr sz="850" b="0">
                <a:solidFill>
                  <a:srgbClr val="55607A"/>
                </a:solidFill>
                <a:latin typeface="Arial"/>
              </a:rPr>
              <a:t>Figure 2. The world map of 380 MHz, 410 MHz and 450 MHz deployment.</a:t>
            </a:r>
          </a:p>
        </p:txBody>
      </p:sp>
      <p:sp>
        <p:nvSpPr>
          <p:cNvPr id="13" name="Rectangle 12"/>
          <p:cNvSpPr/>
          <p:nvPr/>
        </p:nvSpPr>
        <p:spPr>
          <a:xfrm>
            <a:off x="609600" y="1549400"/>
            <a:ext cx="5080000" cy="3759200"/>
          </a:xfrm>
          <a:prstGeom prst="rect">
            <a:avLst/>
          </a:prstGeom>
          <a:noFill/>
          <a:ln w="12700">
            <a:solidFill>
              <a:srgbClr val="D6E0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5943600" y="1549400"/>
            <a:ext cx="5638800" cy="4826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096000" y="1587500"/>
            <a:ext cx="1219200" cy="203200"/>
          </a:xfrm>
          <a:prstGeom prst="rect">
            <a:avLst/>
          </a:prstGeom>
          <a:noFill/>
        </p:spPr>
        <p:txBody>
          <a:bodyPr wrap="square" lIns="0" rIns="0" tIns="0" bIns="0" anchor="t">
            <a:spAutoFit/>
          </a:bodyPr>
          <a:lstStyle/>
          <a:p>
            <a:pPr algn="l">
              <a:lnSpc>
                <a:spcPct val="125000"/>
              </a:lnSpc>
              <a:spcAft>
                <a:spcPts val="300"/>
              </a:spcAft>
            </a:pPr>
            <a:r>
              <a:rPr sz="950" b="1">
                <a:solidFill>
                  <a:srgbClr val="0B308E"/>
                </a:solidFill>
                <a:latin typeface="Arial"/>
              </a:rPr>
              <a:t>Germany</a:t>
            </a:r>
          </a:p>
        </p:txBody>
      </p:sp>
      <p:sp>
        <p:nvSpPr>
          <p:cNvPr id="16" name="TextBox 15"/>
          <p:cNvSpPr txBox="1"/>
          <p:nvPr/>
        </p:nvSpPr>
        <p:spPr>
          <a:xfrm>
            <a:off x="6096000" y="1803400"/>
            <a:ext cx="1219200" cy="177800"/>
          </a:xfrm>
          <a:prstGeom prst="rect">
            <a:avLst/>
          </a:prstGeom>
          <a:noFill/>
        </p:spPr>
        <p:txBody>
          <a:bodyPr wrap="square" lIns="0" rIns="0" tIns="0" bIns="0" anchor="t">
            <a:spAutoFit/>
          </a:bodyPr>
          <a:lstStyle/>
          <a:p>
            <a:pPr algn="l">
              <a:lnSpc>
                <a:spcPct val="125000"/>
              </a:lnSpc>
              <a:spcAft>
                <a:spcPts val="300"/>
              </a:spcAft>
            </a:pPr>
            <a:r>
              <a:rPr sz="800" b="1">
                <a:solidFill>
                  <a:srgbClr val="7F9B00"/>
                </a:solidFill>
                <a:latin typeface="Arial"/>
              </a:rPr>
              <a:t>450connect</a:t>
            </a:r>
          </a:p>
        </p:txBody>
      </p:sp>
      <p:sp>
        <p:nvSpPr>
          <p:cNvPr id="17" name="TextBox 16"/>
          <p:cNvSpPr txBox="1"/>
          <p:nvPr/>
        </p:nvSpPr>
        <p:spPr>
          <a:xfrm>
            <a:off x="7416800" y="1600200"/>
            <a:ext cx="4064000" cy="381000"/>
          </a:xfrm>
          <a:prstGeom prst="rect">
            <a:avLst/>
          </a:prstGeom>
          <a:noFill/>
        </p:spPr>
        <p:txBody>
          <a:bodyPr wrap="square" lIns="0" rIns="0" tIns="0" bIns="0" anchor="t">
            <a:spAutoFit/>
          </a:bodyPr>
          <a:lstStyle/>
          <a:p>
            <a:pPr algn="l">
              <a:lnSpc>
                <a:spcPct val="125000"/>
              </a:lnSpc>
              <a:spcAft>
                <a:spcPts val="300"/>
              </a:spcAft>
            </a:pPr>
            <a:r>
              <a:rPr sz="850" b="0">
                <a:solidFill>
                  <a:srgbClr val="55607A"/>
                </a:solidFill>
                <a:latin typeface="Arial"/>
              </a:rPr>
              <a:t>Band 72, nationwide utility network; more than 95% of Germany covered</a:t>
            </a:r>
          </a:p>
        </p:txBody>
      </p:sp>
      <p:sp>
        <p:nvSpPr>
          <p:cNvPr id="18" name="Rectangle 17"/>
          <p:cNvSpPr/>
          <p:nvPr/>
        </p:nvSpPr>
        <p:spPr>
          <a:xfrm>
            <a:off x="5943600" y="2082800"/>
            <a:ext cx="5638800" cy="482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096000" y="2120900"/>
            <a:ext cx="1219200" cy="203200"/>
          </a:xfrm>
          <a:prstGeom prst="rect">
            <a:avLst/>
          </a:prstGeom>
          <a:noFill/>
        </p:spPr>
        <p:txBody>
          <a:bodyPr wrap="square" lIns="0" rIns="0" tIns="0" bIns="0" anchor="t">
            <a:spAutoFit/>
          </a:bodyPr>
          <a:lstStyle/>
          <a:p>
            <a:pPr algn="l">
              <a:lnSpc>
                <a:spcPct val="125000"/>
              </a:lnSpc>
              <a:spcAft>
                <a:spcPts val="300"/>
              </a:spcAft>
            </a:pPr>
            <a:r>
              <a:rPr sz="950" b="1">
                <a:solidFill>
                  <a:srgbClr val="0B308E"/>
                </a:solidFill>
                <a:latin typeface="Arial"/>
              </a:rPr>
              <a:t>Austria</a:t>
            </a:r>
          </a:p>
        </p:txBody>
      </p:sp>
      <p:sp>
        <p:nvSpPr>
          <p:cNvPr id="20" name="TextBox 19"/>
          <p:cNvSpPr txBox="1"/>
          <p:nvPr/>
        </p:nvSpPr>
        <p:spPr>
          <a:xfrm>
            <a:off x="6096000" y="2336800"/>
            <a:ext cx="1219200" cy="177800"/>
          </a:xfrm>
          <a:prstGeom prst="rect">
            <a:avLst/>
          </a:prstGeom>
          <a:noFill/>
        </p:spPr>
        <p:txBody>
          <a:bodyPr wrap="square" lIns="0" rIns="0" tIns="0" bIns="0" anchor="t">
            <a:spAutoFit/>
          </a:bodyPr>
          <a:lstStyle/>
          <a:p>
            <a:pPr algn="l">
              <a:lnSpc>
                <a:spcPct val="125000"/>
              </a:lnSpc>
              <a:spcAft>
                <a:spcPts val="300"/>
              </a:spcAft>
            </a:pPr>
            <a:r>
              <a:rPr sz="800" b="1">
                <a:solidFill>
                  <a:srgbClr val="7F9B00"/>
                </a:solidFill>
                <a:latin typeface="Arial"/>
              </a:rPr>
              <a:t>ArgoNET</a:t>
            </a:r>
          </a:p>
        </p:txBody>
      </p:sp>
      <p:sp>
        <p:nvSpPr>
          <p:cNvPr id="21" name="TextBox 20"/>
          <p:cNvSpPr txBox="1"/>
          <p:nvPr/>
        </p:nvSpPr>
        <p:spPr>
          <a:xfrm>
            <a:off x="7416800" y="2133600"/>
            <a:ext cx="4064000" cy="381000"/>
          </a:xfrm>
          <a:prstGeom prst="rect">
            <a:avLst/>
          </a:prstGeom>
          <a:noFill/>
        </p:spPr>
        <p:txBody>
          <a:bodyPr wrap="square" lIns="0" rIns="0" tIns="0" bIns="0" anchor="t">
            <a:spAutoFit/>
          </a:bodyPr>
          <a:lstStyle/>
          <a:p>
            <a:pPr algn="l">
              <a:lnSpc>
                <a:spcPct val="125000"/>
              </a:lnSpc>
              <a:spcAft>
                <a:spcPts val="300"/>
              </a:spcAft>
            </a:pPr>
            <a:r>
              <a:rPr sz="850" b="0">
                <a:solidFill>
                  <a:srgbClr val="55607A"/>
                </a:solidFill>
                <a:latin typeface="Arial"/>
              </a:rPr>
              <a:t>Band 72; regional CDMA and LTE networks for utilities</a:t>
            </a:r>
          </a:p>
        </p:txBody>
      </p:sp>
      <p:sp>
        <p:nvSpPr>
          <p:cNvPr id="22" name="Rectangle 21"/>
          <p:cNvSpPr/>
          <p:nvPr/>
        </p:nvSpPr>
        <p:spPr>
          <a:xfrm>
            <a:off x="5943600" y="2616200"/>
            <a:ext cx="5638800" cy="4826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096000" y="2654300"/>
            <a:ext cx="1219200" cy="203200"/>
          </a:xfrm>
          <a:prstGeom prst="rect">
            <a:avLst/>
          </a:prstGeom>
          <a:noFill/>
        </p:spPr>
        <p:txBody>
          <a:bodyPr wrap="square" lIns="0" rIns="0" tIns="0" bIns="0" anchor="t">
            <a:spAutoFit/>
          </a:bodyPr>
          <a:lstStyle/>
          <a:p>
            <a:pPr algn="l">
              <a:lnSpc>
                <a:spcPct val="125000"/>
              </a:lnSpc>
              <a:spcAft>
                <a:spcPts val="300"/>
              </a:spcAft>
            </a:pPr>
            <a:r>
              <a:rPr sz="950" b="1">
                <a:solidFill>
                  <a:srgbClr val="0B308E"/>
                </a:solidFill>
                <a:latin typeface="Arial"/>
              </a:rPr>
              <a:t>Poland</a:t>
            </a:r>
          </a:p>
        </p:txBody>
      </p:sp>
      <p:sp>
        <p:nvSpPr>
          <p:cNvPr id="24" name="TextBox 23"/>
          <p:cNvSpPr txBox="1"/>
          <p:nvPr/>
        </p:nvSpPr>
        <p:spPr>
          <a:xfrm>
            <a:off x="6096000" y="2870200"/>
            <a:ext cx="1219200" cy="177800"/>
          </a:xfrm>
          <a:prstGeom prst="rect">
            <a:avLst/>
          </a:prstGeom>
          <a:noFill/>
        </p:spPr>
        <p:txBody>
          <a:bodyPr wrap="square" lIns="0" rIns="0" tIns="0" bIns="0" anchor="t">
            <a:spAutoFit/>
          </a:bodyPr>
          <a:lstStyle/>
          <a:p>
            <a:pPr algn="l">
              <a:lnSpc>
                <a:spcPct val="125000"/>
              </a:lnSpc>
              <a:spcAft>
                <a:spcPts val="300"/>
              </a:spcAft>
            </a:pPr>
            <a:r>
              <a:rPr sz="800" b="1">
                <a:solidFill>
                  <a:srgbClr val="7F9B00"/>
                </a:solidFill>
                <a:latin typeface="Arial"/>
              </a:rPr>
              <a:t>PGE / Polkomtel</a:t>
            </a:r>
          </a:p>
        </p:txBody>
      </p:sp>
      <p:sp>
        <p:nvSpPr>
          <p:cNvPr id="25" name="TextBox 24"/>
          <p:cNvSpPr txBox="1"/>
          <p:nvPr/>
        </p:nvSpPr>
        <p:spPr>
          <a:xfrm>
            <a:off x="7416800" y="2667000"/>
            <a:ext cx="4064000" cy="381000"/>
          </a:xfrm>
          <a:prstGeom prst="rect">
            <a:avLst/>
          </a:prstGeom>
          <a:noFill/>
        </p:spPr>
        <p:txBody>
          <a:bodyPr wrap="square" lIns="0" rIns="0" tIns="0" bIns="0" anchor="t">
            <a:spAutoFit/>
          </a:bodyPr>
          <a:lstStyle/>
          <a:p>
            <a:pPr algn="l">
              <a:lnSpc>
                <a:spcPct val="125000"/>
              </a:lnSpc>
              <a:spcAft>
                <a:spcPts val="300"/>
              </a:spcAft>
            </a:pPr>
            <a:r>
              <a:rPr sz="850" b="0">
                <a:solidFill>
                  <a:srgbClr val="55607A"/>
                </a:solidFill>
                <a:latin typeface="Arial"/>
              </a:rPr>
              <a:t>Band 31 and band 87; smart grid and field services</a:t>
            </a:r>
          </a:p>
        </p:txBody>
      </p:sp>
      <p:sp>
        <p:nvSpPr>
          <p:cNvPr id="26" name="Rectangle 25"/>
          <p:cNvSpPr/>
          <p:nvPr/>
        </p:nvSpPr>
        <p:spPr>
          <a:xfrm>
            <a:off x="5943600" y="3149600"/>
            <a:ext cx="5638800" cy="482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096000" y="3187700"/>
            <a:ext cx="1219200" cy="203200"/>
          </a:xfrm>
          <a:prstGeom prst="rect">
            <a:avLst/>
          </a:prstGeom>
          <a:noFill/>
        </p:spPr>
        <p:txBody>
          <a:bodyPr wrap="square" lIns="0" rIns="0" tIns="0" bIns="0" anchor="t">
            <a:spAutoFit/>
          </a:bodyPr>
          <a:lstStyle/>
          <a:p>
            <a:pPr algn="l">
              <a:lnSpc>
                <a:spcPct val="125000"/>
              </a:lnSpc>
              <a:spcAft>
                <a:spcPts val="300"/>
              </a:spcAft>
            </a:pPr>
            <a:r>
              <a:rPr sz="950" b="1">
                <a:solidFill>
                  <a:srgbClr val="0B308E"/>
                </a:solidFill>
                <a:latin typeface="Arial"/>
              </a:rPr>
              <a:t>Malaysia</a:t>
            </a:r>
          </a:p>
        </p:txBody>
      </p:sp>
      <p:sp>
        <p:nvSpPr>
          <p:cNvPr id="28" name="TextBox 27"/>
          <p:cNvSpPr txBox="1"/>
          <p:nvPr/>
        </p:nvSpPr>
        <p:spPr>
          <a:xfrm>
            <a:off x="6096000" y="3403600"/>
            <a:ext cx="1219200" cy="177800"/>
          </a:xfrm>
          <a:prstGeom prst="rect">
            <a:avLst/>
          </a:prstGeom>
          <a:noFill/>
        </p:spPr>
        <p:txBody>
          <a:bodyPr wrap="square" lIns="0" rIns="0" tIns="0" bIns="0" anchor="t">
            <a:spAutoFit/>
          </a:bodyPr>
          <a:lstStyle/>
          <a:p>
            <a:pPr algn="l">
              <a:lnSpc>
                <a:spcPct val="125000"/>
              </a:lnSpc>
              <a:spcAft>
                <a:spcPts val="300"/>
              </a:spcAft>
            </a:pPr>
            <a:r>
              <a:rPr sz="800" b="1">
                <a:solidFill>
                  <a:srgbClr val="7F9B00"/>
                </a:solidFill>
                <a:latin typeface="Arial"/>
              </a:rPr>
              <a:t>TNB</a:t>
            </a:r>
          </a:p>
        </p:txBody>
      </p:sp>
      <p:sp>
        <p:nvSpPr>
          <p:cNvPr id="29" name="TextBox 28"/>
          <p:cNvSpPr txBox="1"/>
          <p:nvPr/>
        </p:nvSpPr>
        <p:spPr>
          <a:xfrm>
            <a:off x="7416800" y="3200400"/>
            <a:ext cx="4064000" cy="381000"/>
          </a:xfrm>
          <a:prstGeom prst="rect">
            <a:avLst/>
          </a:prstGeom>
          <a:noFill/>
        </p:spPr>
        <p:txBody>
          <a:bodyPr wrap="square" lIns="0" rIns="0" tIns="0" bIns="0" anchor="t">
            <a:spAutoFit/>
          </a:bodyPr>
          <a:lstStyle/>
          <a:p>
            <a:pPr algn="l">
              <a:lnSpc>
                <a:spcPct val="125000"/>
              </a:lnSpc>
              <a:spcAft>
                <a:spcPts val="300"/>
              </a:spcAft>
            </a:pPr>
            <a:r>
              <a:rPr sz="850" b="0">
                <a:solidFill>
                  <a:srgbClr val="55607A"/>
                </a:solidFill>
                <a:latin typeface="Arial"/>
              </a:rPr>
              <a:t>Band 31; procurement for initial deployment in four regions</a:t>
            </a:r>
          </a:p>
        </p:txBody>
      </p:sp>
      <p:sp>
        <p:nvSpPr>
          <p:cNvPr id="30" name="Rectangle 29"/>
          <p:cNvSpPr/>
          <p:nvPr/>
        </p:nvSpPr>
        <p:spPr>
          <a:xfrm>
            <a:off x="5943600" y="3683000"/>
            <a:ext cx="5638800" cy="4826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096000" y="3721100"/>
            <a:ext cx="1219200" cy="203200"/>
          </a:xfrm>
          <a:prstGeom prst="rect">
            <a:avLst/>
          </a:prstGeom>
          <a:noFill/>
        </p:spPr>
        <p:txBody>
          <a:bodyPr wrap="square" lIns="0" rIns="0" tIns="0" bIns="0" anchor="t">
            <a:spAutoFit/>
          </a:bodyPr>
          <a:lstStyle/>
          <a:p>
            <a:pPr algn="l">
              <a:lnSpc>
                <a:spcPct val="125000"/>
              </a:lnSpc>
              <a:spcAft>
                <a:spcPts val="300"/>
              </a:spcAft>
            </a:pPr>
            <a:r>
              <a:rPr sz="950" b="1">
                <a:solidFill>
                  <a:srgbClr val="0B308E"/>
                </a:solidFill>
                <a:latin typeface="Arial"/>
              </a:rPr>
              <a:t>Indonesia</a:t>
            </a:r>
          </a:p>
        </p:txBody>
      </p:sp>
      <p:sp>
        <p:nvSpPr>
          <p:cNvPr id="32" name="TextBox 31"/>
          <p:cNvSpPr txBox="1"/>
          <p:nvPr/>
        </p:nvSpPr>
        <p:spPr>
          <a:xfrm>
            <a:off x="6096000" y="3937000"/>
            <a:ext cx="1219200" cy="177800"/>
          </a:xfrm>
          <a:prstGeom prst="rect">
            <a:avLst/>
          </a:prstGeom>
          <a:noFill/>
        </p:spPr>
        <p:txBody>
          <a:bodyPr wrap="square" lIns="0" rIns="0" tIns="0" bIns="0" anchor="t">
            <a:spAutoFit/>
          </a:bodyPr>
          <a:lstStyle/>
          <a:p>
            <a:pPr algn="l">
              <a:lnSpc>
                <a:spcPct val="125000"/>
              </a:lnSpc>
              <a:spcAft>
                <a:spcPts val="300"/>
              </a:spcAft>
            </a:pPr>
            <a:r>
              <a:rPr sz="800" b="1">
                <a:solidFill>
                  <a:srgbClr val="7F9B00"/>
                </a:solidFill>
                <a:latin typeface="Arial"/>
              </a:rPr>
              <a:t>SeaTelSat</a:t>
            </a:r>
          </a:p>
        </p:txBody>
      </p:sp>
      <p:sp>
        <p:nvSpPr>
          <p:cNvPr id="33" name="TextBox 32"/>
          <p:cNvSpPr txBox="1"/>
          <p:nvPr/>
        </p:nvSpPr>
        <p:spPr>
          <a:xfrm>
            <a:off x="7416800" y="3733800"/>
            <a:ext cx="4064000" cy="381000"/>
          </a:xfrm>
          <a:prstGeom prst="rect">
            <a:avLst/>
          </a:prstGeom>
          <a:noFill/>
        </p:spPr>
        <p:txBody>
          <a:bodyPr wrap="square" lIns="0" rIns="0" tIns="0" bIns="0" anchor="t">
            <a:spAutoFit/>
          </a:bodyPr>
          <a:lstStyle/>
          <a:p>
            <a:pPr algn="l">
              <a:lnSpc>
                <a:spcPct val="125000"/>
              </a:lnSpc>
              <a:spcAft>
                <a:spcPts val="300"/>
              </a:spcAft>
            </a:pPr>
            <a:r>
              <a:rPr sz="850" b="0">
                <a:solidFill>
                  <a:srgbClr val="55607A"/>
                </a:solidFill>
                <a:latin typeface="Arial"/>
              </a:rPr>
              <a:t>Rural connectivity and utility projects</a:t>
            </a:r>
          </a:p>
        </p:txBody>
      </p:sp>
      <p:sp>
        <p:nvSpPr>
          <p:cNvPr id="34" name="Rectangle 33"/>
          <p:cNvSpPr/>
          <p:nvPr/>
        </p:nvSpPr>
        <p:spPr>
          <a:xfrm>
            <a:off x="5943600" y="4216400"/>
            <a:ext cx="5638800" cy="482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096000" y="4254500"/>
            <a:ext cx="1219200" cy="203200"/>
          </a:xfrm>
          <a:prstGeom prst="rect">
            <a:avLst/>
          </a:prstGeom>
          <a:noFill/>
        </p:spPr>
        <p:txBody>
          <a:bodyPr wrap="square" lIns="0" rIns="0" tIns="0" bIns="0" anchor="t">
            <a:spAutoFit/>
          </a:bodyPr>
          <a:lstStyle/>
          <a:p>
            <a:pPr algn="l">
              <a:lnSpc>
                <a:spcPct val="125000"/>
              </a:lnSpc>
              <a:spcAft>
                <a:spcPts val="300"/>
              </a:spcAft>
            </a:pPr>
            <a:r>
              <a:rPr sz="950" b="1">
                <a:solidFill>
                  <a:srgbClr val="0B308E"/>
                </a:solidFill>
                <a:latin typeface="Arial"/>
              </a:rPr>
              <a:t>South Africa</a:t>
            </a:r>
          </a:p>
        </p:txBody>
      </p:sp>
      <p:sp>
        <p:nvSpPr>
          <p:cNvPr id="36" name="TextBox 35"/>
          <p:cNvSpPr txBox="1"/>
          <p:nvPr/>
        </p:nvSpPr>
        <p:spPr>
          <a:xfrm>
            <a:off x="6096000" y="4470400"/>
            <a:ext cx="1219200" cy="177800"/>
          </a:xfrm>
          <a:prstGeom prst="rect">
            <a:avLst/>
          </a:prstGeom>
          <a:noFill/>
        </p:spPr>
        <p:txBody>
          <a:bodyPr wrap="square" lIns="0" rIns="0" tIns="0" bIns="0" anchor="t">
            <a:spAutoFit/>
          </a:bodyPr>
          <a:lstStyle/>
          <a:p>
            <a:pPr algn="l">
              <a:lnSpc>
                <a:spcPct val="125000"/>
              </a:lnSpc>
              <a:spcAft>
                <a:spcPts val="300"/>
              </a:spcAft>
            </a:pPr>
            <a:r>
              <a:rPr sz="800" b="1">
                <a:solidFill>
                  <a:srgbClr val="7F9B00"/>
                </a:solidFill>
                <a:latin typeface="Arial"/>
              </a:rPr>
              <a:t>Transnet</a:t>
            </a:r>
          </a:p>
        </p:txBody>
      </p:sp>
      <p:sp>
        <p:nvSpPr>
          <p:cNvPr id="37" name="TextBox 36"/>
          <p:cNvSpPr txBox="1"/>
          <p:nvPr/>
        </p:nvSpPr>
        <p:spPr>
          <a:xfrm>
            <a:off x="7416800" y="4267200"/>
            <a:ext cx="4064000" cy="381000"/>
          </a:xfrm>
          <a:prstGeom prst="rect">
            <a:avLst/>
          </a:prstGeom>
          <a:noFill/>
        </p:spPr>
        <p:txBody>
          <a:bodyPr wrap="square" lIns="0" rIns="0" tIns="0" bIns="0" anchor="t">
            <a:spAutoFit/>
          </a:bodyPr>
          <a:lstStyle/>
          <a:p>
            <a:pPr algn="l">
              <a:lnSpc>
                <a:spcPct val="125000"/>
              </a:lnSpc>
              <a:spcAft>
                <a:spcPts val="300"/>
              </a:spcAft>
            </a:pPr>
            <a:r>
              <a:rPr sz="850" b="0">
                <a:solidFill>
                  <a:srgbClr val="55607A"/>
                </a:solidFill>
                <a:latin typeface="Arial"/>
              </a:rPr>
              <a:t>Band 31 allocated for rail, with wider use under discussion</a:t>
            </a:r>
          </a:p>
        </p:txBody>
      </p:sp>
      <p:sp>
        <p:nvSpPr>
          <p:cNvPr id="38" name="Rectangle 37"/>
          <p:cNvSpPr/>
          <p:nvPr/>
        </p:nvSpPr>
        <p:spPr>
          <a:xfrm>
            <a:off x="5943600" y="4749800"/>
            <a:ext cx="5638800" cy="4826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096000" y="4787900"/>
            <a:ext cx="1219200" cy="203200"/>
          </a:xfrm>
          <a:prstGeom prst="rect">
            <a:avLst/>
          </a:prstGeom>
          <a:noFill/>
        </p:spPr>
        <p:txBody>
          <a:bodyPr wrap="square" lIns="0" rIns="0" tIns="0" bIns="0" anchor="t">
            <a:spAutoFit/>
          </a:bodyPr>
          <a:lstStyle/>
          <a:p>
            <a:pPr algn="l">
              <a:lnSpc>
                <a:spcPct val="125000"/>
              </a:lnSpc>
              <a:spcAft>
                <a:spcPts val="300"/>
              </a:spcAft>
            </a:pPr>
            <a:r>
              <a:rPr sz="950" b="1">
                <a:solidFill>
                  <a:srgbClr val="0B308E"/>
                </a:solidFill>
                <a:latin typeface="Arial"/>
              </a:rPr>
              <a:t>Singapore</a:t>
            </a:r>
          </a:p>
        </p:txBody>
      </p:sp>
      <p:sp>
        <p:nvSpPr>
          <p:cNvPr id="40" name="TextBox 39"/>
          <p:cNvSpPr txBox="1"/>
          <p:nvPr/>
        </p:nvSpPr>
        <p:spPr>
          <a:xfrm>
            <a:off x="6096000" y="5003800"/>
            <a:ext cx="1219200" cy="177800"/>
          </a:xfrm>
          <a:prstGeom prst="rect">
            <a:avLst/>
          </a:prstGeom>
          <a:noFill/>
        </p:spPr>
        <p:txBody>
          <a:bodyPr wrap="square" lIns="0" rIns="0" tIns="0" bIns="0" anchor="t">
            <a:spAutoFit/>
          </a:bodyPr>
          <a:lstStyle/>
          <a:p>
            <a:pPr algn="l">
              <a:lnSpc>
                <a:spcPct val="125000"/>
              </a:lnSpc>
              <a:spcAft>
                <a:spcPts val="300"/>
              </a:spcAft>
            </a:pPr>
            <a:r>
              <a:rPr sz="800" b="1">
                <a:solidFill>
                  <a:srgbClr val="7F9B00"/>
                </a:solidFill>
                <a:latin typeface="Arial"/>
              </a:rPr>
              <a:t>Public safety</a:t>
            </a:r>
          </a:p>
        </p:txBody>
      </p:sp>
      <p:sp>
        <p:nvSpPr>
          <p:cNvPr id="41" name="TextBox 40"/>
          <p:cNvSpPr txBox="1"/>
          <p:nvPr/>
        </p:nvSpPr>
        <p:spPr>
          <a:xfrm>
            <a:off x="7416800" y="4800600"/>
            <a:ext cx="4064000" cy="381000"/>
          </a:xfrm>
          <a:prstGeom prst="rect">
            <a:avLst/>
          </a:prstGeom>
          <a:noFill/>
        </p:spPr>
        <p:txBody>
          <a:bodyPr wrap="square" lIns="0" rIns="0" tIns="0" bIns="0" anchor="t">
            <a:spAutoFit/>
          </a:bodyPr>
          <a:lstStyle/>
          <a:p>
            <a:pPr algn="l">
              <a:lnSpc>
                <a:spcPct val="125000"/>
              </a:lnSpc>
              <a:spcAft>
                <a:spcPts val="300"/>
              </a:spcAft>
            </a:pPr>
            <a:r>
              <a:rPr sz="850" b="0">
                <a:solidFill>
                  <a:srgbClr val="55607A"/>
                </a:solidFill>
                <a:latin typeface="Arial"/>
              </a:rPr>
              <a:t>Band 31 allocated for public safety, in service</a:t>
            </a:r>
          </a:p>
        </p:txBody>
      </p:sp>
      <p:sp>
        <p:nvSpPr>
          <p:cNvPr id="42" name="Rectangle 41"/>
          <p:cNvSpPr/>
          <p:nvPr/>
        </p:nvSpPr>
        <p:spPr>
          <a:xfrm>
            <a:off x="0" y="5740400"/>
            <a:ext cx="12192000" cy="508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609600" y="5740400"/>
            <a:ext cx="10972800" cy="508000"/>
          </a:xfrm>
          <a:prstGeom prst="rect">
            <a:avLst/>
          </a:prstGeom>
          <a:noFill/>
        </p:spPr>
        <p:txBody>
          <a:bodyPr wrap="square" lIns="0" rIns="0" tIns="0" bIns="0" anchor="ctr">
            <a:spAutoFit/>
          </a:bodyPr>
          <a:lstStyle/>
          <a:p>
            <a:pPr algn="l">
              <a:lnSpc>
                <a:spcPct val="130000"/>
              </a:lnSpc>
            </a:pPr>
            <a:r>
              <a:rPr sz="1200" b="1">
                <a:solidFill>
                  <a:srgbClr val="FFFFFF"/>
                </a:solidFill>
                <a:latin typeface="Arial"/>
              </a:rPr>
              <a:t>The pattern is the same everywhere.  </a:t>
            </a:r>
            <a:r>
              <a:rPr sz="1200" b="0">
                <a:solidFill>
                  <a:srgbClr val="DCE5F3"/>
                </a:solidFill>
                <a:latin typeface="Arial"/>
              </a:rPr>
              <a:t>A licensed operator carries the traffic; utilities and public safety anchor the demand.</a:t>
            </a:r>
          </a:p>
        </p:txBody>
      </p:sp>
      <p:sp>
        <p:nvSpPr>
          <p:cNvPr id="44" name="TextBox 43"/>
          <p:cNvSpPr txBox="1"/>
          <p:nvPr/>
        </p:nvSpPr>
        <p:spPr>
          <a:xfrm>
            <a:off x="609600" y="6451600"/>
            <a:ext cx="10972800" cy="177800"/>
          </a:xfrm>
          <a:prstGeom prst="rect">
            <a:avLst/>
          </a:prstGeom>
          <a:noFill/>
        </p:spPr>
        <p:txBody>
          <a:bodyPr wrap="square" lIns="0" rIns="0" tIns="0" bIns="0" anchor="t">
            <a:spAutoFit/>
          </a:bodyPr>
          <a:lstStyle/>
          <a:p>
            <a:pPr algn="l">
              <a:lnSpc>
                <a:spcPct val="125000"/>
              </a:lnSpc>
              <a:spcAft>
                <a:spcPts val="300"/>
              </a:spcAft>
            </a:pPr>
            <a:r>
              <a:rPr sz="800" b="0">
                <a:solidFill>
                  <a:srgbClr val="93A0B4"/>
                </a:solidFill>
                <a:latin typeface="Arial"/>
              </a:rPr>
              <a:t>Source: 450 MHz Alliance, Annual Global Update (Dec 2025) p7-p9, p14; RFI for devices (2025) p5-p7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381000"/>
            <a:ext cx="228600" cy="635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39800" y="279400"/>
            <a:ext cx="9906000" cy="381000"/>
          </a:xfrm>
          <a:prstGeom prst="rect">
            <a:avLst/>
          </a:prstGeom>
          <a:noFill/>
        </p:spPr>
        <p:txBody>
          <a:bodyPr wrap="square" lIns="0" rIns="0" tIns="0" bIns="0" anchor="t">
            <a:spAutoFit/>
          </a:bodyPr>
          <a:lstStyle/>
          <a:p>
            <a:pPr algn="l">
              <a:lnSpc>
                <a:spcPct val="125000"/>
              </a:lnSpc>
              <a:spcAft>
                <a:spcPts val="300"/>
              </a:spcAft>
            </a:pPr>
            <a:r>
              <a:rPr sz="2100" b="1">
                <a:solidFill>
                  <a:srgbClr val="0B308E"/>
                </a:solidFill>
                <a:latin typeface="Arial"/>
              </a:rPr>
              <a:t>Sri Lanka Railways: a national network on public LTE</a:t>
            </a:r>
          </a:p>
        </p:txBody>
      </p:sp>
      <p:sp>
        <p:nvSpPr>
          <p:cNvPr id="5" name="TextBox 4"/>
          <p:cNvSpPr txBox="1"/>
          <p:nvPr/>
        </p:nvSpPr>
        <p:spPr>
          <a:xfrm>
            <a:off x="609600" y="787400"/>
            <a:ext cx="8890000" cy="203200"/>
          </a:xfrm>
          <a:prstGeom prst="rect">
            <a:avLst/>
          </a:prstGeom>
          <a:noFill/>
        </p:spPr>
        <p:txBody>
          <a:bodyPr wrap="square" lIns="0" rIns="0" tIns="0" bIns="0" anchor="t">
            <a:spAutoFit/>
          </a:bodyPr>
          <a:lstStyle/>
          <a:p>
            <a:pPr algn="l">
              <a:lnSpc>
                <a:spcPct val="125000"/>
              </a:lnSpc>
              <a:spcAft>
                <a:spcPts val="300"/>
              </a:spcAft>
            </a:pPr>
            <a:r>
              <a:rPr sz="850" b="1">
                <a:solidFill>
                  <a:srgbClr val="7F9B00"/>
                </a:solidFill>
                <a:latin typeface="Arial"/>
              </a:rPr>
              <a:t>CASE 1 OF 3  ·  450 MHZ LICENCE HOLDER</a:t>
            </a:r>
          </a:p>
        </p:txBody>
      </p:sp>
      <p:sp>
        <p:nvSpPr>
          <p:cNvPr id="6" name="TextBox 5"/>
          <p:cNvSpPr txBox="1"/>
          <p:nvPr/>
        </p:nvSpPr>
        <p:spPr>
          <a:xfrm>
            <a:off x="11023600" y="279400"/>
            <a:ext cx="558800" cy="330200"/>
          </a:xfrm>
          <a:prstGeom prst="rect">
            <a:avLst/>
          </a:prstGeom>
          <a:noFill/>
        </p:spPr>
        <p:txBody>
          <a:bodyPr wrap="square" lIns="0" rIns="0" tIns="0" bIns="0" anchor="t">
            <a:spAutoFit/>
          </a:bodyPr>
          <a:lstStyle/>
          <a:p>
            <a:pPr algn="r">
              <a:lnSpc>
                <a:spcPct val="125000"/>
              </a:lnSpc>
              <a:spcAft>
                <a:spcPts val="300"/>
              </a:spcAft>
            </a:pPr>
            <a:r>
              <a:rPr sz="1700" b="1">
                <a:solidFill>
                  <a:srgbClr val="0B308E"/>
                </a:solidFill>
                <a:latin typeface="Arial"/>
              </a:rPr>
              <a:t>16</a:t>
            </a:r>
          </a:p>
        </p:txBody>
      </p:sp>
      <p:cxnSp>
        <p:nvCxnSpPr>
          <p:cNvPr id="7" name="Connector 6"/>
          <p:cNvCxnSpPr/>
          <p:nvPr/>
        </p:nvCxnSpPr>
        <p:spPr>
          <a:xfrm>
            <a:off x="609600" y="1041400"/>
            <a:ext cx="10972800" cy="0"/>
          </a:xfrm>
          <a:prstGeom prst="line">
            <a:avLst/>
          </a:prstGeom>
          <a:ln w="12700">
            <a:solidFill>
              <a:srgbClr val="D6E0F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1193800"/>
            <a:ext cx="10972800" cy="228600"/>
          </a:xfrm>
          <a:prstGeom prst="rect">
            <a:avLst/>
          </a:prstGeom>
          <a:noFill/>
        </p:spPr>
        <p:txBody>
          <a:bodyPr wrap="square" lIns="0" rIns="0" tIns="0" bIns="0" anchor="t">
            <a:spAutoFit/>
          </a:bodyPr>
          <a:lstStyle/>
          <a:p>
            <a:pPr algn="l">
              <a:lnSpc>
                <a:spcPct val="125000"/>
              </a:lnSpc>
              <a:spcAft>
                <a:spcPts val="300"/>
              </a:spcAft>
            </a:pPr>
            <a:r>
              <a:rPr sz="1150" b="0">
                <a:solidFill>
                  <a:srgbClr val="55607A"/>
                </a:solidFill>
                <a:latin typeface="Arial"/>
              </a:rPr>
              <a:t>Nine lines and 403 stations on a public LTE network. Dialog, the operator, also holds Sri Lanka’s 450 MHz licence.</a:t>
            </a:r>
          </a:p>
        </p:txBody>
      </p:sp>
      <p:pic>
        <p:nvPicPr>
          <p:cNvPr id="9" name="Picture 8" descr="v6_67d8302a07.jpg"/>
          <p:cNvPicPr>
            <a:picLocks noChangeAspect="1"/>
          </p:cNvPicPr>
          <p:nvPr/>
        </p:nvPicPr>
        <p:blipFill>
          <a:blip r:embed="rId2"/>
          <a:srcRect t="3475" b="3475"/>
          <a:stretch>
            <a:fillRect/>
          </a:stretch>
        </p:blipFill>
        <p:spPr>
          <a:xfrm>
            <a:off x="609600" y="1549400"/>
            <a:ext cx="5969000" cy="3124200"/>
          </a:xfrm>
          <a:prstGeom prst="rect">
            <a:avLst/>
          </a:prstGeom>
        </p:spPr>
      </p:pic>
      <p:sp>
        <p:nvSpPr>
          <p:cNvPr id="10" name="Rectangle 9"/>
          <p:cNvSpPr/>
          <p:nvPr/>
        </p:nvSpPr>
        <p:spPr>
          <a:xfrm>
            <a:off x="609600" y="1549400"/>
            <a:ext cx="5969000" cy="3124200"/>
          </a:xfrm>
          <a:prstGeom prst="rect">
            <a:avLst/>
          </a:prstGeom>
          <a:noFill/>
          <a:ln w="12700">
            <a:solidFill>
              <a:srgbClr val="D6E0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09600" y="4749800"/>
            <a:ext cx="5969000" cy="304800"/>
          </a:xfrm>
          <a:prstGeom prst="rect">
            <a:avLst/>
          </a:prstGeom>
          <a:noFill/>
        </p:spPr>
        <p:txBody>
          <a:bodyPr wrap="square" lIns="0" rIns="0" tIns="0" bIns="0" anchor="t">
            <a:spAutoFit/>
          </a:bodyPr>
          <a:lstStyle/>
          <a:p>
            <a:pPr algn="l">
              <a:lnSpc>
                <a:spcPct val="130000"/>
              </a:lnSpc>
              <a:spcAft>
                <a:spcPts val="300"/>
              </a:spcAft>
            </a:pPr>
            <a:r>
              <a:rPr sz="850" b="0">
                <a:solidFill>
                  <a:srgbClr val="93A0B4"/>
                </a:solidFill>
                <a:latin typeface="Arial"/>
              </a:rPr>
              <a:t>Sri Lanka Railways - the customer’s own network, photographed on site.</a:t>
            </a:r>
          </a:p>
        </p:txBody>
      </p:sp>
      <p:sp>
        <p:nvSpPr>
          <p:cNvPr id="12" name="Rectangle 11"/>
          <p:cNvSpPr/>
          <p:nvPr/>
        </p:nvSpPr>
        <p:spPr>
          <a:xfrm>
            <a:off x="7086600" y="1549400"/>
            <a:ext cx="4495800" cy="9652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7086600" y="1549400"/>
            <a:ext cx="44450" cy="965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315200" y="1676400"/>
            <a:ext cx="1778000" cy="355600"/>
          </a:xfrm>
          <a:prstGeom prst="rect">
            <a:avLst/>
          </a:prstGeom>
          <a:noFill/>
        </p:spPr>
        <p:txBody>
          <a:bodyPr wrap="square" lIns="0" rIns="0" tIns="0" bIns="0" anchor="t">
            <a:spAutoFit/>
          </a:bodyPr>
          <a:lstStyle/>
          <a:p>
            <a:pPr algn="l">
              <a:lnSpc>
                <a:spcPct val="125000"/>
              </a:lnSpc>
              <a:spcAft>
                <a:spcPts val="300"/>
              </a:spcAft>
            </a:pPr>
            <a:r>
              <a:rPr sz="1800" b="1">
                <a:solidFill>
                  <a:srgbClr val="0B308E"/>
                </a:solidFill>
                <a:latin typeface="Arial"/>
              </a:rPr>
              <a:t>1,950+</a:t>
            </a:r>
          </a:p>
        </p:txBody>
      </p:sp>
      <p:sp>
        <p:nvSpPr>
          <p:cNvPr id="15" name="TextBox 14"/>
          <p:cNvSpPr txBox="1"/>
          <p:nvPr/>
        </p:nvSpPr>
        <p:spPr>
          <a:xfrm>
            <a:off x="7315200" y="2057400"/>
            <a:ext cx="4064000" cy="381000"/>
          </a:xfrm>
          <a:prstGeom prst="rect">
            <a:avLst/>
          </a:prstGeom>
          <a:noFill/>
        </p:spPr>
        <p:txBody>
          <a:bodyPr wrap="square" lIns="0" rIns="0" tIns="0" bIns="0" anchor="t">
            <a:spAutoFit/>
          </a:bodyPr>
          <a:lstStyle/>
          <a:p>
            <a:pPr algn="l">
              <a:lnSpc>
                <a:spcPct val="125000"/>
              </a:lnSpc>
              <a:spcAft>
                <a:spcPts val="300"/>
              </a:spcAft>
            </a:pPr>
            <a:r>
              <a:rPr sz="950" b="0">
                <a:solidFill>
                  <a:srgbClr val="55607A"/>
                </a:solidFill>
                <a:latin typeface="Arial"/>
              </a:rPr>
              <a:t>MCS terminals delivered across the island network</a:t>
            </a:r>
          </a:p>
        </p:txBody>
      </p:sp>
      <p:sp>
        <p:nvSpPr>
          <p:cNvPr id="16" name="Rectangle 15"/>
          <p:cNvSpPr/>
          <p:nvPr/>
        </p:nvSpPr>
        <p:spPr>
          <a:xfrm>
            <a:off x="7086600" y="2641600"/>
            <a:ext cx="4495800" cy="9652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7086600" y="2641600"/>
            <a:ext cx="44450" cy="9652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315200" y="2768600"/>
            <a:ext cx="1778000" cy="355600"/>
          </a:xfrm>
          <a:prstGeom prst="rect">
            <a:avLst/>
          </a:prstGeom>
          <a:noFill/>
        </p:spPr>
        <p:txBody>
          <a:bodyPr wrap="square" lIns="0" rIns="0" tIns="0" bIns="0" anchor="t">
            <a:spAutoFit/>
          </a:bodyPr>
          <a:lstStyle/>
          <a:p>
            <a:pPr algn="l">
              <a:lnSpc>
                <a:spcPct val="125000"/>
              </a:lnSpc>
              <a:spcAft>
                <a:spcPts val="300"/>
              </a:spcAft>
            </a:pPr>
            <a:r>
              <a:rPr sz="1800" b="1">
                <a:solidFill>
                  <a:srgbClr val="0B308E"/>
                </a:solidFill>
                <a:latin typeface="Arial"/>
              </a:rPr>
              <a:t>9 / 403</a:t>
            </a:r>
          </a:p>
        </p:txBody>
      </p:sp>
      <p:sp>
        <p:nvSpPr>
          <p:cNvPr id="19" name="TextBox 18"/>
          <p:cNvSpPr txBox="1"/>
          <p:nvPr/>
        </p:nvSpPr>
        <p:spPr>
          <a:xfrm>
            <a:off x="7315200" y="3149600"/>
            <a:ext cx="4064000" cy="381000"/>
          </a:xfrm>
          <a:prstGeom prst="rect">
            <a:avLst/>
          </a:prstGeom>
          <a:noFill/>
        </p:spPr>
        <p:txBody>
          <a:bodyPr wrap="square" lIns="0" rIns="0" tIns="0" bIns="0" anchor="t">
            <a:spAutoFit/>
          </a:bodyPr>
          <a:lstStyle/>
          <a:p>
            <a:pPr algn="l">
              <a:lnSpc>
                <a:spcPct val="125000"/>
              </a:lnSpc>
              <a:spcAft>
                <a:spcPts val="300"/>
              </a:spcAft>
            </a:pPr>
            <a:r>
              <a:rPr sz="950" b="0">
                <a:solidFill>
                  <a:srgbClr val="55607A"/>
                </a:solidFill>
                <a:latin typeface="Arial"/>
              </a:rPr>
              <a:t>lines and stations covered, in three provinces</a:t>
            </a:r>
          </a:p>
        </p:txBody>
      </p:sp>
      <p:sp>
        <p:nvSpPr>
          <p:cNvPr id="20" name="Rectangle 19"/>
          <p:cNvSpPr/>
          <p:nvPr/>
        </p:nvSpPr>
        <p:spPr>
          <a:xfrm>
            <a:off x="7086600" y="3733800"/>
            <a:ext cx="4495800" cy="9652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7086600" y="3733800"/>
            <a:ext cx="44450" cy="9652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315200" y="3860800"/>
            <a:ext cx="1778000" cy="355600"/>
          </a:xfrm>
          <a:prstGeom prst="rect">
            <a:avLst/>
          </a:prstGeom>
          <a:noFill/>
        </p:spPr>
        <p:txBody>
          <a:bodyPr wrap="square" lIns="0" rIns="0" tIns="0" bIns="0" anchor="t">
            <a:spAutoFit/>
          </a:bodyPr>
          <a:lstStyle/>
          <a:p>
            <a:pPr algn="l">
              <a:lnSpc>
                <a:spcPct val="125000"/>
              </a:lnSpc>
              <a:spcAft>
                <a:spcPts val="300"/>
              </a:spcAft>
            </a:pPr>
            <a:r>
              <a:rPr sz="1800" b="1">
                <a:solidFill>
                  <a:srgbClr val="0B308E"/>
                </a:solidFill>
                <a:latin typeface="Arial"/>
              </a:rPr>
              <a:t>450 MHz</a:t>
            </a:r>
          </a:p>
        </p:txBody>
      </p:sp>
      <p:sp>
        <p:nvSpPr>
          <p:cNvPr id="23" name="TextBox 22"/>
          <p:cNvSpPr txBox="1"/>
          <p:nvPr/>
        </p:nvSpPr>
        <p:spPr>
          <a:xfrm>
            <a:off x="7315200" y="4241800"/>
            <a:ext cx="4064000" cy="381000"/>
          </a:xfrm>
          <a:prstGeom prst="rect">
            <a:avLst/>
          </a:prstGeom>
          <a:noFill/>
        </p:spPr>
        <p:txBody>
          <a:bodyPr wrap="square" lIns="0" rIns="0" tIns="0" bIns="0" anchor="t">
            <a:spAutoFit/>
          </a:bodyPr>
          <a:lstStyle/>
          <a:p>
            <a:pPr algn="l">
              <a:lnSpc>
                <a:spcPct val="125000"/>
              </a:lnSpc>
              <a:spcAft>
                <a:spcPts val="300"/>
              </a:spcAft>
            </a:pPr>
            <a:r>
              <a:rPr sz="950" b="0">
                <a:solidFill>
                  <a:srgbClr val="55607A"/>
                </a:solidFill>
                <a:latin typeface="Arial"/>
              </a:rPr>
              <a:t>the operator, Dialog, holds Sri Lanka’s 450 MHz licence</a:t>
            </a:r>
          </a:p>
        </p:txBody>
      </p:sp>
      <p:sp>
        <p:nvSpPr>
          <p:cNvPr id="24" name="Rectangle 23"/>
          <p:cNvSpPr/>
          <p:nvPr/>
        </p:nvSpPr>
        <p:spPr>
          <a:xfrm>
            <a:off x="609600" y="5156200"/>
            <a:ext cx="10972800" cy="431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62000" y="5194300"/>
            <a:ext cx="2590800" cy="228600"/>
          </a:xfrm>
          <a:prstGeom prst="rect">
            <a:avLst/>
          </a:prstGeom>
          <a:noFill/>
        </p:spPr>
        <p:txBody>
          <a:bodyPr wrap="square" lIns="0" rIns="0" tIns="0" bIns="0" anchor="t">
            <a:spAutoFit/>
          </a:bodyPr>
          <a:lstStyle/>
          <a:p>
            <a:pPr algn="l">
              <a:lnSpc>
                <a:spcPct val="125000"/>
              </a:lnSpc>
              <a:spcAft>
                <a:spcPts val="300"/>
              </a:spcAft>
            </a:pPr>
            <a:r>
              <a:rPr sz="1200" b="1">
                <a:solidFill>
                  <a:srgbClr val="8CC63F"/>
                </a:solidFill>
                <a:latin typeface="Arial"/>
              </a:rPr>
              <a:t>−10%</a:t>
            </a:r>
          </a:p>
        </p:txBody>
      </p:sp>
      <p:sp>
        <p:nvSpPr>
          <p:cNvPr id="26" name="TextBox 25"/>
          <p:cNvSpPr txBox="1"/>
          <p:nvPr/>
        </p:nvSpPr>
        <p:spPr>
          <a:xfrm>
            <a:off x="762000" y="5410200"/>
            <a:ext cx="2590800" cy="152400"/>
          </a:xfrm>
          <a:prstGeom prst="rect">
            <a:avLst/>
          </a:prstGeom>
          <a:noFill/>
        </p:spPr>
        <p:txBody>
          <a:bodyPr wrap="square" lIns="0" rIns="0" tIns="0" bIns="0" anchor="t">
            <a:spAutoFit/>
          </a:bodyPr>
          <a:lstStyle/>
          <a:p>
            <a:pPr algn="l">
              <a:lnSpc>
                <a:spcPct val="125000"/>
              </a:lnSpc>
              <a:spcAft>
                <a:spcPts val="300"/>
              </a:spcAft>
            </a:pPr>
            <a:r>
              <a:rPr sz="800" b="0">
                <a:solidFill>
                  <a:srgbClr val="DCE5F3"/>
                </a:solidFill>
                <a:latin typeface="Arial"/>
              </a:rPr>
              <a:t>train delays</a:t>
            </a:r>
          </a:p>
        </p:txBody>
      </p:sp>
      <p:sp>
        <p:nvSpPr>
          <p:cNvPr id="27" name="TextBox 26"/>
          <p:cNvSpPr txBox="1"/>
          <p:nvPr/>
        </p:nvSpPr>
        <p:spPr>
          <a:xfrm>
            <a:off x="3454400" y="5194300"/>
            <a:ext cx="2590800" cy="228600"/>
          </a:xfrm>
          <a:prstGeom prst="rect">
            <a:avLst/>
          </a:prstGeom>
          <a:noFill/>
        </p:spPr>
        <p:txBody>
          <a:bodyPr wrap="square" lIns="0" rIns="0" tIns="0" bIns="0" anchor="t">
            <a:spAutoFit/>
          </a:bodyPr>
          <a:lstStyle/>
          <a:p>
            <a:pPr algn="l">
              <a:lnSpc>
                <a:spcPct val="125000"/>
              </a:lnSpc>
              <a:spcAft>
                <a:spcPts val="300"/>
              </a:spcAft>
            </a:pPr>
            <a:r>
              <a:rPr sz="1200" b="1">
                <a:solidFill>
                  <a:srgbClr val="8CC63F"/>
                </a:solidFill>
                <a:latin typeface="Arial"/>
              </a:rPr>
              <a:t>−60%</a:t>
            </a:r>
          </a:p>
        </p:txBody>
      </p:sp>
      <p:sp>
        <p:nvSpPr>
          <p:cNvPr id="28" name="TextBox 27"/>
          <p:cNvSpPr txBox="1"/>
          <p:nvPr/>
        </p:nvSpPr>
        <p:spPr>
          <a:xfrm>
            <a:off x="3454400" y="5410200"/>
            <a:ext cx="2590800" cy="152400"/>
          </a:xfrm>
          <a:prstGeom prst="rect">
            <a:avLst/>
          </a:prstGeom>
          <a:noFill/>
        </p:spPr>
        <p:txBody>
          <a:bodyPr wrap="square" lIns="0" rIns="0" tIns="0" bIns="0" anchor="t">
            <a:spAutoFit/>
          </a:bodyPr>
          <a:lstStyle/>
          <a:p>
            <a:pPr algn="l">
              <a:lnSpc>
                <a:spcPct val="125000"/>
              </a:lnSpc>
              <a:spcAft>
                <a:spcPts val="300"/>
              </a:spcAft>
            </a:pPr>
            <a:r>
              <a:rPr sz="800" b="0">
                <a:solidFill>
                  <a:srgbClr val="DCE5F3"/>
                </a:solidFill>
                <a:latin typeface="Arial"/>
              </a:rPr>
              <a:t>management cost</a:t>
            </a:r>
          </a:p>
        </p:txBody>
      </p:sp>
      <p:sp>
        <p:nvSpPr>
          <p:cNvPr id="29" name="TextBox 28"/>
          <p:cNvSpPr txBox="1"/>
          <p:nvPr/>
        </p:nvSpPr>
        <p:spPr>
          <a:xfrm>
            <a:off x="6146800" y="5194300"/>
            <a:ext cx="2590800" cy="228600"/>
          </a:xfrm>
          <a:prstGeom prst="rect">
            <a:avLst/>
          </a:prstGeom>
          <a:noFill/>
        </p:spPr>
        <p:txBody>
          <a:bodyPr wrap="square" lIns="0" rIns="0" tIns="0" bIns="0" anchor="t">
            <a:spAutoFit/>
          </a:bodyPr>
          <a:lstStyle/>
          <a:p>
            <a:pPr algn="l">
              <a:lnSpc>
                <a:spcPct val="125000"/>
              </a:lnSpc>
              <a:spcAft>
                <a:spcPts val="300"/>
              </a:spcAft>
            </a:pPr>
            <a:r>
              <a:rPr sz="1200" b="1">
                <a:solidFill>
                  <a:srgbClr val="8CC63F"/>
                </a:solidFill>
                <a:latin typeface="Arial"/>
              </a:rPr>
              <a:t>−40%</a:t>
            </a:r>
          </a:p>
        </p:txBody>
      </p:sp>
      <p:sp>
        <p:nvSpPr>
          <p:cNvPr id="30" name="TextBox 29"/>
          <p:cNvSpPr txBox="1"/>
          <p:nvPr/>
        </p:nvSpPr>
        <p:spPr>
          <a:xfrm>
            <a:off x="6146800" y="5410200"/>
            <a:ext cx="2590800" cy="152400"/>
          </a:xfrm>
          <a:prstGeom prst="rect">
            <a:avLst/>
          </a:prstGeom>
          <a:noFill/>
        </p:spPr>
        <p:txBody>
          <a:bodyPr wrap="square" lIns="0" rIns="0" tIns="0" bIns="0" anchor="t">
            <a:spAutoFit/>
          </a:bodyPr>
          <a:lstStyle/>
          <a:p>
            <a:pPr algn="l">
              <a:lnSpc>
                <a:spcPct val="125000"/>
              </a:lnSpc>
              <a:spcAft>
                <a:spcPts val="300"/>
              </a:spcAft>
            </a:pPr>
            <a:r>
              <a:rPr sz="800" b="0">
                <a:solidFill>
                  <a:srgbClr val="DCE5F3"/>
                </a:solidFill>
                <a:latin typeface="Arial"/>
              </a:rPr>
              <a:t>track repair time</a:t>
            </a:r>
          </a:p>
        </p:txBody>
      </p:sp>
      <p:sp>
        <p:nvSpPr>
          <p:cNvPr id="31" name="TextBox 30"/>
          <p:cNvSpPr txBox="1"/>
          <p:nvPr/>
        </p:nvSpPr>
        <p:spPr>
          <a:xfrm>
            <a:off x="8839200" y="5194300"/>
            <a:ext cx="2590800" cy="228600"/>
          </a:xfrm>
          <a:prstGeom prst="rect">
            <a:avLst/>
          </a:prstGeom>
          <a:noFill/>
        </p:spPr>
        <p:txBody>
          <a:bodyPr wrap="square" lIns="0" rIns="0" tIns="0" bIns="0" anchor="t">
            <a:spAutoFit/>
          </a:bodyPr>
          <a:lstStyle/>
          <a:p>
            <a:pPr algn="l">
              <a:lnSpc>
                <a:spcPct val="125000"/>
              </a:lnSpc>
              <a:spcAft>
                <a:spcPts val="300"/>
              </a:spcAft>
            </a:pPr>
            <a:r>
              <a:rPr sz="1200" b="1">
                <a:solidFill>
                  <a:srgbClr val="8CC63F"/>
                </a:solidFill>
                <a:latin typeface="Arial"/>
              </a:rPr>
              <a:t>30 min</a:t>
            </a:r>
          </a:p>
        </p:txBody>
      </p:sp>
      <p:sp>
        <p:nvSpPr>
          <p:cNvPr id="32" name="TextBox 31"/>
          <p:cNvSpPr txBox="1"/>
          <p:nvPr/>
        </p:nvSpPr>
        <p:spPr>
          <a:xfrm>
            <a:off x="8839200" y="5410200"/>
            <a:ext cx="2590800" cy="152400"/>
          </a:xfrm>
          <a:prstGeom prst="rect">
            <a:avLst/>
          </a:prstGeom>
          <a:noFill/>
        </p:spPr>
        <p:txBody>
          <a:bodyPr wrap="square" lIns="0" rIns="0" tIns="0" bIns="0" anchor="t">
            <a:spAutoFit/>
          </a:bodyPr>
          <a:lstStyle/>
          <a:p>
            <a:pPr algn="l">
              <a:lnSpc>
                <a:spcPct val="125000"/>
              </a:lnSpc>
              <a:spcAft>
                <a:spcPts val="300"/>
              </a:spcAft>
            </a:pPr>
            <a:r>
              <a:rPr sz="800" b="0">
                <a:solidFill>
                  <a:srgbClr val="DCE5F3"/>
                </a:solidFill>
                <a:latin typeface="Arial"/>
              </a:rPr>
              <a:t>landslide response</a:t>
            </a:r>
          </a:p>
        </p:txBody>
      </p:sp>
      <p:sp>
        <p:nvSpPr>
          <p:cNvPr id="33" name="TextBox 32"/>
          <p:cNvSpPr txBox="1"/>
          <p:nvPr/>
        </p:nvSpPr>
        <p:spPr>
          <a:xfrm>
            <a:off x="609600" y="6451600"/>
            <a:ext cx="10972800" cy="177800"/>
          </a:xfrm>
          <a:prstGeom prst="rect">
            <a:avLst/>
          </a:prstGeom>
          <a:noFill/>
        </p:spPr>
        <p:txBody>
          <a:bodyPr wrap="square" lIns="0" rIns="0" tIns="0" bIns="0" anchor="t">
            <a:spAutoFit/>
          </a:bodyPr>
          <a:lstStyle/>
          <a:p>
            <a:pPr algn="l">
              <a:lnSpc>
                <a:spcPct val="125000"/>
              </a:lnSpc>
              <a:spcAft>
                <a:spcPts val="300"/>
              </a:spcAft>
            </a:pPr>
            <a:r>
              <a:rPr sz="800" b="0">
                <a:solidFill>
                  <a:srgbClr val="93A0B4"/>
                </a:solidFill>
                <a:latin typeface="Arial"/>
              </a:rPr>
              <a:t>Source: Hytera showroom briefing (SRC-0134/0135) L211; Hytera PNC660 450MHz&amp;MCX case records; 450 MHz Alliance, Annual Global Update p8 (Dialog holds the 450 MHz licence in Sri Lanka)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381000"/>
            <a:ext cx="228600" cy="635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39800" y="279400"/>
            <a:ext cx="9906000" cy="381000"/>
          </a:xfrm>
          <a:prstGeom prst="rect">
            <a:avLst/>
          </a:prstGeom>
          <a:noFill/>
        </p:spPr>
        <p:txBody>
          <a:bodyPr wrap="square" lIns="0" rIns="0" tIns="0" bIns="0" anchor="t">
            <a:spAutoFit/>
          </a:bodyPr>
          <a:lstStyle/>
          <a:p>
            <a:pPr algn="l">
              <a:lnSpc>
                <a:spcPct val="125000"/>
              </a:lnSpc>
              <a:spcAft>
                <a:spcPts val="300"/>
              </a:spcAft>
            </a:pPr>
            <a:r>
              <a:rPr sz="2100" b="1">
                <a:solidFill>
                  <a:srgbClr val="0B308E"/>
                </a:solidFill>
                <a:latin typeface="Arial"/>
              </a:rPr>
              <a:t>Hong Kong Light Rail: the first MCS over 5G</a:t>
            </a:r>
          </a:p>
        </p:txBody>
      </p:sp>
      <p:sp>
        <p:nvSpPr>
          <p:cNvPr id="5" name="TextBox 4"/>
          <p:cNvSpPr txBox="1"/>
          <p:nvPr/>
        </p:nvSpPr>
        <p:spPr>
          <a:xfrm>
            <a:off x="609600" y="787400"/>
            <a:ext cx="8890000" cy="203200"/>
          </a:xfrm>
          <a:prstGeom prst="rect">
            <a:avLst/>
          </a:prstGeom>
          <a:noFill/>
        </p:spPr>
        <p:txBody>
          <a:bodyPr wrap="square" lIns="0" rIns="0" tIns="0" bIns="0" anchor="t">
            <a:spAutoFit/>
          </a:bodyPr>
          <a:lstStyle/>
          <a:p>
            <a:pPr algn="l">
              <a:lnSpc>
                <a:spcPct val="125000"/>
              </a:lnSpc>
              <a:spcAft>
                <a:spcPts val="300"/>
              </a:spcAft>
            </a:pPr>
            <a:r>
              <a:rPr sz="850" b="1">
                <a:solidFill>
                  <a:srgbClr val="7F9B00"/>
                </a:solidFill>
                <a:latin typeface="Arial"/>
              </a:rPr>
              <a:t>CASE 2 OF 3  ·  RAILWAY MCX OVER 5G</a:t>
            </a:r>
          </a:p>
        </p:txBody>
      </p:sp>
      <p:sp>
        <p:nvSpPr>
          <p:cNvPr id="6" name="TextBox 5"/>
          <p:cNvSpPr txBox="1"/>
          <p:nvPr/>
        </p:nvSpPr>
        <p:spPr>
          <a:xfrm>
            <a:off x="11023600" y="279400"/>
            <a:ext cx="558800" cy="330200"/>
          </a:xfrm>
          <a:prstGeom prst="rect">
            <a:avLst/>
          </a:prstGeom>
          <a:noFill/>
        </p:spPr>
        <p:txBody>
          <a:bodyPr wrap="square" lIns="0" rIns="0" tIns="0" bIns="0" anchor="t">
            <a:spAutoFit/>
          </a:bodyPr>
          <a:lstStyle/>
          <a:p>
            <a:pPr algn="r">
              <a:lnSpc>
                <a:spcPct val="125000"/>
              </a:lnSpc>
              <a:spcAft>
                <a:spcPts val="300"/>
              </a:spcAft>
            </a:pPr>
            <a:r>
              <a:rPr sz="1700" b="1">
                <a:solidFill>
                  <a:srgbClr val="0B308E"/>
                </a:solidFill>
                <a:latin typeface="Arial"/>
              </a:rPr>
              <a:t>17</a:t>
            </a:r>
          </a:p>
        </p:txBody>
      </p:sp>
      <p:cxnSp>
        <p:nvCxnSpPr>
          <p:cNvPr id="7" name="Connector 6"/>
          <p:cNvCxnSpPr/>
          <p:nvPr/>
        </p:nvCxnSpPr>
        <p:spPr>
          <a:xfrm>
            <a:off x="609600" y="1041400"/>
            <a:ext cx="10972800" cy="0"/>
          </a:xfrm>
          <a:prstGeom prst="line">
            <a:avLst/>
          </a:prstGeom>
          <a:ln w="12700">
            <a:solidFill>
              <a:srgbClr val="D6E0F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1193800"/>
            <a:ext cx="10972800" cy="228600"/>
          </a:xfrm>
          <a:prstGeom prst="rect">
            <a:avLst/>
          </a:prstGeom>
          <a:noFill/>
        </p:spPr>
        <p:txBody>
          <a:bodyPr wrap="square" lIns="0" rIns="0" tIns="0" bIns="0" anchor="t">
            <a:spAutoFit/>
          </a:bodyPr>
          <a:lstStyle/>
          <a:p>
            <a:pPr algn="l">
              <a:lnSpc>
                <a:spcPct val="125000"/>
              </a:lnSpc>
              <a:spcAft>
                <a:spcPts val="300"/>
              </a:spcAft>
            </a:pPr>
            <a:r>
              <a:rPr sz="1150" b="0">
                <a:solidFill>
                  <a:srgbClr val="55607A"/>
                </a:solidFill>
                <a:latin typeface="Arial"/>
              </a:rPr>
              <a:t>The world’s first railway MCS over 5G - replacing TETRA rather than overlaying it.</a:t>
            </a:r>
          </a:p>
        </p:txBody>
      </p:sp>
      <p:pic>
        <p:nvPicPr>
          <p:cNvPr id="9" name="Picture 8" descr="v6_b3aa2146af.jpg"/>
          <p:cNvPicPr>
            <a:picLocks noChangeAspect="1"/>
          </p:cNvPicPr>
          <p:nvPr/>
        </p:nvPicPr>
        <p:blipFill>
          <a:blip r:embed="rId2"/>
          <a:srcRect l="18535" r="18535"/>
          <a:stretch>
            <a:fillRect/>
          </a:stretch>
        </p:blipFill>
        <p:spPr>
          <a:xfrm>
            <a:off x="609600" y="1549400"/>
            <a:ext cx="5969000" cy="3124200"/>
          </a:xfrm>
          <a:prstGeom prst="rect">
            <a:avLst/>
          </a:prstGeom>
        </p:spPr>
      </p:pic>
      <p:sp>
        <p:nvSpPr>
          <p:cNvPr id="10" name="Rectangle 9"/>
          <p:cNvSpPr/>
          <p:nvPr/>
        </p:nvSpPr>
        <p:spPr>
          <a:xfrm>
            <a:off x="609600" y="1549400"/>
            <a:ext cx="5969000" cy="3124200"/>
          </a:xfrm>
          <a:prstGeom prst="rect">
            <a:avLst/>
          </a:prstGeom>
          <a:noFill/>
          <a:ln w="12700">
            <a:solidFill>
              <a:srgbClr val="D6E0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09600" y="4749800"/>
            <a:ext cx="5969000" cy="304800"/>
          </a:xfrm>
          <a:prstGeom prst="rect">
            <a:avLst/>
          </a:prstGeom>
          <a:noFill/>
        </p:spPr>
        <p:txBody>
          <a:bodyPr wrap="square" lIns="0" rIns="0" tIns="0" bIns="0" anchor="t">
            <a:spAutoFit/>
          </a:bodyPr>
          <a:lstStyle/>
          <a:p>
            <a:pPr algn="l">
              <a:lnSpc>
                <a:spcPct val="130000"/>
              </a:lnSpc>
              <a:spcAft>
                <a:spcPts val="300"/>
              </a:spcAft>
            </a:pPr>
            <a:r>
              <a:rPr sz="850" b="0">
                <a:solidFill>
                  <a:srgbClr val="93A0B4"/>
                </a:solidFill>
                <a:latin typeface="Arial"/>
              </a:rPr>
              <a:t>Illustrative operations imagery; the customer’s own site photography is not cleared for external use.</a:t>
            </a:r>
          </a:p>
        </p:txBody>
      </p:sp>
      <p:sp>
        <p:nvSpPr>
          <p:cNvPr id="12" name="Rectangle 11"/>
          <p:cNvSpPr/>
          <p:nvPr/>
        </p:nvSpPr>
        <p:spPr>
          <a:xfrm>
            <a:off x="7086600" y="1549400"/>
            <a:ext cx="4495800" cy="9652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7086600" y="1549400"/>
            <a:ext cx="44450" cy="965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315200" y="1676400"/>
            <a:ext cx="1778000" cy="355600"/>
          </a:xfrm>
          <a:prstGeom prst="rect">
            <a:avLst/>
          </a:prstGeom>
          <a:noFill/>
        </p:spPr>
        <p:txBody>
          <a:bodyPr wrap="square" lIns="0" rIns="0" tIns="0" bIns="0" anchor="t">
            <a:spAutoFit/>
          </a:bodyPr>
          <a:lstStyle/>
          <a:p>
            <a:pPr algn="l">
              <a:lnSpc>
                <a:spcPct val="125000"/>
              </a:lnSpc>
              <a:spcAft>
                <a:spcPts val="300"/>
              </a:spcAft>
            </a:pPr>
            <a:r>
              <a:rPr sz="1800" b="1">
                <a:solidFill>
                  <a:srgbClr val="0B308E"/>
                </a:solidFill>
                <a:latin typeface="Arial"/>
              </a:rPr>
              <a:t>810</a:t>
            </a:r>
          </a:p>
        </p:txBody>
      </p:sp>
      <p:sp>
        <p:nvSpPr>
          <p:cNvPr id="15" name="TextBox 14"/>
          <p:cNvSpPr txBox="1"/>
          <p:nvPr/>
        </p:nvSpPr>
        <p:spPr>
          <a:xfrm>
            <a:off x="7315200" y="2057400"/>
            <a:ext cx="4064000" cy="381000"/>
          </a:xfrm>
          <a:prstGeom prst="rect">
            <a:avLst/>
          </a:prstGeom>
          <a:noFill/>
        </p:spPr>
        <p:txBody>
          <a:bodyPr wrap="square" lIns="0" rIns="0" tIns="0" bIns="0" anchor="t">
            <a:spAutoFit/>
          </a:bodyPr>
          <a:lstStyle/>
          <a:p>
            <a:pPr algn="l">
              <a:lnSpc>
                <a:spcPct val="125000"/>
              </a:lnSpc>
              <a:spcAft>
                <a:spcPts val="300"/>
              </a:spcAft>
            </a:pPr>
            <a:r>
              <a:rPr sz="950" b="0">
                <a:solidFill>
                  <a:srgbClr val="55607A"/>
                </a:solidFill>
                <a:latin typeface="Arial"/>
              </a:rPr>
              <a:t>terminals: 511 handheld, 152 bus-mounted and 147 vehicle</a:t>
            </a:r>
          </a:p>
        </p:txBody>
      </p:sp>
      <p:sp>
        <p:nvSpPr>
          <p:cNvPr id="16" name="Rectangle 15"/>
          <p:cNvSpPr/>
          <p:nvPr/>
        </p:nvSpPr>
        <p:spPr>
          <a:xfrm>
            <a:off x="7086600" y="2641600"/>
            <a:ext cx="4495800" cy="9652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7086600" y="2641600"/>
            <a:ext cx="44450" cy="9652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315200" y="2768600"/>
            <a:ext cx="1778000" cy="355600"/>
          </a:xfrm>
          <a:prstGeom prst="rect">
            <a:avLst/>
          </a:prstGeom>
          <a:noFill/>
        </p:spPr>
        <p:txBody>
          <a:bodyPr wrap="square" lIns="0" rIns="0" tIns="0" bIns="0" anchor="t">
            <a:spAutoFit/>
          </a:bodyPr>
          <a:lstStyle/>
          <a:p>
            <a:pPr algn="l">
              <a:lnSpc>
                <a:spcPct val="125000"/>
              </a:lnSpc>
              <a:spcAft>
                <a:spcPts val="300"/>
              </a:spcAft>
            </a:pPr>
            <a:r>
              <a:rPr sz="1800" b="1">
                <a:solidFill>
                  <a:srgbClr val="0B308E"/>
                </a:solidFill>
                <a:latin typeface="Arial"/>
              </a:rPr>
              <a:t>5G</a:t>
            </a:r>
          </a:p>
        </p:txBody>
      </p:sp>
      <p:sp>
        <p:nvSpPr>
          <p:cNvPr id="19" name="TextBox 18"/>
          <p:cNvSpPr txBox="1"/>
          <p:nvPr/>
        </p:nvSpPr>
        <p:spPr>
          <a:xfrm>
            <a:off x="7315200" y="3149600"/>
            <a:ext cx="4064000" cy="381000"/>
          </a:xfrm>
          <a:prstGeom prst="rect">
            <a:avLst/>
          </a:prstGeom>
          <a:noFill/>
        </p:spPr>
        <p:txBody>
          <a:bodyPr wrap="square" lIns="0" rIns="0" tIns="0" bIns="0" anchor="t">
            <a:spAutoFit/>
          </a:bodyPr>
          <a:lstStyle/>
          <a:p>
            <a:pPr algn="l">
              <a:lnSpc>
                <a:spcPct val="125000"/>
              </a:lnSpc>
              <a:spcAft>
                <a:spcPts val="300"/>
              </a:spcAft>
            </a:pPr>
            <a:r>
              <a:rPr sz="950" b="0">
                <a:solidFill>
                  <a:srgbClr val="55607A"/>
                </a:solidFill>
                <a:latin typeface="Arial"/>
              </a:rPr>
              <a:t>the world’s first railway MCS running over 5G</a:t>
            </a:r>
          </a:p>
        </p:txBody>
      </p:sp>
      <p:sp>
        <p:nvSpPr>
          <p:cNvPr id="20" name="Rectangle 19"/>
          <p:cNvSpPr/>
          <p:nvPr/>
        </p:nvSpPr>
        <p:spPr>
          <a:xfrm>
            <a:off x="7086600" y="3733800"/>
            <a:ext cx="4495800" cy="9652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7086600" y="3733800"/>
            <a:ext cx="44450" cy="9652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315200" y="3860800"/>
            <a:ext cx="1778000" cy="355600"/>
          </a:xfrm>
          <a:prstGeom prst="rect">
            <a:avLst/>
          </a:prstGeom>
          <a:noFill/>
        </p:spPr>
        <p:txBody>
          <a:bodyPr wrap="square" lIns="0" rIns="0" tIns="0" bIns="0" anchor="t">
            <a:spAutoFit/>
          </a:bodyPr>
          <a:lstStyle/>
          <a:p>
            <a:pPr algn="l">
              <a:lnSpc>
                <a:spcPct val="125000"/>
              </a:lnSpc>
              <a:spcAft>
                <a:spcPts val="300"/>
              </a:spcAft>
            </a:pPr>
            <a:r>
              <a:rPr sz="1800" b="1">
                <a:solidFill>
                  <a:srgbClr val="0B308E"/>
                </a:solidFill>
                <a:latin typeface="Arial"/>
              </a:rPr>
              <a:t>Full</a:t>
            </a:r>
          </a:p>
        </p:txBody>
      </p:sp>
      <p:sp>
        <p:nvSpPr>
          <p:cNvPr id="23" name="TextBox 22"/>
          <p:cNvSpPr txBox="1"/>
          <p:nvPr/>
        </p:nvSpPr>
        <p:spPr>
          <a:xfrm>
            <a:off x="7315200" y="4241800"/>
            <a:ext cx="4064000" cy="381000"/>
          </a:xfrm>
          <a:prstGeom prst="rect">
            <a:avLst/>
          </a:prstGeom>
          <a:noFill/>
        </p:spPr>
        <p:txBody>
          <a:bodyPr wrap="square" lIns="0" rIns="0" tIns="0" bIns="0" anchor="t">
            <a:spAutoFit/>
          </a:bodyPr>
          <a:lstStyle/>
          <a:p>
            <a:pPr algn="l">
              <a:lnSpc>
                <a:spcPct val="125000"/>
              </a:lnSpc>
              <a:spcAft>
                <a:spcPts val="300"/>
              </a:spcAft>
            </a:pPr>
            <a:r>
              <a:rPr sz="950" b="0">
                <a:solidFill>
                  <a:srgbClr val="55607A"/>
                </a:solidFill>
                <a:latin typeface="Arial"/>
              </a:rPr>
              <a:t>redundancy, including the wireless links between sites</a:t>
            </a:r>
          </a:p>
        </p:txBody>
      </p:sp>
      <p:sp>
        <p:nvSpPr>
          <p:cNvPr id="24" name="Rectangle 23"/>
          <p:cNvSpPr/>
          <p:nvPr/>
        </p:nvSpPr>
        <p:spPr>
          <a:xfrm>
            <a:off x="609600" y="5156200"/>
            <a:ext cx="10972800" cy="431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62000" y="5194300"/>
            <a:ext cx="2590800" cy="228600"/>
          </a:xfrm>
          <a:prstGeom prst="rect">
            <a:avLst/>
          </a:prstGeom>
          <a:noFill/>
        </p:spPr>
        <p:txBody>
          <a:bodyPr wrap="square" lIns="0" rIns="0" tIns="0" bIns="0" anchor="t">
            <a:spAutoFit/>
          </a:bodyPr>
          <a:lstStyle/>
          <a:p>
            <a:pPr algn="l">
              <a:lnSpc>
                <a:spcPct val="125000"/>
              </a:lnSpc>
              <a:spcAft>
                <a:spcPts val="300"/>
              </a:spcAft>
            </a:pPr>
            <a:r>
              <a:rPr sz="1200" b="1">
                <a:solidFill>
                  <a:srgbClr val="8CC63F"/>
                </a:solidFill>
                <a:latin typeface="Arial"/>
              </a:rPr>
              <a:t>TETRA</a:t>
            </a:r>
          </a:p>
        </p:txBody>
      </p:sp>
      <p:sp>
        <p:nvSpPr>
          <p:cNvPr id="26" name="TextBox 25"/>
          <p:cNvSpPr txBox="1"/>
          <p:nvPr/>
        </p:nvSpPr>
        <p:spPr>
          <a:xfrm>
            <a:off x="762000" y="5410200"/>
            <a:ext cx="2590800" cy="152400"/>
          </a:xfrm>
          <a:prstGeom prst="rect">
            <a:avLst/>
          </a:prstGeom>
          <a:noFill/>
        </p:spPr>
        <p:txBody>
          <a:bodyPr wrap="square" lIns="0" rIns="0" tIns="0" bIns="0" anchor="t">
            <a:spAutoFit/>
          </a:bodyPr>
          <a:lstStyle/>
          <a:p>
            <a:pPr algn="l">
              <a:lnSpc>
                <a:spcPct val="125000"/>
              </a:lnSpc>
              <a:spcAft>
                <a:spcPts val="300"/>
              </a:spcAft>
            </a:pPr>
            <a:r>
              <a:rPr sz="800" b="0">
                <a:solidFill>
                  <a:srgbClr val="DCE5F3"/>
                </a:solidFill>
                <a:latin typeface="Arial"/>
              </a:rPr>
              <a:t>replaced, not overlaid</a:t>
            </a:r>
          </a:p>
        </p:txBody>
      </p:sp>
      <p:sp>
        <p:nvSpPr>
          <p:cNvPr id="27" name="TextBox 26"/>
          <p:cNvSpPr txBox="1"/>
          <p:nvPr/>
        </p:nvSpPr>
        <p:spPr>
          <a:xfrm>
            <a:off x="3454400" y="5194300"/>
            <a:ext cx="2590800" cy="228600"/>
          </a:xfrm>
          <a:prstGeom prst="rect">
            <a:avLst/>
          </a:prstGeom>
          <a:noFill/>
        </p:spPr>
        <p:txBody>
          <a:bodyPr wrap="square" lIns="0" rIns="0" tIns="0" bIns="0" anchor="t">
            <a:spAutoFit/>
          </a:bodyPr>
          <a:lstStyle/>
          <a:p>
            <a:pPr algn="l">
              <a:lnSpc>
                <a:spcPct val="125000"/>
              </a:lnSpc>
              <a:spcAft>
                <a:spcPts val="300"/>
              </a:spcAft>
            </a:pPr>
            <a:r>
              <a:rPr sz="1200" b="1">
                <a:solidFill>
                  <a:srgbClr val="8CC63F"/>
                </a:solidFill>
                <a:latin typeface="Arial"/>
              </a:rPr>
              <a:t>Shared</a:t>
            </a:r>
          </a:p>
        </p:txBody>
      </p:sp>
      <p:sp>
        <p:nvSpPr>
          <p:cNvPr id="28" name="TextBox 27"/>
          <p:cNvSpPr txBox="1"/>
          <p:nvPr/>
        </p:nvSpPr>
        <p:spPr>
          <a:xfrm>
            <a:off x="3454400" y="5410200"/>
            <a:ext cx="2590800" cy="152400"/>
          </a:xfrm>
          <a:prstGeom prst="rect">
            <a:avLst/>
          </a:prstGeom>
          <a:noFill/>
        </p:spPr>
        <p:txBody>
          <a:bodyPr wrap="square" lIns="0" rIns="0" tIns="0" bIns="0" anchor="t">
            <a:spAutoFit/>
          </a:bodyPr>
          <a:lstStyle/>
          <a:p>
            <a:pPr algn="l">
              <a:lnSpc>
                <a:spcPct val="125000"/>
              </a:lnSpc>
              <a:spcAft>
                <a:spcPts val="300"/>
              </a:spcAft>
            </a:pPr>
            <a:r>
              <a:rPr sz="800" b="0">
                <a:solidFill>
                  <a:srgbClr val="DCE5F3"/>
                </a:solidFill>
                <a:latin typeface="Arial"/>
              </a:rPr>
              <a:t>operator core network and RAN</a:t>
            </a:r>
          </a:p>
        </p:txBody>
      </p:sp>
      <p:sp>
        <p:nvSpPr>
          <p:cNvPr id="29" name="TextBox 28"/>
          <p:cNvSpPr txBox="1"/>
          <p:nvPr/>
        </p:nvSpPr>
        <p:spPr>
          <a:xfrm>
            <a:off x="6146800" y="5194300"/>
            <a:ext cx="2590800" cy="228600"/>
          </a:xfrm>
          <a:prstGeom prst="rect">
            <a:avLst/>
          </a:prstGeom>
          <a:noFill/>
        </p:spPr>
        <p:txBody>
          <a:bodyPr wrap="square" lIns="0" rIns="0" tIns="0" bIns="0" anchor="t">
            <a:spAutoFit/>
          </a:bodyPr>
          <a:lstStyle/>
          <a:p>
            <a:pPr algn="l">
              <a:lnSpc>
                <a:spcPct val="125000"/>
              </a:lnSpc>
              <a:spcAft>
                <a:spcPts val="300"/>
              </a:spcAft>
            </a:pPr>
            <a:r>
              <a:rPr sz="1200" b="1">
                <a:solidFill>
                  <a:srgbClr val="8CC63F"/>
                </a:solidFill>
                <a:latin typeface="Arial"/>
              </a:rPr>
              <a:t>Train-borne</a:t>
            </a:r>
          </a:p>
        </p:txBody>
      </p:sp>
      <p:sp>
        <p:nvSpPr>
          <p:cNvPr id="30" name="TextBox 29"/>
          <p:cNvSpPr txBox="1"/>
          <p:nvPr/>
        </p:nvSpPr>
        <p:spPr>
          <a:xfrm>
            <a:off x="6146800" y="5410200"/>
            <a:ext cx="2590800" cy="152400"/>
          </a:xfrm>
          <a:prstGeom prst="rect">
            <a:avLst/>
          </a:prstGeom>
          <a:noFill/>
        </p:spPr>
        <p:txBody>
          <a:bodyPr wrap="square" lIns="0" rIns="0" tIns="0" bIns="0" anchor="t">
            <a:spAutoFit/>
          </a:bodyPr>
          <a:lstStyle/>
          <a:p>
            <a:pPr algn="l">
              <a:lnSpc>
                <a:spcPct val="125000"/>
              </a:lnSpc>
              <a:spcAft>
                <a:spcPts val="300"/>
              </a:spcAft>
            </a:pPr>
            <a:r>
              <a:rPr sz="800" b="0">
                <a:solidFill>
                  <a:srgbClr val="DCE5F3"/>
                </a:solidFill>
                <a:latin typeface="Arial"/>
              </a:rPr>
              <a:t>MCS-compliant dispatch</a:t>
            </a:r>
          </a:p>
        </p:txBody>
      </p:sp>
      <p:sp>
        <p:nvSpPr>
          <p:cNvPr id="31" name="TextBox 30"/>
          <p:cNvSpPr txBox="1"/>
          <p:nvPr/>
        </p:nvSpPr>
        <p:spPr>
          <a:xfrm>
            <a:off x="8839200" y="5194300"/>
            <a:ext cx="2590800" cy="228600"/>
          </a:xfrm>
          <a:prstGeom prst="rect">
            <a:avLst/>
          </a:prstGeom>
          <a:noFill/>
        </p:spPr>
        <p:txBody>
          <a:bodyPr wrap="square" lIns="0" rIns="0" tIns="0" bIns="0" anchor="t">
            <a:spAutoFit/>
          </a:bodyPr>
          <a:lstStyle/>
          <a:p>
            <a:pPr algn="l">
              <a:lnSpc>
                <a:spcPct val="125000"/>
              </a:lnSpc>
              <a:spcAft>
                <a:spcPts val="300"/>
              </a:spcAft>
            </a:pPr>
            <a:r>
              <a:rPr sz="1200" b="1">
                <a:solidFill>
                  <a:srgbClr val="8CC63F"/>
                </a:solidFill>
                <a:latin typeface="Arial"/>
              </a:rPr>
              <a:t>One</a:t>
            </a:r>
          </a:p>
        </p:txBody>
      </p:sp>
      <p:sp>
        <p:nvSpPr>
          <p:cNvPr id="32" name="TextBox 31"/>
          <p:cNvSpPr txBox="1"/>
          <p:nvPr/>
        </p:nvSpPr>
        <p:spPr>
          <a:xfrm>
            <a:off x="8839200" y="5410200"/>
            <a:ext cx="2590800" cy="152400"/>
          </a:xfrm>
          <a:prstGeom prst="rect">
            <a:avLst/>
          </a:prstGeom>
          <a:noFill/>
        </p:spPr>
        <p:txBody>
          <a:bodyPr wrap="square" lIns="0" rIns="0" tIns="0" bIns="0" anchor="t">
            <a:spAutoFit/>
          </a:bodyPr>
          <a:lstStyle/>
          <a:p>
            <a:pPr algn="l">
              <a:lnSpc>
                <a:spcPct val="125000"/>
              </a:lnSpc>
              <a:spcAft>
                <a:spcPts val="300"/>
              </a:spcAft>
            </a:pPr>
            <a:r>
              <a:rPr sz="800" b="0">
                <a:solidFill>
                  <a:srgbClr val="DCE5F3"/>
                </a:solidFill>
                <a:latin typeface="Arial"/>
              </a:rPr>
              <a:t>network for operations and security</a:t>
            </a:r>
          </a:p>
        </p:txBody>
      </p:sp>
      <p:sp>
        <p:nvSpPr>
          <p:cNvPr id="33" name="TextBox 32"/>
          <p:cNvSpPr txBox="1"/>
          <p:nvPr/>
        </p:nvSpPr>
        <p:spPr>
          <a:xfrm>
            <a:off x="609600" y="6451600"/>
            <a:ext cx="10972800" cy="177800"/>
          </a:xfrm>
          <a:prstGeom prst="rect">
            <a:avLst/>
          </a:prstGeom>
          <a:noFill/>
        </p:spPr>
        <p:txBody>
          <a:bodyPr wrap="square" lIns="0" rIns="0" tIns="0" bIns="0" anchor="t">
            <a:spAutoFit/>
          </a:bodyPr>
          <a:lstStyle/>
          <a:p>
            <a:pPr algn="l">
              <a:lnSpc>
                <a:spcPct val="125000"/>
              </a:lnSpc>
              <a:spcAft>
                <a:spcPts val="300"/>
              </a:spcAft>
            </a:pPr>
            <a:r>
              <a:rPr sz="800" b="0">
                <a:solidFill>
                  <a:srgbClr val="93A0B4"/>
                </a:solidFill>
                <a:latin typeface="Arial"/>
              </a:rPr>
              <a:t>Source: Hytera showroom briefing L170; Hytera PNC660 450MHz&amp;MCX case records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381000"/>
            <a:ext cx="228600" cy="635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39800" y="279400"/>
            <a:ext cx="9906000" cy="381000"/>
          </a:xfrm>
          <a:prstGeom prst="rect">
            <a:avLst/>
          </a:prstGeom>
          <a:noFill/>
        </p:spPr>
        <p:txBody>
          <a:bodyPr wrap="square" lIns="0" rIns="0" tIns="0" bIns="0" anchor="t">
            <a:spAutoFit/>
          </a:bodyPr>
          <a:lstStyle/>
          <a:p>
            <a:pPr algn="l">
              <a:lnSpc>
                <a:spcPct val="125000"/>
              </a:lnSpc>
              <a:spcAft>
                <a:spcPts val="300"/>
              </a:spcAft>
            </a:pPr>
            <a:r>
              <a:rPr sz="2100" b="1">
                <a:solidFill>
                  <a:srgbClr val="0B308E"/>
                </a:solidFill>
                <a:latin typeface="Arial"/>
              </a:rPr>
              <a:t>Papua New Guinea: a national command centre</a:t>
            </a:r>
          </a:p>
        </p:txBody>
      </p:sp>
      <p:sp>
        <p:nvSpPr>
          <p:cNvPr id="5" name="TextBox 4"/>
          <p:cNvSpPr txBox="1"/>
          <p:nvPr/>
        </p:nvSpPr>
        <p:spPr>
          <a:xfrm>
            <a:off x="609600" y="787400"/>
            <a:ext cx="8890000" cy="203200"/>
          </a:xfrm>
          <a:prstGeom prst="rect">
            <a:avLst/>
          </a:prstGeom>
          <a:noFill/>
        </p:spPr>
        <p:txBody>
          <a:bodyPr wrap="square" lIns="0" rIns="0" tIns="0" bIns="0" anchor="t">
            <a:spAutoFit/>
          </a:bodyPr>
          <a:lstStyle/>
          <a:p>
            <a:pPr algn="l">
              <a:lnSpc>
                <a:spcPct val="125000"/>
              </a:lnSpc>
              <a:spcAft>
                <a:spcPts val="300"/>
              </a:spcAft>
            </a:pPr>
            <a:r>
              <a:rPr sz="850" b="1">
                <a:solidFill>
                  <a:srgbClr val="7F9B00"/>
                </a:solidFill>
                <a:latin typeface="Arial"/>
              </a:rPr>
              <a:t>CASE 3 OF 3  ·  PUBLIC SAFETY</a:t>
            </a:r>
          </a:p>
        </p:txBody>
      </p:sp>
      <p:sp>
        <p:nvSpPr>
          <p:cNvPr id="6" name="TextBox 5"/>
          <p:cNvSpPr txBox="1"/>
          <p:nvPr/>
        </p:nvSpPr>
        <p:spPr>
          <a:xfrm>
            <a:off x="11023600" y="279400"/>
            <a:ext cx="558800" cy="330200"/>
          </a:xfrm>
          <a:prstGeom prst="rect">
            <a:avLst/>
          </a:prstGeom>
          <a:noFill/>
        </p:spPr>
        <p:txBody>
          <a:bodyPr wrap="square" lIns="0" rIns="0" tIns="0" bIns="0" anchor="t">
            <a:spAutoFit/>
          </a:bodyPr>
          <a:lstStyle/>
          <a:p>
            <a:pPr algn="r">
              <a:lnSpc>
                <a:spcPct val="125000"/>
              </a:lnSpc>
              <a:spcAft>
                <a:spcPts val="300"/>
              </a:spcAft>
            </a:pPr>
            <a:r>
              <a:rPr sz="1700" b="1">
                <a:solidFill>
                  <a:srgbClr val="0B308E"/>
                </a:solidFill>
                <a:latin typeface="Arial"/>
              </a:rPr>
              <a:t>18</a:t>
            </a:r>
          </a:p>
        </p:txBody>
      </p:sp>
      <p:cxnSp>
        <p:nvCxnSpPr>
          <p:cNvPr id="7" name="Connector 6"/>
          <p:cNvCxnSpPr/>
          <p:nvPr/>
        </p:nvCxnSpPr>
        <p:spPr>
          <a:xfrm>
            <a:off x="609600" y="1041400"/>
            <a:ext cx="10972800" cy="0"/>
          </a:xfrm>
          <a:prstGeom prst="line">
            <a:avLst/>
          </a:prstGeom>
          <a:ln w="12700">
            <a:solidFill>
              <a:srgbClr val="D6E0F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1193800"/>
            <a:ext cx="10972800" cy="228600"/>
          </a:xfrm>
          <a:prstGeom prst="rect">
            <a:avLst/>
          </a:prstGeom>
          <a:noFill/>
        </p:spPr>
        <p:txBody>
          <a:bodyPr wrap="square" lIns="0" rIns="0" tIns="0" bIns="0" anchor="t">
            <a:spAutoFit/>
          </a:bodyPr>
          <a:lstStyle/>
          <a:p>
            <a:pPr algn="l">
              <a:lnSpc>
                <a:spcPct val="125000"/>
              </a:lnSpc>
              <a:spcAft>
                <a:spcPts val="300"/>
              </a:spcAft>
            </a:pPr>
            <a:r>
              <a:rPr sz="1150" b="0">
                <a:solidFill>
                  <a:srgbClr val="55607A"/>
                </a:solidFill>
                <a:latin typeface="Arial"/>
              </a:rPr>
              <a:t>A police headquarters command centre on Hytera ICC, used for daily operations and for APEC summit security.</a:t>
            </a:r>
          </a:p>
        </p:txBody>
      </p:sp>
      <p:pic>
        <p:nvPicPr>
          <p:cNvPr id="9" name="Picture 8" descr="v6_cd1dab28f7.jpg"/>
          <p:cNvPicPr>
            <a:picLocks noChangeAspect="1"/>
          </p:cNvPicPr>
          <p:nvPr/>
        </p:nvPicPr>
        <p:blipFill>
          <a:blip r:embed="rId2"/>
          <a:srcRect t="15106" b="15106"/>
          <a:stretch>
            <a:fillRect/>
          </a:stretch>
        </p:blipFill>
        <p:spPr>
          <a:xfrm>
            <a:off x="609600" y="1549400"/>
            <a:ext cx="5969000" cy="3124200"/>
          </a:xfrm>
          <a:prstGeom prst="rect">
            <a:avLst/>
          </a:prstGeom>
        </p:spPr>
      </p:pic>
      <p:sp>
        <p:nvSpPr>
          <p:cNvPr id="10" name="Rectangle 9"/>
          <p:cNvSpPr/>
          <p:nvPr/>
        </p:nvSpPr>
        <p:spPr>
          <a:xfrm>
            <a:off x="609600" y="1549400"/>
            <a:ext cx="5969000" cy="3124200"/>
          </a:xfrm>
          <a:prstGeom prst="rect">
            <a:avLst/>
          </a:prstGeom>
          <a:noFill/>
          <a:ln w="12700">
            <a:solidFill>
              <a:srgbClr val="D6E0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09600" y="4749800"/>
            <a:ext cx="5969000" cy="304800"/>
          </a:xfrm>
          <a:prstGeom prst="rect">
            <a:avLst/>
          </a:prstGeom>
          <a:noFill/>
        </p:spPr>
        <p:txBody>
          <a:bodyPr wrap="square" lIns="0" rIns="0" tIns="0" bIns="0" anchor="t">
            <a:spAutoFit/>
          </a:bodyPr>
          <a:lstStyle/>
          <a:p>
            <a:pPr algn="l">
              <a:lnSpc>
                <a:spcPct val="130000"/>
              </a:lnSpc>
              <a:spcAft>
                <a:spcPts val="300"/>
              </a:spcAft>
            </a:pPr>
            <a:r>
              <a:rPr sz="850" b="0">
                <a:solidFill>
                  <a:srgbClr val="93A0B4"/>
                </a:solidFill>
                <a:latin typeface="Arial"/>
              </a:rPr>
              <a:t>Illustrative operations imagery; the customer’s own site photography is not cleared for external use.</a:t>
            </a:r>
          </a:p>
        </p:txBody>
      </p:sp>
      <p:sp>
        <p:nvSpPr>
          <p:cNvPr id="12" name="Rectangle 11"/>
          <p:cNvSpPr/>
          <p:nvPr/>
        </p:nvSpPr>
        <p:spPr>
          <a:xfrm>
            <a:off x="7086600" y="1549400"/>
            <a:ext cx="4495800" cy="9652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7086600" y="1549400"/>
            <a:ext cx="44450" cy="965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315200" y="1676400"/>
            <a:ext cx="1778000" cy="355600"/>
          </a:xfrm>
          <a:prstGeom prst="rect">
            <a:avLst/>
          </a:prstGeom>
          <a:noFill/>
        </p:spPr>
        <p:txBody>
          <a:bodyPr wrap="square" lIns="0" rIns="0" tIns="0" bIns="0" anchor="t">
            <a:spAutoFit/>
          </a:bodyPr>
          <a:lstStyle/>
          <a:p>
            <a:pPr algn="l">
              <a:lnSpc>
                <a:spcPct val="125000"/>
              </a:lnSpc>
              <a:spcAft>
                <a:spcPts val="300"/>
              </a:spcAft>
            </a:pPr>
            <a:r>
              <a:rPr sz="1800" b="1">
                <a:solidFill>
                  <a:srgbClr val="0B308E"/>
                </a:solidFill>
                <a:latin typeface="Arial"/>
              </a:rPr>
              <a:t>3,000</a:t>
            </a:r>
          </a:p>
        </p:txBody>
      </p:sp>
      <p:sp>
        <p:nvSpPr>
          <p:cNvPr id="15" name="TextBox 14"/>
          <p:cNvSpPr txBox="1"/>
          <p:nvPr/>
        </p:nvSpPr>
        <p:spPr>
          <a:xfrm>
            <a:off x="7315200" y="2057400"/>
            <a:ext cx="4064000" cy="381000"/>
          </a:xfrm>
          <a:prstGeom prst="rect">
            <a:avLst/>
          </a:prstGeom>
          <a:noFill/>
        </p:spPr>
        <p:txBody>
          <a:bodyPr wrap="square" lIns="0" rIns="0" tIns="0" bIns="0" anchor="t">
            <a:spAutoFit/>
          </a:bodyPr>
          <a:lstStyle/>
          <a:p>
            <a:pPr algn="l">
              <a:lnSpc>
                <a:spcPct val="125000"/>
              </a:lnSpc>
              <a:spcAft>
                <a:spcPts val="300"/>
              </a:spcAft>
            </a:pPr>
            <a:r>
              <a:rPr sz="950" b="0">
                <a:solidFill>
                  <a:srgbClr val="55607A"/>
                </a:solidFill>
                <a:latin typeface="Arial"/>
              </a:rPr>
              <a:t>police officers and 600 police vehicles served by one centre</a:t>
            </a:r>
          </a:p>
        </p:txBody>
      </p:sp>
      <p:sp>
        <p:nvSpPr>
          <p:cNvPr id="16" name="Rectangle 15"/>
          <p:cNvSpPr/>
          <p:nvPr/>
        </p:nvSpPr>
        <p:spPr>
          <a:xfrm>
            <a:off x="7086600" y="2641600"/>
            <a:ext cx="4495800" cy="9652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7086600" y="2641600"/>
            <a:ext cx="44450" cy="9652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315200" y="2768600"/>
            <a:ext cx="1778000" cy="355600"/>
          </a:xfrm>
          <a:prstGeom prst="rect">
            <a:avLst/>
          </a:prstGeom>
          <a:noFill/>
        </p:spPr>
        <p:txBody>
          <a:bodyPr wrap="square" lIns="0" rIns="0" tIns="0" bIns="0" anchor="t">
            <a:spAutoFit/>
          </a:bodyPr>
          <a:lstStyle/>
          <a:p>
            <a:pPr algn="l">
              <a:lnSpc>
                <a:spcPct val="125000"/>
              </a:lnSpc>
              <a:spcAft>
                <a:spcPts val="300"/>
              </a:spcAft>
            </a:pPr>
            <a:r>
              <a:rPr sz="1800" b="1">
                <a:solidFill>
                  <a:srgbClr val="0B308E"/>
                </a:solidFill>
                <a:latin typeface="Arial"/>
              </a:rPr>
              <a:t>APEC</a:t>
            </a:r>
          </a:p>
        </p:txBody>
      </p:sp>
      <p:sp>
        <p:nvSpPr>
          <p:cNvPr id="19" name="TextBox 18"/>
          <p:cNvSpPr txBox="1"/>
          <p:nvPr/>
        </p:nvSpPr>
        <p:spPr>
          <a:xfrm>
            <a:off x="7315200" y="3149600"/>
            <a:ext cx="4064000" cy="381000"/>
          </a:xfrm>
          <a:prstGeom prst="rect">
            <a:avLst/>
          </a:prstGeom>
          <a:noFill/>
        </p:spPr>
        <p:txBody>
          <a:bodyPr wrap="square" lIns="0" rIns="0" tIns="0" bIns="0" anchor="t">
            <a:spAutoFit/>
          </a:bodyPr>
          <a:lstStyle/>
          <a:p>
            <a:pPr algn="l">
              <a:lnSpc>
                <a:spcPct val="125000"/>
              </a:lnSpc>
              <a:spcAft>
                <a:spcPts val="300"/>
              </a:spcAft>
            </a:pPr>
            <a:r>
              <a:rPr sz="950" b="0">
                <a:solidFill>
                  <a:srgbClr val="55607A"/>
                </a:solidFill>
                <a:latin typeface="Arial"/>
              </a:rPr>
              <a:t>summit security: 15,000 foreign visitors and more than 200 meetings</a:t>
            </a:r>
          </a:p>
        </p:txBody>
      </p:sp>
      <p:sp>
        <p:nvSpPr>
          <p:cNvPr id="20" name="Rectangle 19"/>
          <p:cNvSpPr/>
          <p:nvPr/>
        </p:nvSpPr>
        <p:spPr>
          <a:xfrm>
            <a:off x="7086600" y="3733800"/>
            <a:ext cx="4495800" cy="9652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7086600" y="3733800"/>
            <a:ext cx="44450" cy="9652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315200" y="3860800"/>
            <a:ext cx="1778000" cy="355600"/>
          </a:xfrm>
          <a:prstGeom prst="rect">
            <a:avLst/>
          </a:prstGeom>
          <a:noFill/>
        </p:spPr>
        <p:txBody>
          <a:bodyPr wrap="square" lIns="0" rIns="0" tIns="0" bIns="0" anchor="t">
            <a:spAutoFit/>
          </a:bodyPr>
          <a:lstStyle/>
          <a:p>
            <a:pPr algn="l">
              <a:lnSpc>
                <a:spcPct val="125000"/>
              </a:lnSpc>
              <a:spcAft>
                <a:spcPts val="300"/>
              </a:spcAft>
            </a:pPr>
            <a:r>
              <a:rPr sz="1800" b="1">
                <a:solidFill>
                  <a:srgbClr val="0B308E"/>
                </a:solidFill>
                <a:latin typeface="Arial"/>
              </a:rPr>
              <a:t>360°</a:t>
            </a:r>
          </a:p>
        </p:txBody>
      </p:sp>
      <p:sp>
        <p:nvSpPr>
          <p:cNvPr id="23" name="TextBox 22"/>
          <p:cNvSpPr txBox="1"/>
          <p:nvPr/>
        </p:nvSpPr>
        <p:spPr>
          <a:xfrm>
            <a:off x="7315200" y="4241800"/>
            <a:ext cx="4064000" cy="381000"/>
          </a:xfrm>
          <a:prstGeom prst="rect">
            <a:avLst/>
          </a:prstGeom>
          <a:noFill/>
        </p:spPr>
        <p:txBody>
          <a:bodyPr wrap="square" lIns="0" rIns="0" tIns="0" bIns="0" anchor="t">
            <a:spAutoFit/>
          </a:bodyPr>
          <a:lstStyle/>
          <a:p>
            <a:pPr algn="l">
              <a:lnSpc>
                <a:spcPct val="125000"/>
              </a:lnSpc>
              <a:spcAft>
                <a:spcPts val="300"/>
              </a:spcAft>
            </a:pPr>
            <a:r>
              <a:rPr sz="950" b="0">
                <a:solidFill>
                  <a:srgbClr val="55607A"/>
                </a:solidFill>
                <a:latin typeface="Arial"/>
              </a:rPr>
              <a:t>city-wide video surveillance, with protection around the clock</a:t>
            </a:r>
          </a:p>
        </p:txBody>
      </p:sp>
      <p:sp>
        <p:nvSpPr>
          <p:cNvPr id="24" name="Rectangle 23"/>
          <p:cNvSpPr/>
          <p:nvPr/>
        </p:nvSpPr>
        <p:spPr>
          <a:xfrm>
            <a:off x="609600" y="5156200"/>
            <a:ext cx="10972800" cy="431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62000" y="5194300"/>
            <a:ext cx="2590800" cy="228600"/>
          </a:xfrm>
          <a:prstGeom prst="rect">
            <a:avLst/>
          </a:prstGeom>
          <a:noFill/>
        </p:spPr>
        <p:txBody>
          <a:bodyPr wrap="square" lIns="0" rIns="0" tIns="0" bIns="0" anchor="t">
            <a:spAutoFit/>
          </a:bodyPr>
          <a:lstStyle/>
          <a:p>
            <a:pPr algn="l">
              <a:lnSpc>
                <a:spcPct val="125000"/>
              </a:lnSpc>
              <a:spcAft>
                <a:spcPts val="300"/>
              </a:spcAft>
            </a:pPr>
            <a:r>
              <a:rPr sz="1200" b="1">
                <a:solidFill>
                  <a:srgbClr val="8CC63F"/>
                </a:solidFill>
                <a:latin typeface="Arial"/>
              </a:rPr>
              <a:t>60 s</a:t>
            </a:r>
          </a:p>
        </p:txBody>
      </p:sp>
      <p:sp>
        <p:nvSpPr>
          <p:cNvPr id="26" name="TextBox 25"/>
          <p:cNvSpPr txBox="1"/>
          <p:nvPr/>
        </p:nvSpPr>
        <p:spPr>
          <a:xfrm>
            <a:off x="762000" y="5410200"/>
            <a:ext cx="2590800" cy="152400"/>
          </a:xfrm>
          <a:prstGeom prst="rect">
            <a:avLst/>
          </a:prstGeom>
          <a:noFill/>
        </p:spPr>
        <p:txBody>
          <a:bodyPr wrap="square" lIns="0" rIns="0" tIns="0" bIns="0" anchor="t">
            <a:spAutoFit/>
          </a:bodyPr>
          <a:lstStyle/>
          <a:p>
            <a:pPr algn="l">
              <a:lnSpc>
                <a:spcPct val="125000"/>
              </a:lnSpc>
              <a:spcAft>
                <a:spcPts val="300"/>
              </a:spcAft>
            </a:pPr>
            <a:r>
              <a:rPr sz="800" b="0">
                <a:solidFill>
                  <a:srgbClr val="DCE5F3"/>
                </a:solidFill>
                <a:latin typeface="Arial"/>
              </a:rPr>
              <a:t>police dispatch after the alarm bell rings</a:t>
            </a:r>
          </a:p>
        </p:txBody>
      </p:sp>
      <p:sp>
        <p:nvSpPr>
          <p:cNvPr id="27" name="TextBox 26"/>
          <p:cNvSpPr txBox="1"/>
          <p:nvPr/>
        </p:nvSpPr>
        <p:spPr>
          <a:xfrm>
            <a:off x="3454400" y="5194300"/>
            <a:ext cx="2590800" cy="228600"/>
          </a:xfrm>
          <a:prstGeom prst="rect">
            <a:avLst/>
          </a:prstGeom>
          <a:noFill/>
        </p:spPr>
        <p:txBody>
          <a:bodyPr wrap="square" lIns="0" rIns="0" tIns="0" bIns="0" anchor="t">
            <a:spAutoFit/>
          </a:bodyPr>
          <a:lstStyle/>
          <a:p>
            <a:pPr algn="l">
              <a:lnSpc>
                <a:spcPct val="125000"/>
              </a:lnSpc>
              <a:spcAft>
                <a:spcPts val="300"/>
              </a:spcAft>
            </a:pPr>
            <a:r>
              <a:rPr sz="1200" b="1">
                <a:solidFill>
                  <a:srgbClr val="8CC63F"/>
                </a:solidFill>
                <a:latin typeface="Arial"/>
              </a:rPr>
              <a:t>VIP</a:t>
            </a:r>
          </a:p>
        </p:txBody>
      </p:sp>
      <p:sp>
        <p:nvSpPr>
          <p:cNvPr id="28" name="TextBox 27"/>
          <p:cNvSpPr txBox="1"/>
          <p:nvPr/>
        </p:nvSpPr>
        <p:spPr>
          <a:xfrm>
            <a:off x="3454400" y="5410200"/>
            <a:ext cx="2590800" cy="152400"/>
          </a:xfrm>
          <a:prstGeom prst="rect">
            <a:avLst/>
          </a:prstGeom>
          <a:noFill/>
        </p:spPr>
        <p:txBody>
          <a:bodyPr wrap="square" lIns="0" rIns="0" tIns="0" bIns="0" anchor="t">
            <a:spAutoFit/>
          </a:bodyPr>
          <a:lstStyle/>
          <a:p>
            <a:pPr algn="l">
              <a:lnSpc>
                <a:spcPct val="125000"/>
              </a:lnSpc>
              <a:spcAft>
                <a:spcPts val="300"/>
              </a:spcAft>
            </a:pPr>
            <a:r>
              <a:rPr sz="800" b="0">
                <a:solidFill>
                  <a:srgbClr val="DCE5F3"/>
                </a:solidFill>
                <a:latin typeface="Arial"/>
              </a:rPr>
              <a:t>automatic vehicle route monitoring</a:t>
            </a:r>
          </a:p>
        </p:txBody>
      </p:sp>
      <p:sp>
        <p:nvSpPr>
          <p:cNvPr id="29" name="TextBox 28"/>
          <p:cNvSpPr txBox="1"/>
          <p:nvPr/>
        </p:nvSpPr>
        <p:spPr>
          <a:xfrm>
            <a:off x="6146800" y="5194300"/>
            <a:ext cx="2590800" cy="228600"/>
          </a:xfrm>
          <a:prstGeom prst="rect">
            <a:avLst/>
          </a:prstGeom>
          <a:noFill/>
        </p:spPr>
        <p:txBody>
          <a:bodyPr wrap="square" lIns="0" rIns="0" tIns="0" bIns="0" anchor="t">
            <a:spAutoFit/>
          </a:bodyPr>
          <a:lstStyle/>
          <a:p>
            <a:pPr algn="l">
              <a:lnSpc>
                <a:spcPct val="125000"/>
              </a:lnSpc>
              <a:spcAft>
                <a:spcPts val="300"/>
              </a:spcAft>
            </a:pPr>
            <a:r>
              <a:rPr sz="1200" b="1">
                <a:solidFill>
                  <a:srgbClr val="8CC63F"/>
                </a:solidFill>
                <a:latin typeface="Arial"/>
              </a:rPr>
              <a:t>City-wide</a:t>
            </a:r>
          </a:p>
        </p:txBody>
      </p:sp>
      <p:sp>
        <p:nvSpPr>
          <p:cNvPr id="30" name="TextBox 29"/>
          <p:cNvSpPr txBox="1"/>
          <p:nvPr/>
        </p:nvSpPr>
        <p:spPr>
          <a:xfrm>
            <a:off x="6146800" y="5410200"/>
            <a:ext cx="2590800" cy="152400"/>
          </a:xfrm>
          <a:prstGeom prst="rect">
            <a:avLst/>
          </a:prstGeom>
          <a:noFill/>
        </p:spPr>
        <p:txBody>
          <a:bodyPr wrap="square" lIns="0" rIns="0" tIns="0" bIns="0" anchor="t">
            <a:spAutoFit/>
          </a:bodyPr>
          <a:lstStyle/>
          <a:p>
            <a:pPr algn="l">
              <a:lnSpc>
                <a:spcPct val="125000"/>
              </a:lnSpc>
              <a:spcAft>
                <a:spcPts val="300"/>
              </a:spcAft>
            </a:pPr>
            <a:r>
              <a:rPr sz="800" b="0">
                <a:solidFill>
                  <a:srgbClr val="DCE5F3"/>
                </a:solidFill>
                <a:latin typeface="Arial"/>
              </a:rPr>
              <a:t>emergency video communication</a:t>
            </a:r>
          </a:p>
        </p:txBody>
      </p:sp>
      <p:sp>
        <p:nvSpPr>
          <p:cNvPr id="31" name="TextBox 30"/>
          <p:cNvSpPr txBox="1"/>
          <p:nvPr/>
        </p:nvSpPr>
        <p:spPr>
          <a:xfrm>
            <a:off x="8839200" y="5194300"/>
            <a:ext cx="2590800" cy="228600"/>
          </a:xfrm>
          <a:prstGeom prst="rect">
            <a:avLst/>
          </a:prstGeom>
          <a:noFill/>
        </p:spPr>
        <p:txBody>
          <a:bodyPr wrap="square" lIns="0" rIns="0" tIns="0" bIns="0" anchor="t">
            <a:spAutoFit/>
          </a:bodyPr>
          <a:lstStyle/>
          <a:p>
            <a:pPr algn="l">
              <a:lnSpc>
                <a:spcPct val="125000"/>
              </a:lnSpc>
              <a:spcAft>
                <a:spcPts val="300"/>
              </a:spcAft>
            </a:pPr>
            <a:r>
              <a:rPr sz="1200" b="1">
                <a:solidFill>
                  <a:srgbClr val="8CC63F"/>
                </a:solidFill>
                <a:latin typeface="Arial"/>
              </a:rPr>
              <a:t>24/7</a:t>
            </a:r>
          </a:p>
        </p:txBody>
      </p:sp>
      <p:sp>
        <p:nvSpPr>
          <p:cNvPr id="32" name="TextBox 31"/>
          <p:cNvSpPr txBox="1"/>
          <p:nvPr/>
        </p:nvSpPr>
        <p:spPr>
          <a:xfrm>
            <a:off x="8839200" y="5410200"/>
            <a:ext cx="2590800" cy="152400"/>
          </a:xfrm>
          <a:prstGeom prst="rect">
            <a:avLst/>
          </a:prstGeom>
          <a:noFill/>
        </p:spPr>
        <p:txBody>
          <a:bodyPr wrap="square" lIns="0" rIns="0" tIns="0" bIns="0" anchor="t">
            <a:spAutoFit/>
          </a:bodyPr>
          <a:lstStyle/>
          <a:p>
            <a:pPr algn="l">
              <a:lnSpc>
                <a:spcPct val="125000"/>
              </a:lnSpc>
              <a:spcAft>
                <a:spcPts val="300"/>
              </a:spcAft>
            </a:pPr>
            <a:r>
              <a:rPr sz="800" b="0">
                <a:solidFill>
                  <a:srgbClr val="DCE5F3"/>
                </a:solidFill>
                <a:latin typeface="Arial"/>
              </a:rPr>
              <a:t>protection during the summit</a:t>
            </a:r>
          </a:p>
        </p:txBody>
      </p:sp>
      <p:sp>
        <p:nvSpPr>
          <p:cNvPr id="33" name="TextBox 32"/>
          <p:cNvSpPr txBox="1"/>
          <p:nvPr/>
        </p:nvSpPr>
        <p:spPr>
          <a:xfrm>
            <a:off x="609600" y="6451600"/>
            <a:ext cx="10972800" cy="177800"/>
          </a:xfrm>
          <a:prstGeom prst="rect">
            <a:avLst/>
          </a:prstGeom>
          <a:noFill/>
        </p:spPr>
        <p:txBody>
          <a:bodyPr wrap="square" lIns="0" rIns="0" tIns="0" bIns="0" anchor="t">
            <a:spAutoFit/>
          </a:bodyPr>
          <a:lstStyle/>
          <a:p>
            <a:pPr algn="l">
              <a:lnSpc>
                <a:spcPct val="125000"/>
              </a:lnSpc>
              <a:spcAft>
                <a:spcPts val="300"/>
              </a:spcAft>
            </a:pPr>
            <a:r>
              <a:rPr sz="800" b="0">
                <a:solidFill>
                  <a:srgbClr val="93A0B4"/>
                </a:solidFill>
                <a:latin typeface="Arial"/>
              </a:rPr>
              <a:t>Source: Hytera case records (Papua New Guinea Police HQ command centre), slides 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381000"/>
            <a:ext cx="228600" cy="635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39800" y="279400"/>
            <a:ext cx="9906000" cy="381000"/>
          </a:xfrm>
          <a:prstGeom prst="rect">
            <a:avLst/>
          </a:prstGeom>
          <a:noFill/>
        </p:spPr>
        <p:txBody>
          <a:bodyPr wrap="square" lIns="0" rIns="0" tIns="0" bIns="0" anchor="t">
            <a:spAutoFit/>
          </a:bodyPr>
          <a:lstStyle/>
          <a:p>
            <a:pPr algn="l">
              <a:lnSpc>
                <a:spcPct val="125000"/>
              </a:lnSpc>
              <a:spcAft>
                <a:spcPts val="300"/>
              </a:spcAft>
            </a:pPr>
            <a:r>
              <a:rPr sz="2100" b="1">
                <a:solidFill>
                  <a:srgbClr val="0B308E"/>
                </a:solidFill>
                <a:latin typeface="Arial"/>
              </a:rPr>
              <a:t>Who does what</a:t>
            </a:r>
          </a:p>
        </p:txBody>
      </p:sp>
      <p:sp>
        <p:nvSpPr>
          <p:cNvPr id="5" name="TextBox 4"/>
          <p:cNvSpPr txBox="1"/>
          <p:nvPr/>
        </p:nvSpPr>
        <p:spPr>
          <a:xfrm>
            <a:off x="609600" y="787400"/>
            <a:ext cx="8890000" cy="203200"/>
          </a:xfrm>
          <a:prstGeom prst="rect">
            <a:avLst/>
          </a:prstGeom>
          <a:noFill/>
        </p:spPr>
        <p:txBody>
          <a:bodyPr wrap="square" lIns="0" rIns="0" tIns="0" bIns="0" anchor="t">
            <a:spAutoFit/>
          </a:bodyPr>
          <a:lstStyle/>
          <a:p>
            <a:pPr algn="l">
              <a:lnSpc>
                <a:spcPct val="125000"/>
              </a:lnSpc>
              <a:spcAft>
                <a:spcPts val="300"/>
              </a:spcAft>
            </a:pPr>
            <a:r>
              <a:rPr sz="850" b="1">
                <a:solidFill>
                  <a:srgbClr val="7F9B00"/>
                </a:solidFill>
                <a:latin typeface="Arial"/>
              </a:rPr>
              <a:t>BUSINESS MODEL</a:t>
            </a:r>
          </a:p>
        </p:txBody>
      </p:sp>
      <p:sp>
        <p:nvSpPr>
          <p:cNvPr id="6" name="TextBox 5"/>
          <p:cNvSpPr txBox="1"/>
          <p:nvPr/>
        </p:nvSpPr>
        <p:spPr>
          <a:xfrm>
            <a:off x="11023600" y="279400"/>
            <a:ext cx="558800" cy="330200"/>
          </a:xfrm>
          <a:prstGeom prst="rect">
            <a:avLst/>
          </a:prstGeom>
          <a:noFill/>
        </p:spPr>
        <p:txBody>
          <a:bodyPr wrap="square" lIns="0" rIns="0" tIns="0" bIns="0" anchor="t">
            <a:spAutoFit/>
          </a:bodyPr>
          <a:lstStyle/>
          <a:p>
            <a:pPr algn="r">
              <a:lnSpc>
                <a:spcPct val="125000"/>
              </a:lnSpc>
              <a:spcAft>
                <a:spcPts val="300"/>
              </a:spcAft>
            </a:pPr>
            <a:r>
              <a:rPr sz="1700" b="1">
                <a:solidFill>
                  <a:srgbClr val="0B308E"/>
                </a:solidFill>
                <a:latin typeface="Arial"/>
              </a:rPr>
              <a:t>19</a:t>
            </a:r>
          </a:p>
        </p:txBody>
      </p:sp>
      <p:cxnSp>
        <p:nvCxnSpPr>
          <p:cNvPr id="7" name="Connector 6"/>
          <p:cNvCxnSpPr/>
          <p:nvPr/>
        </p:nvCxnSpPr>
        <p:spPr>
          <a:xfrm>
            <a:off x="609600" y="1041400"/>
            <a:ext cx="10972800" cy="0"/>
          </a:xfrm>
          <a:prstGeom prst="line">
            <a:avLst/>
          </a:prstGeom>
          <a:ln w="12700">
            <a:solidFill>
              <a:srgbClr val="D6E0F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1193800"/>
            <a:ext cx="10972800" cy="228600"/>
          </a:xfrm>
          <a:prstGeom prst="rect">
            <a:avLst/>
          </a:prstGeom>
          <a:noFill/>
        </p:spPr>
        <p:txBody>
          <a:bodyPr wrap="square" lIns="0" rIns="0" tIns="0" bIns="0" anchor="t">
            <a:spAutoFit/>
          </a:bodyPr>
          <a:lstStyle/>
          <a:p>
            <a:pPr algn="l">
              <a:lnSpc>
                <a:spcPct val="125000"/>
              </a:lnSpc>
              <a:spcAft>
                <a:spcPts val="300"/>
              </a:spcAft>
            </a:pPr>
            <a:r>
              <a:rPr sz="1150" b="0">
                <a:solidFill>
                  <a:srgbClr val="55607A"/>
                </a:solidFill>
                <a:latin typeface="Arial"/>
              </a:rPr>
              <a:t>Three parties, one chain. The question is not whether the technology works, but who commits first.</a:t>
            </a:r>
          </a:p>
        </p:txBody>
      </p:sp>
      <p:sp>
        <p:nvSpPr>
          <p:cNvPr id="9" name="Rectangle 8"/>
          <p:cNvSpPr/>
          <p:nvPr/>
        </p:nvSpPr>
        <p:spPr>
          <a:xfrm>
            <a:off x="609600" y="1549400"/>
            <a:ext cx="3352800" cy="1473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12800" y="1701800"/>
            <a:ext cx="50800" cy="330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90600" y="1701800"/>
            <a:ext cx="2794000" cy="330200"/>
          </a:xfrm>
          <a:prstGeom prst="rect">
            <a:avLst/>
          </a:prstGeom>
          <a:noFill/>
        </p:spPr>
        <p:txBody>
          <a:bodyPr wrap="square" lIns="0" rIns="0" tIns="0" bIns="0" anchor="ctr">
            <a:spAutoFit/>
          </a:bodyPr>
          <a:lstStyle/>
          <a:p>
            <a:pPr algn="l">
              <a:lnSpc>
                <a:spcPct val="125000"/>
              </a:lnSpc>
              <a:spcAft>
                <a:spcPts val="300"/>
              </a:spcAft>
            </a:pPr>
            <a:r>
              <a:rPr sz="1450" b="1">
                <a:solidFill>
                  <a:srgbClr val="FFFFFF"/>
                </a:solidFill>
                <a:latin typeface="Arial"/>
              </a:rPr>
              <a:t>Hytera</a:t>
            </a:r>
          </a:p>
        </p:txBody>
      </p:sp>
      <p:sp>
        <p:nvSpPr>
          <p:cNvPr id="12" name="TextBox 11"/>
          <p:cNvSpPr txBox="1"/>
          <p:nvPr/>
        </p:nvSpPr>
        <p:spPr>
          <a:xfrm>
            <a:off x="990600" y="2184400"/>
            <a:ext cx="2768600" cy="736600"/>
          </a:xfrm>
          <a:prstGeom prst="rect">
            <a:avLst/>
          </a:prstGeom>
          <a:noFill/>
        </p:spPr>
        <p:txBody>
          <a:bodyPr wrap="square" lIns="0" rIns="0" tIns="0" bIns="0" anchor="t">
            <a:spAutoFit/>
          </a:bodyPr>
          <a:lstStyle/>
          <a:p>
            <a:pPr algn="l">
              <a:lnSpc>
                <a:spcPct val="130000"/>
              </a:lnSpc>
              <a:spcAft>
                <a:spcPts val="300"/>
              </a:spcAft>
            </a:pPr>
            <a:r>
              <a:rPr sz="950" b="0">
                <a:solidFill>
                  <a:srgbClr val="DCE5F3"/>
                </a:solidFill>
                <a:latin typeface="Arial"/>
              </a:rPr>
              <a:t>supplies the radio, terminals, platform and integration</a:t>
            </a:r>
          </a:p>
        </p:txBody>
      </p:sp>
      <p:sp>
        <p:nvSpPr>
          <p:cNvPr id="13" name="Right Arrow 12"/>
          <p:cNvSpPr/>
          <p:nvPr/>
        </p:nvSpPr>
        <p:spPr>
          <a:xfrm>
            <a:off x="4013200" y="2108200"/>
            <a:ext cx="330200" cy="431800"/>
          </a:xfrm>
          <a:prstGeom prst="rightArrow">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419600" y="1549400"/>
            <a:ext cx="3352800" cy="14732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622800" y="1701800"/>
            <a:ext cx="50800" cy="330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800600" y="1701800"/>
            <a:ext cx="2794000" cy="330200"/>
          </a:xfrm>
          <a:prstGeom prst="rect">
            <a:avLst/>
          </a:prstGeom>
          <a:noFill/>
        </p:spPr>
        <p:txBody>
          <a:bodyPr wrap="square" lIns="0" rIns="0" tIns="0" bIns="0" anchor="ctr">
            <a:spAutoFit/>
          </a:bodyPr>
          <a:lstStyle/>
          <a:p>
            <a:pPr algn="l">
              <a:lnSpc>
                <a:spcPct val="125000"/>
              </a:lnSpc>
              <a:spcAft>
                <a:spcPts val="300"/>
              </a:spcAft>
            </a:pPr>
            <a:r>
              <a:rPr sz="1450" b="1">
                <a:solidFill>
                  <a:srgbClr val="FFFFFF"/>
                </a:solidFill>
                <a:latin typeface="Arial"/>
              </a:rPr>
              <a:t>Globe Telecom</a:t>
            </a:r>
          </a:p>
        </p:txBody>
      </p:sp>
      <p:sp>
        <p:nvSpPr>
          <p:cNvPr id="17" name="TextBox 16"/>
          <p:cNvSpPr txBox="1"/>
          <p:nvPr/>
        </p:nvSpPr>
        <p:spPr>
          <a:xfrm>
            <a:off x="4800600" y="2184400"/>
            <a:ext cx="2768600" cy="736600"/>
          </a:xfrm>
          <a:prstGeom prst="rect">
            <a:avLst/>
          </a:prstGeom>
          <a:noFill/>
        </p:spPr>
        <p:txBody>
          <a:bodyPr wrap="square" lIns="0" rIns="0" tIns="0" bIns="0" anchor="t">
            <a:spAutoFit/>
          </a:bodyPr>
          <a:lstStyle/>
          <a:p>
            <a:pPr algn="l">
              <a:lnSpc>
                <a:spcPct val="130000"/>
              </a:lnSpc>
              <a:spcAft>
                <a:spcPts val="300"/>
              </a:spcAft>
            </a:pPr>
            <a:r>
              <a:rPr sz="950" b="0">
                <a:solidFill>
                  <a:srgbClr val="DCE5F3"/>
                </a:solidFill>
                <a:latin typeface="Arial"/>
              </a:rPr>
              <a:t>holds the spectrum, builds and operates the network, owns the customer relationship</a:t>
            </a:r>
          </a:p>
        </p:txBody>
      </p:sp>
      <p:sp>
        <p:nvSpPr>
          <p:cNvPr id="18" name="Right Arrow 17"/>
          <p:cNvSpPr/>
          <p:nvPr/>
        </p:nvSpPr>
        <p:spPr>
          <a:xfrm>
            <a:off x="7823200" y="2108200"/>
            <a:ext cx="330200" cy="431800"/>
          </a:xfrm>
          <a:prstGeom prst="rightArrow">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229600" y="1549400"/>
            <a:ext cx="3352800" cy="1473200"/>
          </a:xfrm>
          <a:prstGeom prst="rect">
            <a:avLst/>
          </a:prstGeom>
          <a:solidFill>
            <a:srgbClr val="3A5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432800" y="1701800"/>
            <a:ext cx="50800" cy="330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610600" y="1701800"/>
            <a:ext cx="2794000" cy="330200"/>
          </a:xfrm>
          <a:prstGeom prst="rect">
            <a:avLst/>
          </a:prstGeom>
          <a:noFill/>
        </p:spPr>
        <p:txBody>
          <a:bodyPr wrap="square" lIns="0" rIns="0" tIns="0" bIns="0" anchor="ctr">
            <a:spAutoFit/>
          </a:bodyPr>
          <a:lstStyle/>
          <a:p>
            <a:pPr algn="l">
              <a:lnSpc>
                <a:spcPct val="125000"/>
              </a:lnSpc>
              <a:spcAft>
                <a:spcPts val="300"/>
              </a:spcAft>
            </a:pPr>
            <a:r>
              <a:rPr sz="1450" b="1">
                <a:solidFill>
                  <a:srgbClr val="FFFFFF"/>
                </a:solidFill>
                <a:latin typeface="Arial"/>
              </a:rPr>
              <a:t>Anchor customers</a:t>
            </a:r>
          </a:p>
        </p:txBody>
      </p:sp>
      <p:sp>
        <p:nvSpPr>
          <p:cNvPr id="22" name="TextBox 21"/>
          <p:cNvSpPr txBox="1"/>
          <p:nvPr/>
        </p:nvSpPr>
        <p:spPr>
          <a:xfrm>
            <a:off x="8610600" y="2184400"/>
            <a:ext cx="2768600" cy="736600"/>
          </a:xfrm>
          <a:prstGeom prst="rect">
            <a:avLst/>
          </a:prstGeom>
          <a:noFill/>
        </p:spPr>
        <p:txBody>
          <a:bodyPr wrap="square" lIns="0" rIns="0" tIns="0" bIns="0" anchor="t">
            <a:spAutoFit/>
          </a:bodyPr>
          <a:lstStyle/>
          <a:p>
            <a:pPr algn="l">
              <a:lnSpc>
                <a:spcPct val="130000"/>
              </a:lnSpc>
              <a:spcAft>
                <a:spcPts val="300"/>
              </a:spcAft>
            </a:pPr>
            <a:r>
              <a:rPr sz="950" b="0">
                <a:solidFill>
                  <a:srgbClr val="DCE5F3"/>
                </a:solidFill>
                <a:latin typeface="Arial"/>
              </a:rPr>
              <a:t>utilities, public safety, transport and ports contract capacity before build-out</a:t>
            </a:r>
          </a:p>
        </p:txBody>
      </p:sp>
      <p:sp>
        <p:nvSpPr>
          <p:cNvPr id="23" name="TextBox 22"/>
          <p:cNvSpPr txBox="1"/>
          <p:nvPr/>
        </p:nvSpPr>
        <p:spPr>
          <a:xfrm>
            <a:off x="609600" y="3251200"/>
            <a:ext cx="5334000" cy="177800"/>
          </a:xfrm>
          <a:prstGeom prst="rect">
            <a:avLst/>
          </a:prstGeom>
          <a:noFill/>
        </p:spPr>
        <p:txBody>
          <a:bodyPr wrap="square" lIns="0" rIns="0" tIns="0" bIns="0" anchor="t">
            <a:spAutoFit/>
          </a:bodyPr>
          <a:lstStyle/>
          <a:p>
            <a:pPr algn="l">
              <a:lnSpc>
                <a:spcPct val="125000"/>
              </a:lnSpc>
              <a:spcAft>
                <a:spcPts val="300"/>
              </a:spcAft>
            </a:pPr>
            <a:r>
              <a:rPr sz="850" b="1">
                <a:solidFill>
                  <a:srgbClr val="7F9B00"/>
                </a:solidFill>
                <a:latin typeface="Arial"/>
              </a:rPr>
              <a:t>THREE WAYS TO CUT THE COST</a:t>
            </a:r>
          </a:p>
        </p:txBody>
      </p:sp>
      <p:sp>
        <p:nvSpPr>
          <p:cNvPr id="24" name="Rectangle 23"/>
          <p:cNvSpPr/>
          <p:nvPr/>
        </p:nvSpPr>
        <p:spPr>
          <a:xfrm>
            <a:off x="609600" y="3556000"/>
            <a:ext cx="3556000" cy="127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609600" y="3556000"/>
            <a:ext cx="44450" cy="12700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6" name="Picture 25" descr="a_dc3e86c187.png"/>
          <p:cNvPicPr>
            <a:picLocks noChangeAspect="1"/>
          </p:cNvPicPr>
          <p:nvPr/>
        </p:nvPicPr>
        <p:blipFill>
          <a:blip r:embed="rId2"/>
          <a:stretch>
            <a:fillRect/>
          </a:stretch>
        </p:blipFill>
        <p:spPr>
          <a:xfrm>
            <a:off x="865172" y="3733800"/>
            <a:ext cx="250854" cy="508000"/>
          </a:xfrm>
          <a:prstGeom prst="rect">
            <a:avLst/>
          </a:prstGeom>
        </p:spPr>
      </p:pic>
      <p:sp>
        <p:nvSpPr>
          <p:cNvPr id="27" name="TextBox 26"/>
          <p:cNvSpPr txBox="1"/>
          <p:nvPr/>
        </p:nvSpPr>
        <p:spPr>
          <a:xfrm>
            <a:off x="1295400" y="3708400"/>
            <a:ext cx="2667000" cy="279400"/>
          </a:xfrm>
          <a:prstGeom prst="rect">
            <a:avLst/>
          </a:prstGeom>
          <a:noFill/>
        </p:spPr>
        <p:txBody>
          <a:bodyPr wrap="square" lIns="0" rIns="0" tIns="0" bIns="0" anchor="t">
            <a:spAutoFit/>
          </a:bodyPr>
          <a:lstStyle/>
          <a:p>
            <a:pPr algn="l">
              <a:lnSpc>
                <a:spcPct val="120000"/>
              </a:lnSpc>
              <a:spcAft>
                <a:spcPts val="300"/>
              </a:spcAft>
            </a:pPr>
            <a:r>
              <a:rPr sz="1100" b="1">
                <a:solidFill>
                  <a:srgbClr val="0B308E"/>
                </a:solidFill>
                <a:latin typeface="Arial"/>
              </a:rPr>
              <a:t>Reuse what Globe already has</a:t>
            </a:r>
          </a:p>
        </p:txBody>
      </p:sp>
      <p:sp>
        <p:nvSpPr>
          <p:cNvPr id="28" name="TextBox 27"/>
          <p:cNvSpPr txBox="1"/>
          <p:nvPr/>
        </p:nvSpPr>
        <p:spPr>
          <a:xfrm>
            <a:off x="812800" y="4267200"/>
            <a:ext cx="3149600" cy="508000"/>
          </a:xfrm>
          <a:prstGeom prst="rect">
            <a:avLst/>
          </a:prstGeom>
          <a:noFill/>
        </p:spPr>
        <p:txBody>
          <a:bodyPr wrap="square" lIns="0" rIns="0" tIns="0" bIns="0" anchor="t">
            <a:spAutoFit/>
          </a:bodyPr>
          <a:lstStyle/>
          <a:p>
            <a:pPr algn="l">
              <a:lnSpc>
                <a:spcPct val="132000"/>
              </a:lnSpc>
              <a:spcAft>
                <a:spcPts val="300"/>
              </a:spcAft>
            </a:pPr>
            <a:r>
              <a:rPr sz="900" b="0">
                <a:solidFill>
                  <a:srgbClr val="55607A"/>
                </a:solidFill>
                <a:latin typeface="Arial"/>
              </a:rPr>
              <a:t>Towers, fibre, equipment rooms and power are already in place along the routes that matter.</a:t>
            </a:r>
          </a:p>
        </p:txBody>
      </p:sp>
      <p:sp>
        <p:nvSpPr>
          <p:cNvPr id="29" name="Rectangle 28"/>
          <p:cNvSpPr/>
          <p:nvPr/>
        </p:nvSpPr>
        <p:spPr>
          <a:xfrm>
            <a:off x="4318000" y="3556000"/>
            <a:ext cx="3556000" cy="127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4318000" y="3556000"/>
            <a:ext cx="44450" cy="12700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1" name="Picture 30" descr="a_894738e172.png"/>
          <p:cNvPicPr>
            <a:picLocks noChangeAspect="1"/>
          </p:cNvPicPr>
          <p:nvPr/>
        </p:nvPicPr>
        <p:blipFill>
          <a:blip r:embed="rId3"/>
          <a:stretch>
            <a:fillRect/>
          </a:stretch>
        </p:blipFill>
        <p:spPr>
          <a:xfrm>
            <a:off x="4611049" y="3733800"/>
            <a:ext cx="175900" cy="508000"/>
          </a:xfrm>
          <a:prstGeom prst="rect">
            <a:avLst/>
          </a:prstGeom>
        </p:spPr>
      </p:pic>
      <p:sp>
        <p:nvSpPr>
          <p:cNvPr id="32" name="TextBox 31"/>
          <p:cNvSpPr txBox="1"/>
          <p:nvPr/>
        </p:nvSpPr>
        <p:spPr>
          <a:xfrm>
            <a:off x="5003800" y="3708400"/>
            <a:ext cx="2667000" cy="279400"/>
          </a:xfrm>
          <a:prstGeom prst="rect">
            <a:avLst/>
          </a:prstGeom>
          <a:noFill/>
        </p:spPr>
        <p:txBody>
          <a:bodyPr wrap="square" lIns="0" rIns="0" tIns="0" bIns="0" anchor="t">
            <a:spAutoFit/>
          </a:bodyPr>
          <a:lstStyle/>
          <a:p>
            <a:pPr algn="l">
              <a:lnSpc>
                <a:spcPct val="120000"/>
              </a:lnSpc>
              <a:spcAft>
                <a:spcPts val="300"/>
              </a:spcAft>
            </a:pPr>
            <a:r>
              <a:rPr sz="1100" b="1">
                <a:solidFill>
                  <a:srgbClr val="0B308E"/>
                </a:solidFill>
                <a:latin typeface="Arial"/>
              </a:rPr>
              <a:t>Far fewer sites for the same coverage</a:t>
            </a:r>
          </a:p>
        </p:txBody>
      </p:sp>
      <p:sp>
        <p:nvSpPr>
          <p:cNvPr id="33" name="TextBox 32"/>
          <p:cNvSpPr txBox="1"/>
          <p:nvPr/>
        </p:nvSpPr>
        <p:spPr>
          <a:xfrm>
            <a:off x="4521200" y="4267200"/>
            <a:ext cx="3149600" cy="508000"/>
          </a:xfrm>
          <a:prstGeom prst="rect">
            <a:avLst/>
          </a:prstGeom>
          <a:noFill/>
        </p:spPr>
        <p:txBody>
          <a:bodyPr wrap="square" lIns="0" rIns="0" tIns="0" bIns="0" anchor="t">
            <a:spAutoFit/>
          </a:bodyPr>
          <a:lstStyle/>
          <a:p>
            <a:pPr algn="l">
              <a:lnSpc>
                <a:spcPct val="132000"/>
              </a:lnSpc>
              <a:spcAft>
                <a:spcPts val="300"/>
              </a:spcAft>
            </a:pPr>
            <a:r>
              <a:rPr sz="900" b="0">
                <a:solidFill>
                  <a:srgbClr val="55607A"/>
                </a:solidFill>
                <a:latin typeface="Arial"/>
              </a:rPr>
              <a:t>The site count for the same area is a fraction of mid-band - which is what makes backup power affordable.</a:t>
            </a:r>
          </a:p>
        </p:txBody>
      </p:sp>
      <p:sp>
        <p:nvSpPr>
          <p:cNvPr id="34" name="Rectangle 33"/>
          <p:cNvSpPr/>
          <p:nvPr/>
        </p:nvSpPr>
        <p:spPr>
          <a:xfrm>
            <a:off x="8026400" y="3556000"/>
            <a:ext cx="3556000" cy="127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8026400" y="3556000"/>
            <a:ext cx="44450" cy="12700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6" name="Picture 35" descr="a_78763ef599.png"/>
          <p:cNvPicPr>
            <a:picLocks noChangeAspect="1"/>
          </p:cNvPicPr>
          <p:nvPr/>
        </p:nvPicPr>
        <p:blipFill>
          <a:blip r:embed="rId4"/>
          <a:stretch>
            <a:fillRect/>
          </a:stretch>
        </p:blipFill>
        <p:spPr>
          <a:xfrm>
            <a:off x="8229600" y="3782109"/>
            <a:ext cx="355600" cy="411380"/>
          </a:xfrm>
          <a:prstGeom prst="rect">
            <a:avLst/>
          </a:prstGeom>
        </p:spPr>
      </p:pic>
      <p:sp>
        <p:nvSpPr>
          <p:cNvPr id="37" name="TextBox 36"/>
          <p:cNvSpPr txBox="1"/>
          <p:nvPr/>
        </p:nvSpPr>
        <p:spPr>
          <a:xfrm>
            <a:off x="8712200" y="3708400"/>
            <a:ext cx="2667000" cy="279400"/>
          </a:xfrm>
          <a:prstGeom prst="rect">
            <a:avLst/>
          </a:prstGeom>
          <a:noFill/>
        </p:spPr>
        <p:txBody>
          <a:bodyPr wrap="square" lIns="0" rIns="0" tIns="0" bIns="0" anchor="t">
            <a:spAutoFit/>
          </a:bodyPr>
          <a:lstStyle/>
          <a:p>
            <a:pPr algn="l">
              <a:lnSpc>
                <a:spcPct val="120000"/>
              </a:lnSpc>
              <a:spcAft>
                <a:spcPts val="300"/>
              </a:spcAft>
            </a:pPr>
            <a:r>
              <a:rPr sz="1100" b="1">
                <a:solidFill>
                  <a:srgbClr val="0B308E"/>
                </a:solidFill>
                <a:latin typeface="Arial"/>
              </a:rPr>
              <a:t>Contract the demand before the build</a:t>
            </a:r>
          </a:p>
        </p:txBody>
      </p:sp>
      <p:sp>
        <p:nvSpPr>
          <p:cNvPr id="38" name="TextBox 37"/>
          <p:cNvSpPr txBox="1"/>
          <p:nvPr/>
        </p:nvSpPr>
        <p:spPr>
          <a:xfrm>
            <a:off x="8229600" y="4267200"/>
            <a:ext cx="3149600" cy="508000"/>
          </a:xfrm>
          <a:prstGeom prst="rect">
            <a:avLst/>
          </a:prstGeom>
          <a:noFill/>
        </p:spPr>
        <p:txBody>
          <a:bodyPr wrap="square" lIns="0" rIns="0" tIns="0" bIns="0" anchor="t">
            <a:spAutoFit/>
          </a:bodyPr>
          <a:lstStyle/>
          <a:p>
            <a:pPr algn="l">
              <a:lnSpc>
                <a:spcPct val="132000"/>
              </a:lnSpc>
              <a:spcAft>
                <a:spcPts val="300"/>
              </a:spcAft>
            </a:pPr>
            <a:r>
              <a:rPr sz="900" b="0">
                <a:solidFill>
                  <a:srgbClr val="55607A"/>
                </a:solidFill>
                <a:latin typeface="Arial"/>
              </a:rPr>
              <a:t>Anchor customers commit capacity first, so the network is built against revenue rather than in front of it.</a:t>
            </a:r>
          </a:p>
        </p:txBody>
      </p:sp>
      <p:sp>
        <p:nvSpPr>
          <p:cNvPr id="39" name="Rectangle 38"/>
          <p:cNvSpPr/>
          <p:nvPr/>
        </p:nvSpPr>
        <p:spPr>
          <a:xfrm>
            <a:off x="609600" y="4978400"/>
            <a:ext cx="10972800" cy="5588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609600" y="4978400"/>
            <a:ext cx="44450" cy="5588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838200" y="4978400"/>
            <a:ext cx="10515600" cy="558800"/>
          </a:xfrm>
          <a:prstGeom prst="rect">
            <a:avLst/>
          </a:prstGeom>
          <a:noFill/>
        </p:spPr>
        <p:txBody>
          <a:bodyPr wrap="square" lIns="0" rIns="0" tIns="0" bIns="0" anchor="ctr">
            <a:spAutoFit/>
          </a:bodyPr>
          <a:lstStyle/>
          <a:p>
            <a:pPr algn="l">
              <a:lnSpc>
                <a:spcPct val="130000"/>
              </a:lnSpc>
            </a:pPr>
            <a:r>
              <a:rPr sz="1100" b="1">
                <a:solidFill>
                  <a:srgbClr val="0B308E"/>
                </a:solidFill>
                <a:latin typeface="Arial"/>
              </a:rPr>
              <a:t>The Alliance’s own assessment:  </a:t>
            </a:r>
            <a:r>
              <a:rPr sz="1100" b="0">
                <a:solidFill>
                  <a:srgbClr val="55607A"/>
                </a:solidFill>
                <a:latin typeface="Arial"/>
              </a:rPr>
              <a:t>the main risk in this band is commercial uptake, not deployment - which is why the sequencing matters more than the technology.</a:t>
            </a:r>
          </a:p>
        </p:txBody>
      </p:sp>
      <p:sp>
        <p:nvSpPr>
          <p:cNvPr id="42" name="TextBox 41"/>
          <p:cNvSpPr txBox="1"/>
          <p:nvPr/>
        </p:nvSpPr>
        <p:spPr>
          <a:xfrm>
            <a:off x="609600" y="6451600"/>
            <a:ext cx="10972800" cy="177800"/>
          </a:xfrm>
          <a:prstGeom prst="rect">
            <a:avLst/>
          </a:prstGeom>
          <a:noFill/>
        </p:spPr>
        <p:txBody>
          <a:bodyPr wrap="square" lIns="0" rIns="0" tIns="0" bIns="0" anchor="t">
            <a:spAutoFit/>
          </a:bodyPr>
          <a:lstStyle/>
          <a:p>
            <a:pPr algn="l">
              <a:lnSpc>
                <a:spcPct val="125000"/>
              </a:lnSpc>
              <a:spcAft>
                <a:spcPts val="300"/>
              </a:spcAft>
            </a:pPr>
            <a:r>
              <a:rPr sz="800" b="0">
                <a:solidFill>
                  <a:srgbClr val="93A0B4"/>
                </a:solidFill>
                <a:latin typeface="Arial"/>
              </a:rPr>
              <a:t>Source: 450 MHz Alliance, Annual Global Update (Dec 2025); Hytera proposal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381000"/>
            <a:ext cx="228600" cy="635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39800" y="279400"/>
            <a:ext cx="9906000" cy="381000"/>
          </a:xfrm>
          <a:prstGeom prst="rect">
            <a:avLst/>
          </a:prstGeom>
          <a:noFill/>
        </p:spPr>
        <p:txBody>
          <a:bodyPr wrap="square" lIns="0" rIns="0" tIns="0" bIns="0" anchor="t">
            <a:spAutoFit/>
          </a:bodyPr>
          <a:lstStyle/>
          <a:p>
            <a:pPr algn="l">
              <a:lnSpc>
                <a:spcPct val="125000"/>
              </a:lnSpc>
              <a:spcAft>
                <a:spcPts val="300"/>
              </a:spcAft>
            </a:pPr>
            <a:r>
              <a:rPr sz="2100" b="1">
                <a:solidFill>
                  <a:srgbClr val="0B308E"/>
                </a:solidFill>
                <a:latin typeface="Arial"/>
              </a:rPr>
              <a:t>Six revenue streams on one network</a:t>
            </a:r>
          </a:p>
        </p:txBody>
      </p:sp>
      <p:sp>
        <p:nvSpPr>
          <p:cNvPr id="5" name="TextBox 4"/>
          <p:cNvSpPr txBox="1"/>
          <p:nvPr/>
        </p:nvSpPr>
        <p:spPr>
          <a:xfrm>
            <a:off x="609600" y="787400"/>
            <a:ext cx="8890000" cy="203200"/>
          </a:xfrm>
          <a:prstGeom prst="rect">
            <a:avLst/>
          </a:prstGeom>
          <a:noFill/>
        </p:spPr>
        <p:txBody>
          <a:bodyPr wrap="square" lIns="0" rIns="0" tIns="0" bIns="0" anchor="t">
            <a:spAutoFit/>
          </a:bodyPr>
          <a:lstStyle/>
          <a:p>
            <a:pPr algn="l">
              <a:lnSpc>
                <a:spcPct val="125000"/>
              </a:lnSpc>
              <a:spcAft>
                <a:spcPts val="300"/>
              </a:spcAft>
            </a:pPr>
            <a:r>
              <a:rPr sz="850" b="1">
                <a:solidFill>
                  <a:srgbClr val="7F9B00"/>
                </a:solidFill>
                <a:latin typeface="Arial"/>
              </a:rPr>
              <a:t>BUSINESS MODEL</a:t>
            </a:r>
          </a:p>
        </p:txBody>
      </p:sp>
      <p:sp>
        <p:nvSpPr>
          <p:cNvPr id="6" name="TextBox 5"/>
          <p:cNvSpPr txBox="1"/>
          <p:nvPr/>
        </p:nvSpPr>
        <p:spPr>
          <a:xfrm>
            <a:off x="11023600" y="279400"/>
            <a:ext cx="558800" cy="330200"/>
          </a:xfrm>
          <a:prstGeom prst="rect">
            <a:avLst/>
          </a:prstGeom>
          <a:noFill/>
        </p:spPr>
        <p:txBody>
          <a:bodyPr wrap="square" lIns="0" rIns="0" tIns="0" bIns="0" anchor="t">
            <a:spAutoFit/>
          </a:bodyPr>
          <a:lstStyle/>
          <a:p>
            <a:pPr algn="r">
              <a:lnSpc>
                <a:spcPct val="125000"/>
              </a:lnSpc>
              <a:spcAft>
                <a:spcPts val="300"/>
              </a:spcAft>
            </a:pPr>
            <a:r>
              <a:rPr sz="1700" b="1">
                <a:solidFill>
                  <a:srgbClr val="0B308E"/>
                </a:solidFill>
                <a:latin typeface="Arial"/>
              </a:rPr>
              <a:t>20</a:t>
            </a:r>
          </a:p>
        </p:txBody>
      </p:sp>
      <p:cxnSp>
        <p:nvCxnSpPr>
          <p:cNvPr id="7" name="Connector 6"/>
          <p:cNvCxnSpPr/>
          <p:nvPr/>
        </p:nvCxnSpPr>
        <p:spPr>
          <a:xfrm>
            <a:off x="609600" y="1041400"/>
            <a:ext cx="10972800" cy="0"/>
          </a:xfrm>
          <a:prstGeom prst="line">
            <a:avLst/>
          </a:prstGeom>
          <a:ln w="12700">
            <a:solidFill>
              <a:srgbClr val="D6E0F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1193800"/>
            <a:ext cx="10972800" cy="228600"/>
          </a:xfrm>
          <a:prstGeom prst="rect">
            <a:avLst/>
          </a:prstGeom>
          <a:noFill/>
        </p:spPr>
        <p:txBody>
          <a:bodyPr wrap="square" lIns="0" rIns="0" tIns="0" bIns="0" anchor="t">
            <a:spAutoFit/>
          </a:bodyPr>
          <a:lstStyle/>
          <a:p>
            <a:pPr algn="l">
              <a:lnSpc>
                <a:spcPct val="125000"/>
              </a:lnSpc>
              <a:spcAft>
                <a:spcPts val="300"/>
              </a:spcAft>
            </a:pPr>
            <a:r>
              <a:rPr sz="1150" b="0">
                <a:solidFill>
                  <a:srgbClr val="55607A"/>
                </a:solidFill>
                <a:latin typeface="Arial"/>
              </a:rPr>
              <a:t>A single 450 MHz build supports six commercial lines. None of them depends on consumer take-up.</a:t>
            </a:r>
          </a:p>
        </p:txBody>
      </p:sp>
      <p:sp>
        <p:nvSpPr>
          <p:cNvPr id="9" name="Rectangle 8"/>
          <p:cNvSpPr/>
          <p:nvPr/>
        </p:nvSpPr>
        <p:spPr>
          <a:xfrm>
            <a:off x="609600" y="1549400"/>
            <a:ext cx="3556000" cy="1828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09600" y="1549400"/>
            <a:ext cx="3556000" cy="4445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a_f5756d3699.png"/>
          <p:cNvPicPr>
            <a:picLocks noChangeAspect="1"/>
          </p:cNvPicPr>
          <p:nvPr/>
        </p:nvPicPr>
        <p:blipFill>
          <a:blip r:embed="rId2"/>
          <a:stretch>
            <a:fillRect/>
          </a:stretch>
        </p:blipFill>
        <p:spPr>
          <a:xfrm>
            <a:off x="962554" y="1803400"/>
            <a:ext cx="259291" cy="508000"/>
          </a:xfrm>
          <a:prstGeom prst="rect">
            <a:avLst/>
          </a:prstGeom>
        </p:spPr>
      </p:pic>
      <p:sp>
        <p:nvSpPr>
          <p:cNvPr id="12" name="Rectangle 11"/>
          <p:cNvSpPr/>
          <p:nvPr/>
        </p:nvSpPr>
        <p:spPr>
          <a:xfrm>
            <a:off x="1498600" y="1930400"/>
            <a:ext cx="203200" cy="381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498600" y="2057400"/>
            <a:ext cx="2463800" cy="457200"/>
          </a:xfrm>
          <a:prstGeom prst="rect">
            <a:avLst/>
          </a:prstGeom>
          <a:noFill/>
        </p:spPr>
        <p:txBody>
          <a:bodyPr wrap="square" lIns="0" rIns="0" tIns="0" bIns="0" anchor="t">
            <a:spAutoFit/>
          </a:bodyPr>
          <a:lstStyle/>
          <a:p>
            <a:pPr algn="l">
              <a:lnSpc>
                <a:spcPct val="120000"/>
              </a:lnSpc>
              <a:spcAft>
                <a:spcPts val="300"/>
              </a:spcAft>
            </a:pPr>
            <a:r>
              <a:rPr sz="1250" b="1">
                <a:solidFill>
                  <a:srgbClr val="0B308E"/>
                </a:solidFill>
                <a:latin typeface="Arial"/>
              </a:rPr>
              <a:t>IoT connectivity</a:t>
            </a:r>
          </a:p>
        </p:txBody>
      </p:sp>
      <p:sp>
        <p:nvSpPr>
          <p:cNvPr id="14" name="TextBox 13"/>
          <p:cNvSpPr txBox="1"/>
          <p:nvPr/>
        </p:nvSpPr>
        <p:spPr>
          <a:xfrm>
            <a:off x="812800" y="2540000"/>
            <a:ext cx="3149600" cy="711200"/>
          </a:xfrm>
          <a:prstGeom prst="rect">
            <a:avLst/>
          </a:prstGeom>
          <a:noFill/>
        </p:spPr>
        <p:txBody>
          <a:bodyPr wrap="square" lIns="0" rIns="0" tIns="0" bIns="0" anchor="t">
            <a:spAutoFit/>
          </a:bodyPr>
          <a:lstStyle/>
          <a:p>
            <a:pPr algn="l">
              <a:lnSpc>
                <a:spcPct val="135000"/>
              </a:lnSpc>
              <a:spcAft>
                <a:spcPts val="300"/>
              </a:spcAft>
            </a:pPr>
            <a:r>
              <a:rPr sz="950" b="0">
                <a:solidFill>
                  <a:srgbClr val="55607A"/>
                </a:solidFill>
                <a:latin typeface="Arial"/>
              </a:rPr>
              <a:t>Monthly fee per meter, sensor or asset, on the same sites as the voice service.</a:t>
            </a:r>
          </a:p>
        </p:txBody>
      </p:sp>
      <p:sp>
        <p:nvSpPr>
          <p:cNvPr id="15" name="Rectangle 14"/>
          <p:cNvSpPr/>
          <p:nvPr/>
        </p:nvSpPr>
        <p:spPr>
          <a:xfrm>
            <a:off x="4318000" y="1549400"/>
            <a:ext cx="3556000" cy="1828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318000" y="1549400"/>
            <a:ext cx="3556000" cy="4445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a_894738e172.png"/>
          <p:cNvPicPr>
            <a:picLocks noChangeAspect="1"/>
          </p:cNvPicPr>
          <p:nvPr/>
        </p:nvPicPr>
        <p:blipFill>
          <a:blip r:embed="rId3"/>
          <a:stretch>
            <a:fillRect/>
          </a:stretch>
        </p:blipFill>
        <p:spPr>
          <a:xfrm>
            <a:off x="4712649" y="1803400"/>
            <a:ext cx="175900" cy="508000"/>
          </a:xfrm>
          <a:prstGeom prst="rect">
            <a:avLst/>
          </a:prstGeom>
        </p:spPr>
      </p:pic>
      <p:sp>
        <p:nvSpPr>
          <p:cNvPr id="18" name="Rectangle 17"/>
          <p:cNvSpPr/>
          <p:nvPr/>
        </p:nvSpPr>
        <p:spPr>
          <a:xfrm>
            <a:off x="5207000" y="1930400"/>
            <a:ext cx="203200" cy="381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207000" y="2057400"/>
            <a:ext cx="2463800" cy="457200"/>
          </a:xfrm>
          <a:prstGeom prst="rect">
            <a:avLst/>
          </a:prstGeom>
          <a:noFill/>
        </p:spPr>
        <p:txBody>
          <a:bodyPr wrap="square" lIns="0" rIns="0" tIns="0" bIns="0" anchor="t">
            <a:spAutoFit/>
          </a:bodyPr>
          <a:lstStyle/>
          <a:p>
            <a:pPr algn="l">
              <a:lnSpc>
                <a:spcPct val="120000"/>
              </a:lnSpc>
              <a:spcAft>
                <a:spcPts val="300"/>
              </a:spcAft>
            </a:pPr>
            <a:r>
              <a:rPr sz="1250" b="1">
                <a:solidFill>
                  <a:srgbClr val="0B308E"/>
                </a:solidFill>
                <a:latin typeface="Arial"/>
              </a:rPr>
              <a:t>MCX as a service</a:t>
            </a:r>
          </a:p>
        </p:txBody>
      </p:sp>
      <p:sp>
        <p:nvSpPr>
          <p:cNvPr id="20" name="TextBox 19"/>
          <p:cNvSpPr txBox="1"/>
          <p:nvPr/>
        </p:nvSpPr>
        <p:spPr>
          <a:xfrm>
            <a:off x="4521200" y="2540000"/>
            <a:ext cx="3149600" cy="711200"/>
          </a:xfrm>
          <a:prstGeom prst="rect">
            <a:avLst/>
          </a:prstGeom>
          <a:noFill/>
        </p:spPr>
        <p:txBody>
          <a:bodyPr wrap="square" lIns="0" rIns="0" tIns="0" bIns="0" anchor="t">
            <a:spAutoFit/>
          </a:bodyPr>
          <a:lstStyle/>
          <a:p>
            <a:pPr algn="l">
              <a:lnSpc>
                <a:spcPct val="135000"/>
              </a:lnSpc>
              <a:spcAft>
                <a:spcPts val="300"/>
              </a:spcAft>
            </a:pPr>
            <a:r>
              <a:rPr sz="950" b="0">
                <a:solidFill>
                  <a:srgbClr val="55607A"/>
                </a:solidFill>
                <a:latin typeface="Arial"/>
              </a:rPr>
              <a:t>Hosted push-to-talk, video and data, charged per user per month.</a:t>
            </a:r>
          </a:p>
        </p:txBody>
      </p:sp>
      <p:sp>
        <p:nvSpPr>
          <p:cNvPr id="21" name="Rectangle 20"/>
          <p:cNvSpPr/>
          <p:nvPr/>
        </p:nvSpPr>
        <p:spPr>
          <a:xfrm>
            <a:off x="8026400" y="1549400"/>
            <a:ext cx="3556000" cy="1828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8026400" y="1549400"/>
            <a:ext cx="3556000" cy="4445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a_dc3e86c187.png"/>
          <p:cNvPicPr>
            <a:picLocks noChangeAspect="1"/>
          </p:cNvPicPr>
          <p:nvPr/>
        </p:nvPicPr>
        <p:blipFill>
          <a:blip r:embed="rId4"/>
          <a:stretch>
            <a:fillRect/>
          </a:stretch>
        </p:blipFill>
        <p:spPr>
          <a:xfrm>
            <a:off x="8383572" y="1803400"/>
            <a:ext cx="250854" cy="508000"/>
          </a:xfrm>
          <a:prstGeom prst="rect">
            <a:avLst/>
          </a:prstGeom>
        </p:spPr>
      </p:pic>
      <p:sp>
        <p:nvSpPr>
          <p:cNvPr id="24" name="Rectangle 23"/>
          <p:cNvSpPr/>
          <p:nvPr/>
        </p:nvSpPr>
        <p:spPr>
          <a:xfrm>
            <a:off x="8915400" y="1930400"/>
            <a:ext cx="203200" cy="381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915400" y="2057400"/>
            <a:ext cx="2463800" cy="457200"/>
          </a:xfrm>
          <a:prstGeom prst="rect">
            <a:avLst/>
          </a:prstGeom>
          <a:noFill/>
        </p:spPr>
        <p:txBody>
          <a:bodyPr wrap="square" lIns="0" rIns="0" tIns="0" bIns="0" anchor="t">
            <a:spAutoFit/>
          </a:bodyPr>
          <a:lstStyle/>
          <a:p>
            <a:pPr algn="l">
              <a:lnSpc>
                <a:spcPct val="120000"/>
              </a:lnSpc>
              <a:spcAft>
                <a:spcPts val="300"/>
              </a:spcAft>
            </a:pPr>
            <a:r>
              <a:rPr sz="1250" b="1">
                <a:solidFill>
                  <a:srgbClr val="0B308E"/>
                </a:solidFill>
                <a:latin typeface="Arial"/>
              </a:rPr>
              <a:t>Capacity packages</a:t>
            </a:r>
          </a:p>
        </p:txBody>
      </p:sp>
      <p:sp>
        <p:nvSpPr>
          <p:cNvPr id="26" name="TextBox 25"/>
          <p:cNvSpPr txBox="1"/>
          <p:nvPr/>
        </p:nvSpPr>
        <p:spPr>
          <a:xfrm>
            <a:off x="8229600" y="2540000"/>
            <a:ext cx="3149600" cy="711200"/>
          </a:xfrm>
          <a:prstGeom prst="rect">
            <a:avLst/>
          </a:prstGeom>
          <a:noFill/>
        </p:spPr>
        <p:txBody>
          <a:bodyPr wrap="square" lIns="0" rIns="0" tIns="0" bIns="0" anchor="t">
            <a:spAutoFit/>
          </a:bodyPr>
          <a:lstStyle/>
          <a:p>
            <a:pPr algn="l">
              <a:lnSpc>
                <a:spcPct val="135000"/>
              </a:lnSpc>
              <a:spcAft>
                <a:spcPts val="300"/>
              </a:spcAft>
            </a:pPr>
            <a:r>
              <a:rPr sz="950" b="0">
                <a:solidFill>
                  <a:srgbClr val="55607A"/>
                </a:solidFill>
                <a:latin typeface="Arial"/>
              </a:rPr>
              <a:t>Reserved network share for an anchor customer, on a fixed annual fee.</a:t>
            </a:r>
          </a:p>
        </p:txBody>
      </p:sp>
      <p:sp>
        <p:nvSpPr>
          <p:cNvPr id="27" name="Rectangle 26"/>
          <p:cNvSpPr/>
          <p:nvPr/>
        </p:nvSpPr>
        <p:spPr>
          <a:xfrm>
            <a:off x="609600" y="3530600"/>
            <a:ext cx="3556000" cy="1828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609600" y="3530600"/>
            <a:ext cx="3556000" cy="4445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a_407c8bc693.png"/>
          <p:cNvPicPr>
            <a:picLocks noChangeAspect="1"/>
          </p:cNvPicPr>
          <p:nvPr/>
        </p:nvPicPr>
        <p:blipFill>
          <a:blip r:embed="rId5"/>
          <a:stretch>
            <a:fillRect/>
          </a:stretch>
        </p:blipFill>
        <p:spPr>
          <a:xfrm>
            <a:off x="952758" y="3784600"/>
            <a:ext cx="278883" cy="508000"/>
          </a:xfrm>
          <a:prstGeom prst="rect">
            <a:avLst/>
          </a:prstGeom>
        </p:spPr>
      </p:pic>
      <p:sp>
        <p:nvSpPr>
          <p:cNvPr id="30" name="Rectangle 29"/>
          <p:cNvSpPr/>
          <p:nvPr/>
        </p:nvSpPr>
        <p:spPr>
          <a:xfrm>
            <a:off x="1498600" y="3911600"/>
            <a:ext cx="203200" cy="381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1498600" y="4038600"/>
            <a:ext cx="2463800" cy="457200"/>
          </a:xfrm>
          <a:prstGeom prst="rect">
            <a:avLst/>
          </a:prstGeom>
          <a:noFill/>
        </p:spPr>
        <p:txBody>
          <a:bodyPr wrap="square" lIns="0" rIns="0" tIns="0" bIns="0" anchor="t">
            <a:spAutoFit/>
          </a:bodyPr>
          <a:lstStyle/>
          <a:p>
            <a:pPr algn="l">
              <a:lnSpc>
                <a:spcPct val="120000"/>
              </a:lnSpc>
              <a:spcAft>
                <a:spcPts val="300"/>
              </a:spcAft>
            </a:pPr>
            <a:r>
              <a:rPr sz="1250" b="1">
                <a:solidFill>
                  <a:srgbClr val="0B308E"/>
                </a:solidFill>
                <a:latin typeface="Arial"/>
              </a:rPr>
              <a:t>Device as a service</a:t>
            </a:r>
          </a:p>
        </p:txBody>
      </p:sp>
      <p:sp>
        <p:nvSpPr>
          <p:cNvPr id="32" name="TextBox 31"/>
          <p:cNvSpPr txBox="1"/>
          <p:nvPr/>
        </p:nvSpPr>
        <p:spPr>
          <a:xfrm>
            <a:off x="812800" y="4521200"/>
            <a:ext cx="3149600" cy="711200"/>
          </a:xfrm>
          <a:prstGeom prst="rect">
            <a:avLst/>
          </a:prstGeom>
          <a:noFill/>
        </p:spPr>
        <p:txBody>
          <a:bodyPr wrap="square" lIns="0" rIns="0" tIns="0" bIns="0" anchor="t">
            <a:spAutoFit/>
          </a:bodyPr>
          <a:lstStyle/>
          <a:p>
            <a:pPr algn="l">
              <a:lnSpc>
                <a:spcPct val="135000"/>
              </a:lnSpc>
              <a:spcAft>
                <a:spcPts val="300"/>
              </a:spcAft>
            </a:pPr>
            <a:r>
              <a:rPr sz="950" b="0">
                <a:solidFill>
                  <a:srgbClr val="55607A"/>
                </a:solidFill>
                <a:latin typeface="Arial"/>
              </a:rPr>
              <a:t>Terminals bundled with the service, billed monthly rather than bought outright.</a:t>
            </a:r>
          </a:p>
        </p:txBody>
      </p:sp>
      <p:sp>
        <p:nvSpPr>
          <p:cNvPr id="33" name="Rectangle 32"/>
          <p:cNvSpPr/>
          <p:nvPr/>
        </p:nvSpPr>
        <p:spPr>
          <a:xfrm>
            <a:off x="4318000" y="3530600"/>
            <a:ext cx="3556000" cy="1828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318000" y="3530600"/>
            <a:ext cx="3556000" cy="4445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5" name="Picture 34" descr="a_78763ef599.png"/>
          <p:cNvPicPr>
            <a:picLocks noChangeAspect="1"/>
          </p:cNvPicPr>
          <p:nvPr/>
        </p:nvPicPr>
        <p:blipFill>
          <a:blip r:embed="rId6"/>
          <a:stretch>
            <a:fillRect/>
          </a:stretch>
        </p:blipFill>
        <p:spPr>
          <a:xfrm>
            <a:off x="4581040" y="3784600"/>
            <a:ext cx="439118" cy="508000"/>
          </a:xfrm>
          <a:prstGeom prst="rect">
            <a:avLst/>
          </a:prstGeom>
        </p:spPr>
      </p:pic>
      <p:sp>
        <p:nvSpPr>
          <p:cNvPr id="36" name="Rectangle 35"/>
          <p:cNvSpPr/>
          <p:nvPr/>
        </p:nvSpPr>
        <p:spPr>
          <a:xfrm>
            <a:off x="5207000" y="3911600"/>
            <a:ext cx="203200" cy="381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5207000" y="4038600"/>
            <a:ext cx="2463800" cy="457200"/>
          </a:xfrm>
          <a:prstGeom prst="rect">
            <a:avLst/>
          </a:prstGeom>
          <a:noFill/>
        </p:spPr>
        <p:txBody>
          <a:bodyPr wrap="square" lIns="0" rIns="0" tIns="0" bIns="0" anchor="t">
            <a:spAutoFit/>
          </a:bodyPr>
          <a:lstStyle/>
          <a:p>
            <a:pPr algn="l">
              <a:lnSpc>
                <a:spcPct val="120000"/>
              </a:lnSpc>
              <a:spcAft>
                <a:spcPts val="300"/>
              </a:spcAft>
            </a:pPr>
            <a:r>
              <a:rPr sz="1250" b="1">
                <a:solidFill>
                  <a:srgbClr val="0B308E"/>
                </a:solidFill>
                <a:latin typeface="Arial"/>
              </a:rPr>
              <a:t>Integration and O&amp;M</a:t>
            </a:r>
          </a:p>
        </p:txBody>
      </p:sp>
      <p:sp>
        <p:nvSpPr>
          <p:cNvPr id="38" name="TextBox 37"/>
          <p:cNvSpPr txBox="1"/>
          <p:nvPr/>
        </p:nvSpPr>
        <p:spPr>
          <a:xfrm>
            <a:off x="4521200" y="4521200"/>
            <a:ext cx="3149600" cy="711200"/>
          </a:xfrm>
          <a:prstGeom prst="rect">
            <a:avLst/>
          </a:prstGeom>
          <a:noFill/>
        </p:spPr>
        <p:txBody>
          <a:bodyPr wrap="square" lIns="0" rIns="0" tIns="0" bIns="0" anchor="t">
            <a:spAutoFit/>
          </a:bodyPr>
          <a:lstStyle/>
          <a:p>
            <a:pPr algn="l">
              <a:lnSpc>
                <a:spcPct val="135000"/>
              </a:lnSpc>
              <a:spcAft>
                <a:spcPts val="300"/>
              </a:spcAft>
            </a:pPr>
            <a:r>
              <a:rPr sz="950" b="0">
                <a:solidFill>
                  <a:srgbClr val="55607A"/>
                </a:solidFill>
                <a:latin typeface="Arial"/>
              </a:rPr>
              <a:t>SCADA, telemetry and smart-city projects, delivered and maintained.</a:t>
            </a:r>
          </a:p>
        </p:txBody>
      </p:sp>
      <p:sp>
        <p:nvSpPr>
          <p:cNvPr id="39" name="Rectangle 38"/>
          <p:cNvSpPr/>
          <p:nvPr/>
        </p:nvSpPr>
        <p:spPr>
          <a:xfrm>
            <a:off x="8026400" y="3530600"/>
            <a:ext cx="3556000" cy="1828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8026400" y="3530600"/>
            <a:ext cx="3556000" cy="4445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1" name="Picture 40" descr="a_c7d3a1343b.png"/>
          <p:cNvPicPr>
            <a:picLocks noChangeAspect="1"/>
          </p:cNvPicPr>
          <p:nvPr/>
        </p:nvPicPr>
        <p:blipFill>
          <a:blip r:embed="rId7"/>
          <a:stretch>
            <a:fillRect/>
          </a:stretch>
        </p:blipFill>
        <p:spPr>
          <a:xfrm>
            <a:off x="8255000" y="3815316"/>
            <a:ext cx="508000" cy="446567"/>
          </a:xfrm>
          <a:prstGeom prst="rect">
            <a:avLst/>
          </a:prstGeom>
        </p:spPr>
      </p:pic>
      <p:sp>
        <p:nvSpPr>
          <p:cNvPr id="42" name="Rectangle 41"/>
          <p:cNvSpPr/>
          <p:nvPr/>
        </p:nvSpPr>
        <p:spPr>
          <a:xfrm>
            <a:off x="8915400" y="3911600"/>
            <a:ext cx="203200" cy="381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8915400" y="4038600"/>
            <a:ext cx="2463800" cy="457200"/>
          </a:xfrm>
          <a:prstGeom prst="rect">
            <a:avLst/>
          </a:prstGeom>
          <a:noFill/>
        </p:spPr>
        <p:txBody>
          <a:bodyPr wrap="square" lIns="0" rIns="0" tIns="0" bIns="0" anchor="t">
            <a:spAutoFit/>
          </a:bodyPr>
          <a:lstStyle/>
          <a:p>
            <a:pPr algn="l">
              <a:lnSpc>
                <a:spcPct val="120000"/>
              </a:lnSpc>
              <a:spcAft>
                <a:spcPts val="300"/>
              </a:spcAft>
            </a:pPr>
            <a:r>
              <a:rPr sz="1250" b="1">
                <a:solidFill>
                  <a:srgbClr val="0B308E"/>
                </a:solidFill>
                <a:latin typeface="Arial"/>
              </a:rPr>
              <a:t>Emergency readiness</a:t>
            </a:r>
          </a:p>
        </p:txBody>
      </p:sp>
      <p:sp>
        <p:nvSpPr>
          <p:cNvPr id="44" name="TextBox 43"/>
          <p:cNvSpPr txBox="1"/>
          <p:nvPr/>
        </p:nvSpPr>
        <p:spPr>
          <a:xfrm>
            <a:off x="8229600" y="4521200"/>
            <a:ext cx="3149600" cy="711200"/>
          </a:xfrm>
          <a:prstGeom prst="rect">
            <a:avLst/>
          </a:prstGeom>
          <a:noFill/>
        </p:spPr>
        <p:txBody>
          <a:bodyPr wrap="square" lIns="0" rIns="0" tIns="0" bIns="0" anchor="t">
            <a:spAutoFit/>
          </a:bodyPr>
          <a:lstStyle/>
          <a:p>
            <a:pPr algn="l">
              <a:lnSpc>
                <a:spcPct val="135000"/>
              </a:lnSpc>
              <a:spcAft>
                <a:spcPts val="300"/>
              </a:spcAft>
            </a:pPr>
            <a:r>
              <a:rPr sz="950" b="0">
                <a:solidFill>
                  <a:srgbClr val="55607A"/>
                </a:solidFill>
                <a:latin typeface="Arial"/>
              </a:rPr>
              <a:t>Rapid deployment kit on standby, retained by the province or the agency.</a:t>
            </a:r>
          </a:p>
        </p:txBody>
      </p:sp>
      <p:sp>
        <p:nvSpPr>
          <p:cNvPr id="45" name="Rectangle 44"/>
          <p:cNvSpPr/>
          <p:nvPr/>
        </p:nvSpPr>
        <p:spPr>
          <a:xfrm>
            <a:off x="0" y="5740400"/>
            <a:ext cx="12192000" cy="508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609600" y="5740400"/>
            <a:ext cx="10972800" cy="508000"/>
          </a:xfrm>
          <a:prstGeom prst="rect">
            <a:avLst/>
          </a:prstGeom>
          <a:noFill/>
        </p:spPr>
        <p:txBody>
          <a:bodyPr wrap="square" lIns="0" rIns="0" tIns="0" bIns="0" anchor="ctr">
            <a:spAutoFit/>
          </a:bodyPr>
          <a:lstStyle/>
          <a:p>
            <a:pPr algn="l">
              <a:lnSpc>
                <a:spcPct val="130000"/>
              </a:lnSpc>
            </a:pPr>
            <a:r>
              <a:rPr sz="1200" b="1">
                <a:solidFill>
                  <a:srgbClr val="FFFFFF"/>
                </a:solidFill>
                <a:latin typeface="Arial"/>
              </a:rPr>
              <a:t>One build, six lines.  </a:t>
            </a:r>
            <a:r>
              <a:rPr sz="1200" b="0">
                <a:solidFill>
                  <a:srgbClr val="DCE5F3"/>
                </a:solidFill>
                <a:latin typeface="Arial"/>
              </a:rPr>
              <a:t>The utility contract funds the coverage that the other five then use.</a:t>
            </a:r>
          </a:p>
        </p:txBody>
      </p:sp>
      <p:sp>
        <p:nvSpPr>
          <p:cNvPr id="47" name="TextBox 46"/>
          <p:cNvSpPr txBox="1"/>
          <p:nvPr/>
        </p:nvSpPr>
        <p:spPr>
          <a:xfrm>
            <a:off x="609600" y="6451600"/>
            <a:ext cx="10972800" cy="177800"/>
          </a:xfrm>
          <a:prstGeom prst="rect">
            <a:avLst/>
          </a:prstGeom>
          <a:noFill/>
        </p:spPr>
        <p:txBody>
          <a:bodyPr wrap="square" lIns="0" rIns="0" tIns="0" bIns="0" anchor="t">
            <a:spAutoFit/>
          </a:bodyPr>
          <a:lstStyle/>
          <a:p>
            <a:pPr algn="l">
              <a:lnSpc>
                <a:spcPct val="125000"/>
              </a:lnSpc>
              <a:spcAft>
                <a:spcPts val="300"/>
              </a:spcAft>
            </a:pPr>
            <a:r>
              <a:rPr sz="800" b="0">
                <a:solidFill>
                  <a:srgbClr val="93A0B4"/>
                </a:solidFill>
                <a:latin typeface="Arial"/>
              </a:rPr>
              <a:t>Source: Hytera proposal; 450 MHz Alliance business model material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09600" y="381000"/>
            <a:ext cx="228600" cy="635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39800" y="279400"/>
            <a:ext cx="9906000" cy="381000"/>
          </a:xfrm>
          <a:prstGeom prst="rect">
            <a:avLst/>
          </a:prstGeom>
          <a:noFill/>
        </p:spPr>
        <p:txBody>
          <a:bodyPr wrap="square" lIns="0" rIns="0" tIns="0" bIns="0" anchor="t">
            <a:spAutoFit/>
          </a:bodyPr>
          <a:lstStyle/>
          <a:p>
            <a:pPr algn="l">
              <a:lnSpc>
                <a:spcPct val="125000"/>
              </a:lnSpc>
              <a:spcAft>
                <a:spcPts val="300"/>
              </a:spcAft>
            </a:pPr>
            <a:r>
              <a:rPr sz="2100" b="1">
                <a:solidFill>
                  <a:srgbClr val="0B308E"/>
                </a:solidFill>
                <a:latin typeface="Arial"/>
              </a:rPr>
              <a:t>Roadmap: pilot first, then scale</a:t>
            </a:r>
          </a:p>
        </p:txBody>
      </p:sp>
      <p:sp>
        <p:nvSpPr>
          <p:cNvPr id="5" name="TextBox 4"/>
          <p:cNvSpPr txBox="1"/>
          <p:nvPr/>
        </p:nvSpPr>
        <p:spPr>
          <a:xfrm>
            <a:off x="609600" y="787400"/>
            <a:ext cx="8890000" cy="203200"/>
          </a:xfrm>
          <a:prstGeom prst="rect">
            <a:avLst/>
          </a:prstGeom>
          <a:noFill/>
        </p:spPr>
        <p:txBody>
          <a:bodyPr wrap="square" lIns="0" rIns="0" tIns="0" bIns="0" anchor="t">
            <a:spAutoFit/>
          </a:bodyPr>
          <a:lstStyle/>
          <a:p>
            <a:pPr algn="l">
              <a:lnSpc>
                <a:spcPct val="125000"/>
              </a:lnSpc>
              <a:spcAft>
                <a:spcPts val="300"/>
              </a:spcAft>
            </a:pPr>
            <a:r>
              <a:rPr sz="850" b="1">
                <a:solidFill>
                  <a:srgbClr val="7F9B00"/>
                </a:solidFill>
                <a:latin typeface="Arial"/>
              </a:rPr>
              <a:t>NEXT STEPS</a:t>
            </a:r>
          </a:p>
        </p:txBody>
      </p:sp>
      <p:sp>
        <p:nvSpPr>
          <p:cNvPr id="6" name="TextBox 5"/>
          <p:cNvSpPr txBox="1"/>
          <p:nvPr/>
        </p:nvSpPr>
        <p:spPr>
          <a:xfrm>
            <a:off x="11023600" y="279400"/>
            <a:ext cx="558800" cy="330200"/>
          </a:xfrm>
          <a:prstGeom prst="rect">
            <a:avLst/>
          </a:prstGeom>
          <a:noFill/>
        </p:spPr>
        <p:txBody>
          <a:bodyPr wrap="square" lIns="0" rIns="0" tIns="0" bIns="0" anchor="t">
            <a:spAutoFit/>
          </a:bodyPr>
          <a:lstStyle/>
          <a:p>
            <a:pPr algn="r">
              <a:lnSpc>
                <a:spcPct val="125000"/>
              </a:lnSpc>
              <a:spcAft>
                <a:spcPts val="300"/>
              </a:spcAft>
            </a:pPr>
            <a:r>
              <a:rPr sz="1700" b="1">
                <a:solidFill>
                  <a:srgbClr val="0B308E"/>
                </a:solidFill>
                <a:latin typeface="Arial"/>
              </a:rPr>
              <a:t>21</a:t>
            </a:r>
          </a:p>
        </p:txBody>
      </p:sp>
      <p:cxnSp>
        <p:nvCxnSpPr>
          <p:cNvPr id="7" name="Connector 6"/>
          <p:cNvCxnSpPr/>
          <p:nvPr/>
        </p:nvCxnSpPr>
        <p:spPr>
          <a:xfrm>
            <a:off x="609600" y="1041400"/>
            <a:ext cx="10972800" cy="0"/>
          </a:xfrm>
          <a:prstGeom prst="line">
            <a:avLst/>
          </a:prstGeom>
          <a:ln w="12700">
            <a:solidFill>
              <a:srgbClr val="D6E0F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9600" y="1193800"/>
            <a:ext cx="10972800" cy="228600"/>
          </a:xfrm>
          <a:prstGeom prst="rect">
            <a:avLst/>
          </a:prstGeom>
          <a:noFill/>
        </p:spPr>
        <p:txBody>
          <a:bodyPr wrap="square" lIns="0" rIns="0" tIns="0" bIns="0" anchor="t">
            <a:spAutoFit/>
          </a:bodyPr>
          <a:lstStyle/>
          <a:p>
            <a:pPr algn="l">
              <a:lnSpc>
                <a:spcPct val="125000"/>
              </a:lnSpc>
              <a:spcAft>
                <a:spcPts val="300"/>
              </a:spcAft>
            </a:pPr>
            <a:r>
              <a:rPr sz="1150" b="0">
                <a:solidFill>
                  <a:srgbClr val="55607A"/>
                </a:solidFill>
                <a:latin typeface="Arial"/>
              </a:rPr>
              <a:t>One typhoon-belt province, two anchor customers, and the data Globe needs for a national decision.</a:t>
            </a:r>
          </a:p>
        </p:txBody>
      </p:sp>
      <p:sp>
        <p:nvSpPr>
          <p:cNvPr id="9" name="Pentagon 8"/>
          <p:cNvSpPr/>
          <p:nvPr/>
        </p:nvSpPr>
        <p:spPr>
          <a:xfrm>
            <a:off x="609600" y="1549400"/>
            <a:ext cx="2362200" cy="1219200"/>
          </a:xfrm>
          <a:prstGeom prst="homePlat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7400" y="1676400"/>
            <a:ext cx="1905000" cy="203200"/>
          </a:xfrm>
          <a:prstGeom prst="rect">
            <a:avLst/>
          </a:prstGeom>
          <a:noFill/>
        </p:spPr>
        <p:txBody>
          <a:bodyPr wrap="square" lIns="0" rIns="0" tIns="0" bIns="0" anchor="t">
            <a:spAutoFit/>
          </a:bodyPr>
          <a:lstStyle/>
          <a:p>
            <a:pPr algn="l">
              <a:lnSpc>
                <a:spcPct val="125000"/>
              </a:lnSpc>
              <a:spcAft>
                <a:spcPts val="300"/>
              </a:spcAft>
            </a:pPr>
            <a:r>
              <a:rPr sz="1200" b="1">
                <a:solidFill>
                  <a:srgbClr val="8CC63F"/>
                </a:solidFill>
                <a:latin typeface="Arial"/>
              </a:rPr>
              <a:t>01</a:t>
            </a:r>
          </a:p>
        </p:txBody>
      </p:sp>
      <p:sp>
        <p:nvSpPr>
          <p:cNvPr id="11" name="TextBox 10"/>
          <p:cNvSpPr txBox="1"/>
          <p:nvPr/>
        </p:nvSpPr>
        <p:spPr>
          <a:xfrm>
            <a:off x="787400" y="1905000"/>
            <a:ext cx="1905000" cy="381000"/>
          </a:xfrm>
          <a:prstGeom prst="rect">
            <a:avLst/>
          </a:prstGeom>
          <a:noFill/>
        </p:spPr>
        <p:txBody>
          <a:bodyPr wrap="square" lIns="0" rIns="0" tIns="0" bIns="0" anchor="t">
            <a:spAutoFit/>
          </a:bodyPr>
          <a:lstStyle/>
          <a:p>
            <a:pPr algn="l">
              <a:lnSpc>
                <a:spcPct val="115000"/>
              </a:lnSpc>
              <a:spcAft>
                <a:spcPts val="300"/>
              </a:spcAft>
            </a:pPr>
            <a:r>
              <a:rPr sz="1050" b="1">
                <a:solidFill>
                  <a:srgbClr val="FFFFFF"/>
                </a:solidFill>
                <a:latin typeface="Arial"/>
              </a:rPr>
              <a:t>Confirm the spectrum</a:t>
            </a:r>
          </a:p>
        </p:txBody>
      </p:sp>
      <p:sp>
        <p:nvSpPr>
          <p:cNvPr id="12" name="TextBox 11"/>
          <p:cNvSpPr txBox="1"/>
          <p:nvPr/>
        </p:nvSpPr>
        <p:spPr>
          <a:xfrm>
            <a:off x="787400" y="2311400"/>
            <a:ext cx="1930400" cy="381000"/>
          </a:xfrm>
          <a:prstGeom prst="rect">
            <a:avLst/>
          </a:prstGeom>
          <a:noFill/>
        </p:spPr>
        <p:txBody>
          <a:bodyPr wrap="square" lIns="0" rIns="0" tIns="0" bIns="0" anchor="t">
            <a:spAutoFit/>
          </a:bodyPr>
          <a:lstStyle/>
          <a:p>
            <a:pPr algn="l">
              <a:lnSpc>
                <a:spcPct val="125000"/>
              </a:lnSpc>
              <a:spcAft>
                <a:spcPts val="300"/>
              </a:spcAft>
            </a:pPr>
            <a:r>
              <a:rPr sz="850" b="0">
                <a:solidFill>
                  <a:srgbClr val="DCE5F3"/>
                </a:solidFill>
                <a:latin typeface="Arial"/>
              </a:rPr>
              <a:t>Band, bandwidth and licence term</a:t>
            </a:r>
          </a:p>
        </p:txBody>
      </p:sp>
      <p:sp>
        <p:nvSpPr>
          <p:cNvPr id="13" name="Pentagon 12"/>
          <p:cNvSpPr/>
          <p:nvPr/>
        </p:nvSpPr>
        <p:spPr>
          <a:xfrm>
            <a:off x="2743200" y="1549400"/>
            <a:ext cx="2362200" cy="1219200"/>
          </a:xfrm>
          <a:prstGeom prst="homePlate">
            <a:avLst/>
          </a:prstGeom>
          <a:solidFill>
            <a:srgbClr val="3A5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921000" y="1676400"/>
            <a:ext cx="1905000" cy="203200"/>
          </a:xfrm>
          <a:prstGeom prst="rect">
            <a:avLst/>
          </a:prstGeom>
          <a:noFill/>
        </p:spPr>
        <p:txBody>
          <a:bodyPr wrap="square" lIns="0" rIns="0" tIns="0" bIns="0" anchor="t">
            <a:spAutoFit/>
          </a:bodyPr>
          <a:lstStyle/>
          <a:p>
            <a:pPr algn="l">
              <a:lnSpc>
                <a:spcPct val="125000"/>
              </a:lnSpc>
              <a:spcAft>
                <a:spcPts val="300"/>
              </a:spcAft>
            </a:pPr>
            <a:r>
              <a:rPr sz="1200" b="1">
                <a:solidFill>
                  <a:srgbClr val="8CC63F"/>
                </a:solidFill>
                <a:latin typeface="Arial"/>
              </a:rPr>
              <a:t>02</a:t>
            </a:r>
          </a:p>
        </p:txBody>
      </p:sp>
      <p:sp>
        <p:nvSpPr>
          <p:cNvPr id="15" name="TextBox 14"/>
          <p:cNvSpPr txBox="1"/>
          <p:nvPr/>
        </p:nvSpPr>
        <p:spPr>
          <a:xfrm>
            <a:off x="2921000" y="1905000"/>
            <a:ext cx="1905000" cy="381000"/>
          </a:xfrm>
          <a:prstGeom prst="rect">
            <a:avLst/>
          </a:prstGeom>
          <a:noFill/>
        </p:spPr>
        <p:txBody>
          <a:bodyPr wrap="square" lIns="0" rIns="0" tIns="0" bIns="0" anchor="t">
            <a:spAutoFit/>
          </a:bodyPr>
          <a:lstStyle/>
          <a:p>
            <a:pPr algn="l">
              <a:lnSpc>
                <a:spcPct val="115000"/>
              </a:lnSpc>
              <a:spcAft>
                <a:spcPts val="300"/>
              </a:spcAft>
            </a:pPr>
            <a:r>
              <a:rPr sz="1050" b="1">
                <a:solidFill>
                  <a:srgbClr val="FFFFFF"/>
                </a:solidFill>
                <a:latin typeface="Arial"/>
              </a:rPr>
              <a:t>Pick the pilot region</a:t>
            </a:r>
          </a:p>
        </p:txBody>
      </p:sp>
      <p:sp>
        <p:nvSpPr>
          <p:cNvPr id="16" name="TextBox 15"/>
          <p:cNvSpPr txBox="1"/>
          <p:nvPr/>
        </p:nvSpPr>
        <p:spPr>
          <a:xfrm>
            <a:off x="2921000" y="2311400"/>
            <a:ext cx="1930400" cy="381000"/>
          </a:xfrm>
          <a:prstGeom prst="rect">
            <a:avLst/>
          </a:prstGeom>
          <a:noFill/>
        </p:spPr>
        <p:txBody>
          <a:bodyPr wrap="square" lIns="0" rIns="0" tIns="0" bIns="0" anchor="t">
            <a:spAutoFit/>
          </a:bodyPr>
          <a:lstStyle/>
          <a:p>
            <a:pPr algn="l">
              <a:lnSpc>
                <a:spcPct val="125000"/>
              </a:lnSpc>
              <a:spcAft>
                <a:spcPts val="300"/>
              </a:spcAft>
            </a:pPr>
            <a:r>
              <a:rPr sz="850" b="0">
                <a:solidFill>
                  <a:srgbClr val="DCE5F3"/>
                </a:solidFill>
                <a:latin typeface="Arial"/>
              </a:rPr>
              <a:t>One province, plus two anchors</a:t>
            </a:r>
          </a:p>
        </p:txBody>
      </p:sp>
      <p:sp>
        <p:nvSpPr>
          <p:cNvPr id="17" name="Pentagon 16"/>
          <p:cNvSpPr/>
          <p:nvPr/>
        </p:nvSpPr>
        <p:spPr>
          <a:xfrm>
            <a:off x="4876800" y="1549400"/>
            <a:ext cx="2362200" cy="1219200"/>
          </a:xfrm>
          <a:prstGeom prst="homePlate">
            <a:avLst/>
          </a:prstGeom>
          <a:solidFill>
            <a:srgbClr val="3A5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054600" y="1676400"/>
            <a:ext cx="1905000" cy="203200"/>
          </a:xfrm>
          <a:prstGeom prst="rect">
            <a:avLst/>
          </a:prstGeom>
          <a:noFill/>
        </p:spPr>
        <p:txBody>
          <a:bodyPr wrap="square" lIns="0" rIns="0" tIns="0" bIns="0" anchor="t">
            <a:spAutoFit/>
          </a:bodyPr>
          <a:lstStyle/>
          <a:p>
            <a:pPr algn="l">
              <a:lnSpc>
                <a:spcPct val="125000"/>
              </a:lnSpc>
              <a:spcAft>
                <a:spcPts val="300"/>
              </a:spcAft>
            </a:pPr>
            <a:r>
              <a:rPr sz="1200" b="1">
                <a:solidFill>
                  <a:srgbClr val="8CC63F"/>
                </a:solidFill>
                <a:latin typeface="Arial"/>
              </a:rPr>
              <a:t>03</a:t>
            </a:r>
          </a:p>
        </p:txBody>
      </p:sp>
      <p:sp>
        <p:nvSpPr>
          <p:cNvPr id="19" name="TextBox 18"/>
          <p:cNvSpPr txBox="1"/>
          <p:nvPr/>
        </p:nvSpPr>
        <p:spPr>
          <a:xfrm>
            <a:off x="5054600" y="1905000"/>
            <a:ext cx="1905000" cy="381000"/>
          </a:xfrm>
          <a:prstGeom prst="rect">
            <a:avLst/>
          </a:prstGeom>
          <a:noFill/>
        </p:spPr>
        <p:txBody>
          <a:bodyPr wrap="square" lIns="0" rIns="0" tIns="0" bIns="0" anchor="t">
            <a:spAutoFit/>
          </a:bodyPr>
          <a:lstStyle/>
          <a:p>
            <a:pPr algn="l">
              <a:lnSpc>
                <a:spcPct val="115000"/>
              </a:lnSpc>
              <a:spcAft>
                <a:spcPts val="300"/>
              </a:spcAft>
            </a:pPr>
            <a:r>
              <a:rPr sz="1050" b="1">
                <a:solidFill>
                  <a:srgbClr val="FFFFFF"/>
                </a:solidFill>
                <a:latin typeface="Arial"/>
              </a:rPr>
              <a:t>Build the pilot</a:t>
            </a:r>
          </a:p>
        </p:txBody>
      </p:sp>
      <p:sp>
        <p:nvSpPr>
          <p:cNvPr id="20" name="TextBox 19"/>
          <p:cNvSpPr txBox="1"/>
          <p:nvPr/>
        </p:nvSpPr>
        <p:spPr>
          <a:xfrm>
            <a:off x="5054600" y="2311400"/>
            <a:ext cx="1930400" cy="381000"/>
          </a:xfrm>
          <a:prstGeom prst="rect">
            <a:avLst/>
          </a:prstGeom>
          <a:noFill/>
        </p:spPr>
        <p:txBody>
          <a:bodyPr wrap="square" lIns="0" rIns="0" tIns="0" bIns="0" anchor="t">
            <a:spAutoFit/>
          </a:bodyPr>
          <a:lstStyle/>
          <a:p>
            <a:pPr algn="l">
              <a:lnSpc>
                <a:spcPct val="125000"/>
              </a:lnSpc>
              <a:spcAft>
                <a:spcPts val="300"/>
              </a:spcAft>
            </a:pPr>
            <a:r>
              <a:rPr sz="850" b="0">
                <a:solidFill>
                  <a:srgbClr val="DCE5F3"/>
                </a:solidFill>
                <a:latin typeface="Arial"/>
              </a:rPr>
              <a:t>Sites, platform, terminals, meters</a:t>
            </a:r>
          </a:p>
        </p:txBody>
      </p:sp>
      <p:sp>
        <p:nvSpPr>
          <p:cNvPr id="21" name="Pentagon 20"/>
          <p:cNvSpPr/>
          <p:nvPr/>
        </p:nvSpPr>
        <p:spPr>
          <a:xfrm>
            <a:off x="7010400" y="1549400"/>
            <a:ext cx="2362200" cy="1219200"/>
          </a:xfrm>
          <a:prstGeom prst="homePlate">
            <a:avLst/>
          </a:prstGeom>
          <a:solidFill>
            <a:srgbClr val="3A5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188200" y="1676400"/>
            <a:ext cx="1905000" cy="203200"/>
          </a:xfrm>
          <a:prstGeom prst="rect">
            <a:avLst/>
          </a:prstGeom>
          <a:noFill/>
        </p:spPr>
        <p:txBody>
          <a:bodyPr wrap="square" lIns="0" rIns="0" tIns="0" bIns="0" anchor="t">
            <a:spAutoFit/>
          </a:bodyPr>
          <a:lstStyle/>
          <a:p>
            <a:pPr algn="l">
              <a:lnSpc>
                <a:spcPct val="125000"/>
              </a:lnSpc>
              <a:spcAft>
                <a:spcPts val="300"/>
              </a:spcAft>
            </a:pPr>
            <a:r>
              <a:rPr sz="1200" b="1">
                <a:solidFill>
                  <a:srgbClr val="8CC63F"/>
                </a:solidFill>
                <a:latin typeface="Arial"/>
              </a:rPr>
              <a:t>04</a:t>
            </a:r>
          </a:p>
        </p:txBody>
      </p:sp>
      <p:sp>
        <p:nvSpPr>
          <p:cNvPr id="23" name="TextBox 22"/>
          <p:cNvSpPr txBox="1"/>
          <p:nvPr/>
        </p:nvSpPr>
        <p:spPr>
          <a:xfrm>
            <a:off x="7188200" y="1905000"/>
            <a:ext cx="1905000" cy="381000"/>
          </a:xfrm>
          <a:prstGeom prst="rect">
            <a:avLst/>
          </a:prstGeom>
          <a:noFill/>
        </p:spPr>
        <p:txBody>
          <a:bodyPr wrap="square" lIns="0" rIns="0" tIns="0" bIns="0" anchor="t">
            <a:spAutoFit/>
          </a:bodyPr>
          <a:lstStyle/>
          <a:p>
            <a:pPr algn="l">
              <a:lnSpc>
                <a:spcPct val="115000"/>
              </a:lnSpc>
              <a:spcAft>
                <a:spcPts val="300"/>
              </a:spcAft>
            </a:pPr>
            <a:r>
              <a:rPr sz="1050" b="1">
                <a:solidFill>
                  <a:srgbClr val="FFFFFF"/>
                </a:solidFill>
                <a:latin typeface="Arial"/>
              </a:rPr>
              <a:t>Prove the case</a:t>
            </a:r>
          </a:p>
        </p:txBody>
      </p:sp>
      <p:sp>
        <p:nvSpPr>
          <p:cNvPr id="24" name="TextBox 23"/>
          <p:cNvSpPr txBox="1"/>
          <p:nvPr/>
        </p:nvSpPr>
        <p:spPr>
          <a:xfrm>
            <a:off x="7188200" y="2311400"/>
            <a:ext cx="1930400" cy="381000"/>
          </a:xfrm>
          <a:prstGeom prst="rect">
            <a:avLst/>
          </a:prstGeom>
          <a:noFill/>
        </p:spPr>
        <p:txBody>
          <a:bodyPr wrap="square" lIns="0" rIns="0" tIns="0" bIns="0" anchor="t">
            <a:spAutoFit/>
          </a:bodyPr>
          <a:lstStyle/>
          <a:p>
            <a:pPr algn="l">
              <a:lnSpc>
                <a:spcPct val="125000"/>
              </a:lnSpc>
              <a:spcAft>
                <a:spcPts val="300"/>
              </a:spcAft>
            </a:pPr>
            <a:r>
              <a:rPr sz="850" b="0">
                <a:solidFill>
                  <a:srgbClr val="DCE5F3"/>
                </a:solidFill>
                <a:latin typeface="Arial"/>
              </a:rPr>
              <a:t>Coverage, availability and cost data</a:t>
            </a:r>
          </a:p>
        </p:txBody>
      </p:sp>
      <p:sp>
        <p:nvSpPr>
          <p:cNvPr id="25" name="Pentagon 24"/>
          <p:cNvSpPr/>
          <p:nvPr/>
        </p:nvSpPr>
        <p:spPr>
          <a:xfrm>
            <a:off x="9144000" y="1549400"/>
            <a:ext cx="2362200" cy="1219200"/>
          </a:xfrm>
          <a:prstGeom prst="homePlate">
            <a:avLst/>
          </a:prstGeom>
          <a:solidFill>
            <a:srgbClr val="3A5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321800" y="1676400"/>
            <a:ext cx="1905000" cy="203200"/>
          </a:xfrm>
          <a:prstGeom prst="rect">
            <a:avLst/>
          </a:prstGeom>
          <a:noFill/>
        </p:spPr>
        <p:txBody>
          <a:bodyPr wrap="square" lIns="0" rIns="0" tIns="0" bIns="0" anchor="t">
            <a:spAutoFit/>
          </a:bodyPr>
          <a:lstStyle/>
          <a:p>
            <a:pPr algn="l">
              <a:lnSpc>
                <a:spcPct val="125000"/>
              </a:lnSpc>
              <a:spcAft>
                <a:spcPts val="300"/>
              </a:spcAft>
            </a:pPr>
            <a:r>
              <a:rPr sz="1200" b="1">
                <a:solidFill>
                  <a:srgbClr val="8CC63F"/>
                </a:solidFill>
                <a:latin typeface="Arial"/>
              </a:rPr>
              <a:t>05</a:t>
            </a:r>
          </a:p>
        </p:txBody>
      </p:sp>
      <p:sp>
        <p:nvSpPr>
          <p:cNvPr id="27" name="TextBox 26"/>
          <p:cNvSpPr txBox="1"/>
          <p:nvPr/>
        </p:nvSpPr>
        <p:spPr>
          <a:xfrm>
            <a:off x="9321800" y="1905000"/>
            <a:ext cx="1905000" cy="381000"/>
          </a:xfrm>
          <a:prstGeom prst="rect">
            <a:avLst/>
          </a:prstGeom>
          <a:noFill/>
        </p:spPr>
        <p:txBody>
          <a:bodyPr wrap="square" lIns="0" rIns="0" tIns="0" bIns="0" anchor="t">
            <a:spAutoFit/>
          </a:bodyPr>
          <a:lstStyle/>
          <a:p>
            <a:pPr algn="l">
              <a:lnSpc>
                <a:spcPct val="115000"/>
              </a:lnSpc>
              <a:spcAft>
                <a:spcPts val="300"/>
              </a:spcAft>
            </a:pPr>
            <a:r>
              <a:rPr sz="1050" b="1">
                <a:solidFill>
                  <a:srgbClr val="FFFFFF"/>
                </a:solidFill>
                <a:latin typeface="Arial"/>
              </a:rPr>
              <a:t>Scale nationwide</a:t>
            </a:r>
          </a:p>
        </p:txBody>
      </p:sp>
      <p:sp>
        <p:nvSpPr>
          <p:cNvPr id="28" name="TextBox 27"/>
          <p:cNvSpPr txBox="1"/>
          <p:nvPr/>
        </p:nvSpPr>
        <p:spPr>
          <a:xfrm>
            <a:off x="9321800" y="2311400"/>
            <a:ext cx="1930400" cy="381000"/>
          </a:xfrm>
          <a:prstGeom prst="rect">
            <a:avLst/>
          </a:prstGeom>
          <a:noFill/>
        </p:spPr>
        <p:txBody>
          <a:bodyPr wrap="square" lIns="0" rIns="0" tIns="0" bIns="0" anchor="t">
            <a:spAutoFit/>
          </a:bodyPr>
          <a:lstStyle/>
          <a:p>
            <a:pPr algn="l">
              <a:lnSpc>
                <a:spcPct val="125000"/>
              </a:lnSpc>
              <a:spcAft>
                <a:spcPts val="300"/>
              </a:spcAft>
            </a:pPr>
            <a:r>
              <a:rPr sz="850" b="0">
                <a:solidFill>
                  <a:srgbClr val="DCE5F3"/>
                </a:solidFill>
                <a:latin typeface="Arial"/>
              </a:rPr>
              <a:t>Emergency, transport, smart city</a:t>
            </a:r>
          </a:p>
        </p:txBody>
      </p:sp>
      <p:sp>
        <p:nvSpPr>
          <p:cNvPr id="29" name="Rectangle 28"/>
          <p:cNvSpPr/>
          <p:nvPr/>
        </p:nvSpPr>
        <p:spPr>
          <a:xfrm>
            <a:off x="609600" y="3149600"/>
            <a:ext cx="10972800" cy="14732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609600" y="3149600"/>
            <a:ext cx="44450" cy="14732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63600" y="3327400"/>
            <a:ext cx="3810000" cy="254000"/>
          </a:xfrm>
          <a:prstGeom prst="rect">
            <a:avLst/>
          </a:prstGeom>
          <a:noFill/>
        </p:spPr>
        <p:txBody>
          <a:bodyPr wrap="square" lIns="0" rIns="0" tIns="0" bIns="0" anchor="t">
            <a:spAutoFit/>
          </a:bodyPr>
          <a:lstStyle/>
          <a:p>
            <a:pPr algn="l">
              <a:lnSpc>
                <a:spcPct val="125000"/>
              </a:lnSpc>
              <a:spcAft>
                <a:spcPts val="300"/>
              </a:spcAft>
            </a:pPr>
            <a:r>
              <a:rPr sz="1250" b="1">
                <a:solidFill>
                  <a:srgbClr val="0B308E"/>
                </a:solidFill>
                <a:latin typeface="Arial"/>
              </a:rPr>
              <a:t>What we need from Globe</a:t>
            </a:r>
          </a:p>
        </p:txBody>
      </p:sp>
      <p:sp>
        <p:nvSpPr>
          <p:cNvPr id="32" name="Rectangle 31"/>
          <p:cNvSpPr/>
          <p:nvPr/>
        </p:nvSpPr>
        <p:spPr>
          <a:xfrm>
            <a:off x="863600" y="37592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1066800" y="3708400"/>
            <a:ext cx="3149600" cy="203200"/>
          </a:xfrm>
          <a:prstGeom prst="rect">
            <a:avLst/>
          </a:prstGeom>
          <a:noFill/>
        </p:spPr>
        <p:txBody>
          <a:bodyPr wrap="square" lIns="0" rIns="0" tIns="0" bIns="0" anchor="t">
            <a:spAutoFit/>
          </a:bodyPr>
          <a:lstStyle/>
          <a:p>
            <a:pPr algn="l">
              <a:lnSpc>
                <a:spcPct val="125000"/>
              </a:lnSpc>
              <a:spcAft>
                <a:spcPts val="300"/>
              </a:spcAft>
            </a:pPr>
            <a:r>
              <a:rPr sz="1050" b="1">
                <a:solidFill>
                  <a:srgbClr val="0B308E"/>
                </a:solidFill>
                <a:latin typeface="Arial"/>
              </a:rPr>
              <a:t>Spectrum parameters</a:t>
            </a:r>
          </a:p>
        </p:txBody>
      </p:sp>
      <p:sp>
        <p:nvSpPr>
          <p:cNvPr id="34" name="TextBox 33"/>
          <p:cNvSpPr txBox="1"/>
          <p:nvPr/>
        </p:nvSpPr>
        <p:spPr>
          <a:xfrm>
            <a:off x="1066800" y="3987800"/>
            <a:ext cx="3175000" cy="533400"/>
          </a:xfrm>
          <a:prstGeom prst="rect">
            <a:avLst/>
          </a:prstGeom>
          <a:noFill/>
        </p:spPr>
        <p:txBody>
          <a:bodyPr wrap="square" lIns="0" rIns="0" tIns="0" bIns="0" anchor="t">
            <a:spAutoFit/>
          </a:bodyPr>
          <a:lstStyle/>
          <a:p>
            <a:pPr algn="l">
              <a:lnSpc>
                <a:spcPct val="130000"/>
              </a:lnSpc>
              <a:spcAft>
                <a:spcPts val="300"/>
              </a:spcAft>
            </a:pPr>
            <a:r>
              <a:rPr sz="950" b="0">
                <a:solidFill>
                  <a:srgbClr val="55607A"/>
                </a:solidFill>
                <a:latin typeface="Arial"/>
              </a:rPr>
              <a:t>The band and bandwidth, so the coverage and capacity modelling is exact.</a:t>
            </a:r>
          </a:p>
        </p:txBody>
      </p:sp>
      <p:sp>
        <p:nvSpPr>
          <p:cNvPr id="35" name="Rectangle 34"/>
          <p:cNvSpPr/>
          <p:nvPr/>
        </p:nvSpPr>
        <p:spPr>
          <a:xfrm>
            <a:off x="4419600" y="37592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4622800" y="3708400"/>
            <a:ext cx="3149600" cy="203200"/>
          </a:xfrm>
          <a:prstGeom prst="rect">
            <a:avLst/>
          </a:prstGeom>
          <a:noFill/>
        </p:spPr>
        <p:txBody>
          <a:bodyPr wrap="square" lIns="0" rIns="0" tIns="0" bIns="0" anchor="t">
            <a:spAutoFit/>
          </a:bodyPr>
          <a:lstStyle/>
          <a:p>
            <a:pPr algn="l">
              <a:lnSpc>
                <a:spcPct val="125000"/>
              </a:lnSpc>
              <a:spcAft>
                <a:spcPts val="300"/>
              </a:spcAft>
            </a:pPr>
            <a:r>
              <a:rPr sz="1050" b="1">
                <a:solidFill>
                  <a:srgbClr val="0B308E"/>
                </a:solidFill>
                <a:latin typeface="Arial"/>
              </a:rPr>
              <a:t>A candidate province</a:t>
            </a:r>
          </a:p>
        </p:txBody>
      </p:sp>
      <p:sp>
        <p:nvSpPr>
          <p:cNvPr id="37" name="TextBox 36"/>
          <p:cNvSpPr txBox="1"/>
          <p:nvPr/>
        </p:nvSpPr>
        <p:spPr>
          <a:xfrm>
            <a:off x="4622800" y="3987800"/>
            <a:ext cx="3175000" cy="533400"/>
          </a:xfrm>
          <a:prstGeom prst="rect">
            <a:avLst/>
          </a:prstGeom>
          <a:noFill/>
        </p:spPr>
        <p:txBody>
          <a:bodyPr wrap="square" lIns="0" rIns="0" tIns="0" bIns="0" anchor="t">
            <a:spAutoFit/>
          </a:bodyPr>
          <a:lstStyle/>
          <a:p>
            <a:pPr algn="l">
              <a:lnSpc>
                <a:spcPct val="130000"/>
              </a:lnSpc>
              <a:spcAft>
                <a:spcPts val="300"/>
              </a:spcAft>
            </a:pPr>
            <a:r>
              <a:rPr sz="950" b="0">
                <a:solidFill>
                  <a:srgbClr val="55607A"/>
                </a:solidFill>
                <a:latin typeface="Arial"/>
              </a:rPr>
              <a:t>One region, ideally in the typhoon belt, where the gap is visible.</a:t>
            </a:r>
          </a:p>
        </p:txBody>
      </p:sp>
      <p:sp>
        <p:nvSpPr>
          <p:cNvPr id="38" name="Rectangle 37"/>
          <p:cNvSpPr/>
          <p:nvPr/>
        </p:nvSpPr>
        <p:spPr>
          <a:xfrm>
            <a:off x="7975600" y="37592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8178800" y="3708400"/>
            <a:ext cx="3149600" cy="203200"/>
          </a:xfrm>
          <a:prstGeom prst="rect">
            <a:avLst/>
          </a:prstGeom>
          <a:noFill/>
        </p:spPr>
        <p:txBody>
          <a:bodyPr wrap="square" lIns="0" rIns="0" tIns="0" bIns="0" anchor="t">
            <a:spAutoFit/>
          </a:bodyPr>
          <a:lstStyle/>
          <a:p>
            <a:pPr algn="l">
              <a:lnSpc>
                <a:spcPct val="125000"/>
              </a:lnSpc>
              <a:spcAft>
                <a:spcPts val="300"/>
              </a:spcAft>
            </a:pPr>
            <a:r>
              <a:rPr sz="1050" b="1">
                <a:solidFill>
                  <a:srgbClr val="0B308E"/>
                </a:solidFill>
                <a:latin typeface="Arial"/>
              </a:rPr>
              <a:t>Anchor introductions</a:t>
            </a:r>
          </a:p>
        </p:txBody>
      </p:sp>
      <p:sp>
        <p:nvSpPr>
          <p:cNvPr id="40" name="TextBox 39"/>
          <p:cNvSpPr txBox="1"/>
          <p:nvPr/>
        </p:nvSpPr>
        <p:spPr>
          <a:xfrm>
            <a:off x="8178800" y="3987800"/>
            <a:ext cx="3175000" cy="533400"/>
          </a:xfrm>
          <a:prstGeom prst="rect">
            <a:avLst/>
          </a:prstGeom>
          <a:noFill/>
        </p:spPr>
        <p:txBody>
          <a:bodyPr wrap="square" lIns="0" rIns="0" tIns="0" bIns="0" anchor="t">
            <a:spAutoFit/>
          </a:bodyPr>
          <a:lstStyle/>
          <a:p>
            <a:pPr algn="l">
              <a:lnSpc>
                <a:spcPct val="130000"/>
              </a:lnSpc>
              <a:spcAft>
                <a:spcPts val="300"/>
              </a:spcAft>
            </a:pPr>
            <a:r>
              <a:rPr sz="950" b="0">
                <a:solidFill>
                  <a:srgbClr val="55607A"/>
                </a:solidFill>
                <a:latin typeface="Arial"/>
              </a:rPr>
              <a:t>One electric cooperative and one water district willing to trial.</a:t>
            </a:r>
          </a:p>
        </p:txBody>
      </p:sp>
      <p:sp>
        <p:nvSpPr>
          <p:cNvPr id="41" name="Rectangle 40"/>
          <p:cNvSpPr/>
          <p:nvPr/>
        </p:nvSpPr>
        <p:spPr>
          <a:xfrm>
            <a:off x="609600" y="4826000"/>
            <a:ext cx="10972800" cy="508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838200" y="4826000"/>
            <a:ext cx="10515600" cy="508000"/>
          </a:xfrm>
          <a:prstGeom prst="rect">
            <a:avLst/>
          </a:prstGeom>
          <a:noFill/>
        </p:spPr>
        <p:txBody>
          <a:bodyPr wrap="square" lIns="0" rIns="0" tIns="0" bIns="0" anchor="ctr">
            <a:spAutoFit/>
          </a:bodyPr>
          <a:lstStyle/>
          <a:p>
            <a:pPr algn="l">
              <a:lnSpc>
                <a:spcPct val="130000"/>
              </a:lnSpc>
            </a:pPr>
            <a:r>
              <a:rPr sz="1100" b="1">
                <a:solidFill>
                  <a:srgbClr val="7F9B00"/>
                </a:solidFill>
                <a:latin typeface="Arial"/>
              </a:rPr>
              <a:t>We are not proposing a build.  </a:t>
            </a:r>
            <a:r>
              <a:rPr sz="1100" b="0">
                <a:solidFill>
                  <a:srgbClr val="55607A"/>
                </a:solidFill>
                <a:latin typeface="Arial"/>
              </a:rPr>
              <a:t>The next step is a joint pilot design, so Globe can test the assumptions in its own terrain.</a:t>
            </a:r>
          </a:p>
        </p:txBody>
      </p:sp>
      <p:sp>
        <p:nvSpPr>
          <p:cNvPr id="43" name="Rectangle 42"/>
          <p:cNvSpPr/>
          <p:nvPr/>
        </p:nvSpPr>
        <p:spPr>
          <a:xfrm>
            <a:off x="0" y="5740400"/>
            <a:ext cx="12192000" cy="508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09600" y="5740400"/>
            <a:ext cx="10972800" cy="508000"/>
          </a:xfrm>
          <a:prstGeom prst="rect">
            <a:avLst/>
          </a:prstGeom>
          <a:noFill/>
        </p:spPr>
        <p:txBody>
          <a:bodyPr wrap="square" lIns="0" rIns="0" tIns="0" bIns="0" anchor="ctr">
            <a:spAutoFit/>
          </a:bodyPr>
          <a:lstStyle/>
          <a:p>
            <a:pPr algn="l">
              <a:lnSpc>
                <a:spcPct val="130000"/>
              </a:lnSpc>
            </a:pPr>
            <a:r>
              <a:rPr sz="1200" b="1">
                <a:solidFill>
                  <a:srgbClr val="FFFFFF"/>
                </a:solidFill>
                <a:latin typeface="Arial"/>
              </a:rPr>
              <a:t>The technical case is settled.  </a:t>
            </a:r>
            <a:r>
              <a:rPr sz="1200" b="0">
                <a:solidFill>
                  <a:srgbClr val="DCE5F3"/>
                </a:solidFill>
                <a:latin typeface="Arial"/>
              </a:rPr>
              <a:t>What decides the outcome is whether demand is contracted before build-out.</a:t>
            </a:r>
          </a:p>
        </p:txBody>
      </p:sp>
      <p:sp>
        <p:nvSpPr>
          <p:cNvPr id="45" name="TextBox 44"/>
          <p:cNvSpPr txBox="1"/>
          <p:nvPr/>
        </p:nvSpPr>
        <p:spPr>
          <a:xfrm>
            <a:off x="609600" y="6451600"/>
            <a:ext cx="10972800" cy="177800"/>
          </a:xfrm>
          <a:prstGeom prst="rect">
            <a:avLst/>
          </a:prstGeom>
          <a:noFill/>
        </p:spPr>
        <p:txBody>
          <a:bodyPr wrap="square" lIns="0" rIns="0" tIns="0" bIns="0" anchor="t">
            <a:spAutoFit/>
          </a:bodyPr>
          <a:lstStyle/>
          <a:p>
            <a:pPr algn="l">
              <a:lnSpc>
                <a:spcPct val="125000"/>
              </a:lnSpc>
              <a:spcAft>
                <a:spcPts val="300"/>
              </a:spcAft>
            </a:pPr>
            <a:r>
              <a:rPr sz="800" b="0">
                <a:solidFill>
                  <a:srgbClr val="93A0B4"/>
                </a:solidFill>
                <a:latin typeface="Arial"/>
              </a:rPr>
              <a:t>Source: Hytera proposal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000" cy="76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40640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0" y="76200"/>
            <a:ext cx="76200" cy="6781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a_1d401b357e.png"/>
          <p:cNvPicPr>
            <a:picLocks noChangeAspect="1"/>
          </p:cNvPicPr>
          <p:nvPr/>
        </p:nvPicPr>
        <p:blipFill>
          <a:blip r:embed="rId2"/>
          <a:stretch>
            <a:fillRect/>
          </a:stretch>
        </p:blipFill>
        <p:spPr>
          <a:xfrm>
            <a:off x="9702800" y="384070"/>
            <a:ext cx="1397000" cy="552659"/>
          </a:xfrm>
          <a:prstGeom prst="rect">
            <a:avLst/>
          </a:prstGeom>
        </p:spPr>
      </p:pic>
      <p:sp>
        <p:nvSpPr>
          <p:cNvPr id="7" name="TextBox 6"/>
          <p:cNvSpPr txBox="1"/>
          <p:nvPr/>
        </p:nvSpPr>
        <p:spPr>
          <a:xfrm>
            <a:off x="863600" y="1371600"/>
            <a:ext cx="5842000" cy="228600"/>
          </a:xfrm>
          <a:prstGeom prst="rect">
            <a:avLst/>
          </a:prstGeom>
          <a:noFill/>
        </p:spPr>
        <p:txBody>
          <a:bodyPr wrap="square" lIns="0" rIns="0" tIns="0" bIns="0" anchor="t">
            <a:spAutoFit/>
          </a:bodyPr>
          <a:lstStyle/>
          <a:p>
            <a:pPr algn="l">
              <a:lnSpc>
                <a:spcPct val="125000"/>
              </a:lnSpc>
              <a:spcAft>
                <a:spcPts val="300"/>
              </a:spcAft>
            </a:pPr>
            <a:r>
              <a:rPr sz="1050" b="1">
                <a:solidFill>
                  <a:srgbClr val="7F9B00"/>
                </a:solidFill>
                <a:latin typeface="Arial"/>
              </a:rPr>
              <a:t>HYTERA  ×  GLOBE TELECOM</a:t>
            </a:r>
          </a:p>
        </p:txBody>
      </p:sp>
      <p:sp>
        <p:nvSpPr>
          <p:cNvPr id="8" name="TextBox 7"/>
          <p:cNvSpPr txBox="1"/>
          <p:nvPr/>
        </p:nvSpPr>
        <p:spPr>
          <a:xfrm>
            <a:off x="863600" y="1752600"/>
            <a:ext cx="5969000" cy="762000"/>
          </a:xfrm>
          <a:prstGeom prst="rect">
            <a:avLst/>
          </a:prstGeom>
          <a:noFill/>
        </p:spPr>
        <p:txBody>
          <a:bodyPr wrap="square" lIns="0" rIns="0" tIns="0" bIns="0" anchor="t">
            <a:spAutoFit/>
          </a:bodyPr>
          <a:lstStyle/>
          <a:p>
            <a:pPr algn="l">
              <a:lnSpc>
                <a:spcPct val="125000"/>
              </a:lnSpc>
              <a:spcAft>
                <a:spcPts val="300"/>
              </a:spcAft>
            </a:pPr>
            <a:r>
              <a:rPr sz="4000" b="1">
                <a:solidFill>
                  <a:srgbClr val="0B308E"/>
                </a:solidFill>
                <a:latin typeface="Arial"/>
              </a:rPr>
              <a:t>Thank you</a:t>
            </a:r>
          </a:p>
        </p:txBody>
      </p:sp>
      <p:sp>
        <p:nvSpPr>
          <p:cNvPr id="9" name="Rectangle 8"/>
          <p:cNvSpPr/>
          <p:nvPr/>
        </p:nvSpPr>
        <p:spPr>
          <a:xfrm>
            <a:off x="863600" y="3124200"/>
            <a:ext cx="914400" cy="508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63600" y="3454400"/>
            <a:ext cx="5588000" cy="279400"/>
          </a:xfrm>
          <a:prstGeom prst="rect">
            <a:avLst/>
          </a:prstGeom>
          <a:noFill/>
        </p:spPr>
        <p:txBody>
          <a:bodyPr wrap="square" lIns="0" rIns="0" tIns="0" bIns="0" anchor="t">
            <a:spAutoFit/>
          </a:bodyPr>
          <a:lstStyle/>
          <a:p>
            <a:pPr algn="l">
              <a:lnSpc>
                <a:spcPct val="125000"/>
              </a:lnSpc>
              <a:spcAft>
                <a:spcPts val="300"/>
              </a:spcAft>
            </a:pPr>
            <a:r>
              <a:rPr sz="1400" b="1">
                <a:solidFill>
                  <a:srgbClr val="7F9B00"/>
                </a:solidFill>
                <a:latin typeface="Arial"/>
              </a:rPr>
              <a:t>Mission First  ·  Safety Always</a:t>
            </a:r>
          </a:p>
        </p:txBody>
      </p:sp>
      <p:sp>
        <p:nvSpPr>
          <p:cNvPr id="11" name="TextBox 10"/>
          <p:cNvSpPr txBox="1"/>
          <p:nvPr/>
        </p:nvSpPr>
        <p:spPr>
          <a:xfrm>
            <a:off x="863600" y="3911600"/>
            <a:ext cx="5715000" cy="609600"/>
          </a:xfrm>
          <a:prstGeom prst="rect">
            <a:avLst/>
          </a:prstGeom>
          <a:noFill/>
        </p:spPr>
        <p:txBody>
          <a:bodyPr wrap="square" lIns="0" rIns="0" tIns="0" bIns="0" anchor="t">
            <a:spAutoFit/>
          </a:bodyPr>
          <a:lstStyle/>
          <a:p>
            <a:pPr algn="l">
              <a:lnSpc>
                <a:spcPct val="142000"/>
              </a:lnSpc>
              <a:spcAft>
                <a:spcPts val="300"/>
              </a:spcAft>
            </a:pPr>
            <a:r>
              <a:rPr sz="1150" b="0">
                <a:solidFill>
                  <a:srgbClr val="55607A"/>
                </a:solidFill>
                <a:latin typeface="Arial"/>
              </a:rPr>
              <a:t>Hytera × Globe Telecom  ·  450 MHz for critical infrastructure</a:t>
            </a:r>
          </a:p>
          <a:p>
            <a:pPr algn="l">
              <a:lnSpc>
                <a:spcPct val="142000"/>
              </a:lnSpc>
              <a:spcAft>
                <a:spcPts val="300"/>
              </a:spcAft>
            </a:pPr>
            <a:r>
              <a:rPr sz="1150" b="0">
                <a:solidFill>
                  <a:srgbClr val="55607A"/>
                </a:solidFill>
                <a:latin typeface="Arial"/>
              </a:rPr>
              <a:t>and remote communities.</a:t>
            </a:r>
          </a:p>
        </p:txBody>
      </p:sp>
      <p:sp>
        <p:nvSpPr>
          <p:cNvPr id="12" name="TextBox 11"/>
          <p:cNvSpPr txBox="1"/>
          <p:nvPr/>
        </p:nvSpPr>
        <p:spPr>
          <a:xfrm>
            <a:off x="863600" y="4699000"/>
            <a:ext cx="5715000" cy="762000"/>
          </a:xfrm>
          <a:prstGeom prst="rect">
            <a:avLst/>
          </a:prstGeom>
          <a:noFill/>
        </p:spPr>
        <p:txBody>
          <a:bodyPr wrap="square" lIns="0" rIns="0" tIns="0" bIns="0" anchor="t">
            <a:spAutoFit/>
          </a:bodyPr>
          <a:lstStyle/>
          <a:p>
            <a:pPr algn="l">
              <a:lnSpc>
                <a:spcPct val="142000"/>
              </a:lnSpc>
              <a:spcAft>
                <a:spcPts val="300"/>
              </a:spcAft>
            </a:pPr>
            <a:r>
              <a:rPr sz="1150" b="0">
                <a:solidFill>
                  <a:srgbClr val="55607A"/>
                </a:solidFill>
                <a:latin typeface="Arial"/>
              </a:rPr>
              <a:t>Next step: confirm the spectrum parameters and nominate a pilot region,</a:t>
            </a:r>
          </a:p>
          <a:p>
            <a:pPr algn="l">
              <a:lnSpc>
                <a:spcPct val="142000"/>
              </a:lnSpc>
              <a:spcAft>
                <a:spcPts val="300"/>
              </a:spcAft>
            </a:pPr>
            <a:r>
              <a:rPr sz="1150" b="0">
                <a:solidFill>
                  <a:srgbClr val="55607A"/>
                </a:solidFill>
                <a:latin typeface="Arial"/>
              </a:rPr>
              <a:t>and we will design the pilot with you.</a:t>
            </a:r>
          </a:p>
        </p:txBody>
      </p:sp>
      <p:pic>
        <p:nvPicPr>
          <p:cNvPr id="13" name="Picture 12" descr="a_68c10d9d76.png"/>
          <p:cNvPicPr>
            <a:picLocks noChangeAspect="1"/>
          </p:cNvPicPr>
          <p:nvPr/>
        </p:nvPicPr>
        <p:blipFill>
          <a:blip r:embed="rId3"/>
          <a:stretch>
            <a:fillRect/>
          </a:stretch>
        </p:blipFill>
        <p:spPr>
          <a:xfrm>
            <a:off x="7977553" y="838200"/>
            <a:ext cx="3094892" cy="4470400"/>
          </a:xfrm>
          <a:prstGeom prst="rect">
            <a:avLst/>
          </a:prstGeom>
        </p:spPr>
      </p:pic>
      <p:pic>
        <p:nvPicPr>
          <p:cNvPr id="14" name="Picture 13" descr="a_8bb7411989.png"/>
          <p:cNvPicPr>
            <a:picLocks noChangeAspect="1"/>
          </p:cNvPicPr>
          <p:nvPr/>
        </p:nvPicPr>
        <p:blipFill>
          <a:blip r:embed="rId4"/>
          <a:stretch>
            <a:fillRect/>
          </a:stretch>
        </p:blipFill>
        <p:spPr>
          <a:xfrm>
            <a:off x="6883400" y="1884191"/>
            <a:ext cx="1092200" cy="3369016"/>
          </a:xfrm>
          <a:prstGeom prst="rect">
            <a:avLst/>
          </a:prstGeom>
        </p:spPr>
      </p:pic>
      <p:cxnSp>
        <p:nvCxnSpPr>
          <p:cNvPr id="15" name="Connector 14"/>
          <p:cNvCxnSpPr/>
          <p:nvPr/>
        </p:nvCxnSpPr>
        <p:spPr>
          <a:xfrm>
            <a:off x="609600" y="5918200"/>
            <a:ext cx="10972800" cy="0"/>
          </a:xfrm>
          <a:prstGeom prst="line">
            <a:avLst/>
          </a:prstGeom>
          <a:ln w="12700">
            <a:solidFill>
              <a:srgbClr val="D6E0F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09600" y="6121400"/>
            <a:ext cx="5334000" cy="203200"/>
          </a:xfrm>
          <a:prstGeom prst="rect">
            <a:avLst/>
          </a:prstGeom>
          <a:noFill/>
        </p:spPr>
        <p:txBody>
          <a:bodyPr wrap="square" lIns="0" rIns="0" tIns="0" bIns="0" anchor="t">
            <a:spAutoFit/>
          </a:bodyPr>
          <a:lstStyle/>
          <a:p>
            <a:pPr algn="l">
              <a:lnSpc>
                <a:spcPct val="125000"/>
              </a:lnSpc>
              <a:spcAft>
                <a:spcPts val="300"/>
              </a:spcAft>
            </a:pPr>
            <a:r>
              <a:rPr sz="1150" b="1">
                <a:solidFill>
                  <a:srgbClr val="0B308E"/>
                </a:solidFill>
                <a:latin typeface="Arial"/>
              </a:rPr>
              <a:t>Hytera Communications Corporation Limited</a:t>
            </a:r>
          </a:p>
        </p:txBody>
      </p:sp>
      <p:sp>
        <p:nvSpPr>
          <p:cNvPr id="17" name="TextBox 16"/>
          <p:cNvSpPr txBox="1"/>
          <p:nvPr/>
        </p:nvSpPr>
        <p:spPr>
          <a:xfrm>
            <a:off x="7112000" y="6146800"/>
            <a:ext cx="4470400" cy="177800"/>
          </a:xfrm>
          <a:prstGeom prst="rect">
            <a:avLst/>
          </a:prstGeom>
          <a:noFill/>
        </p:spPr>
        <p:txBody>
          <a:bodyPr wrap="square" lIns="0" rIns="0" tIns="0" bIns="0" anchor="t">
            <a:spAutoFit/>
          </a:bodyPr>
          <a:lstStyle/>
          <a:p>
            <a:pPr algn="r">
              <a:lnSpc>
                <a:spcPct val="125000"/>
              </a:lnSpc>
              <a:spcAft>
                <a:spcPts val="300"/>
              </a:spcAft>
            </a:pPr>
            <a:r>
              <a:rPr sz="950" b="0">
                <a:solidFill>
                  <a:srgbClr val="93A0B4"/>
                </a:solidFill>
                <a:latin typeface="Arial"/>
              </a:rPr>
              <a:t>Thank you for your time</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3459</Words>
  <Application>Microsoft Macintosh PowerPoint</Application>
  <PresentationFormat>宽屏</PresentationFormat>
  <Paragraphs>390</Paragraphs>
  <Slides>17</Slides>
  <Notes>17</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17</vt:i4>
      </vt:variant>
    </vt:vector>
  </HeadingPairs>
  <TitlesOfParts>
    <vt:vector size="21" baseType="lpstr">
      <vt:lpstr>等线</vt:lpstr>
      <vt:lpstr>等线 Light</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stefan yu</dc:creator>
  <cp:lastModifiedBy>stefan yu</cp:lastModifiedBy>
  <cp:revision>1</cp:revision>
  <dcterms:created xsi:type="dcterms:W3CDTF">2026-10-10T01:12:47Z</dcterms:created>
  <dcterms:modified xsi:type="dcterms:W3CDTF">2026-10-10T01:38:43Z</dcterms:modified>
</cp:coreProperties>
</file>